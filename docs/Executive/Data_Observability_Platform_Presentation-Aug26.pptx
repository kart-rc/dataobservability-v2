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alternates what-is and what-could-be, ending in the new normal. Slide two is today; slide three the platform; slide four names where it ends — zero-touch onboarding, self-healing incidents — and everything after is the climb: trust earned rung by rung, the machine, the nine-month path, then the destination in operation and the close. Appendix keeps the deep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real incident, as it runs today: two days to truth, four teams paged, found by luck. The next slide replays this exact incident on the platform — thirty minutes, one team, caught before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before the components: one broken deploy, minute by minute, from the engineer's seat. Every claim on the incident card cites evidence — unknown is a valid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 for everything that follows: one ladder of earned autonomy. The two definitions at the top are the destination — onboarding without tickets, incidents that heal behind one approval. The strip maps the program onto that ladder: foundations built by month six is A1, the month-nine pilot observes at A2, deploy-named diagnosis at fifteen is A3, gates that hold bad data at twenty-four is A4. A5 is not a second program — it is the same machinery with the human stepping out of the loop, one action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audience fluent in New Relic: same discipline, different unit. APM instruments requests through services; we instrument data as it moves through assets. Read row by row — every APM concept has a one-to-one counterpart. The golden-signals row is the heart: freshness, volume, schema, quality, lineage drift are our latency/throughput/errors/saturation. Capture is passive like an agent — checks ride the stream and scan at rest, deploy hooks mark changes; nothing blocks the data path. trace_id becomes URN + trace_id, the service map becomes the lineage graph, and alerting still ends in one incident with a probable cause. Tainted means the hop already consumed bad rows; at-risk means it sits downstream and has not read them yet. Contract judges the promised structure, Quality judges the values inside it, and Anomaly is the learned catch-all that only alerts, never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asset climbing the ladder: enrolled in week one with zero code change, allowed to warn only after four weeks of stable baselines, soft-failing once the producer signs the contract auto-drafted from ninety days of observed traffic, and hard-failing only after shadow mode proves precision. No rung is skipped, and tier decides how high an asset must climb — Tier-1 must reach G3, Tier-3 may stay at G0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to where does each number come from: four layers, each computed from the layer below — record-level PASS or FAIL, asset golden signals over five-minute windows, incident metrics from timestamps, business value priced against the Phase-0 baseline. The table shows the receipts: metric, system of record, target. Bottom band is the anti-vanity rule — nothing appears unless it traces to a closed gap, a faster detect, or a prevented incident. Same discipline as APM: span to service health to alert to SLO burn.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one incident moving down the slide: a check catches it, the map explains it, the same map shows who is exposed, and the gate stops the repeat. Each foundation has a milestone where it goes live on the pilot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planes. Data path is untouched; the observability path runs beside it. Automation plane feeds instrumentation back into producer 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now names the squad that builds the platform substrate — the stream and registry, the gate, the health surface — so no one assumes the platform is free. Maturity follows slide 7's track: connected at the gate, runs itself at 15, prevents at 24. Three missions of ten engineers. Every definition of done lands in one evidence stream on one pilot thread — one platform, not three projects. Weekly joined demo from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as three phases. Months zero to six are foundation building: the enterprise-registry link, the lineage map, real-time and async DQ built in parallel, and the health surface. Months six to nine join everything on UC1 — the pilot use case, one end-to-end data flow — and turn on the evidence stream. Contracts and the certification gate come last, in shadow, only after both DQ tracks have proven out. A milestone chip is the demo at the end of a bar, never a one-month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challenges answered by design rather than left for Q&amp;A. False positives: precision is a scorecard number with an explicit under-20-percent target, baselines learn four to six weeks before they may page, the gate shadows before it blocks, and alerting groups by cause so one deploy pages one team once. Build over buy: warehouse monitors watch tables hours later; the differentiators are element-level lineage captured by static code analysis at merge time and deploy correlation under one URN — while commodity warehouse checks federate into the same evidence stream rather than being rebuilt.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SLOs hold constant while throughput scales 10x — the architecture scales out, not up. Total run cost about $21K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monthly, no status prose. Reviews are live incident replays, never percent-complete. Kill criteria stated up front: no saves and no time-to-detect improvement by month 9 → the program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made concrete: the same 10:00 deploy replayed at the top rung, beside a brand-new asset onboarding itself. Every row cites the rung and milestone it comes from — A5 adds no new machinery, it only removes the human hand. The closing band is the answer to the auto-remediation worry: autonomy is earned exactly like trust — shadow, then one approval, then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Producers owe almost nothing until the platform proves value. The one hard control-plane decision is the enterprise registry as naming authority — without it every join fails silently later. Every dependency has a dated interlock and a Plan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what leadership controls: the merge SLA, the pilot domain, the scorecard, and holding the MVP boundary. The architecture risk is low; the discipline risk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not presented linearly: alternate roadmap views, the three mission deep dives with worked examples, and quantified tables — for the questions that go one level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audience: enforcement authority scales with evidence strength, exactly like a staged alert rollout. Read rows top to bottom — Inferred evidence only watches, platform-attested evidence may warn, and only producer-attested evidence is allowed to enforce. The footer strip is the ladder every asset climbs: G0 watch, G1 warn, G2 soft-fail in lower environments, G3 hard-fail in production for Tier-1. The naming note defuses the collision with the Enforcer gates G1 to G5 from the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one record through the system. Latency budget: 2 seconds to evidence, 5 minutes to signal, 2 minutes for an RCA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then down: the same broken deploy, seen by each mission. Data Quality writes the check result, Lineage writes the cause and the exposure, Onboarding turns it into one incident and one action. The context-schema strip makes the join mechanical — every record carries the same evidence envelope — urn, PASS/FAIL with gate and reason code, trace_id, source offset for replay — written by the Policy Enforcer sidecar. Aligned with the platform deck: DQ writes evidence FAIL which the signal engines turn into DQ_BREACH; lineage writes deploy + lineage edges into the causal graph under the same URN; signal engines + alerting do the join into one incident, the dashboard only renders it. The punchline: four fields, three writers, one schema — the join costs nothing because everything is keyed by the same URN and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checkpoints: proven at 9, enforcing at 15, scaled at 24. The appendix carries the deeper mission and roadmap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view of the same analogy: five stages every observability platform has — instrument, emit, aggregate, explain, act. Read a column top to bottom: the APM part they know, the equals sign, our part. The shapes differ only in stage 2: a span carries timing, an evidence event carries a verdict. Everything downstream is the same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targets are the program's success criteria — the platform is judged on outcomes, not adoption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the platform substrate is not assumed — it is line-item work inside the missions. The evidence stream and registry are built by the Lineage mission's platform-core squad (3 engineers, live at M1); the gate by Data Quality's contracts-and-gate squad (2 growing to 4); the dashboard and onboarding tooling by the Experience mission's squads. The convergence row is the answer to how three missions become one platform: everything lands in one evidence stream under one registry, the three outputs are first JOINED at the M5 gate on UC1 (health + cause + impact in one incident), and after the gate the missions compound on that joined base. Lanes: Lineage applies to every layer: baseline first, then incremental on each change, with impact analysis and confidence scoring. Data Quality covers streaming and real-time checks at the service and Kafka layer plus batch and at-rest. Onboarding delivers health reporting and action, then the automated onboarding experience onto DQ and monitoring tools — progressively expanding to data contracts. Everything is proven on the one pilot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visual language as the foundations roadmap: one timeline, nine nodes. Teal nodes are the committed NOW phase; the amber diamond is the M5 go/no-go gate; outlined nodes are entered only via the gate; the horizon is trigger-based, not dated. Milestone wording now matches the initiative bars and the convergence example: M1 = stream + registry + baseline map (end of the two m0–m3 bars), M3 = streaming checks + incremental lineage landing at month 5, M4 = the causal-graph join, M5 = one incident joined on URN +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visual language as the roadmap slides: each pillar rides one maturity track — The first row makes the platform-build effort explicit: the substrate (evidence stream, registry, join, gate) does not exist today and is built by squads inside the missions — Lineage core (3 eng), DQ contracts-and-gate (2→4), Experience dashboard (5). Grey dot is today, the amber diamond is what the month-9 gate requires (everything connected on UC1), then runs-itself at 15 and prevents at 24. 'Runs itself' means no hand-tending: checks auto-tune from rolling baselines, new assets get covered automatically from observed behavior, lineage self-refreshes on every deploy, contracts are auto-drafted from 90 days observed, and onboarding is templated at two weeks without platform-team hand-holding. No pillar jumps two levels in a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platform-core squad here is the substrate build — the enterprise-registry link lands first (M1); the evidence stream turns on after the six-month foundation phase. Lineage covers every layer with baseline first, incremental on each change, and matures along the same track: joined at the gate, runs itself at 15 (trust-scored, self-refreshing), prevents by 24. Lineage and Confidence owns the join key. Definition of done: an edge exists only when it is in the evidence stream, registry-named, provenance-tagged. Refuses map-everything crawls.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 on the real pilot thread. Baseline scanned every layer once at M1; the v3.17 merge re-emits its edges so the map never goes stale; every edge is scored declared-vs-observed, and the impact walk ranks who is exposed — finance report first. MED on the enrichment edge is honest: dynamic SQL lowers confidence, and RCA weighs it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contracts-and-gate squad is this mission's substrate build — the certification gate itself, shadow at M5, first real block M7, never assumed for free. Checks cover the service and Kafka layer in-stream plus batch and at-rest, and mature along the same track: connected at the gate, auto-tuned and self-running at 15, blocking bad batches at 24. Real-time and async DQ run in parallel through the foundation phase; contracts and the gate follow only after both prove out. The gate earns trust in shadow mode before it ever blocks. Refuses blocking on anomaly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checks, one destination. In-stream at the service and Kafka layer catches the NULL spike pre-consumption; at-rest compares the written table against learned baselines; existing team-built batch checks are federated, not replaced. All three write to the same stream under the same name — which is what lets the gate make one decision. Until M7 the gate only logs (shadow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 to slides 7–8: the dashboard squad is this mission's substrate build — the health surface every view runs on, v0 at M3, reading only the evidence stream. Onboarding matures along the same track: hand-run today, one pane + causal view at the gate, templated ≤ 2 weeks (runs itself) at 15, self-serve with posture actions and contract expansion by 24. Onboarding and Experience proves the value: every view reads only the evidence stream, the saves ledger banks each win, and the gate pack is a live incident replay — not a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onboarding journey for a new use case: a 30-minute manifest, automated wiring onto the DQ and monitoring tools, a health report with routed actions, and progressive expansion into contracts. The right card is the artifact stakeholders see — a posture score, what is covered, and the one action that closes the gap, with the save banked in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2638425"/>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Courier New" pitchFamily="34" charset="0"/>
                <a:ea typeface="Courier New" pitchFamily="34" charset="-122"/>
                <a:cs typeface="Courier New" pitchFamily="34" charset="-120"/>
              </a:rPr>
              <a:t>TECH LEADERSHIP · EXECUTION DEEP DIVE</a:t>
            </a:r>
            <a:endParaRPr lang="en-US" sz="1800" dirty="0"/>
          </a:p>
        </p:txBody>
      </p:sp>
      <p:sp>
        <p:nvSpPr>
          <p:cNvPr id="3" name="Text 1"/>
          <p:cNvSpPr/>
          <p:nvPr/>
        </p:nvSpPr>
        <p:spPr>
          <a:xfrm>
            <a:off x="1143000" y="3286125"/>
            <a:ext cx="15716250" cy="1047750"/>
          </a:xfrm>
          <a:prstGeom prst="rect">
            <a:avLst/>
          </a:prstGeom>
          <a:noFill/>
          <a:ln/>
        </p:spPr>
        <p:txBody>
          <a:bodyPr wrap="square" lIns="25400" tIns="25400" rIns="25400" bIns="25400" rtlCol="0" anchor="t">
            <a:normAutofit/>
          </a:bodyPr>
          <a:lstStyle/>
          <a:p>
            <a:pPr algn="l" indent="0" marL="0">
              <a:lnSpc>
                <a:spcPct val="84864"/>
              </a:lnSpc>
              <a:buNone/>
            </a:pPr>
            <a:r>
              <a:rPr lang="en-US" sz="7800" b="1" spc="-156" kern="0" dirty="0">
                <a:solidFill>
                  <a:srgbClr val="F6F7F4"/>
                </a:solidFill>
                <a:latin typeface="Bricolage Grotesque" pitchFamily="34" charset="0"/>
                <a:ea typeface="Bricolage Grotesque" pitchFamily="34" charset="-122"/>
                <a:cs typeface="Bricolage Grotesque" pitchFamily="34" charset="-120"/>
              </a:rPr>
              <a:t>Data Observability Platform</a:t>
            </a:r>
            <a:endParaRPr lang="en-US" sz="7800" dirty="0"/>
          </a:p>
        </p:txBody>
      </p:sp>
      <p:sp>
        <p:nvSpPr>
          <p:cNvPr id="4" name="Text 2"/>
          <p:cNvSpPr/>
          <p:nvPr/>
        </p:nvSpPr>
        <p:spPr>
          <a:xfrm>
            <a:off x="1143000" y="4714875"/>
            <a:ext cx="12263438" cy="1905000"/>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One incident told twice — two days today, thirty minutes on the platform. Then the ladder both stories sit on: trust earned rung by rung, a nine-month climb, and a top rung where assets onboard themselves and incidents heal themselves.</a:t>
            </a:r>
            <a:endParaRPr lang="en-US" sz="2550" dirty="0"/>
          </a:p>
        </p:txBody>
      </p:sp>
      <p:sp>
        <p:nvSpPr>
          <p:cNvPr id="5" name="Text 3"/>
          <p:cNvSpPr/>
          <p:nvPr/>
        </p:nvSpPr>
        <p:spPr>
          <a:xfrm>
            <a:off x="1143000" y="7439025"/>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What is</a:t>
            </a:r>
            <a:endParaRPr lang="en-US" sz="1800" dirty="0"/>
          </a:p>
        </p:txBody>
      </p:sp>
      <p:sp>
        <p:nvSpPr>
          <p:cNvPr id="6" name="Text 4"/>
          <p:cNvSpPr/>
          <p:nvPr/>
        </p:nvSpPr>
        <p:spPr>
          <a:xfrm>
            <a:off x="2522339"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7" name="Text 5"/>
          <p:cNvSpPr/>
          <p:nvPr/>
        </p:nvSpPr>
        <p:spPr>
          <a:xfrm>
            <a:off x="3078659" y="7439025"/>
            <a:ext cx="196142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What could be</a:t>
            </a:r>
            <a:endParaRPr lang="en-US" sz="1800" dirty="0"/>
          </a:p>
        </p:txBody>
      </p:sp>
      <p:sp>
        <p:nvSpPr>
          <p:cNvPr id="8" name="Text 6"/>
          <p:cNvSpPr/>
          <p:nvPr/>
        </p:nvSpPr>
        <p:spPr>
          <a:xfrm>
            <a:off x="5280868"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9" name="Text 7"/>
          <p:cNvSpPr/>
          <p:nvPr/>
        </p:nvSpPr>
        <p:spPr>
          <a:xfrm>
            <a:off x="5837188" y="7439025"/>
            <a:ext cx="150876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The ladder</a:t>
            </a:r>
            <a:endParaRPr lang="en-US" sz="1800" dirty="0"/>
          </a:p>
        </p:txBody>
      </p:sp>
      <p:sp>
        <p:nvSpPr>
          <p:cNvPr id="10" name="Text 8"/>
          <p:cNvSpPr/>
          <p:nvPr/>
        </p:nvSpPr>
        <p:spPr>
          <a:xfrm>
            <a:off x="7627888"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11" name="Text 9"/>
          <p:cNvSpPr/>
          <p:nvPr/>
        </p:nvSpPr>
        <p:spPr>
          <a:xfrm>
            <a:off x="8184207" y="7439025"/>
            <a:ext cx="13579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The climb</a:t>
            </a:r>
            <a:endParaRPr lang="en-US" sz="1800" dirty="0"/>
          </a:p>
        </p:txBody>
      </p:sp>
      <p:sp>
        <p:nvSpPr>
          <p:cNvPr id="12" name="Text 10"/>
          <p:cNvSpPr/>
          <p:nvPr/>
        </p:nvSpPr>
        <p:spPr>
          <a:xfrm>
            <a:off x="9837837" y="7439025"/>
            <a:ext cx="2134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t>
            </a:r>
            <a:endParaRPr lang="en-US" sz="1800" dirty="0"/>
          </a:p>
        </p:txBody>
      </p:sp>
      <p:sp>
        <p:nvSpPr>
          <p:cNvPr id="13" name="Text 11"/>
          <p:cNvSpPr/>
          <p:nvPr/>
        </p:nvSpPr>
        <p:spPr>
          <a:xfrm>
            <a:off x="10394156" y="7439025"/>
            <a:ext cx="16597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E8C97"/>
                </a:solidFill>
                <a:latin typeface="Courier New" pitchFamily="34" charset="0"/>
                <a:ea typeface="Courier New" pitchFamily="34" charset="-122"/>
                <a:cs typeface="Courier New" pitchFamily="34" charset="-120"/>
              </a:rPr>
              <a:t>August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WHAT IS · TODAY, IN PRODUCTION</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Failures live in the seams — one incident, as it runs today</a:t>
            </a:r>
            <a:endParaRPr lang="en-US" sz="4800" dirty="0"/>
          </a:p>
        </p:txBody>
      </p:sp>
      <p:sp>
        <p:nvSpPr>
          <p:cNvPr id="4" name="Shape 2"/>
          <p:cNvSpPr/>
          <p:nvPr/>
        </p:nvSpPr>
        <p:spPr>
          <a:xfrm>
            <a:off x="952500" y="2447925"/>
            <a:ext cx="9220200" cy="7077075"/>
          </a:xfrm>
          <a:prstGeom prst="roundRect">
            <a:avLst>
              <a:gd name="adj" fmla="val 1884"/>
            </a:avLst>
          </a:prstGeom>
          <a:solidFill>
            <a:srgbClr val="FDFDFB"/>
          </a:solidFill>
          <a:ln w="9525">
            <a:solidFill>
              <a:srgbClr val="D9DED7"/>
            </a:solidFill>
            <a:prstDash val="solid"/>
          </a:ln>
        </p:spPr>
      </p:sp>
      <p:sp>
        <p:nvSpPr>
          <p:cNvPr id="5" name="Text 3"/>
          <p:cNvSpPr/>
          <p:nvPr/>
        </p:nvSpPr>
        <p:spPr>
          <a:xfrm>
            <a:off x="1323975" y="2952750"/>
            <a:ext cx="3696593"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A3442E"/>
                </a:solidFill>
                <a:latin typeface="IBM Plex Mono" pitchFamily="34" charset="0"/>
                <a:ea typeface="IBM Plex Mono" pitchFamily="34" charset="-122"/>
                <a:cs typeface="IBM Plex Mono" pitchFamily="34" charset="-120"/>
              </a:rPr>
              <a:t>TODAY · TIME TO TRUTH</a:t>
            </a:r>
            <a:endParaRPr lang="en-US" sz="1800" dirty="0"/>
          </a:p>
        </p:txBody>
      </p:sp>
      <p:sp>
        <p:nvSpPr>
          <p:cNvPr id="6" name="Text 4"/>
          <p:cNvSpPr/>
          <p:nvPr/>
        </p:nvSpPr>
        <p:spPr>
          <a:xfrm>
            <a:off x="8056066" y="2781300"/>
            <a:ext cx="1919674"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A3442E"/>
                </a:solidFill>
                <a:latin typeface="Bricolage Grotesque" pitchFamily="34" charset="0"/>
                <a:ea typeface="Bricolage Grotesque" pitchFamily="34" charset="-122"/>
                <a:cs typeface="Bricolage Grotesque" pitchFamily="34" charset="-120"/>
              </a:rPr>
              <a:t>≈ 2 days</a:t>
            </a:r>
            <a:endParaRPr lang="en-US" sz="3450" dirty="0"/>
          </a:p>
        </p:txBody>
      </p:sp>
      <p:sp>
        <p:nvSpPr>
          <p:cNvPr id="7" name="Shape 5"/>
          <p:cNvSpPr/>
          <p:nvPr/>
        </p:nvSpPr>
        <p:spPr>
          <a:xfrm>
            <a:off x="1323975" y="3552825"/>
            <a:ext cx="8477250" cy="9525"/>
          </a:xfrm>
          <a:prstGeom prst="rect">
            <a:avLst/>
          </a:prstGeom>
          <a:solidFill>
            <a:srgbClr val="D9DED7"/>
          </a:solidFill>
          <a:ln/>
        </p:spPr>
      </p:sp>
      <p:sp>
        <p:nvSpPr>
          <p:cNvPr id="8" name="Text 6"/>
          <p:cNvSpPr/>
          <p:nvPr/>
        </p:nvSpPr>
        <p:spPr>
          <a:xfrm>
            <a:off x="1323975" y="376237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1</a:t>
            </a:r>
            <a:endParaRPr lang="en-US" sz="1875" dirty="0"/>
          </a:p>
        </p:txBody>
      </p:sp>
      <p:sp>
        <p:nvSpPr>
          <p:cNvPr id="9" name="Text 7"/>
          <p:cNvSpPr/>
          <p:nvPr/>
        </p:nvSpPr>
        <p:spPr>
          <a:xfrm>
            <a:off x="2847975" y="373380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Job exits 0 — "success" — 8% of rows silently NULLed. No alert anywhere.</a:t>
            </a:r>
            <a:endParaRPr lang="en-US" sz="2025" dirty="0"/>
          </a:p>
        </p:txBody>
      </p:sp>
      <p:sp>
        <p:nvSpPr>
          <p:cNvPr id="10" name="Shape 8"/>
          <p:cNvSpPr/>
          <p:nvPr/>
        </p:nvSpPr>
        <p:spPr>
          <a:xfrm>
            <a:off x="1323975" y="4667250"/>
            <a:ext cx="8477250" cy="9525"/>
          </a:xfrm>
          <a:prstGeom prst="rect">
            <a:avLst/>
          </a:prstGeom>
          <a:solidFill>
            <a:srgbClr val="D9DED7"/>
          </a:solidFill>
          <a:ln/>
        </p:spPr>
      </p:sp>
      <p:sp>
        <p:nvSpPr>
          <p:cNvPr id="11" name="Text 9"/>
          <p:cNvSpPr/>
          <p:nvPr/>
        </p:nvSpPr>
        <p:spPr>
          <a:xfrm>
            <a:off x="1323975" y="4876800"/>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Day 2</a:t>
            </a:r>
            <a:endParaRPr lang="en-US" sz="1875" dirty="0"/>
          </a:p>
        </p:txBody>
      </p:sp>
      <p:sp>
        <p:nvSpPr>
          <p:cNvPr id="12" name="Text 10"/>
          <p:cNvSpPr/>
          <p:nvPr/>
        </p:nvSpPr>
        <p:spPr>
          <a:xfrm>
            <a:off x="2847975" y="4848225"/>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An analyst notices revenue looks low — decisions already made on the wrong number.</a:t>
            </a:r>
            <a:endParaRPr lang="en-US" sz="2025" dirty="0"/>
          </a:p>
        </p:txBody>
      </p:sp>
      <p:sp>
        <p:nvSpPr>
          <p:cNvPr id="13" name="Shape 11"/>
          <p:cNvSpPr/>
          <p:nvPr/>
        </p:nvSpPr>
        <p:spPr>
          <a:xfrm>
            <a:off x="1323975" y="5781675"/>
            <a:ext cx="8477250" cy="9525"/>
          </a:xfrm>
          <a:prstGeom prst="rect">
            <a:avLst/>
          </a:prstGeom>
          <a:solidFill>
            <a:srgbClr val="D9DED7"/>
          </a:solidFill>
          <a:ln/>
        </p:spPr>
      </p:sp>
      <p:sp>
        <p:nvSpPr>
          <p:cNvPr id="14" name="Text 12"/>
          <p:cNvSpPr/>
          <p:nvPr/>
        </p:nvSpPr>
        <p:spPr>
          <a:xfrm>
            <a:off x="1323975" y="5991225"/>
            <a:ext cx="14668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5B6873"/>
                </a:solidFill>
                <a:latin typeface="IBM Plex Mono" pitchFamily="34" charset="0"/>
                <a:ea typeface="IBM Plex Mono" pitchFamily="34" charset="-122"/>
                <a:cs typeface="IBM Plex Mono" pitchFamily="34" charset="-120"/>
              </a:rPr>
              <a:t>+4–6 hrs</a:t>
            </a:r>
            <a:endParaRPr lang="en-US" sz="1875" dirty="0"/>
          </a:p>
        </p:txBody>
      </p:sp>
      <p:sp>
        <p:nvSpPr>
          <p:cNvPr id="15" name="Text 13"/>
          <p:cNvSpPr/>
          <p:nvPr/>
        </p:nvSpPr>
        <p:spPr>
          <a:xfrm>
            <a:off x="2847975" y="5962650"/>
            <a:ext cx="716184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3D4A55"/>
                </a:solidFill>
                <a:latin typeface="Source Serif 4" pitchFamily="34" charset="0"/>
                <a:ea typeface="Source Serif 4" pitchFamily="34" charset="-122"/>
                <a:cs typeface="Source Serif 4" pitchFamily="34" charset="-120"/>
              </a:rPr>
              <a:t>War room: four teams paged, every tool reports green; root cause found by hand.</a:t>
            </a:r>
            <a:endParaRPr lang="en-US" sz="2025" dirty="0"/>
          </a:p>
        </p:txBody>
      </p:sp>
      <p:sp>
        <p:nvSpPr>
          <p:cNvPr id="16" name="Shape 14"/>
          <p:cNvSpPr/>
          <p:nvPr/>
        </p:nvSpPr>
        <p:spPr>
          <a:xfrm>
            <a:off x="1323975" y="8505825"/>
            <a:ext cx="8477250" cy="685800"/>
          </a:xfrm>
          <a:prstGeom prst="roundRect">
            <a:avLst>
              <a:gd name="adj" fmla="val 13889"/>
            </a:avLst>
          </a:prstGeom>
          <a:solidFill>
            <a:srgbClr val="F3E4DF"/>
          </a:solidFill>
          <a:ln/>
        </p:spPr>
      </p:sp>
      <p:sp>
        <p:nvSpPr>
          <p:cNvPr id="17" name="Text 15"/>
          <p:cNvSpPr/>
          <p:nvPr/>
        </p:nvSpPr>
        <p:spPr>
          <a:xfrm>
            <a:off x="1552575" y="8677275"/>
            <a:ext cx="8274368"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A3442E"/>
                </a:solidFill>
                <a:latin typeface="Source Serif 4" pitchFamily="34" charset="0"/>
                <a:ea typeface="Source Serif 4" pitchFamily="34" charset="-122"/>
                <a:cs typeface="Source Serif 4" pitchFamily="34" charset="-120"/>
              </a:rPr>
              <a:t>Bad data reached a decision · 4 teams paged · found by luck</a:t>
            </a:r>
            <a:endParaRPr lang="en-US" sz="1950" dirty="0"/>
          </a:p>
        </p:txBody>
      </p:sp>
      <p:sp>
        <p:nvSpPr>
          <p:cNvPr id="18" name="Shape 16"/>
          <p:cNvSpPr/>
          <p:nvPr/>
        </p:nvSpPr>
        <p:spPr>
          <a:xfrm>
            <a:off x="10553700" y="2447925"/>
            <a:ext cx="6781800" cy="1409700"/>
          </a:xfrm>
          <a:prstGeom prst="roundRect">
            <a:avLst>
              <a:gd name="adj" fmla="val 8108"/>
            </a:avLst>
          </a:prstGeom>
          <a:solidFill>
            <a:srgbClr val="1B2530"/>
          </a:solidFill>
          <a:ln/>
        </p:spPr>
      </p:sp>
      <p:sp>
        <p:nvSpPr>
          <p:cNvPr id="19" name="Text 17"/>
          <p:cNvSpPr/>
          <p:nvPr/>
        </p:nvSpPr>
        <p:spPr>
          <a:xfrm>
            <a:off x="10858500" y="26955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~$2M/yr</a:t>
            </a:r>
            <a:endParaRPr lang="en-US" sz="3450" dirty="0"/>
          </a:p>
        </p:txBody>
      </p:sp>
      <p:sp>
        <p:nvSpPr>
          <p:cNvPr id="20" name="Text 18"/>
          <p:cNvSpPr/>
          <p:nvPr/>
        </p:nvSpPr>
        <p:spPr>
          <a:xfrm>
            <a:off x="10858500" y="32956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lost per 50 affected engineers</a:t>
            </a:r>
            <a:endParaRPr lang="en-US" sz="1875" dirty="0"/>
          </a:p>
        </p:txBody>
      </p:sp>
      <p:sp>
        <p:nvSpPr>
          <p:cNvPr id="21" name="Shape 19"/>
          <p:cNvSpPr/>
          <p:nvPr/>
        </p:nvSpPr>
        <p:spPr>
          <a:xfrm>
            <a:off x="10553700" y="4048125"/>
            <a:ext cx="6781800" cy="1409700"/>
          </a:xfrm>
          <a:prstGeom prst="roundRect">
            <a:avLst>
              <a:gd name="adj" fmla="val 8108"/>
            </a:avLst>
          </a:prstGeom>
          <a:solidFill>
            <a:srgbClr val="1B2530"/>
          </a:solidFill>
          <a:ln/>
        </p:spPr>
      </p:sp>
      <p:sp>
        <p:nvSpPr>
          <p:cNvPr id="22" name="Text 20"/>
          <p:cNvSpPr/>
          <p:nvPr/>
        </p:nvSpPr>
        <p:spPr>
          <a:xfrm>
            <a:off x="10858500" y="4295775"/>
            <a:ext cx="6789420"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F6F7F4"/>
                </a:solidFill>
                <a:latin typeface="Bricolage Grotesque" pitchFamily="34" charset="0"/>
                <a:ea typeface="Bricolage Grotesque" pitchFamily="34" charset="-122"/>
                <a:cs typeface="Bricolage Grotesque" pitchFamily="34" charset="-120"/>
              </a:rPr>
              <a:t>0</a:t>
            </a:r>
            <a:endParaRPr lang="en-US" sz="3450" dirty="0"/>
          </a:p>
        </p:txBody>
      </p:sp>
      <p:sp>
        <p:nvSpPr>
          <p:cNvPr id="23" name="Text 21"/>
          <p:cNvSpPr/>
          <p:nvPr/>
        </p:nvSpPr>
        <p:spPr>
          <a:xfrm>
            <a:off x="10858500" y="4895850"/>
            <a:ext cx="678942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B9C4CC"/>
                </a:solidFill>
                <a:latin typeface="IBM Plex Mono" pitchFamily="34" charset="0"/>
                <a:ea typeface="IBM Plex Mono" pitchFamily="34" charset="-122"/>
                <a:cs typeface="IBM Plex Mono" pitchFamily="34" charset="-120"/>
              </a:rPr>
              <a:t>alerts on silent failures today</a:t>
            </a:r>
            <a:endParaRPr lang="en-US" sz="1875" dirty="0"/>
          </a:p>
        </p:txBody>
      </p:sp>
      <p:sp>
        <p:nvSpPr>
          <p:cNvPr id="24" name="Shape 22"/>
          <p:cNvSpPr/>
          <p:nvPr/>
        </p:nvSpPr>
        <p:spPr>
          <a:xfrm>
            <a:off x="10553700" y="7486650"/>
            <a:ext cx="6781800" cy="2038350"/>
          </a:xfrm>
          <a:prstGeom prst="roundRect">
            <a:avLst>
              <a:gd name="adj" fmla="val 5607"/>
            </a:avLst>
          </a:prstGeom>
          <a:solidFill>
            <a:srgbClr val="E3EFEA"/>
          </a:solidFill>
          <a:ln/>
        </p:spPr>
      </p:sp>
      <p:sp>
        <p:nvSpPr>
          <p:cNvPr id="25" name="Text 23"/>
          <p:cNvSpPr/>
          <p:nvPr/>
        </p:nvSpPr>
        <p:spPr>
          <a:xfrm>
            <a:off x="10858500" y="7734300"/>
            <a:ext cx="678942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THE OTHER RUN</a:t>
            </a:r>
            <a:endParaRPr lang="en-US" sz="1800" dirty="0"/>
          </a:p>
        </p:txBody>
      </p:sp>
      <p:sp>
        <p:nvSpPr>
          <p:cNvPr id="26" name="Text 24"/>
          <p:cNvSpPr/>
          <p:nvPr/>
        </p:nvSpPr>
        <p:spPr>
          <a:xfrm>
            <a:off x="10858500" y="8134350"/>
            <a:ext cx="6357366" cy="1181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1B2530"/>
                </a:solidFill>
                <a:latin typeface="Source Serif 4" pitchFamily="34" charset="0"/>
                <a:ea typeface="Source Serif 4" pitchFamily="34" charset="-122"/>
                <a:cs typeface="Source Serif 4" pitchFamily="34" charset="-120"/>
              </a:rPr>
              <a:t>Next slide — this same incident on the platform: </a:t>
            </a:r>
            <a:pPr algn="l" indent="0" marL="0">
              <a:lnSpc>
                <a:spcPct val="109459"/>
              </a:lnSpc>
              <a:buNone/>
            </a:pPr>
            <a:r>
              <a:rPr lang="en-US" sz="2025" b="1" dirty="0">
                <a:solidFill>
                  <a:srgbClr val="1B2530"/>
                </a:solidFill>
                <a:latin typeface="Source Serif 4" pitchFamily="34" charset="0"/>
                <a:ea typeface="Source Serif 4" pitchFamily="34" charset="-122"/>
                <a:cs typeface="Source Serif 4" pitchFamily="34" charset="-120"/>
              </a:rPr>
              <a:t>≈ 30 minutes, one team paged, caught pre-consumption — 96× faster to truth.</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6096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WHAT COULD BE · THE SAME INCIDENT, REPLAYED</a:t>
            </a:r>
            <a:endParaRPr lang="en-US" sz="1800" dirty="0"/>
          </a:p>
        </p:txBody>
      </p:sp>
      <p:sp>
        <p:nvSpPr>
          <p:cNvPr id="3" name="Text 1"/>
          <p:cNvSpPr/>
          <p:nvPr/>
        </p:nvSpPr>
        <p:spPr>
          <a:xfrm>
            <a:off x="952500" y="10477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the experience will work</a:t>
            </a:r>
            <a:endParaRPr lang="en-US" sz="4800" dirty="0"/>
          </a:p>
        </p:txBody>
      </p:sp>
      <p:sp>
        <p:nvSpPr>
          <p:cNvPr id="4" name="Text 2"/>
          <p:cNvSpPr/>
          <p:nvPr/>
        </p:nvSpPr>
        <p:spPr>
          <a:xfrm>
            <a:off x="952500" y="1819275"/>
            <a:ext cx="13244513"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The incident you just saw, replayed on the platform: two days becomes thirty minutes — 96× faster to truth.</a:t>
            </a:r>
            <a:endParaRPr lang="en-US" sz="2025" dirty="0"/>
          </a:p>
        </p:txBody>
      </p:sp>
      <p:sp>
        <p:nvSpPr>
          <p:cNvPr id="5" name="Shape 3"/>
          <p:cNvSpPr/>
          <p:nvPr/>
        </p:nvSpPr>
        <p:spPr>
          <a:xfrm>
            <a:off x="952500" y="3743325"/>
            <a:ext cx="8622357" cy="9525"/>
          </a:xfrm>
          <a:prstGeom prst="rect">
            <a:avLst/>
          </a:prstGeom>
          <a:solidFill>
            <a:srgbClr val="D9DED7"/>
          </a:solidFill>
          <a:ln/>
        </p:spPr>
      </p:sp>
      <p:sp>
        <p:nvSpPr>
          <p:cNvPr id="6" name="Text 4"/>
          <p:cNvSpPr/>
          <p:nvPr/>
        </p:nvSpPr>
        <p:spPr>
          <a:xfrm>
            <a:off x="952500" y="29718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T+0</a:t>
            </a:r>
            <a:endParaRPr lang="en-US" sz="1800" dirty="0"/>
          </a:p>
        </p:txBody>
      </p:sp>
      <p:sp>
        <p:nvSpPr>
          <p:cNvPr id="7" name="Text 5"/>
          <p:cNvSpPr/>
          <p:nvPr/>
        </p:nvSpPr>
        <p:spPr>
          <a:xfrm>
            <a:off x="2381250" y="295275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payments-svc deploys v3.17 — customer_id silently dropped. Nothing on the data path blocks; data keeps flowing.</a:t>
            </a:r>
            <a:endParaRPr lang="en-US" sz="1950" dirty="0"/>
          </a:p>
        </p:txBody>
      </p:sp>
      <p:sp>
        <p:nvSpPr>
          <p:cNvPr id="8" name="Shape 6"/>
          <p:cNvSpPr/>
          <p:nvPr/>
        </p:nvSpPr>
        <p:spPr>
          <a:xfrm>
            <a:off x="952500" y="4629150"/>
            <a:ext cx="8622357" cy="9525"/>
          </a:xfrm>
          <a:prstGeom prst="rect">
            <a:avLst/>
          </a:prstGeom>
          <a:solidFill>
            <a:srgbClr val="D9DED7"/>
          </a:solidFill>
          <a:ln/>
        </p:spPr>
      </p:sp>
      <p:sp>
        <p:nvSpPr>
          <p:cNvPr id="9" name="Text 7"/>
          <p:cNvSpPr/>
          <p:nvPr/>
        </p:nvSpPr>
        <p:spPr>
          <a:xfrm>
            <a:off x="952500" y="385762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+2 s</a:t>
            </a:r>
            <a:endParaRPr lang="en-US" sz="1800" dirty="0"/>
          </a:p>
        </p:txBody>
      </p:sp>
      <p:sp>
        <p:nvSpPr>
          <p:cNvPr id="10" name="Text 8"/>
          <p:cNvSpPr/>
          <p:nvPr/>
        </p:nvSpPr>
        <p:spPr>
          <a:xfrm>
            <a:off x="2381250" y="383857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Evidence: every record now fails the contract check, reason code attached, trace preserved.</a:t>
            </a:r>
            <a:endParaRPr lang="en-US" sz="1950" dirty="0"/>
          </a:p>
        </p:txBody>
      </p:sp>
      <p:sp>
        <p:nvSpPr>
          <p:cNvPr id="11" name="Shape 9"/>
          <p:cNvSpPr/>
          <p:nvPr/>
        </p:nvSpPr>
        <p:spPr>
          <a:xfrm>
            <a:off x="952500" y="5514975"/>
            <a:ext cx="8622357" cy="9525"/>
          </a:xfrm>
          <a:prstGeom prst="rect">
            <a:avLst/>
          </a:prstGeom>
          <a:solidFill>
            <a:srgbClr val="D9DED7"/>
          </a:solidFill>
          <a:ln/>
        </p:spPr>
      </p:sp>
      <p:sp>
        <p:nvSpPr>
          <p:cNvPr id="12" name="Text 10"/>
          <p:cNvSpPr/>
          <p:nvPr/>
        </p:nvSpPr>
        <p:spPr>
          <a:xfrm>
            <a:off x="952500" y="474345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+5 min</a:t>
            </a:r>
            <a:endParaRPr lang="en-US" sz="1800" dirty="0"/>
          </a:p>
        </p:txBody>
      </p:sp>
      <p:sp>
        <p:nvSpPr>
          <p:cNvPr id="13" name="Text 11"/>
          <p:cNvSpPr/>
          <p:nvPr/>
        </p:nvSpPr>
        <p:spPr>
          <a:xfrm>
            <a:off x="2381250" y="4724400"/>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Signal: compliance collapses in the window — one incident created, deploy already attached as the cause candidate.</a:t>
            </a:r>
            <a:endParaRPr lang="en-US" sz="1950" dirty="0"/>
          </a:p>
        </p:txBody>
      </p:sp>
      <p:sp>
        <p:nvSpPr>
          <p:cNvPr id="14" name="Shape 12"/>
          <p:cNvSpPr/>
          <p:nvPr/>
        </p:nvSpPr>
        <p:spPr>
          <a:xfrm>
            <a:off x="952500" y="6400800"/>
            <a:ext cx="8622357" cy="9525"/>
          </a:xfrm>
          <a:prstGeom prst="rect">
            <a:avLst/>
          </a:prstGeom>
          <a:solidFill>
            <a:srgbClr val="D9DED7"/>
          </a:solidFill>
          <a:ln/>
        </p:spPr>
      </p:sp>
      <p:sp>
        <p:nvSpPr>
          <p:cNvPr id="15" name="Text 13"/>
          <p:cNvSpPr/>
          <p:nvPr/>
        </p:nvSpPr>
        <p:spPr>
          <a:xfrm>
            <a:off x="952500" y="56292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+6 min</a:t>
            </a:r>
            <a:endParaRPr lang="en-US" sz="1800" dirty="0"/>
          </a:p>
        </p:txBody>
      </p:sp>
      <p:sp>
        <p:nvSpPr>
          <p:cNvPr id="16" name="Text 14"/>
          <p:cNvSpPr/>
          <p:nvPr/>
        </p:nvSpPr>
        <p:spPr>
          <a:xfrm>
            <a:off x="2381250" y="5610225"/>
            <a:ext cx="7409416"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team paged — with the answer in hand, not a war room. Downstream owners notified of exposure.</a:t>
            </a:r>
            <a:endParaRPr lang="en-US" sz="1950" dirty="0"/>
          </a:p>
        </p:txBody>
      </p:sp>
      <p:sp>
        <p:nvSpPr>
          <p:cNvPr id="17" name="Text 15"/>
          <p:cNvSpPr/>
          <p:nvPr/>
        </p:nvSpPr>
        <p:spPr>
          <a:xfrm>
            <a:off x="952500" y="65151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+30 min</a:t>
            </a:r>
            <a:endParaRPr lang="en-US" sz="1800" dirty="0"/>
          </a:p>
        </p:txBody>
      </p:sp>
      <p:sp>
        <p:nvSpPr>
          <p:cNvPr id="18" name="Text 16"/>
          <p:cNvSpPr/>
          <p:nvPr/>
        </p:nvSpPr>
        <p:spPr>
          <a:xfrm>
            <a:off x="2381250" y="6496050"/>
            <a:ext cx="7409416"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Gate holds the bad batch; consumers keep reading last-certified data. Rollback ships. No decision was made on bad data.</a:t>
            </a:r>
            <a:endParaRPr lang="en-US" sz="1950" dirty="0"/>
          </a:p>
        </p:txBody>
      </p:sp>
      <p:sp>
        <p:nvSpPr>
          <p:cNvPr id="19" name="Shape 17"/>
          <p:cNvSpPr/>
          <p:nvPr/>
        </p:nvSpPr>
        <p:spPr>
          <a:xfrm>
            <a:off x="952500" y="9439275"/>
            <a:ext cx="2617291" cy="561975"/>
          </a:xfrm>
          <a:prstGeom prst="roundRect">
            <a:avLst>
              <a:gd name="adj" fmla="val 16949"/>
            </a:avLst>
          </a:prstGeom>
          <a:solidFill>
            <a:srgbClr val="E3EFEA"/>
          </a:solidFill>
          <a:ln/>
        </p:spPr>
      </p:sp>
      <p:sp>
        <p:nvSpPr>
          <p:cNvPr id="20" name="Text 18"/>
          <p:cNvSpPr/>
          <p:nvPr/>
        </p:nvSpPr>
        <p:spPr>
          <a:xfrm>
            <a:off x="1123950" y="9534525"/>
            <a:ext cx="727472"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s</a:t>
            </a:r>
            <a:endParaRPr lang="en-US" sz="2400" dirty="0"/>
          </a:p>
        </p:txBody>
      </p:sp>
      <p:sp>
        <p:nvSpPr>
          <p:cNvPr id="21" name="Text 19"/>
          <p:cNvSpPr/>
          <p:nvPr/>
        </p:nvSpPr>
        <p:spPr>
          <a:xfrm>
            <a:off x="1889522" y="9582150"/>
            <a:ext cx="1659701"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evidence</a:t>
            </a:r>
            <a:endParaRPr lang="en-US" sz="1800" dirty="0"/>
          </a:p>
        </p:txBody>
      </p:sp>
      <p:sp>
        <p:nvSpPr>
          <p:cNvPr id="22" name="Shape 20"/>
          <p:cNvSpPr/>
          <p:nvPr/>
        </p:nvSpPr>
        <p:spPr>
          <a:xfrm>
            <a:off x="3760291" y="9439275"/>
            <a:ext cx="2744539" cy="561975"/>
          </a:xfrm>
          <a:prstGeom prst="roundRect">
            <a:avLst>
              <a:gd name="adj" fmla="val 16949"/>
            </a:avLst>
          </a:prstGeom>
          <a:solidFill>
            <a:srgbClr val="E3EFEA"/>
          </a:solidFill>
          <a:ln/>
        </p:spPr>
      </p:sp>
      <p:sp>
        <p:nvSpPr>
          <p:cNvPr id="23" name="Text 21"/>
          <p:cNvSpPr/>
          <p:nvPr/>
        </p:nvSpPr>
        <p:spPr>
          <a:xfrm>
            <a:off x="3931741" y="9534525"/>
            <a:ext cx="1129010"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5 min</a:t>
            </a:r>
            <a:endParaRPr lang="en-US" sz="2400" dirty="0"/>
          </a:p>
        </p:txBody>
      </p:sp>
      <p:sp>
        <p:nvSpPr>
          <p:cNvPr id="24" name="Text 22"/>
          <p:cNvSpPr/>
          <p:nvPr/>
        </p:nvSpPr>
        <p:spPr>
          <a:xfrm>
            <a:off x="5098852" y="9582150"/>
            <a:ext cx="1357982"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signal</a:t>
            </a:r>
            <a:endParaRPr lang="en-US" sz="1800" dirty="0"/>
          </a:p>
        </p:txBody>
      </p:sp>
      <p:sp>
        <p:nvSpPr>
          <p:cNvPr id="25" name="Shape 23"/>
          <p:cNvSpPr/>
          <p:nvPr/>
        </p:nvSpPr>
        <p:spPr>
          <a:xfrm>
            <a:off x="6695331" y="9439275"/>
            <a:ext cx="2879527" cy="561975"/>
          </a:xfrm>
          <a:prstGeom prst="roundRect">
            <a:avLst>
              <a:gd name="adj" fmla="val 16949"/>
            </a:avLst>
          </a:prstGeom>
          <a:solidFill>
            <a:srgbClr val="E3EFEA"/>
          </a:solidFill>
          <a:ln/>
        </p:spPr>
      </p:sp>
      <p:sp>
        <p:nvSpPr>
          <p:cNvPr id="26" name="Text 24"/>
          <p:cNvSpPr/>
          <p:nvPr/>
        </p:nvSpPr>
        <p:spPr>
          <a:xfrm>
            <a:off x="6866781" y="9534525"/>
            <a:ext cx="1126927" cy="409575"/>
          </a:xfrm>
          <a:prstGeom prst="rect">
            <a:avLst/>
          </a:prstGeom>
          <a:noFill/>
          <a:ln/>
        </p:spPr>
        <p:txBody>
          <a:bodyPr wrap="none" lIns="25400" tIns="25400" rIns="25400" bIns="25400" rtlCol="0" anchor="t">
            <a:normAutofit/>
          </a:bodyPr>
          <a:lstStyle/>
          <a:p>
            <a:pPr algn="l" indent="0" marL="0">
              <a:buNone/>
            </a:pPr>
            <a:r>
              <a:rPr lang="en-US" sz="2400" b="1" dirty="0">
                <a:solidFill>
                  <a:srgbClr val="0E7C6B"/>
                </a:solidFill>
                <a:latin typeface="Bricolage Grotesque" pitchFamily="34" charset="0"/>
                <a:ea typeface="Bricolage Grotesque" pitchFamily="34" charset="-122"/>
                <a:cs typeface="Bricolage Grotesque" pitchFamily="34" charset="-120"/>
              </a:rPr>
              <a:t>&lt; 2 min</a:t>
            </a:r>
            <a:endParaRPr lang="en-US" sz="2400" dirty="0"/>
          </a:p>
        </p:txBody>
      </p:sp>
      <p:sp>
        <p:nvSpPr>
          <p:cNvPr id="27" name="Text 25"/>
          <p:cNvSpPr/>
          <p:nvPr/>
        </p:nvSpPr>
        <p:spPr>
          <a:xfrm>
            <a:off x="8031807" y="9582150"/>
            <a:ext cx="1508760" cy="342900"/>
          </a:xfrm>
          <a:prstGeom prst="rect">
            <a:avLst/>
          </a:prstGeom>
          <a:noFill/>
          <a:ln/>
        </p:spPr>
        <p:txBody>
          <a:bodyPr wrap="non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to a cause</a:t>
            </a:r>
            <a:endParaRPr lang="en-US" sz="1800" dirty="0"/>
          </a:p>
        </p:txBody>
      </p:sp>
      <p:sp>
        <p:nvSpPr>
          <p:cNvPr id="28" name="Shape 26"/>
          <p:cNvSpPr/>
          <p:nvPr/>
        </p:nvSpPr>
        <p:spPr>
          <a:xfrm>
            <a:off x="9993957" y="2867025"/>
            <a:ext cx="7341543" cy="7134225"/>
          </a:xfrm>
          <a:prstGeom prst="roundRect">
            <a:avLst>
              <a:gd name="adj" fmla="val 2136"/>
            </a:avLst>
          </a:prstGeom>
          <a:solidFill>
            <a:srgbClr val="1B2530"/>
          </a:solidFill>
          <a:ln/>
        </p:spPr>
      </p:sp>
      <p:sp>
        <p:nvSpPr>
          <p:cNvPr id="29" name="Text 27"/>
          <p:cNvSpPr/>
          <p:nvPr/>
        </p:nvSpPr>
        <p:spPr>
          <a:xfrm>
            <a:off x="10336857" y="3114675"/>
            <a:ext cx="7321317"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WHAT THE ON-CALL SEES</a:t>
            </a:r>
            <a:endParaRPr lang="en-US" sz="1800" dirty="0"/>
          </a:p>
        </p:txBody>
      </p:sp>
      <p:sp>
        <p:nvSpPr>
          <p:cNvPr id="30" name="Shape 28"/>
          <p:cNvSpPr/>
          <p:nvPr/>
        </p:nvSpPr>
        <p:spPr>
          <a:xfrm>
            <a:off x="10336857" y="3590925"/>
            <a:ext cx="2286000" cy="400050"/>
          </a:xfrm>
          <a:prstGeom prst="roundRect">
            <a:avLst>
              <a:gd name="adj" fmla="val 11905"/>
            </a:avLst>
          </a:prstGeom>
          <a:solidFill>
            <a:srgbClr val="3A2A28"/>
          </a:solidFill>
          <a:ln/>
        </p:spPr>
      </p:sp>
      <p:sp>
        <p:nvSpPr>
          <p:cNvPr id="31" name="Text 29"/>
          <p:cNvSpPr/>
          <p:nvPr/>
        </p:nvSpPr>
        <p:spPr>
          <a:xfrm>
            <a:off x="10451157" y="3638550"/>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CONTRACT_BREACH</a:t>
            </a:r>
            <a:endParaRPr lang="en-US" sz="1800" dirty="0"/>
          </a:p>
        </p:txBody>
      </p:sp>
      <p:sp>
        <p:nvSpPr>
          <p:cNvPr id="32" name="Text 30"/>
          <p:cNvSpPr/>
          <p:nvPr/>
        </p:nvSpPr>
        <p:spPr>
          <a:xfrm>
            <a:off x="12756207" y="3629025"/>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DCE3E8"/>
                </a:solidFill>
                <a:latin typeface="IBM Plex Mono" pitchFamily="34" charset="0"/>
                <a:ea typeface="IBM Plex Mono" pitchFamily="34" charset="-122"/>
                <a:cs typeface="IBM Plex Mono" pitchFamily="34" charset="-120"/>
              </a:rPr>
              <a:t>orders.created</a:t>
            </a:r>
            <a:endParaRPr lang="en-US" sz="1950" dirty="0"/>
          </a:p>
        </p:txBody>
      </p:sp>
      <p:sp>
        <p:nvSpPr>
          <p:cNvPr id="33" name="Shape 31"/>
          <p:cNvSpPr/>
          <p:nvPr/>
        </p:nvSpPr>
        <p:spPr>
          <a:xfrm>
            <a:off x="10336857" y="4143375"/>
            <a:ext cx="6655743" cy="1762125"/>
          </a:xfrm>
          <a:prstGeom prst="roundRect">
            <a:avLst>
              <a:gd name="adj" fmla="val 5405"/>
            </a:avLst>
          </a:prstGeom>
          <a:solidFill>
            <a:srgbClr val="243140"/>
          </a:solidFill>
          <a:ln/>
        </p:spPr>
      </p:sp>
      <p:sp>
        <p:nvSpPr>
          <p:cNvPr id="34" name="Text 32"/>
          <p:cNvSpPr/>
          <p:nvPr/>
        </p:nvSpPr>
        <p:spPr>
          <a:xfrm>
            <a:off x="10546407" y="4276725"/>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ROOT CAUSE</a:t>
            </a:r>
            <a:endParaRPr lang="en-US" sz="1800" dirty="0"/>
          </a:p>
        </p:txBody>
      </p:sp>
      <p:sp>
        <p:nvSpPr>
          <p:cNvPr id="35" name="Text 33"/>
          <p:cNvSpPr/>
          <p:nvPr/>
        </p:nvSpPr>
        <p:spPr>
          <a:xfrm>
            <a:off x="10546407" y="4657725"/>
            <a:ext cx="6423742"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Deployment v3.17 introduced MISSING_FIELD:customer_id at 09:58:02 — last good record 09:57:59.</a:t>
            </a:r>
            <a:endParaRPr lang="en-US" sz="1950" dirty="0"/>
          </a:p>
        </p:txBody>
      </p:sp>
      <p:sp>
        <p:nvSpPr>
          <p:cNvPr id="36" name="Shape 34"/>
          <p:cNvSpPr/>
          <p:nvPr/>
        </p:nvSpPr>
        <p:spPr>
          <a:xfrm>
            <a:off x="10336857" y="6019800"/>
            <a:ext cx="6655743" cy="1409700"/>
          </a:xfrm>
          <a:prstGeom prst="roundRect">
            <a:avLst>
              <a:gd name="adj" fmla="val 6757"/>
            </a:avLst>
          </a:prstGeom>
          <a:solidFill>
            <a:srgbClr val="243140"/>
          </a:solidFill>
          <a:ln/>
        </p:spPr>
      </p:sp>
      <p:sp>
        <p:nvSpPr>
          <p:cNvPr id="37" name="Text 35"/>
          <p:cNvSpPr/>
          <p:nvPr/>
        </p:nvSpPr>
        <p:spPr>
          <a:xfrm>
            <a:off x="10546407" y="6153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38" name="Text 36"/>
          <p:cNvSpPr/>
          <p:nvPr/>
        </p:nvSpPr>
        <p:spPr>
          <a:xfrm>
            <a:off x="10546407" y="6534150"/>
            <a:ext cx="6423742" cy="800100"/>
          </a:xfrm>
          <a:prstGeom prst="rect">
            <a:avLst/>
          </a:prstGeom>
          <a:noFill/>
          <a:ln/>
        </p:spPr>
        <p:txBody>
          <a:bodyPr wrap="square" lIns="25400" tIns="25400" rIns="25400" bIns="25400" rtlCol="0" anchor="t">
            <a:normAutofit/>
          </a:bodyPr>
          <a:lstStyle/>
          <a:p>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finance-pipeline </a:t>
            </a:r>
            <a:pPr algn="l" indent="0" marL="0">
              <a:lnSpc>
                <a:spcPct val="117647"/>
              </a:lnSpc>
              <a:buNone/>
            </a:pPr>
            <a:r>
              <a:rPr lang="en-US" sz="1800" b="1" dirty="0">
                <a:solidFill>
                  <a:srgbClr val="D4765F"/>
                </a:solidFill>
                <a:latin typeface="IBM Plex Mono" pitchFamily="34" charset="0"/>
                <a:ea typeface="IBM Plex Mono" pitchFamily="34" charset="-122"/>
                <a:cs typeface="IBM Plex Mono" pitchFamily="34" charset="-120"/>
              </a:rPr>
              <a:t>HIGH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revenue-dashboard </a:t>
            </a:r>
            <a:pPr algn="l" indent="0" marL="0">
              <a:lnSpc>
                <a:spcPct val="117647"/>
              </a:lnSpc>
              <a:buNone/>
            </a:pPr>
            <a:r>
              <a:rPr lang="en-US" sz="1800" b="1" dirty="0">
                <a:solidFill>
                  <a:srgbClr val="E0A04A"/>
                </a:solidFill>
                <a:latin typeface="IBM Plex Mono" pitchFamily="34" charset="0"/>
                <a:ea typeface="IBM Plex Mono" pitchFamily="34" charset="-122"/>
                <a:cs typeface="IBM Plex Mono" pitchFamily="34" charset="-120"/>
              </a:rPr>
              <a:t>MED </a:t>
            </a:r>
            <a:pPr algn="l" indent="0" marL="0">
              <a:lnSpc>
                <a:spcPct val="117647"/>
              </a:lnSpc>
              <a:buNone/>
            </a:pPr>
            <a:r>
              <a:rPr lang="en-US" sz="1875" dirty="0">
                <a:solidFill>
                  <a:srgbClr val="DCE3E8"/>
                </a:solidFill>
                <a:latin typeface="Source Serif 4" pitchFamily="34" charset="0"/>
                <a:ea typeface="Source Serif 4" pitchFamily="34" charset="-122"/>
                <a:cs typeface="Source Serif 4" pitchFamily="34" charset="-120"/>
              </a:rPr>
              <a:t>· audit-export </a:t>
            </a:r>
            <a:pPr algn="l" indent="0" marL="0">
              <a:lnSpc>
                <a:spcPct val="117647"/>
              </a:lnSpc>
              <a:buNone/>
            </a:pPr>
            <a:r>
              <a:rPr lang="en-US" sz="1800" b="1" dirty="0">
                <a:solidFill>
                  <a:srgbClr val="8B99A4"/>
                </a:solidFill>
                <a:latin typeface="IBM Plex Mono" pitchFamily="34" charset="0"/>
                <a:ea typeface="IBM Plex Mono" pitchFamily="34" charset="-122"/>
                <a:cs typeface="IBM Plex Mono" pitchFamily="34" charset="-120"/>
              </a:rPr>
              <a:t>LOW</a:t>
            </a:r>
            <a:endParaRPr lang="en-US" sz="1875" dirty="0"/>
          </a:p>
        </p:txBody>
      </p:sp>
      <p:sp>
        <p:nvSpPr>
          <p:cNvPr id="39" name="Shape 37"/>
          <p:cNvSpPr/>
          <p:nvPr/>
        </p:nvSpPr>
        <p:spPr>
          <a:xfrm>
            <a:off x="10336857" y="7543800"/>
            <a:ext cx="6655743" cy="1390650"/>
          </a:xfrm>
          <a:prstGeom prst="roundRect">
            <a:avLst>
              <a:gd name="adj" fmla="val 6849"/>
            </a:avLst>
          </a:prstGeom>
          <a:solidFill>
            <a:srgbClr val="243140"/>
          </a:solidFill>
          <a:ln/>
        </p:spPr>
      </p:sp>
      <p:sp>
        <p:nvSpPr>
          <p:cNvPr id="40" name="Text 38"/>
          <p:cNvSpPr/>
          <p:nvPr/>
        </p:nvSpPr>
        <p:spPr>
          <a:xfrm>
            <a:off x="10546407" y="7677150"/>
            <a:ext cx="686030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SUGGESTED ACTION</a:t>
            </a:r>
            <a:endParaRPr lang="en-US" sz="1800" dirty="0"/>
          </a:p>
        </p:txBody>
      </p:sp>
      <p:sp>
        <p:nvSpPr>
          <p:cNvPr id="41" name="Text 39"/>
          <p:cNvSpPr/>
          <p:nvPr/>
        </p:nvSpPr>
        <p:spPr>
          <a:xfrm>
            <a:off x="10546407" y="8058150"/>
            <a:ext cx="6423742" cy="78105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F6F7F4"/>
                </a:solidFill>
                <a:latin typeface="Source Serif 4" pitchFamily="34" charset="0"/>
                <a:ea typeface="Source Serif 4" pitchFamily="34" charset="-122"/>
                <a:cs typeface="Source Serif 4" pitchFamily="34" charset="-120"/>
              </a:rPr>
              <a:t>Roll back to v3.16 · hold gold.orders_enr at the gate until re-certified.</a:t>
            </a:r>
            <a:endParaRPr lang="en-US" sz="1950" dirty="0"/>
          </a:p>
        </p:txBody>
      </p:sp>
      <p:sp>
        <p:nvSpPr>
          <p:cNvPr id="42" name="Text 40"/>
          <p:cNvSpPr/>
          <p:nvPr/>
        </p:nvSpPr>
        <p:spPr>
          <a:xfrm>
            <a:off x="10336857" y="9067800"/>
            <a:ext cx="6855415" cy="723900"/>
          </a:xfrm>
          <a:prstGeom prst="rect">
            <a:avLst/>
          </a:prstGeom>
          <a:noFill/>
          <a:ln/>
        </p:spPr>
        <p:txBody>
          <a:bodyPr wrap="square" lIns="25400" tIns="25400" rIns="25400" bIns="25400" rtlCol="0" anchor="t">
            <a:normAutofit/>
          </a:bodyPr>
          <a:lstStyle/>
          <a:p>
            <a:pPr algn="l" indent="0" marL="0">
              <a:lnSpc>
                <a:spcPct val="109091"/>
              </a:lnSpc>
              <a:buNone/>
            </a:pPr>
            <a:r>
              <a:rPr lang="en-US" sz="1800" dirty="0">
                <a:solidFill>
                  <a:srgbClr val="8B99A4"/>
                </a:solidFill>
                <a:latin typeface="Source Serif 4" pitchFamily="34" charset="0"/>
                <a:ea typeface="Source Serif 4" pitchFamily="34" charset="-122"/>
                <a:cs typeface="Source Serif 4" pitchFamily="34" charset="-120"/>
              </a:rPr>
              <a:t>Every claim cites evidence IDs. If the map lacks an edge, the answer is "unknown" — never a guess.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WHERE IT ENDS · THE NORTH STAR</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Zero-touch onboarding. Self-healing incidents.</a:t>
            </a:r>
            <a:endParaRPr lang="en-US" sz="4200" dirty="0"/>
          </a:p>
        </p:txBody>
      </p:sp>
      <p:sp>
        <p:nvSpPr>
          <p:cNvPr id="4" name="Text 2"/>
          <p:cNvSpPr/>
          <p:nvPr/>
        </p:nvSpPr>
        <p:spPr>
          <a:xfrm>
            <a:off x="952500" y="1581150"/>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The program and the platform are one story — a ladder of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earned autonomy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Each milestone hands the platform one more job a human does today.</a:t>
            </a:r>
            <a:endParaRPr lang="en-US" sz="1950" dirty="0"/>
          </a:p>
        </p:txBody>
      </p:sp>
      <p:sp>
        <p:nvSpPr>
          <p:cNvPr id="5" name="Shape 3"/>
          <p:cNvSpPr/>
          <p:nvPr/>
        </p:nvSpPr>
        <p:spPr>
          <a:xfrm>
            <a:off x="952500" y="2476500"/>
            <a:ext cx="8058150" cy="2543175"/>
          </a:xfrm>
          <a:prstGeom prst="roundRect">
            <a:avLst>
              <a:gd name="adj" fmla="val 5243"/>
            </a:avLst>
          </a:prstGeom>
          <a:solidFill>
            <a:srgbClr val="FDFDFB"/>
          </a:solidFill>
          <a:ln w="9525">
            <a:solidFill>
              <a:srgbClr val="0E7C6B"/>
            </a:solidFill>
            <a:prstDash val="solid"/>
          </a:ln>
        </p:spPr>
      </p:sp>
      <p:sp>
        <p:nvSpPr>
          <p:cNvPr id="6" name="Text 4"/>
          <p:cNvSpPr/>
          <p:nvPr/>
        </p:nvSpPr>
        <p:spPr>
          <a:xfrm>
            <a:off x="1228725" y="2676525"/>
            <a:ext cx="825627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ZERO-TOUCH ONBOARDING</a:t>
            </a:r>
            <a:endParaRPr lang="en-US" sz="1800" dirty="0"/>
          </a:p>
        </p:txBody>
      </p:sp>
      <p:sp>
        <p:nvSpPr>
          <p:cNvPr id="7" name="Text 5"/>
          <p:cNvSpPr/>
          <p:nvPr/>
        </p:nvSpPr>
        <p:spPr>
          <a:xfrm>
            <a:off x="1228725" y="3057525"/>
            <a:ext cx="7730871" cy="180022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 new asset registers in the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enterprise registry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and is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instrumented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by policy — lineage, freshness, volume and quality checks plus a draft contract attach automatically: the minimum observability set. Producer-initiated at first;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fully automatic once registration lands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t>
            </a:r>
            <a:endParaRPr lang="en-US" sz="1950" dirty="0"/>
          </a:p>
        </p:txBody>
      </p:sp>
      <p:sp>
        <p:nvSpPr>
          <p:cNvPr id="8" name="Shape 6"/>
          <p:cNvSpPr/>
          <p:nvPr/>
        </p:nvSpPr>
        <p:spPr>
          <a:xfrm>
            <a:off x="9277350" y="2476500"/>
            <a:ext cx="8058150" cy="2543175"/>
          </a:xfrm>
          <a:prstGeom prst="roundRect">
            <a:avLst>
              <a:gd name="adj" fmla="val 5243"/>
            </a:avLst>
          </a:prstGeom>
          <a:solidFill>
            <a:srgbClr val="FDFDFB"/>
          </a:solidFill>
          <a:ln w="9525">
            <a:solidFill>
              <a:srgbClr val="0E7C6B"/>
            </a:solidFill>
            <a:prstDash val="solid"/>
          </a:ln>
        </p:spPr>
      </p:sp>
      <p:sp>
        <p:nvSpPr>
          <p:cNvPr id="9" name="Text 7"/>
          <p:cNvSpPr/>
          <p:nvPr/>
        </p:nvSpPr>
        <p:spPr>
          <a:xfrm>
            <a:off x="9553575" y="2676525"/>
            <a:ext cx="825627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SELF-HEALING</a:t>
            </a:r>
            <a:endParaRPr lang="en-US" sz="1800" dirty="0"/>
          </a:p>
        </p:txBody>
      </p:sp>
      <p:sp>
        <p:nvSpPr>
          <p:cNvPr id="10" name="Text 8"/>
          <p:cNvSpPr/>
          <p:nvPr/>
        </p:nvSpPr>
        <p:spPr>
          <a:xfrm>
            <a:off x="9553575" y="3057525"/>
            <a:ext cx="773087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A bad deploy is caught at the first hop; the gate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holds the batch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consumers stay pinned to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last-certified data </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and replay runs after </a:t>
            </a:r>
            <a:pPr algn="l" indent="0" marL="0">
              <a:lnSpc>
                <a:spcPct val="104722"/>
              </a:lnSpc>
              <a:buNone/>
            </a:pPr>
            <a:r>
              <a:rPr lang="en-US" sz="1950" b="1" dirty="0">
                <a:solidFill>
                  <a:srgbClr val="1B2530"/>
                </a:solidFill>
                <a:latin typeface="Source Serif 4" pitchFamily="34" charset="0"/>
                <a:ea typeface="Source Serif 4" pitchFamily="34" charset="-122"/>
                <a:cs typeface="Source Serif 4" pitchFamily="34" charset="-120"/>
              </a:rPr>
              <a:t>one approval</a:t>
            </a:r>
            <a:pPr algn="l" indent="0" marL="0">
              <a:lnSpc>
                <a:spcPct val="104722"/>
              </a:lnSpc>
              <a:buNone/>
            </a:pPr>
            <a:r>
              <a:rPr lang="en-US" sz="1950" dirty="0">
                <a:solidFill>
                  <a:srgbClr val="1B2530"/>
                </a:solidFill>
                <a:latin typeface="Source Serif 4" pitchFamily="34" charset="0"/>
                <a:ea typeface="Source Serif 4" pitchFamily="34" charset="-122"/>
                <a:cs typeface="Source Serif 4" pitchFamily="34" charset="-120"/>
              </a:rPr>
              <a:t>. The 2 a.m. page becomes a morning review.</a:t>
            </a:r>
            <a:endParaRPr lang="en-US" sz="1950" dirty="0"/>
          </a:p>
        </p:txBody>
      </p:sp>
      <p:sp>
        <p:nvSpPr>
          <p:cNvPr id="11" name="Shape 9"/>
          <p:cNvSpPr/>
          <p:nvPr/>
        </p:nvSpPr>
        <p:spPr>
          <a:xfrm>
            <a:off x="952500" y="5248275"/>
            <a:ext cx="2700486" cy="3533775"/>
          </a:xfrm>
          <a:custGeom>
            <a:avLst/>
            <a:gdLst/>
            <a:ahLst/>
            <a:cxnLst/>
            <a:rect l="l" t="t" r="r" b="b"/>
            <a:pathLst>
              <a:path w="2700486" h="3533775">
                <a:moveTo>
                  <a:pt x="95250" y="0"/>
                </a:moveTo>
                <a:lnTo>
                  <a:pt x="2700486" y="0"/>
                </a:lnTo>
                <a:lnTo>
                  <a:pt x="2700486" y="3533775"/>
                </a:lnTo>
                <a:lnTo>
                  <a:pt x="95250" y="3533775"/>
                </a:lnTo>
                <a:arcTo hR="95250" wR="95250" stAng="5400000" swAng="5400000"/>
                <a:lnTo>
                  <a:pt x="0" y="95250"/>
                </a:lnTo>
                <a:arcTo hR="95250" wR="95250" stAng="10800000" swAng="5400000"/>
                <a:close/>
              </a:path>
            </a:pathLst>
          </a:custGeom>
          <a:solidFill>
            <a:srgbClr val="F0F1EE"/>
          </a:solidFill>
          <a:ln w="9525">
            <a:solidFill>
              <a:srgbClr val="D9DED7"/>
            </a:solidFill>
            <a:prstDash val="solid"/>
          </a:ln>
        </p:spPr>
      </p:sp>
      <p:sp>
        <p:nvSpPr>
          <p:cNvPr id="12" name="Text 10"/>
          <p:cNvSpPr/>
          <p:nvPr/>
        </p:nvSpPr>
        <p:spPr>
          <a:xfrm>
            <a:off x="1114425"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A0 · MANUAL</a:t>
            </a:r>
            <a:endParaRPr lang="en-US" sz="1800" dirty="0"/>
          </a:p>
        </p:txBody>
      </p:sp>
      <p:sp>
        <p:nvSpPr>
          <p:cNvPr id="13" name="Text 11"/>
          <p:cNvSpPr/>
          <p:nvPr/>
        </p:nvSpPr>
        <p:spPr>
          <a:xfrm>
            <a:off x="1114425"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Bricolage Grotesque" pitchFamily="34" charset="0"/>
                <a:ea typeface="Bricolage Grotesque" pitchFamily="34" charset="-122"/>
                <a:cs typeface="Bricolage Grotesque" pitchFamily="34" charset="-120"/>
              </a:rPr>
              <a:t>today</a:t>
            </a:r>
            <a:endParaRPr lang="en-US" sz="1800" dirty="0"/>
          </a:p>
        </p:txBody>
      </p:sp>
      <p:sp>
        <p:nvSpPr>
          <p:cNvPr id="14" name="Text 12"/>
          <p:cNvSpPr/>
          <p:nvPr/>
        </p:nvSpPr>
        <p:spPr>
          <a:xfrm>
            <a:off x="1114425"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humans notice, diagnose, fix — the 2-day hunt on slide 2</a:t>
            </a:r>
            <a:endParaRPr lang="en-US" sz="1800" dirty="0"/>
          </a:p>
        </p:txBody>
      </p:sp>
      <p:sp>
        <p:nvSpPr>
          <p:cNvPr id="15" name="Shape 13"/>
          <p:cNvSpPr/>
          <p:nvPr/>
        </p:nvSpPr>
        <p:spPr>
          <a:xfrm>
            <a:off x="3652986" y="5248275"/>
            <a:ext cx="2690961" cy="3533775"/>
          </a:xfrm>
          <a:prstGeom prst="rect">
            <a:avLst/>
          </a:prstGeom>
          <a:solidFill>
            <a:srgbClr val="FDFDFB"/>
          </a:solidFill>
          <a:ln/>
        </p:spPr>
      </p:sp>
      <p:sp>
        <p:nvSpPr>
          <p:cNvPr id="16" name="Shape 14"/>
          <p:cNvSpPr/>
          <p:nvPr/>
        </p:nvSpPr>
        <p:spPr>
          <a:xfrm>
            <a:off x="3652986" y="8772525"/>
            <a:ext cx="2690961" cy="9525"/>
          </a:xfrm>
          <a:prstGeom prst="rect">
            <a:avLst/>
          </a:prstGeom>
          <a:solidFill>
            <a:srgbClr val="D9DED7"/>
          </a:solidFill>
          <a:ln/>
        </p:spPr>
      </p:sp>
      <p:sp>
        <p:nvSpPr>
          <p:cNvPr id="17" name="Shape 15"/>
          <p:cNvSpPr/>
          <p:nvPr/>
        </p:nvSpPr>
        <p:spPr>
          <a:xfrm>
            <a:off x="3652986" y="5248275"/>
            <a:ext cx="2690961" cy="9525"/>
          </a:xfrm>
          <a:prstGeom prst="rect">
            <a:avLst/>
          </a:prstGeom>
          <a:solidFill>
            <a:srgbClr val="D9DED7"/>
          </a:solidFill>
          <a:ln/>
        </p:spPr>
      </p:sp>
      <p:sp>
        <p:nvSpPr>
          <p:cNvPr id="18" name="Shape 16"/>
          <p:cNvSpPr/>
          <p:nvPr/>
        </p:nvSpPr>
        <p:spPr>
          <a:xfrm>
            <a:off x="6334423" y="5248275"/>
            <a:ext cx="9525" cy="3533775"/>
          </a:xfrm>
          <a:prstGeom prst="rect">
            <a:avLst/>
          </a:prstGeom>
          <a:solidFill>
            <a:srgbClr val="D9DED7"/>
          </a:solidFill>
          <a:ln/>
        </p:spPr>
      </p:sp>
      <p:sp>
        <p:nvSpPr>
          <p:cNvPr id="19" name="Text 17"/>
          <p:cNvSpPr/>
          <p:nvPr/>
        </p:nvSpPr>
        <p:spPr>
          <a:xfrm>
            <a:off x="3805386"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A1 · FOUNDATIONS</a:t>
            </a:r>
            <a:endParaRPr lang="en-US" sz="1800" dirty="0"/>
          </a:p>
        </p:txBody>
      </p:sp>
      <p:sp>
        <p:nvSpPr>
          <p:cNvPr id="20" name="Text 18"/>
          <p:cNvSpPr/>
          <p:nvPr/>
        </p:nvSpPr>
        <p:spPr>
          <a:xfrm>
            <a:off x="3805386"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6</a:t>
            </a:r>
            <a:endParaRPr lang="en-US" sz="1800" dirty="0"/>
          </a:p>
        </p:txBody>
      </p:sp>
      <p:sp>
        <p:nvSpPr>
          <p:cNvPr id="21" name="Text 19"/>
          <p:cNvSpPr/>
          <p:nvPr/>
        </p:nvSpPr>
        <p:spPr>
          <a:xfrm>
            <a:off x="3805386" y="6038850"/>
            <a:ext cx="2452836"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building blocks live: enterprise-registry link, lineage map, real-time + async DQ — nothing pages yet</a:t>
            </a:r>
            <a:endParaRPr lang="en-US" sz="1800" dirty="0"/>
          </a:p>
        </p:txBody>
      </p:sp>
      <p:sp>
        <p:nvSpPr>
          <p:cNvPr id="22" name="Shape 20"/>
          <p:cNvSpPr/>
          <p:nvPr/>
        </p:nvSpPr>
        <p:spPr>
          <a:xfrm>
            <a:off x="6343948" y="5248275"/>
            <a:ext cx="2690961" cy="3533775"/>
          </a:xfrm>
          <a:prstGeom prst="rect">
            <a:avLst/>
          </a:prstGeom>
          <a:solidFill>
            <a:srgbClr val="FDFDFB"/>
          </a:solidFill>
          <a:ln/>
        </p:spPr>
      </p:sp>
      <p:sp>
        <p:nvSpPr>
          <p:cNvPr id="23" name="Shape 21"/>
          <p:cNvSpPr/>
          <p:nvPr/>
        </p:nvSpPr>
        <p:spPr>
          <a:xfrm>
            <a:off x="6343948" y="8772525"/>
            <a:ext cx="2690961" cy="9525"/>
          </a:xfrm>
          <a:prstGeom prst="rect">
            <a:avLst/>
          </a:prstGeom>
          <a:solidFill>
            <a:srgbClr val="D9DED7"/>
          </a:solidFill>
          <a:ln/>
        </p:spPr>
      </p:sp>
      <p:sp>
        <p:nvSpPr>
          <p:cNvPr id="24" name="Shape 22"/>
          <p:cNvSpPr/>
          <p:nvPr/>
        </p:nvSpPr>
        <p:spPr>
          <a:xfrm>
            <a:off x="6343948" y="5248275"/>
            <a:ext cx="2690961" cy="9525"/>
          </a:xfrm>
          <a:prstGeom prst="rect">
            <a:avLst/>
          </a:prstGeom>
          <a:solidFill>
            <a:srgbClr val="D9DED7"/>
          </a:solidFill>
          <a:ln/>
        </p:spPr>
      </p:sp>
      <p:sp>
        <p:nvSpPr>
          <p:cNvPr id="25" name="Shape 23"/>
          <p:cNvSpPr/>
          <p:nvPr/>
        </p:nvSpPr>
        <p:spPr>
          <a:xfrm>
            <a:off x="9025384" y="5248275"/>
            <a:ext cx="9525" cy="3533775"/>
          </a:xfrm>
          <a:prstGeom prst="rect">
            <a:avLst/>
          </a:prstGeom>
          <a:solidFill>
            <a:srgbClr val="D9DED7"/>
          </a:solidFill>
          <a:ln/>
        </p:spPr>
      </p:sp>
      <p:sp>
        <p:nvSpPr>
          <p:cNvPr id="26" name="Text 24"/>
          <p:cNvSpPr/>
          <p:nvPr/>
        </p:nvSpPr>
        <p:spPr>
          <a:xfrm>
            <a:off x="6496348"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A2 · OBSERVED</a:t>
            </a:r>
            <a:endParaRPr lang="en-US" sz="1800" dirty="0"/>
          </a:p>
        </p:txBody>
      </p:sp>
      <p:sp>
        <p:nvSpPr>
          <p:cNvPr id="27" name="Text 25"/>
          <p:cNvSpPr/>
          <p:nvPr/>
        </p:nvSpPr>
        <p:spPr>
          <a:xfrm>
            <a:off x="6496348"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9 · pilot</a:t>
            </a:r>
            <a:endParaRPr lang="en-US" sz="1800" dirty="0"/>
          </a:p>
        </p:txBody>
      </p:sp>
      <p:sp>
        <p:nvSpPr>
          <p:cNvPr id="28" name="Text 26"/>
          <p:cNvSpPr/>
          <p:nvPr/>
        </p:nvSpPr>
        <p:spPr>
          <a:xfrm>
            <a:off x="6496348"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notices first — the NULL spike pages one team, cause attached</a:t>
            </a:r>
            <a:endParaRPr lang="en-US" sz="1800" dirty="0"/>
          </a:p>
        </p:txBody>
      </p:sp>
      <p:sp>
        <p:nvSpPr>
          <p:cNvPr id="29" name="Shape 27"/>
          <p:cNvSpPr/>
          <p:nvPr/>
        </p:nvSpPr>
        <p:spPr>
          <a:xfrm>
            <a:off x="9034909" y="5248275"/>
            <a:ext cx="2690961" cy="3533775"/>
          </a:xfrm>
          <a:prstGeom prst="rect">
            <a:avLst/>
          </a:prstGeom>
          <a:solidFill>
            <a:srgbClr val="FDFDFB"/>
          </a:solidFill>
          <a:ln/>
        </p:spPr>
      </p:sp>
      <p:sp>
        <p:nvSpPr>
          <p:cNvPr id="30" name="Shape 28"/>
          <p:cNvSpPr/>
          <p:nvPr/>
        </p:nvSpPr>
        <p:spPr>
          <a:xfrm>
            <a:off x="9034909" y="8772525"/>
            <a:ext cx="2690961" cy="9525"/>
          </a:xfrm>
          <a:prstGeom prst="rect">
            <a:avLst/>
          </a:prstGeom>
          <a:solidFill>
            <a:srgbClr val="D9DED7"/>
          </a:solidFill>
          <a:ln/>
        </p:spPr>
      </p:sp>
      <p:sp>
        <p:nvSpPr>
          <p:cNvPr id="31" name="Shape 29"/>
          <p:cNvSpPr/>
          <p:nvPr/>
        </p:nvSpPr>
        <p:spPr>
          <a:xfrm>
            <a:off x="9034909" y="5248275"/>
            <a:ext cx="2690961" cy="9525"/>
          </a:xfrm>
          <a:prstGeom prst="rect">
            <a:avLst/>
          </a:prstGeom>
          <a:solidFill>
            <a:srgbClr val="D9DED7"/>
          </a:solidFill>
          <a:ln/>
        </p:spPr>
      </p:sp>
      <p:sp>
        <p:nvSpPr>
          <p:cNvPr id="32" name="Shape 30"/>
          <p:cNvSpPr/>
          <p:nvPr/>
        </p:nvSpPr>
        <p:spPr>
          <a:xfrm>
            <a:off x="11716345" y="5248275"/>
            <a:ext cx="9525" cy="3533775"/>
          </a:xfrm>
          <a:prstGeom prst="rect">
            <a:avLst/>
          </a:prstGeom>
          <a:solidFill>
            <a:srgbClr val="D9DED7"/>
          </a:solidFill>
          <a:ln/>
        </p:spPr>
      </p:sp>
      <p:sp>
        <p:nvSpPr>
          <p:cNvPr id="33" name="Text 31"/>
          <p:cNvSpPr/>
          <p:nvPr/>
        </p:nvSpPr>
        <p:spPr>
          <a:xfrm>
            <a:off x="9187309"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A3 · DIAGNOSED</a:t>
            </a:r>
            <a:endParaRPr lang="en-US" sz="1800" dirty="0"/>
          </a:p>
        </p:txBody>
      </p:sp>
      <p:sp>
        <p:nvSpPr>
          <p:cNvPr id="34" name="Text 32"/>
          <p:cNvSpPr/>
          <p:nvPr/>
        </p:nvSpPr>
        <p:spPr>
          <a:xfrm>
            <a:off x="9187309"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15</a:t>
            </a:r>
            <a:endParaRPr lang="en-US" sz="1800" dirty="0"/>
          </a:p>
        </p:txBody>
      </p:sp>
      <p:sp>
        <p:nvSpPr>
          <p:cNvPr id="35" name="Text 33"/>
          <p:cNvSpPr/>
          <p:nvPr/>
        </p:nvSpPr>
        <p:spPr>
          <a:xfrm>
            <a:off x="9187309" y="6038850"/>
            <a:ext cx="2452836"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explains — deploy v3.17 named, blast radius drawn, no triage</a:t>
            </a:r>
            <a:endParaRPr lang="en-US" sz="1800" dirty="0"/>
          </a:p>
        </p:txBody>
      </p:sp>
      <p:sp>
        <p:nvSpPr>
          <p:cNvPr id="36" name="Shape 34"/>
          <p:cNvSpPr/>
          <p:nvPr/>
        </p:nvSpPr>
        <p:spPr>
          <a:xfrm>
            <a:off x="11725870" y="5248275"/>
            <a:ext cx="2690961" cy="3533775"/>
          </a:xfrm>
          <a:prstGeom prst="rect">
            <a:avLst/>
          </a:prstGeom>
          <a:solidFill>
            <a:srgbClr val="DFF0EB"/>
          </a:solidFill>
          <a:ln/>
        </p:spPr>
      </p:sp>
      <p:sp>
        <p:nvSpPr>
          <p:cNvPr id="37" name="Shape 35"/>
          <p:cNvSpPr/>
          <p:nvPr/>
        </p:nvSpPr>
        <p:spPr>
          <a:xfrm>
            <a:off x="11725870" y="8772525"/>
            <a:ext cx="2690961" cy="9525"/>
          </a:xfrm>
          <a:prstGeom prst="rect">
            <a:avLst/>
          </a:prstGeom>
          <a:solidFill>
            <a:srgbClr val="0E7C6B"/>
          </a:solidFill>
          <a:ln/>
        </p:spPr>
      </p:sp>
      <p:sp>
        <p:nvSpPr>
          <p:cNvPr id="38" name="Shape 36"/>
          <p:cNvSpPr/>
          <p:nvPr/>
        </p:nvSpPr>
        <p:spPr>
          <a:xfrm>
            <a:off x="11725870" y="5248275"/>
            <a:ext cx="2690961" cy="9525"/>
          </a:xfrm>
          <a:prstGeom prst="rect">
            <a:avLst/>
          </a:prstGeom>
          <a:solidFill>
            <a:srgbClr val="0E7C6B"/>
          </a:solidFill>
          <a:ln/>
        </p:spPr>
      </p:sp>
      <p:sp>
        <p:nvSpPr>
          <p:cNvPr id="39" name="Shape 37"/>
          <p:cNvSpPr/>
          <p:nvPr/>
        </p:nvSpPr>
        <p:spPr>
          <a:xfrm>
            <a:off x="14407307" y="5248275"/>
            <a:ext cx="9525" cy="3533775"/>
          </a:xfrm>
          <a:prstGeom prst="rect">
            <a:avLst/>
          </a:prstGeom>
          <a:solidFill>
            <a:srgbClr val="0E7C6B"/>
          </a:solidFill>
          <a:ln/>
        </p:spPr>
      </p:sp>
      <p:sp>
        <p:nvSpPr>
          <p:cNvPr id="40" name="Text 38"/>
          <p:cNvSpPr/>
          <p:nvPr/>
        </p:nvSpPr>
        <p:spPr>
          <a:xfrm>
            <a:off x="11878270" y="5391150"/>
            <a:ext cx="26143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A4 · GUARDED</a:t>
            </a:r>
            <a:endParaRPr lang="en-US" sz="1800" dirty="0"/>
          </a:p>
        </p:txBody>
      </p:sp>
      <p:sp>
        <p:nvSpPr>
          <p:cNvPr id="41" name="Text 39"/>
          <p:cNvSpPr/>
          <p:nvPr/>
        </p:nvSpPr>
        <p:spPr>
          <a:xfrm>
            <a:off x="11878270" y="5734050"/>
            <a:ext cx="261430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Bricolage Grotesque" pitchFamily="34" charset="0"/>
                <a:ea typeface="Bricolage Grotesque" pitchFamily="34" charset="-122"/>
                <a:cs typeface="Bricolage Grotesque" pitchFamily="34" charset="-120"/>
              </a:rPr>
              <a:t>month 24</a:t>
            </a:r>
            <a:endParaRPr lang="en-US" sz="1800" dirty="0"/>
          </a:p>
        </p:txBody>
      </p:sp>
      <p:sp>
        <p:nvSpPr>
          <p:cNvPr id="42" name="Text 40"/>
          <p:cNvSpPr/>
          <p:nvPr/>
        </p:nvSpPr>
        <p:spPr>
          <a:xfrm>
            <a:off x="11878270" y="6038850"/>
            <a:ext cx="2452836"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it prevents — the gate holds bad data before anyone reads it</a:t>
            </a:r>
            <a:endParaRPr lang="en-US" sz="1800" dirty="0"/>
          </a:p>
        </p:txBody>
      </p:sp>
      <p:sp>
        <p:nvSpPr>
          <p:cNvPr id="43" name="Shape 41"/>
          <p:cNvSpPr/>
          <p:nvPr/>
        </p:nvSpPr>
        <p:spPr>
          <a:xfrm>
            <a:off x="14416832" y="5248275"/>
            <a:ext cx="2918966" cy="3533775"/>
          </a:xfrm>
          <a:custGeom>
            <a:avLst/>
            <a:gdLst/>
            <a:ahLst/>
            <a:cxnLst/>
            <a:rect l="l" t="t" r="r" b="b"/>
            <a:pathLst>
              <a:path w="2918966" h="3533775">
                <a:moveTo>
                  <a:pt x="0" y="0"/>
                </a:moveTo>
                <a:lnTo>
                  <a:pt x="2823716" y="0"/>
                </a:lnTo>
                <a:arcTo hR="95250" wR="95250" stAng="16200000" swAng="5400000"/>
                <a:lnTo>
                  <a:pt x="2918966" y="3438525"/>
                </a:lnTo>
                <a:arcTo hR="95250" wR="95250" stAng="0" swAng="5400000"/>
                <a:lnTo>
                  <a:pt x="0" y="3533775"/>
                </a:lnTo>
                <a:lnTo>
                  <a:pt x="0" y="0"/>
                </a:lnTo>
                <a:close/>
              </a:path>
            </a:pathLst>
          </a:custGeom>
          <a:solidFill>
            <a:srgbClr val="1B2530"/>
          </a:solidFill>
          <a:ln/>
        </p:spPr>
      </p:sp>
      <p:sp>
        <p:nvSpPr>
          <p:cNvPr id="44" name="Text 42"/>
          <p:cNvSpPr/>
          <p:nvPr/>
        </p:nvSpPr>
        <p:spPr>
          <a:xfrm>
            <a:off x="14569232" y="5381625"/>
            <a:ext cx="287558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34B39B"/>
                </a:solidFill>
                <a:latin typeface="IBM Plex Mono" pitchFamily="34" charset="0"/>
                <a:ea typeface="IBM Plex Mono" pitchFamily="34" charset="-122"/>
                <a:cs typeface="IBM Plex Mono" pitchFamily="34" charset="-120"/>
              </a:rPr>
              <a:t>A5 · SELF-HEALING</a:t>
            </a:r>
            <a:endParaRPr lang="en-US" sz="1800" dirty="0"/>
          </a:p>
        </p:txBody>
      </p:sp>
      <p:sp>
        <p:nvSpPr>
          <p:cNvPr id="45" name="Text 43"/>
          <p:cNvSpPr/>
          <p:nvPr/>
        </p:nvSpPr>
        <p:spPr>
          <a:xfrm>
            <a:off x="14569232" y="5724525"/>
            <a:ext cx="287558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Bricolage Grotesque" pitchFamily="34" charset="0"/>
                <a:ea typeface="Bricolage Grotesque" pitchFamily="34" charset="-122"/>
                <a:cs typeface="Bricolage Grotesque" pitchFamily="34" charset="-120"/>
              </a:rPr>
              <a:t>the north star</a:t>
            </a:r>
            <a:endParaRPr lang="en-US" sz="1800" dirty="0"/>
          </a:p>
        </p:txBody>
      </p:sp>
      <p:sp>
        <p:nvSpPr>
          <p:cNvPr id="46" name="Text 44"/>
          <p:cNvSpPr/>
          <p:nvPr/>
        </p:nvSpPr>
        <p:spPr>
          <a:xfrm>
            <a:off x="14569232" y="6029325"/>
            <a:ext cx="2692591"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it fixes &amp; onboards itself — rollback, replay, backfill after one approval</a:t>
            </a:r>
            <a:endParaRPr lang="en-US" sz="1800" dirty="0"/>
          </a:p>
        </p:txBody>
      </p:sp>
      <p:sp>
        <p:nvSpPr>
          <p:cNvPr id="47" name="Shape 45"/>
          <p:cNvSpPr/>
          <p:nvPr/>
        </p:nvSpPr>
        <p:spPr>
          <a:xfrm>
            <a:off x="952500" y="8972550"/>
            <a:ext cx="16383000" cy="895350"/>
          </a:xfrm>
          <a:prstGeom prst="roundRect">
            <a:avLst>
              <a:gd name="adj" fmla="val 12766"/>
            </a:avLst>
          </a:prstGeom>
          <a:solidFill>
            <a:srgbClr val="E3EFEA"/>
          </a:solidFill>
          <a:ln/>
        </p:spPr>
      </p:sp>
      <p:sp>
        <p:nvSpPr>
          <p:cNvPr id="48" name="Text 46"/>
          <p:cNvSpPr/>
          <p:nvPr/>
        </p:nvSpPr>
        <p:spPr>
          <a:xfrm>
            <a:off x="1219200" y="9105900"/>
            <a:ext cx="324900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NOTHING THROWN AWAY</a:t>
            </a:r>
            <a:endParaRPr lang="en-US" sz="1800" dirty="0"/>
          </a:p>
        </p:txBody>
      </p:sp>
      <p:sp>
        <p:nvSpPr>
          <p:cNvPr id="49" name="Text 47"/>
          <p:cNvSpPr/>
          <p:nvPr/>
        </p:nvSpPr>
        <p:spPr>
          <a:xfrm>
            <a:off x="4382393" y="9105900"/>
            <a:ext cx="13066999"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The evidence stream, lineage graph, and gates the missions build are exactly the machinery A5 automates.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The program is the vision, run at lower autonomy.</a:t>
            </a:r>
            <a:endParaRPr lang="en-US" sz="18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57250" y="266700"/>
            <a:ext cx="1823085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MENTAL MODEL</a:t>
            </a:r>
            <a:endParaRPr lang="en-US" sz="1800" dirty="0"/>
          </a:p>
        </p:txBody>
      </p:sp>
      <p:sp>
        <p:nvSpPr>
          <p:cNvPr id="3" name="Text 1"/>
          <p:cNvSpPr/>
          <p:nvPr/>
        </p:nvSpPr>
        <p:spPr>
          <a:xfrm>
            <a:off x="857250" y="628650"/>
            <a:ext cx="18230850" cy="514350"/>
          </a:xfrm>
          <a:prstGeom prst="rect">
            <a:avLst/>
          </a:prstGeom>
          <a:noFill/>
          <a:ln/>
        </p:spPr>
        <p:txBody>
          <a:bodyPr wrap="square" lIns="25400" tIns="25400" rIns="25400" bIns="25400" rtlCol="0" anchor="t">
            <a:normAutofit/>
          </a:bodyPr>
          <a:lstStyle/>
          <a:p>
            <a:pPr algn="l" indent="0" marL="0">
              <a:lnSpc>
                <a:spcPct val="86897"/>
              </a:lnSpc>
              <a:buNone/>
            </a:pPr>
            <a:r>
              <a:rPr lang="en-US" sz="3600" b="1" spc="-54" kern="0" dirty="0">
                <a:solidFill>
                  <a:srgbClr val="1B2530"/>
                </a:solidFill>
                <a:latin typeface="Bricolage Grotesque" pitchFamily="34" charset="0"/>
                <a:ea typeface="Bricolage Grotesque" pitchFamily="34" charset="-122"/>
                <a:cs typeface="Bricolage Grotesque" pitchFamily="34" charset="-120"/>
              </a:rPr>
              <a:t>Data observability is APM — with data as the thing traced</a:t>
            </a:r>
            <a:endParaRPr lang="en-US" sz="3600" dirty="0"/>
          </a:p>
        </p:txBody>
      </p:sp>
      <p:sp>
        <p:nvSpPr>
          <p:cNvPr id="4" name="Text 2"/>
          <p:cNvSpPr/>
          <p:nvPr/>
        </p:nvSpPr>
        <p:spPr>
          <a:xfrm>
            <a:off x="857250" y="1143000"/>
            <a:ext cx="17070705" cy="666750"/>
          </a:xfrm>
          <a:prstGeom prst="rect">
            <a:avLst/>
          </a:prstGeom>
          <a:noFill/>
          <a:ln/>
        </p:spPr>
        <p:txBody>
          <a:bodyPr wrap="square" lIns="25400" tIns="25400" rIns="25400" bIns="25400" rtlCol="0" anchor="t">
            <a:normAutofit/>
          </a:bodyPr>
          <a:lstStyle/>
          <a:p>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The same outage, told twice — New Relic traces a </a:t>
            </a:r>
            <a:pPr algn="l" indent="0" marL="0">
              <a:lnSpc>
                <a:spcPct val="93889"/>
              </a:lnSpc>
              <a:buNone/>
            </a:pPr>
            <a:r>
              <a:rPr lang="en-US" sz="1950" b="1" dirty="0">
                <a:solidFill>
                  <a:srgbClr val="3D4A55"/>
                </a:solidFill>
                <a:latin typeface="Source Serif 4" pitchFamily="34" charset="0"/>
                <a:ea typeface="Source Serif 4" pitchFamily="34" charset="-122"/>
                <a:cs typeface="Source Serif 4" pitchFamily="34" charset="-120"/>
              </a:rPr>
              <a:t>request </a:t>
            </a:r>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through services; we trace </a:t>
            </a:r>
            <a:pPr algn="l" indent="0" marL="0">
              <a:lnSpc>
                <a:spcPct val="93889"/>
              </a:lnSpc>
              <a:buNone/>
            </a:pPr>
            <a:r>
              <a:rPr lang="en-US" sz="1950" b="1" dirty="0">
                <a:solidFill>
                  <a:srgbClr val="3D4A55"/>
                </a:solidFill>
                <a:latin typeface="Source Serif 4" pitchFamily="34" charset="0"/>
                <a:ea typeface="Source Serif 4" pitchFamily="34" charset="-122"/>
                <a:cs typeface="Source Serif 4" pitchFamily="34" charset="-120"/>
              </a:rPr>
              <a:t>data </a:t>
            </a:r>
            <a:pPr algn="l" indent="0" marL="0">
              <a:lnSpc>
                <a:spcPct val="93889"/>
              </a:lnSpc>
              <a:buNone/>
            </a:pPr>
            <a:r>
              <a:rPr lang="en-US" sz="1950" dirty="0">
                <a:solidFill>
                  <a:srgbClr val="3D4A55"/>
                </a:solidFill>
                <a:latin typeface="Source Serif 4" pitchFamily="34" charset="0"/>
                <a:ea typeface="Source Serif 4" pitchFamily="34" charset="-122"/>
                <a:cs typeface="Source Serif 4" pitchFamily="34" charset="-120"/>
              </a:rPr>
              <a:t>as it moves through services, streams, tables, and reports.</a:t>
            </a:r>
            <a:endParaRPr lang="en-US" sz="1950" dirty="0"/>
          </a:p>
        </p:txBody>
      </p:sp>
      <p:sp>
        <p:nvSpPr>
          <p:cNvPr id="5" name="Shape 3"/>
          <p:cNvSpPr/>
          <p:nvPr/>
        </p:nvSpPr>
        <p:spPr>
          <a:xfrm>
            <a:off x="857250" y="1866900"/>
            <a:ext cx="16573500" cy="2447925"/>
          </a:xfrm>
          <a:prstGeom prst="roundRect">
            <a:avLst>
              <a:gd name="adj" fmla="val 5447"/>
            </a:avLst>
          </a:prstGeom>
          <a:solidFill>
            <a:srgbClr val="FDFDFB"/>
          </a:solidFill>
          <a:ln w="9525">
            <a:solidFill>
              <a:srgbClr val="D9DED7"/>
            </a:solidFill>
            <a:prstDash val="solid"/>
          </a:ln>
        </p:spPr>
      </p:sp>
      <p:sp>
        <p:nvSpPr>
          <p:cNvPr id="6" name="Text 4"/>
          <p:cNvSpPr/>
          <p:nvPr/>
        </p:nvSpPr>
        <p:spPr>
          <a:xfrm>
            <a:off x="1114425" y="2000250"/>
            <a:ext cx="2640494"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B6873"/>
                </a:solidFill>
                <a:latin typeface="IBM Plex Mono" pitchFamily="34" charset="0"/>
                <a:ea typeface="IBM Plex Mono" pitchFamily="34" charset="-122"/>
                <a:cs typeface="IBM Plex Mono" pitchFamily="34" charset="-120"/>
              </a:rPr>
              <a:t>APM · NEW RELIC</a:t>
            </a:r>
            <a:endParaRPr lang="en-US" sz="1800" dirty="0"/>
          </a:p>
        </p:txBody>
      </p:sp>
      <p:sp>
        <p:nvSpPr>
          <p:cNvPr id="7" name="Text 5"/>
          <p:cNvSpPr/>
          <p:nvPr/>
        </p:nvSpPr>
        <p:spPr>
          <a:xfrm>
            <a:off x="3705374" y="1990725"/>
            <a:ext cx="7150730" cy="361950"/>
          </a:xfrm>
          <a:prstGeom prst="rect">
            <a:avLst/>
          </a:prstGeom>
          <a:noFill/>
          <a:ln/>
        </p:spPr>
        <p:txBody>
          <a:bodyPr wrap="square" lIns="25400" tIns="25400" rIns="25400" bIns="25400" rtlCol="0" anchor="t">
            <a:normAutofit/>
          </a:bodyPr>
          <a:lstStyle/>
          <a:p>
            <a:pPr algn="l" indent="0" marL="0">
              <a:buNone/>
            </a:pPr>
            <a:r>
              <a:rPr lang="en-US" sz="1875" i="1" dirty="0">
                <a:solidFill>
                  <a:srgbClr val="3D4A55"/>
                </a:solidFill>
                <a:latin typeface="Source Serif 4" pitchFamily="34" charset="0"/>
                <a:ea typeface="Source Serif 4" pitchFamily="34" charset="-122"/>
                <a:cs typeface="Source Serif 4" pitchFamily="34" charset="-120"/>
              </a:rPr>
              <a:t>account opening slows at 10:00 — the agent saw every hop</a:t>
            </a:r>
            <a:endParaRPr lang="en-US" sz="1875" dirty="0"/>
          </a:p>
        </p:txBody>
      </p:sp>
      <p:sp>
        <p:nvSpPr>
          <p:cNvPr id="8" name="Shape 6"/>
          <p:cNvSpPr/>
          <p:nvPr/>
        </p:nvSpPr>
        <p:spPr>
          <a:xfrm>
            <a:off x="1114425" y="2390775"/>
            <a:ext cx="2514600" cy="495300"/>
          </a:xfrm>
          <a:prstGeom prst="roundRect">
            <a:avLst>
              <a:gd name="adj" fmla="val 17308"/>
            </a:avLst>
          </a:prstGeom>
          <a:solidFill>
            <a:srgbClr val="F0F1EE"/>
          </a:solidFill>
          <a:ln w="9525">
            <a:solidFill>
              <a:srgbClr val="D9DED7"/>
            </a:solidFill>
            <a:prstDash val="solid"/>
          </a:ln>
        </p:spPr>
      </p:sp>
      <p:sp>
        <p:nvSpPr>
          <p:cNvPr id="9" name="Text 7"/>
          <p:cNvSpPr/>
          <p:nvPr/>
        </p:nvSpPr>
        <p:spPr>
          <a:xfrm>
            <a:off x="1219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browser</a:t>
            </a:r>
            <a:endParaRPr lang="en-US" sz="1875" dirty="0"/>
          </a:p>
        </p:txBody>
      </p:sp>
      <p:sp>
        <p:nvSpPr>
          <p:cNvPr id="10" name="Text 8"/>
          <p:cNvSpPr/>
          <p:nvPr/>
        </p:nvSpPr>
        <p:spPr>
          <a:xfrm>
            <a:off x="988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3.1 s ⚠</a:t>
            </a:r>
            <a:endParaRPr lang="en-US" sz="1800" dirty="0"/>
          </a:p>
        </p:txBody>
      </p:sp>
      <p:sp>
        <p:nvSpPr>
          <p:cNvPr id="11" name="Text 9"/>
          <p:cNvSpPr/>
          <p:nvPr/>
        </p:nvSpPr>
        <p:spPr>
          <a:xfrm>
            <a:off x="3762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12" name="Shape 10"/>
          <p:cNvSpPr/>
          <p:nvPr/>
        </p:nvSpPr>
        <p:spPr>
          <a:xfrm>
            <a:off x="4162425" y="2390775"/>
            <a:ext cx="2514600" cy="495300"/>
          </a:xfrm>
          <a:prstGeom prst="roundRect">
            <a:avLst>
              <a:gd name="adj" fmla="val 17308"/>
            </a:avLst>
          </a:prstGeom>
          <a:solidFill>
            <a:srgbClr val="F0F1EE"/>
          </a:solidFill>
          <a:ln w="9525">
            <a:solidFill>
              <a:srgbClr val="D9DED7"/>
            </a:solidFill>
            <a:prstDash val="solid"/>
          </a:ln>
        </p:spPr>
      </p:sp>
      <p:sp>
        <p:nvSpPr>
          <p:cNvPr id="13" name="Text 11"/>
          <p:cNvSpPr/>
          <p:nvPr/>
        </p:nvSpPr>
        <p:spPr>
          <a:xfrm>
            <a:off x="4267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account-svc</a:t>
            </a:r>
            <a:endParaRPr lang="en-US" sz="1875" dirty="0"/>
          </a:p>
        </p:txBody>
      </p:sp>
      <p:sp>
        <p:nvSpPr>
          <p:cNvPr id="14" name="Text 12"/>
          <p:cNvSpPr/>
          <p:nvPr/>
        </p:nvSpPr>
        <p:spPr>
          <a:xfrm>
            <a:off x="4036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180 ms</a:t>
            </a:r>
            <a:endParaRPr lang="en-US" sz="1800" dirty="0"/>
          </a:p>
        </p:txBody>
      </p:sp>
      <p:sp>
        <p:nvSpPr>
          <p:cNvPr id="15" name="Text 13"/>
          <p:cNvSpPr/>
          <p:nvPr/>
        </p:nvSpPr>
        <p:spPr>
          <a:xfrm>
            <a:off x="6810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16" name="Shape 14"/>
          <p:cNvSpPr/>
          <p:nvPr/>
        </p:nvSpPr>
        <p:spPr>
          <a:xfrm>
            <a:off x="7210425" y="2390775"/>
            <a:ext cx="2514600" cy="819150"/>
          </a:xfrm>
          <a:prstGeom prst="roundRect">
            <a:avLst>
              <a:gd name="adj" fmla="val 10465"/>
            </a:avLst>
          </a:prstGeom>
          <a:solidFill>
            <a:srgbClr val="FBF3E4"/>
          </a:solidFill>
          <a:ln w="19050">
            <a:solidFill>
              <a:srgbClr val="B97417"/>
            </a:solidFill>
            <a:prstDash val="solid"/>
          </a:ln>
        </p:spPr>
      </p:sp>
      <p:sp>
        <p:nvSpPr>
          <p:cNvPr id="17" name="Text 15"/>
          <p:cNvSpPr/>
          <p:nvPr/>
        </p:nvSpPr>
        <p:spPr>
          <a:xfrm>
            <a:off x="7324725" y="2495550"/>
            <a:ext cx="2286000" cy="6477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highlight>
                  <a:srgbClr val="FBF3E4"/>
                </a:highlight>
                <a:latin typeface="Bricolage Grotesque" pitchFamily="34" charset="0"/>
                <a:ea typeface="Bricolage Grotesque" pitchFamily="34" charset="-122"/>
                <a:cs typeface="Bricolage Grotesque" pitchFamily="34" charset="-120"/>
              </a:rPr>
              <a:t>kyc-svc </a:t>
            </a:r>
            <a:pPr algn="ctr" indent="0" marL="0">
              <a:buNone/>
            </a:pPr>
            <a:r>
              <a:rPr lang="en-US" sz="1800" dirty="0">
                <a:solidFill>
                  <a:srgbClr val="B97417"/>
                </a:solidFill>
                <a:latin typeface="IBM Plex Mono" pitchFamily="34" charset="0"/>
                <a:ea typeface="IBM Plex Mono" pitchFamily="34" charset="-122"/>
                <a:cs typeface="IBM Plex Mono" pitchFamily="34" charset="-120"/>
              </a:rPr>
              <a:t>v3.17 @ 09:58</a:t>
            </a:r>
            <a:endParaRPr lang="en-US" sz="1875" dirty="0"/>
          </a:p>
        </p:txBody>
      </p:sp>
      <p:sp>
        <p:nvSpPr>
          <p:cNvPr id="18" name="Text 16"/>
          <p:cNvSpPr/>
          <p:nvPr/>
        </p:nvSpPr>
        <p:spPr>
          <a:xfrm>
            <a:off x="7172325" y="3286125"/>
            <a:ext cx="2590800" cy="6477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span · 2.8 s ⚠ slow query</a:t>
            </a:r>
            <a:endParaRPr lang="en-US" sz="1800" dirty="0"/>
          </a:p>
        </p:txBody>
      </p:sp>
      <p:sp>
        <p:nvSpPr>
          <p:cNvPr id="19" name="Text 17"/>
          <p:cNvSpPr/>
          <p:nvPr/>
        </p:nvSpPr>
        <p:spPr>
          <a:xfrm>
            <a:off x="9858375" y="29527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8B99A4"/>
                </a:solidFill>
                <a:latin typeface="Bricolage Grotesque" pitchFamily="34" charset="0"/>
                <a:ea typeface="Bricolage Grotesque" pitchFamily="34" charset="-122"/>
                <a:cs typeface="Bricolage Grotesque" pitchFamily="34" charset="-120"/>
              </a:rPr>
              <a:t>→</a:t>
            </a:r>
            <a:endParaRPr lang="en-US" sz="2100" dirty="0"/>
          </a:p>
        </p:txBody>
      </p:sp>
      <p:sp>
        <p:nvSpPr>
          <p:cNvPr id="20" name="Shape 18"/>
          <p:cNvSpPr/>
          <p:nvPr/>
        </p:nvSpPr>
        <p:spPr>
          <a:xfrm>
            <a:off x="10258425" y="2390775"/>
            <a:ext cx="2514600" cy="495300"/>
          </a:xfrm>
          <a:prstGeom prst="roundRect">
            <a:avLst>
              <a:gd name="adj" fmla="val 17308"/>
            </a:avLst>
          </a:prstGeom>
          <a:solidFill>
            <a:srgbClr val="F0F1EE"/>
          </a:solidFill>
          <a:ln w="9525">
            <a:solidFill>
              <a:srgbClr val="D9DED7"/>
            </a:solidFill>
            <a:prstDash val="solid"/>
          </a:ln>
        </p:spPr>
      </p:sp>
      <p:sp>
        <p:nvSpPr>
          <p:cNvPr id="21" name="Text 19"/>
          <p:cNvSpPr/>
          <p:nvPr/>
        </p:nvSpPr>
        <p:spPr>
          <a:xfrm>
            <a:off x="10363200" y="24955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 DB</a:t>
            </a:r>
            <a:endParaRPr lang="en-US" sz="1875" dirty="0"/>
          </a:p>
        </p:txBody>
      </p:sp>
      <p:sp>
        <p:nvSpPr>
          <p:cNvPr id="22" name="Text 20"/>
          <p:cNvSpPr/>
          <p:nvPr/>
        </p:nvSpPr>
        <p:spPr>
          <a:xfrm>
            <a:off x="10132695" y="2962275"/>
            <a:ext cx="2766060"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span · 40 ms</a:t>
            </a:r>
            <a:endParaRPr lang="en-US" sz="1800" dirty="0"/>
          </a:p>
        </p:txBody>
      </p:sp>
      <p:sp>
        <p:nvSpPr>
          <p:cNvPr id="23" name="Shape 21"/>
          <p:cNvSpPr/>
          <p:nvPr/>
        </p:nvSpPr>
        <p:spPr>
          <a:xfrm>
            <a:off x="12982575" y="2390775"/>
            <a:ext cx="4191000" cy="1781175"/>
          </a:xfrm>
          <a:prstGeom prst="roundRect">
            <a:avLst>
              <a:gd name="adj" fmla="val 5348"/>
            </a:avLst>
          </a:prstGeom>
          <a:solidFill>
            <a:srgbClr val="1B2530"/>
          </a:solidFill>
          <a:ln/>
        </p:spPr>
      </p:sp>
      <p:sp>
        <p:nvSpPr>
          <p:cNvPr id="24" name="Text 22"/>
          <p:cNvSpPr/>
          <p:nvPr/>
        </p:nvSpPr>
        <p:spPr>
          <a:xfrm>
            <a:off x="13154025" y="2505075"/>
            <a:ext cx="396354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8B99A4"/>
                </a:solidFill>
                <a:latin typeface="IBM Plex Mono" pitchFamily="34" charset="0"/>
                <a:ea typeface="IBM Plex Mono" pitchFamily="34" charset="-122"/>
                <a:cs typeface="IBM Plex Mono" pitchFamily="34" charset="-120"/>
              </a:rPr>
              <a:t>NEW RELIC JOINS ON trace_id</a:t>
            </a:r>
            <a:endParaRPr lang="en-US" sz="1800" dirty="0"/>
          </a:p>
        </p:txBody>
      </p:sp>
      <p:sp>
        <p:nvSpPr>
          <p:cNvPr id="25" name="Text 23"/>
          <p:cNvSpPr/>
          <p:nvPr/>
        </p:nvSpPr>
        <p:spPr>
          <a:xfrm>
            <a:off x="13154025" y="3143250"/>
            <a:ext cx="3963543" cy="952500"/>
          </a:xfrm>
          <a:prstGeom prst="rect">
            <a:avLst/>
          </a:prstGeom>
          <a:noFill/>
          <a:ln/>
        </p:spPr>
        <p:txBody>
          <a:bodyPr wrap="square" lIns="25400" tIns="25400" rIns="25400" bIns="25400" rtlCol="0" anchor="t">
            <a:normAutofit/>
          </a:bodyPr>
          <a:lstStyle/>
          <a:p>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Service map lights kyc-svc red, deploy marker at 09:58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one alert, cause attached</a:t>
            </a:r>
            <a:endParaRPr lang="en-US" sz="1875" dirty="0"/>
          </a:p>
        </p:txBody>
      </p:sp>
      <p:sp>
        <p:nvSpPr>
          <p:cNvPr id="26" name="Text 24"/>
          <p:cNvSpPr/>
          <p:nvPr/>
        </p:nvSpPr>
        <p:spPr>
          <a:xfrm>
            <a:off x="857250" y="4500563"/>
            <a:ext cx="2097137"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b="1" spc="144" kern="0" dirty="0">
                <a:solidFill>
                  <a:srgbClr val="0E7C6B"/>
                </a:solidFill>
                <a:latin typeface="IBM Plex Mono" pitchFamily="34" charset="0"/>
                <a:ea typeface="IBM Plex Mono" pitchFamily="34" charset="-122"/>
                <a:cs typeface="IBM Plex Mono" pitchFamily="34" charset="-120"/>
              </a:rPr>
              <a:t>SAME PATTERN, NEW UNIT ↓</a:t>
            </a:r>
            <a:endParaRPr lang="en-US" sz="1800" dirty="0"/>
          </a:p>
        </p:txBody>
      </p:sp>
      <p:sp>
        <p:nvSpPr>
          <p:cNvPr id="27" name="Shape 25"/>
          <p:cNvSpPr/>
          <p:nvPr/>
        </p:nvSpPr>
        <p:spPr>
          <a:xfrm>
            <a:off x="3049637" y="4410075"/>
            <a:ext cx="3495229" cy="771525"/>
          </a:xfrm>
          <a:prstGeom prst="roundRect">
            <a:avLst>
              <a:gd name="adj" fmla="val 11111"/>
            </a:avLst>
          </a:prstGeom>
          <a:solidFill>
            <a:srgbClr val="FDFDFB"/>
          </a:solidFill>
          <a:ln w="9525">
            <a:solidFill>
              <a:srgbClr val="D9DED7"/>
            </a:solidFill>
            <a:prstDash val="solid"/>
          </a:ln>
        </p:spPr>
      </p:sp>
      <p:sp>
        <p:nvSpPr>
          <p:cNvPr id="28" name="Text 26"/>
          <p:cNvSpPr/>
          <p:nvPr/>
        </p:nvSpPr>
        <p:spPr>
          <a:xfrm>
            <a:off x="3192512"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agent in each service</a:t>
            </a:r>
            <a:endParaRPr lang="en-US" sz="1800" dirty="0"/>
          </a:p>
        </p:txBody>
      </p:sp>
      <p:sp>
        <p:nvSpPr>
          <p:cNvPr id="29" name="Text 27"/>
          <p:cNvSpPr/>
          <p:nvPr/>
        </p:nvSpPr>
        <p:spPr>
          <a:xfrm>
            <a:off x="3192512"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Enforcer at each hop</a:t>
            </a:r>
            <a:endParaRPr lang="en-US" sz="1800" dirty="0"/>
          </a:p>
        </p:txBody>
      </p:sp>
      <p:sp>
        <p:nvSpPr>
          <p:cNvPr id="30" name="Shape 28"/>
          <p:cNvSpPr/>
          <p:nvPr/>
        </p:nvSpPr>
        <p:spPr>
          <a:xfrm>
            <a:off x="6678216" y="4410075"/>
            <a:ext cx="3495229" cy="771525"/>
          </a:xfrm>
          <a:prstGeom prst="roundRect">
            <a:avLst>
              <a:gd name="adj" fmla="val 11111"/>
            </a:avLst>
          </a:prstGeom>
          <a:solidFill>
            <a:srgbClr val="FDFDFB"/>
          </a:solidFill>
          <a:ln w="9525">
            <a:solidFill>
              <a:srgbClr val="D9DED7"/>
            </a:solidFill>
            <a:prstDash val="solid"/>
          </a:ln>
        </p:spPr>
      </p:sp>
      <p:sp>
        <p:nvSpPr>
          <p:cNvPr id="31" name="Text 29"/>
          <p:cNvSpPr/>
          <p:nvPr/>
        </p:nvSpPr>
        <p:spPr>
          <a:xfrm>
            <a:off x="6821091"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span per request</a:t>
            </a:r>
            <a:endParaRPr lang="en-US" sz="1800" dirty="0"/>
          </a:p>
        </p:txBody>
      </p:sp>
      <p:sp>
        <p:nvSpPr>
          <p:cNvPr id="32" name="Text 30"/>
          <p:cNvSpPr/>
          <p:nvPr/>
        </p:nvSpPr>
        <p:spPr>
          <a:xfrm>
            <a:off x="6821091"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evidence per record</a:t>
            </a:r>
            <a:endParaRPr lang="en-US" sz="1800" dirty="0"/>
          </a:p>
        </p:txBody>
      </p:sp>
      <p:sp>
        <p:nvSpPr>
          <p:cNvPr id="33" name="Shape 31"/>
          <p:cNvSpPr/>
          <p:nvPr/>
        </p:nvSpPr>
        <p:spPr>
          <a:xfrm>
            <a:off x="10306794" y="4410075"/>
            <a:ext cx="3495229" cy="771525"/>
          </a:xfrm>
          <a:prstGeom prst="roundRect">
            <a:avLst>
              <a:gd name="adj" fmla="val 11111"/>
            </a:avLst>
          </a:prstGeom>
          <a:solidFill>
            <a:srgbClr val="FDFDFB"/>
          </a:solidFill>
          <a:ln w="9525">
            <a:solidFill>
              <a:srgbClr val="D9DED7"/>
            </a:solidFill>
            <a:prstDash val="solid"/>
          </a:ln>
        </p:spPr>
      </p:sp>
      <p:sp>
        <p:nvSpPr>
          <p:cNvPr id="34" name="Text 32"/>
          <p:cNvSpPr/>
          <p:nvPr/>
        </p:nvSpPr>
        <p:spPr>
          <a:xfrm>
            <a:off x="10449669" y="4486275"/>
            <a:ext cx="353042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trace_id joins spans</a:t>
            </a:r>
            <a:endParaRPr lang="en-US" sz="1800" dirty="0"/>
          </a:p>
        </p:txBody>
      </p:sp>
      <p:sp>
        <p:nvSpPr>
          <p:cNvPr id="35" name="Text 33"/>
          <p:cNvSpPr/>
          <p:nvPr/>
        </p:nvSpPr>
        <p:spPr>
          <a:xfrm>
            <a:off x="10449669" y="4800600"/>
            <a:ext cx="35304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URN joins evidence</a:t>
            </a:r>
            <a:endParaRPr lang="en-US" sz="1800" dirty="0"/>
          </a:p>
        </p:txBody>
      </p:sp>
      <p:sp>
        <p:nvSpPr>
          <p:cNvPr id="36" name="Shape 34"/>
          <p:cNvSpPr/>
          <p:nvPr/>
        </p:nvSpPr>
        <p:spPr>
          <a:xfrm>
            <a:off x="13935373" y="4410075"/>
            <a:ext cx="3495377" cy="771525"/>
          </a:xfrm>
          <a:prstGeom prst="roundRect">
            <a:avLst>
              <a:gd name="adj" fmla="val 11111"/>
            </a:avLst>
          </a:prstGeom>
          <a:solidFill>
            <a:srgbClr val="FDFDFB"/>
          </a:solidFill>
          <a:ln w="9525">
            <a:solidFill>
              <a:srgbClr val="D9DED7"/>
            </a:solidFill>
            <a:prstDash val="solid"/>
          </a:ln>
        </p:spPr>
      </p:sp>
      <p:sp>
        <p:nvSpPr>
          <p:cNvPr id="37" name="Text 35"/>
          <p:cNvSpPr/>
          <p:nvPr/>
        </p:nvSpPr>
        <p:spPr>
          <a:xfrm>
            <a:off x="14078248" y="4486275"/>
            <a:ext cx="353059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service map</a:t>
            </a:r>
            <a:endParaRPr lang="en-US" sz="1800" dirty="0"/>
          </a:p>
        </p:txBody>
      </p:sp>
      <p:sp>
        <p:nvSpPr>
          <p:cNvPr id="38" name="Text 36"/>
          <p:cNvSpPr/>
          <p:nvPr/>
        </p:nvSpPr>
        <p:spPr>
          <a:xfrm>
            <a:off x="14078248" y="4800600"/>
            <a:ext cx="353059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 lineage graph</a:t>
            </a:r>
            <a:endParaRPr lang="en-US" sz="1800" dirty="0"/>
          </a:p>
        </p:txBody>
      </p:sp>
      <p:sp>
        <p:nvSpPr>
          <p:cNvPr id="39" name="Shape 37"/>
          <p:cNvSpPr/>
          <p:nvPr/>
        </p:nvSpPr>
        <p:spPr>
          <a:xfrm>
            <a:off x="857250" y="5276850"/>
            <a:ext cx="16573500" cy="3381375"/>
          </a:xfrm>
          <a:prstGeom prst="roundRect">
            <a:avLst>
              <a:gd name="adj" fmla="val 3944"/>
            </a:avLst>
          </a:prstGeom>
          <a:solidFill>
            <a:srgbClr val="FDFDFB"/>
          </a:solidFill>
          <a:ln w="9525">
            <a:solidFill>
              <a:srgbClr val="0E7C6B"/>
            </a:solidFill>
            <a:prstDash val="solid"/>
          </a:ln>
        </p:spPr>
      </p:sp>
      <p:sp>
        <p:nvSpPr>
          <p:cNvPr id="40" name="Text 38"/>
          <p:cNvSpPr/>
          <p:nvPr/>
        </p:nvSpPr>
        <p:spPr>
          <a:xfrm>
            <a:off x="1114425" y="5410200"/>
            <a:ext cx="5353144" cy="6477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E7C6B"/>
                </a:solidFill>
                <a:latin typeface="IBM Plex Mono" pitchFamily="34" charset="0"/>
                <a:ea typeface="IBM Plex Mono" pitchFamily="34" charset="-122"/>
                <a:cs typeface="IBM Plex Mono" pitchFamily="34" charset="-120"/>
              </a:rPr>
              <a:t>DATA OBSERVABILITY · THIS PLATFORM</a:t>
            </a:r>
            <a:endParaRPr lang="en-US" sz="1800" dirty="0"/>
          </a:p>
        </p:txBody>
      </p:sp>
      <p:sp>
        <p:nvSpPr>
          <p:cNvPr id="41" name="Text 39"/>
          <p:cNvSpPr/>
          <p:nvPr/>
        </p:nvSpPr>
        <p:spPr>
          <a:xfrm>
            <a:off x="6502152" y="5400675"/>
            <a:ext cx="10991566" cy="685800"/>
          </a:xfrm>
          <a:prstGeom prst="rect">
            <a:avLst/>
          </a:prstGeom>
          <a:noFill/>
          <a:ln/>
        </p:spPr>
        <p:txBody>
          <a:bodyPr wrap="square" lIns="25400" tIns="25400" rIns="25400" bIns="25400" rtlCol="0" anchor="t">
            <a:normAutofit/>
          </a:bodyPr>
          <a:lstStyle/>
          <a:p>
            <a:pPr algn="l" indent="0" marL="0">
              <a:buNone/>
            </a:pPr>
            <a:r>
              <a:rPr lang="en-US" sz="1875" i="1" dirty="0">
                <a:solidFill>
                  <a:srgbClr val="3D4A55"/>
                </a:solidFill>
                <a:latin typeface="Source Serif 4" pitchFamily="34" charset="0"/>
                <a:ea typeface="Source Serif 4" pitchFamily="34" charset="-122"/>
                <a:cs typeface="Source Serif 4" pitchFamily="34" charset="-120"/>
              </a:rPr>
              <a:t>the same deploy corrupts the data at 10:00 — each hop is graded on its own; lineage carries the taint</a:t>
            </a:r>
            <a:endParaRPr lang="en-US" sz="1875" dirty="0"/>
          </a:p>
        </p:txBody>
      </p:sp>
      <p:sp>
        <p:nvSpPr>
          <p:cNvPr id="42" name="Shape 40"/>
          <p:cNvSpPr/>
          <p:nvPr/>
        </p:nvSpPr>
        <p:spPr>
          <a:xfrm>
            <a:off x="1114425" y="6124575"/>
            <a:ext cx="2514600" cy="819150"/>
          </a:xfrm>
          <a:prstGeom prst="roundRect">
            <a:avLst>
              <a:gd name="adj" fmla="val 10465"/>
            </a:avLst>
          </a:prstGeom>
          <a:solidFill>
            <a:srgbClr val="FBF3E4"/>
          </a:solidFill>
          <a:ln w="19050">
            <a:solidFill>
              <a:srgbClr val="B97417"/>
            </a:solidFill>
            <a:prstDash val="solid"/>
          </a:ln>
        </p:spPr>
      </p:sp>
      <p:sp>
        <p:nvSpPr>
          <p:cNvPr id="43" name="Text 41"/>
          <p:cNvSpPr/>
          <p:nvPr/>
        </p:nvSpPr>
        <p:spPr>
          <a:xfrm>
            <a:off x="1228725" y="6229350"/>
            <a:ext cx="2286000" cy="6477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highlight>
                  <a:srgbClr val="FBF3E4"/>
                </a:highlight>
                <a:latin typeface="Bricolage Grotesque" pitchFamily="34" charset="0"/>
                <a:ea typeface="Bricolage Grotesque" pitchFamily="34" charset="-122"/>
                <a:cs typeface="Bricolage Grotesque" pitchFamily="34" charset="-120"/>
              </a:rPr>
              <a:t>account-svc </a:t>
            </a:r>
            <a:pPr algn="ctr" indent="0" marL="0">
              <a:buNone/>
            </a:pPr>
            <a:r>
              <a:rPr lang="en-US" sz="1800" dirty="0">
                <a:solidFill>
                  <a:srgbClr val="B97417"/>
                </a:solidFill>
                <a:latin typeface="IBM Plex Mono" pitchFamily="34" charset="0"/>
                <a:ea typeface="IBM Plex Mono" pitchFamily="34" charset="-122"/>
                <a:cs typeface="IBM Plex Mono" pitchFamily="34" charset="-120"/>
              </a:rPr>
              <a:t>v3.17 @ 09:58</a:t>
            </a:r>
            <a:endParaRPr lang="en-US" sz="1875" dirty="0"/>
          </a:p>
        </p:txBody>
      </p:sp>
      <p:sp>
        <p:nvSpPr>
          <p:cNvPr id="44" name="Text 42"/>
          <p:cNvSpPr/>
          <p:nvPr/>
        </p:nvSpPr>
        <p:spPr>
          <a:xfrm>
            <a:off x="1076325" y="7019925"/>
            <a:ext cx="2590800" cy="6477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deploy hook · new lineage edges</a:t>
            </a:r>
            <a:endParaRPr lang="en-US" sz="1800" dirty="0"/>
          </a:p>
        </p:txBody>
      </p:sp>
      <p:sp>
        <p:nvSpPr>
          <p:cNvPr id="45" name="Text 43"/>
          <p:cNvSpPr/>
          <p:nvPr/>
        </p:nvSpPr>
        <p:spPr>
          <a:xfrm>
            <a:off x="3762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46" name="Shape 44"/>
          <p:cNvSpPr/>
          <p:nvPr/>
        </p:nvSpPr>
        <p:spPr>
          <a:xfrm>
            <a:off x="4162425" y="6124575"/>
            <a:ext cx="2514600" cy="495300"/>
          </a:xfrm>
          <a:prstGeom prst="roundRect">
            <a:avLst>
              <a:gd name="adj" fmla="val 17308"/>
            </a:avLst>
          </a:prstGeom>
          <a:solidFill>
            <a:srgbClr val="FBF3E4"/>
          </a:solidFill>
          <a:ln w="19050">
            <a:solidFill>
              <a:srgbClr val="B97417"/>
            </a:solidFill>
            <a:prstDash val="solid"/>
          </a:ln>
        </p:spPr>
      </p:sp>
      <p:sp>
        <p:nvSpPr>
          <p:cNvPr id="47" name="Text 45"/>
          <p:cNvSpPr/>
          <p:nvPr/>
        </p:nvSpPr>
        <p:spPr>
          <a:xfrm>
            <a:off x="4276725" y="6229350"/>
            <a:ext cx="228600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accounts topic</a:t>
            </a:r>
            <a:endParaRPr lang="en-US" sz="1875" dirty="0"/>
          </a:p>
        </p:txBody>
      </p:sp>
      <p:sp>
        <p:nvSpPr>
          <p:cNvPr id="48" name="Text 46"/>
          <p:cNvSpPr/>
          <p:nvPr/>
        </p:nvSpPr>
        <p:spPr>
          <a:xfrm>
            <a:off x="4124325" y="6696075"/>
            <a:ext cx="2590800" cy="6477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Enforcer: FAIL · customer_id NULL</a:t>
            </a:r>
            <a:endParaRPr lang="en-US" sz="1800" dirty="0"/>
          </a:p>
        </p:txBody>
      </p:sp>
      <p:sp>
        <p:nvSpPr>
          <p:cNvPr id="49" name="Text 47"/>
          <p:cNvSpPr/>
          <p:nvPr/>
        </p:nvSpPr>
        <p:spPr>
          <a:xfrm>
            <a:off x="6810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50" name="Shape 48"/>
          <p:cNvSpPr/>
          <p:nvPr/>
        </p:nvSpPr>
        <p:spPr>
          <a:xfrm>
            <a:off x="7210425" y="6124575"/>
            <a:ext cx="2514600" cy="781050"/>
          </a:xfrm>
          <a:prstGeom prst="roundRect">
            <a:avLst>
              <a:gd name="adj" fmla="val 10976"/>
            </a:avLst>
          </a:prstGeom>
          <a:solidFill>
            <a:srgbClr val="F0F1EE"/>
          </a:solidFill>
          <a:ln w="9525">
            <a:solidFill>
              <a:srgbClr val="B97417"/>
            </a:solidFill>
            <a:prstDash val="dash"/>
          </a:ln>
        </p:spPr>
      </p:sp>
      <p:sp>
        <p:nvSpPr>
          <p:cNvPr id="51" name="Text 49"/>
          <p:cNvSpPr/>
          <p:nvPr/>
        </p:nvSpPr>
        <p:spPr>
          <a:xfrm>
            <a:off x="7315200" y="6229350"/>
            <a:ext cx="2305050" cy="60960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KYC enrichment job</a:t>
            </a:r>
            <a:endParaRPr lang="en-US" sz="1875" dirty="0"/>
          </a:p>
        </p:txBody>
      </p:sp>
      <p:sp>
        <p:nvSpPr>
          <p:cNvPr id="52" name="Text 50"/>
          <p:cNvSpPr/>
          <p:nvPr/>
        </p:nvSpPr>
        <p:spPr>
          <a:xfrm>
            <a:off x="7172325" y="6981825"/>
            <a:ext cx="2590800" cy="9525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own checks pass — </a:t>
            </a:r>
            <a:pPr algn="ctr" indent="0" marL="0">
              <a:buNone/>
            </a:pPr>
            <a:r>
              <a:rPr lang="en-US" sz="1800" b="1" dirty="0">
                <a:solidFill>
                  <a:srgbClr val="B97417"/>
                </a:solidFill>
                <a:latin typeface="IBM Plex Mono" pitchFamily="34" charset="0"/>
                <a:ea typeface="IBM Plex Mono" pitchFamily="34" charset="-122"/>
                <a:cs typeface="IBM Plex Mono" pitchFamily="34" charset="-120"/>
              </a:rPr>
              <a:t>consumed bad rows: tainted ⚠</a:t>
            </a:r>
            <a:endParaRPr lang="en-US" sz="1800" dirty="0"/>
          </a:p>
        </p:txBody>
      </p:sp>
      <p:sp>
        <p:nvSpPr>
          <p:cNvPr id="53" name="Text 51"/>
          <p:cNvSpPr/>
          <p:nvPr/>
        </p:nvSpPr>
        <p:spPr>
          <a:xfrm>
            <a:off x="9858375" y="6991350"/>
            <a:ext cx="320040" cy="371475"/>
          </a:xfrm>
          <a:prstGeom prst="rect">
            <a:avLst/>
          </a:prstGeom>
          <a:noFill/>
          <a:ln/>
        </p:spPr>
        <p:txBody>
          <a:bodyPr wrap="square" lIns="25400" tIns="25400" rIns="25400" bIns="25400" rtlCol="0" anchor="t">
            <a:normAutofit/>
          </a:bodyPr>
          <a:lstStyle/>
          <a:p>
            <a:pPr algn="l" indent="0" marL="0">
              <a:buNone/>
            </a:pPr>
            <a:r>
              <a:rPr lang="en-US" sz="2100" b="1" dirty="0">
                <a:solidFill>
                  <a:srgbClr val="34B39B"/>
                </a:solidFill>
                <a:latin typeface="Bricolage Grotesque" pitchFamily="34" charset="0"/>
                <a:ea typeface="Bricolage Grotesque" pitchFamily="34" charset="-122"/>
                <a:cs typeface="Bricolage Grotesque" pitchFamily="34" charset="-120"/>
              </a:rPr>
              <a:t>→</a:t>
            </a:r>
            <a:endParaRPr lang="en-US" sz="2100" dirty="0"/>
          </a:p>
        </p:txBody>
      </p:sp>
      <p:sp>
        <p:nvSpPr>
          <p:cNvPr id="54" name="Shape 52"/>
          <p:cNvSpPr/>
          <p:nvPr/>
        </p:nvSpPr>
        <p:spPr>
          <a:xfrm>
            <a:off x="10258425" y="6124575"/>
            <a:ext cx="2514600" cy="495300"/>
          </a:xfrm>
          <a:prstGeom prst="roundRect">
            <a:avLst>
              <a:gd name="adj" fmla="val 17308"/>
            </a:avLst>
          </a:prstGeom>
          <a:solidFill>
            <a:srgbClr val="F0F1EE"/>
          </a:solidFill>
          <a:ln w="9525">
            <a:solidFill>
              <a:srgbClr val="B97417"/>
            </a:solidFill>
            <a:prstDash val="dash"/>
          </a:ln>
        </p:spPr>
      </p:sp>
      <p:sp>
        <p:nvSpPr>
          <p:cNvPr id="55" name="Text 53"/>
          <p:cNvSpPr/>
          <p:nvPr/>
        </p:nvSpPr>
        <p:spPr>
          <a:xfrm>
            <a:off x="10363200" y="6229350"/>
            <a:ext cx="2305050" cy="323850"/>
          </a:xfrm>
          <a:prstGeom prst="rect">
            <a:avLst/>
          </a:prstGeom>
          <a:noFill/>
          <a:ln/>
        </p:spPr>
        <p:txBody>
          <a:bodyPr wrap="square" lIns="25400" tIns="25400" rIns="25400" bIns="25400" rtlCol="0" anchor="t">
            <a:normAutofit/>
          </a:bodyPr>
          <a:lstStyle/>
          <a:p>
            <a:pPr algn="ctr" indent="0" marL="0">
              <a:buNone/>
            </a:pPr>
            <a:r>
              <a:rPr lang="en-US" sz="1875" b="1" dirty="0">
                <a:solidFill>
                  <a:srgbClr val="1B2530"/>
                </a:solidFill>
                <a:latin typeface="Bricolage Grotesque" pitchFamily="34" charset="0"/>
                <a:ea typeface="Bricolage Grotesque" pitchFamily="34" charset="-122"/>
                <a:cs typeface="Bricolage Grotesque" pitchFamily="34" charset="-120"/>
              </a:rPr>
              <a:t>onboarding report</a:t>
            </a:r>
            <a:endParaRPr lang="en-US" sz="1875" dirty="0"/>
          </a:p>
        </p:txBody>
      </p:sp>
      <p:sp>
        <p:nvSpPr>
          <p:cNvPr id="56" name="Text 54"/>
          <p:cNvSpPr/>
          <p:nvPr/>
        </p:nvSpPr>
        <p:spPr>
          <a:xfrm>
            <a:off x="10220325" y="6696075"/>
            <a:ext cx="2590800" cy="9525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not read yet — flagged </a:t>
            </a:r>
            <a:pPr algn="ctr" indent="0" marL="0">
              <a:buNone/>
            </a:pPr>
            <a:r>
              <a:rPr lang="en-US" sz="1800" b="1" dirty="0">
                <a:solidFill>
                  <a:srgbClr val="B97417"/>
                </a:solidFill>
                <a:latin typeface="IBM Plex Mono" pitchFamily="34" charset="0"/>
                <a:ea typeface="IBM Plex Mono" pitchFamily="34" charset="-122"/>
                <a:cs typeface="IBM Plex Mono" pitchFamily="34" charset="-120"/>
              </a:rPr>
              <a:t>at-risk </a:t>
            </a:r>
            <a:pPr algn="ctr" indent="0" marL="0">
              <a:buNone/>
            </a:pPr>
            <a:r>
              <a:rPr lang="en-US" sz="1800" dirty="0">
                <a:solidFill>
                  <a:srgbClr val="5B6873"/>
                </a:solidFill>
                <a:latin typeface="IBM Plex Mono" pitchFamily="34" charset="0"/>
                <a:ea typeface="IBM Plex Mono" pitchFamily="34" charset="-122"/>
                <a:cs typeface="IBM Plex Mono" pitchFamily="34" charset="-120"/>
              </a:rPr>
              <a:t>early</a:t>
            </a:r>
            <a:endParaRPr lang="en-US" sz="1800" dirty="0"/>
          </a:p>
        </p:txBody>
      </p:sp>
      <p:sp>
        <p:nvSpPr>
          <p:cNvPr id="57" name="Shape 55"/>
          <p:cNvSpPr/>
          <p:nvPr/>
        </p:nvSpPr>
        <p:spPr>
          <a:xfrm>
            <a:off x="12982575" y="6124575"/>
            <a:ext cx="4191000" cy="2390775"/>
          </a:xfrm>
          <a:prstGeom prst="roundRect">
            <a:avLst>
              <a:gd name="adj" fmla="val 3984"/>
            </a:avLst>
          </a:prstGeom>
          <a:solidFill>
            <a:srgbClr val="0E7C6B"/>
          </a:solidFill>
          <a:ln/>
        </p:spPr>
      </p:sp>
      <p:sp>
        <p:nvSpPr>
          <p:cNvPr id="58" name="Text 56"/>
          <p:cNvSpPr/>
          <p:nvPr/>
        </p:nvSpPr>
        <p:spPr>
          <a:xfrm>
            <a:off x="13154025" y="6238875"/>
            <a:ext cx="396354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FE3DA"/>
                </a:solidFill>
                <a:latin typeface="IBM Plex Mono" pitchFamily="34" charset="0"/>
                <a:ea typeface="IBM Plex Mono" pitchFamily="34" charset="-122"/>
                <a:cs typeface="IBM Plex Mono" pitchFamily="34" charset="-120"/>
              </a:rPr>
              <a:t>PLATFORM JOINS ON URN + trace_id</a:t>
            </a:r>
            <a:endParaRPr lang="en-US" sz="1800" dirty="0"/>
          </a:p>
        </p:txBody>
      </p:sp>
      <p:sp>
        <p:nvSpPr>
          <p:cNvPr id="59" name="Text 57"/>
          <p:cNvSpPr/>
          <p:nvPr/>
        </p:nvSpPr>
        <p:spPr>
          <a:xfrm>
            <a:off x="13154025" y="6877050"/>
            <a:ext cx="3963543" cy="1562100"/>
          </a:xfrm>
          <a:prstGeom prst="rect">
            <a:avLst/>
          </a:prstGeom>
          <a:noFill/>
          <a:ln/>
        </p:spPr>
        <p:txBody>
          <a:bodyPr wrap="square" lIns="25400" tIns="25400" rIns="25400" bIns="25400" rtlCol="0" anchor="t">
            <a:normAutofit/>
          </a:bodyPr>
          <a:lstStyle/>
          <a:p>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One FAIL upstream; lineage marks who consumed it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tainted </a:t>
            </a:r>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 and who hasn't read it yet ( </a:t>
            </a:r>
            <a:pPr algn="l" indent="0" marL="0">
              <a:lnSpc>
                <a:spcPct val="95588"/>
              </a:lnSpc>
              <a:buNone/>
            </a:pPr>
            <a:r>
              <a:rPr lang="en-US" sz="1875" b="1" dirty="0">
                <a:solidFill>
                  <a:srgbClr val="F6F7F4"/>
                </a:solidFill>
                <a:latin typeface="Source Serif 4" pitchFamily="34" charset="0"/>
                <a:ea typeface="Source Serif 4" pitchFamily="34" charset="-122"/>
                <a:cs typeface="Source Serif 4" pitchFamily="34" charset="-120"/>
              </a:rPr>
              <a:t>at-risk </a:t>
            </a:r>
            <a:pPr algn="l" indent="0" marL="0">
              <a:lnSpc>
                <a:spcPct val="95588"/>
              </a:lnSpc>
              <a:buNone/>
            </a:pPr>
            <a:r>
              <a:rPr lang="en-US" sz="1875" dirty="0">
                <a:solidFill>
                  <a:srgbClr val="F6F7F4"/>
                </a:solidFill>
                <a:latin typeface="Source Serif 4" pitchFamily="34" charset="0"/>
                <a:ea typeface="Source Serif 4" pitchFamily="34" charset="-122"/>
                <a:cs typeface="Source Serif 4" pitchFamily="34" charset="-120"/>
              </a:rPr>
              <a:t>) → one incident, one team paged</a:t>
            </a:r>
            <a:endParaRPr lang="en-US" sz="1875" dirty="0"/>
          </a:p>
        </p:txBody>
      </p:sp>
      <p:sp>
        <p:nvSpPr>
          <p:cNvPr id="60" name="Shape 58"/>
          <p:cNvSpPr/>
          <p:nvPr/>
        </p:nvSpPr>
        <p:spPr>
          <a:xfrm>
            <a:off x="857250" y="7400925"/>
            <a:ext cx="16573500" cy="2638425"/>
          </a:xfrm>
          <a:prstGeom prst="roundRect">
            <a:avLst>
              <a:gd name="adj" fmla="val 4332"/>
            </a:avLst>
          </a:prstGeom>
          <a:solidFill>
            <a:srgbClr val="1B2530"/>
          </a:solidFill>
          <a:ln/>
        </p:spPr>
      </p:sp>
      <p:sp>
        <p:nvSpPr>
          <p:cNvPr id="61" name="Text 59"/>
          <p:cNvSpPr/>
          <p:nvPr/>
        </p:nvSpPr>
        <p:spPr>
          <a:xfrm>
            <a:off x="1104900" y="7534275"/>
            <a:ext cx="547187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GOLDEN SIGNALS · ONE ENGINE EACH</a:t>
            </a:r>
            <a:endParaRPr lang="en-US" sz="1800" dirty="0"/>
          </a:p>
        </p:txBody>
      </p:sp>
      <p:sp>
        <p:nvSpPr>
          <p:cNvPr id="62" name="Text 60"/>
          <p:cNvSpPr/>
          <p:nvPr/>
        </p:nvSpPr>
        <p:spPr>
          <a:xfrm>
            <a:off x="6288881" y="7543800"/>
            <a:ext cx="11221045"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APM asks "is the service healthy?" — these five ask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"is the data still true?" </a:t>
            </a:r>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They read only evidence, never raw topics.</a:t>
            </a:r>
            <a:endParaRPr lang="en-US" sz="1800" dirty="0"/>
          </a:p>
        </p:txBody>
      </p:sp>
      <p:sp>
        <p:nvSpPr>
          <p:cNvPr id="63" name="Shape 61"/>
          <p:cNvSpPr/>
          <p:nvPr/>
        </p:nvSpPr>
        <p:spPr>
          <a:xfrm>
            <a:off x="1104900" y="8229600"/>
            <a:ext cx="3108871" cy="1657350"/>
          </a:xfrm>
          <a:prstGeom prst="roundRect">
            <a:avLst>
              <a:gd name="adj" fmla="val 4598"/>
            </a:avLst>
          </a:prstGeom>
          <a:solidFill>
            <a:srgbClr val="243140"/>
          </a:solidFill>
          <a:ln/>
        </p:spPr>
      </p:sp>
      <p:sp>
        <p:nvSpPr>
          <p:cNvPr id="64" name="Text 62"/>
          <p:cNvSpPr/>
          <p:nvPr/>
        </p:nvSpPr>
        <p:spPr>
          <a:xfrm>
            <a:off x="123825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LATENCY</a:t>
            </a:r>
            <a:endParaRPr lang="en-US" sz="1800" dirty="0"/>
          </a:p>
        </p:txBody>
      </p:sp>
      <p:sp>
        <p:nvSpPr>
          <p:cNvPr id="65" name="Text 63"/>
          <p:cNvSpPr/>
          <p:nvPr/>
        </p:nvSpPr>
        <p:spPr>
          <a:xfrm>
            <a:off x="123825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Freshness</a:t>
            </a:r>
            <a:endParaRPr lang="en-US" sz="2025" dirty="0"/>
          </a:p>
        </p:txBody>
      </p:sp>
      <p:sp>
        <p:nvSpPr>
          <p:cNvPr id="66" name="Text 64"/>
          <p:cNvSpPr/>
          <p:nvPr/>
        </p:nvSpPr>
        <p:spPr>
          <a:xfrm>
            <a:off x="1238250" y="8943975"/>
            <a:ext cx="2927436" cy="8953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on time vs its promised SLO — streams: event-time lag</a:t>
            </a:r>
            <a:endParaRPr lang="en-US" sz="1800" dirty="0"/>
          </a:p>
        </p:txBody>
      </p:sp>
      <p:sp>
        <p:nvSpPr>
          <p:cNvPr id="67" name="Shape 65"/>
          <p:cNvSpPr/>
          <p:nvPr/>
        </p:nvSpPr>
        <p:spPr>
          <a:xfrm>
            <a:off x="4347121" y="8229600"/>
            <a:ext cx="3109020" cy="1657350"/>
          </a:xfrm>
          <a:prstGeom prst="roundRect">
            <a:avLst>
              <a:gd name="adj" fmla="val 4598"/>
            </a:avLst>
          </a:prstGeom>
          <a:solidFill>
            <a:srgbClr val="243140"/>
          </a:solidFill>
          <a:ln/>
        </p:spPr>
      </p:sp>
      <p:sp>
        <p:nvSpPr>
          <p:cNvPr id="68" name="Text 66"/>
          <p:cNvSpPr/>
          <p:nvPr/>
        </p:nvSpPr>
        <p:spPr>
          <a:xfrm>
            <a:off x="4480471" y="8315325"/>
            <a:ext cx="312655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THROUGHPUT</a:t>
            </a:r>
            <a:endParaRPr lang="en-US" sz="1800" dirty="0"/>
          </a:p>
        </p:txBody>
      </p:sp>
      <p:sp>
        <p:nvSpPr>
          <p:cNvPr id="69" name="Text 67"/>
          <p:cNvSpPr/>
          <p:nvPr/>
        </p:nvSpPr>
        <p:spPr>
          <a:xfrm>
            <a:off x="4480471" y="8639175"/>
            <a:ext cx="3126551"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Volume</a:t>
            </a:r>
            <a:endParaRPr lang="en-US" sz="2025" dirty="0"/>
          </a:p>
        </p:txBody>
      </p:sp>
      <p:sp>
        <p:nvSpPr>
          <p:cNvPr id="70" name="Text 68"/>
          <p:cNvSpPr/>
          <p:nvPr/>
        </p:nvSpPr>
        <p:spPr>
          <a:xfrm>
            <a:off x="4480471" y="8943975"/>
            <a:ext cx="2927589"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count vs the learned normal for that hour</a:t>
            </a:r>
            <a:endParaRPr lang="en-US" sz="1800" dirty="0"/>
          </a:p>
        </p:txBody>
      </p:sp>
      <p:sp>
        <p:nvSpPr>
          <p:cNvPr id="71" name="Shape 69"/>
          <p:cNvSpPr/>
          <p:nvPr/>
        </p:nvSpPr>
        <p:spPr>
          <a:xfrm>
            <a:off x="7589490" y="8229600"/>
            <a:ext cx="3108871" cy="1657350"/>
          </a:xfrm>
          <a:prstGeom prst="roundRect">
            <a:avLst>
              <a:gd name="adj" fmla="val 4598"/>
            </a:avLst>
          </a:prstGeom>
          <a:solidFill>
            <a:srgbClr val="243140"/>
          </a:solidFill>
          <a:ln/>
        </p:spPr>
      </p:sp>
      <p:sp>
        <p:nvSpPr>
          <p:cNvPr id="72" name="Text 70"/>
          <p:cNvSpPr/>
          <p:nvPr/>
        </p:nvSpPr>
        <p:spPr>
          <a:xfrm>
            <a:off x="772284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ERROR RATE</a:t>
            </a:r>
            <a:endParaRPr lang="en-US" sz="1800" dirty="0"/>
          </a:p>
        </p:txBody>
      </p:sp>
      <p:sp>
        <p:nvSpPr>
          <p:cNvPr id="73" name="Text 71"/>
          <p:cNvSpPr/>
          <p:nvPr/>
        </p:nvSpPr>
        <p:spPr>
          <a:xfrm>
            <a:off x="772284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Contract</a:t>
            </a:r>
            <a:endParaRPr lang="en-US" sz="2025" dirty="0"/>
          </a:p>
        </p:txBody>
      </p:sp>
      <p:sp>
        <p:nvSpPr>
          <p:cNvPr id="74" name="Text 72"/>
          <p:cNvSpPr/>
          <p:nvPr/>
        </p:nvSpPr>
        <p:spPr>
          <a:xfrm>
            <a:off x="7722840" y="8943975"/>
            <a:ext cx="2927436"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structure as promised: fields present, right types</a:t>
            </a:r>
            <a:endParaRPr lang="en-US" sz="1800" dirty="0"/>
          </a:p>
        </p:txBody>
      </p:sp>
      <p:sp>
        <p:nvSpPr>
          <p:cNvPr id="75" name="Shape 73"/>
          <p:cNvSpPr/>
          <p:nvPr/>
        </p:nvSpPr>
        <p:spPr>
          <a:xfrm>
            <a:off x="10831711" y="8229600"/>
            <a:ext cx="3109020" cy="1657350"/>
          </a:xfrm>
          <a:prstGeom prst="roundRect">
            <a:avLst>
              <a:gd name="adj" fmla="val 4598"/>
            </a:avLst>
          </a:prstGeom>
          <a:solidFill>
            <a:srgbClr val="243140"/>
          </a:solidFill>
          <a:ln w="9525">
            <a:solidFill>
              <a:srgbClr val="B97417"/>
            </a:solidFill>
            <a:prstDash val="solid"/>
          </a:ln>
        </p:spPr>
      </p:sp>
      <p:sp>
        <p:nvSpPr>
          <p:cNvPr id="76" name="Text 74"/>
          <p:cNvSpPr/>
          <p:nvPr/>
        </p:nvSpPr>
        <p:spPr>
          <a:xfrm>
            <a:off x="10974586" y="8315325"/>
            <a:ext cx="310559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77" name="Text 75"/>
          <p:cNvSpPr/>
          <p:nvPr/>
        </p:nvSpPr>
        <p:spPr>
          <a:xfrm>
            <a:off x="10974586" y="8639175"/>
            <a:ext cx="310559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E8B04B"/>
                </a:solidFill>
                <a:latin typeface="Bricolage Grotesque" pitchFamily="34" charset="0"/>
                <a:ea typeface="Bricolage Grotesque" pitchFamily="34" charset="-122"/>
                <a:cs typeface="Bricolage Grotesque" pitchFamily="34" charset="-120"/>
              </a:rPr>
              <a:t>Quality</a:t>
            </a:r>
            <a:endParaRPr lang="en-US" sz="2025" dirty="0"/>
          </a:p>
        </p:txBody>
      </p:sp>
      <p:sp>
        <p:nvSpPr>
          <p:cNvPr id="78" name="Text 76"/>
          <p:cNvSpPr/>
          <p:nvPr/>
        </p:nvSpPr>
        <p:spPr>
          <a:xfrm>
            <a:off x="10974586" y="8943975"/>
            <a:ext cx="2907968"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the values inside: nulls, dupes, out-of-range</a:t>
            </a:r>
            <a:endParaRPr lang="en-US" sz="1800" dirty="0"/>
          </a:p>
        </p:txBody>
      </p:sp>
      <p:sp>
        <p:nvSpPr>
          <p:cNvPr id="79" name="Shape 77"/>
          <p:cNvSpPr/>
          <p:nvPr/>
        </p:nvSpPr>
        <p:spPr>
          <a:xfrm>
            <a:off x="14074080" y="8229600"/>
            <a:ext cx="3108871" cy="1657350"/>
          </a:xfrm>
          <a:prstGeom prst="roundRect">
            <a:avLst>
              <a:gd name="adj" fmla="val 4598"/>
            </a:avLst>
          </a:prstGeom>
          <a:solidFill>
            <a:srgbClr val="243140"/>
          </a:solidFill>
          <a:ln/>
        </p:spPr>
      </p:sp>
      <p:sp>
        <p:nvSpPr>
          <p:cNvPr id="80" name="Text 78"/>
          <p:cNvSpPr/>
          <p:nvPr/>
        </p:nvSpPr>
        <p:spPr>
          <a:xfrm>
            <a:off x="14207430" y="8315325"/>
            <a:ext cx="3126388"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 BASELINES</a:t>
            </a:r>
            <a:endParaRPr lang="en-US" sz="1800" dirty="0"/>
          </a:p>
        </p:txBody>
      </p:sp>
      <p:sp>
        <p:nvSpPr>
          <p:cNvPr id="81" name="Text 79"/>
          <p:cNvSpPr/>
          <p:nvPr/>
        </p:nvSpPr>
        <p:spPr>
          <a:xfrm>
            <a:off x="14207430" y="8639175"/>
            <a:ext cx="312638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4B39B"/>
                </a:solidFill>
                <a:latin typeface="Bricolage Grotesque" pitchFamily="34" charset="0"/>
                <a:ea typeface="Bricolage Grotesque" pitchFamily="34" charset="-122"/>
                <a:cs typeface="Bricolage Grotesque" pitchFamily="34" charset="-120"/>
              </a:rPr>
              <a:t>Anomaly</a:t>
            </a:r>
            <a:endParaRPr lang="en-US" sz="2025" dirty="0"/>
          </a:p>
        </p:txBody>
      </p:sp>
      <p:sp>
        <p:nvSpPr>
          <p:cNvPr id="82" name="Text 80"/>
          <p:cNvSpPr/>
          <p:nvPr/>
        </p:nvSpPr>
        <p:spPr>
          <a:xfrm>
            <a:off x="14207430" y="8943975"/>
            <a:ext cx="2927436" cy="8953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DCE3E8"/>
                </a:solidFill>
                <a:latin typeface="Source Serif 4" pitchFamily="34" charset="0"/>
                <a:ea typeface="Source Serif 4" pitchFamily="34" charset="-122"/>
                <a:cs typeface="Source Serif 4" pitchFamily="34" charset="-120"/>
              </a:rPr>
              <a:t>catches what no rule covers — alerts only, never blocks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HOW TRUST IS EARNED</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pilot asset climbs the ladder</a:t>
            </a:r>
            <a:endParaRPr lang="en-US" sz="4200" dirty="0"/>
          </a:p>
        </p:txBody>
      </p:sp>
      <p:sp>
        <p:nvSpPr>
          <p:cNvPr id="4" name="Text 2"/>
          <p:cNvSpPr/>
          <p:nvPr/>
        </p:nvSpPr>
        <p:spPr>
          <a:xfrm>
            <a:off x="952500" y="1609725"/>
            <a:ext cx="2660093" cy="6477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ON THE PILOT ASSET:</a:t>
            </a:r>
            <a:endParaRPr lang="en-US" sz="1800" dirty="0"/>
          </a:p>
        </p:txBody>
      </p:sp>
      <p:sp>
        <p:nvSpPr>
          <p:cNvPr id="5" name="Text 3"/>
          <p:cNvSpPr/>
          <p:nvPr/>
        </p:nvSpPr>
        <p:spPr>
          <a:xfrm>
            <a:off x="3668464" y="1609725"/>
            <a:ext cx="3690988"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orders.order_created · Tier-1</a:t>
            </a:r>
            <a:endParaRPr lang="en-US" sz="1800" dirty="0"/>
          </a:p>
        </p:txBody>
      </p:sp>
      <p:sp>
        <p:nvSpPr>
          <p:cNvPr id="6" name="Text 4"/>
          <p:cNvSpPr/>
          <p:nvPr/>
        </p:nvSpPr>
        <p:spPr>
          <a:xfrm>
            <a:off x="7385298" y="1600200"/>
            <a:ext cx="10248708" cy="666750"/>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one asset climbing — the A-ladder on the north-star slide is the whole platform climbing the same way</a:t>
            </a:r>
            <a:endParaRPr lang="en-US" sz="1800" dirty="0"/>
          </a:p>
        </p:txBody>
      </p:sp>
      <p:sp>
        <p:nvSpPr>
          <p:cNvPr id="7" name="Shape 5"/>
          <p:cNvSpPr/>
          <p:nvPr/>
        </p:nvSpPr>
        <p:spPr>
          <a:xfrm>
            <a:off x="952500" y="2914650"/>
            <a:ext cx="3695700" cy="133350"/>
          </a:xfrm>
          <a:custGeom>
            <a:avLst/>
            <a:gdLst/>
            <a:ahLst/>
            <a:cxnLst/>
            <a:rect l="l" t="t" r="r" b="b"/>
            <a:pathLst>
              <a:path w="3695700" h="133350">
                <a:moveTo>
                  <a:pt x="66675" y="0"/>
                </a:moveTo>
                <a:lnTo>
                  <a:pt x="3695700" y="0"/>
                </a:lnTo>
                <a:lnTo>
                  <a:pt x="3695700" y="133350"/>
                </a:lnTo>
                <a:lnTo>
                  <a:pt x="66675" y="133350"/>
                </a:lnTo>
                <a:arcTo hR="66675" wR="66675" stAng="5400000" swAng="5400000"/>
                <a:lnTo>
                  <a:pt x="0" y="66675"/>
                </a:lnTo>
                <a:arcTo hR="66675" wR="66675" stAng="10800000" swAng="5400000"/>
                <a:close/>
              </a:path>
            </a:pathLst>
          </a:custGeom>
          <a:solidFill>
            <a:srgbClr val="8B99A4"/>
          </a:solidFill>
          <a:ln/>
        </p:spPr>
      </p:sp>
      <p:sp>
        <p:nvSpPr>
          <p:cNvPr id="8" name="Shape 6"/>
          <p:cNvSpPr/>
          <p:nvPr/>
        </p:nvSpPr>
        <p:spPr>
          <a:xfrm>
            <a:off x="952500" y="3200400"/>
            <a:ext cx="3695700" cy="5267325"/>
          </a:xfrm>
          <a:prstGeom prst="roundRect">
            <a:avLst>
              <a:gd name="adj" fmla="val 3093"/>
            </a:avLst>
          </a:prstGeom>
          <a:solidFill>
            <a:srgbClr val="FDFDFB"/>
          </a:solidFill>
          <a:ln w="9525">
            <a:solidFill>
              <a:srgbClr val="D9DED7"/>
            </a:solidFill>
            <a:prstDash val="solid"/>
          </a:ln>
        </p:spPr>
      </p:sp>
      <p:sp>
        <p:nvSpPr>
          <p:cNvPr id="9" name="Text 7"/>
          <p:cNvSpPr/>
          <p:nvPr/>
        </p:nvSpPr>
        <p:spPr>
          <a:xfrm>
            <a:off x="11715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8B99A4"/>
                </a:solidFill>
                <a:latin typeface="IBM Plex Mono" pitchFamily="34" charset="0"/>
                <a:ea typeface="IBM Plex Mono" pitchFamily="34" charset="-122"/>
                <a:cs typeface="IBM Plex Mono" pitchFamily="34" charset="-120"/>
              </a:rPr>
              <a:t>G0 · WATCH</a:t>
            </a:r>
            <a:endParaRPr lang="en-US" sz="1950" dirty="0"/>
          </a:p>
        </p:txBody>
      </p:sp>
      <p:sp>
        <p:nvSpPr>
          <p:cNvPr id="10" name="Text 8"/>
          <p:cNvSpPr/>
          <p:nvPr/>
        </p:nvSpPr>
        <p:spPr>
          <a:xfrm>
            <a:off x="1171575" y="3781425"/>
            <a:ext cx="3355277" cy="6477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Enrolled, zero code change</a:t>
            </a:r>
            <a:endParaRPr lang="en-US" sz="2025" dirty="0"/>
          </a:p>
        </p:txBody>
      </p:sp>
      <p:sp>
        <p:nvSpPr>
          <p:cNvPr id="11" name="Text 9"/>
          <p:cNvSpPr/>
          <p:nvPr/>
        </p:nvSpPr>
        <p:spPr>
          <a:xfrm>
            <a:off x="1171575" y="4467225"/>
            <a:ext cx="3355277"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Out-of-band checks attach; evidence starts flowing. Nothing alerts yet.</a:t>
            </a:r>
            <a:endParaRPr lang="en-US" sz="1800" dirty="0"/>
          </a:p>
        </p:txBody>
      </p:sp>
      <p:sp>
        <p:nvSpPr>
          <p:cNvPr id="12" name="Shape 10"/>
          <p:cNvSpPr/>
          <p:nvPr/>
        </p:nvSpPr>
        <p:spPr>
          <a:xfrm>
            <a:off x="1171575" y="7543800"/>
            <a:ext cx="2697510" cy="381000"/>
          </a:xfrm>
          <a:prstGeom prst="roundRect">
            <a:avLst>
              <a:gd name="adj" fmla="val 15000"/>
            </a:avLst>
          </a:prstGeom>
          <a:solidFill>
            <a:srgbClr val="F0F1EE"/>
          </a:solidFill>
          <a:ln/>
        </p:spPr>
      </p:sp>
      <p:sp>
        <p:nvSpPr>
          <p:cNvPr id="13" name="Text 11"/>
          <p:cNvSpPr/>
          <p:nvPr/>
        </p:nvSpPr>
        <p:spPr>
          <a:xfrm>
            <a:off x="1285875" y="7581900"/>
            <a:ext cx="254983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evidence: Inferred</a:t>
            </a:r>
            <a:endParaRPr lang="en-US" sz="1800" dirty="0"/>
          </a:p>
        </p:txBody>
      </p:sp>
      <p:sp>
        <p:nvSpPr>
          <p:cNvPr id="14" name="Text 12"/>
          <p:cNvSpPr/>
          <p:nvPr/>
        </p:nvSpPr>
        <p:spPr>
          <a:xfrm>
            <a:off x="1171575" y="7981950"/>
            <a:ext cx="358330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week 1 · registry scan</a:t>
            </a:r>
            <a:endParaRPr lang="en-US" sz="1800" dirty="0"/>
          </a:p>
        </p:txBody>
      </p:sp>
      <p:sp>
        <p:nvSpPr>
          <p:cNvPr id="15" name="Text 13"/>
          <p:cNvSpPr/>
          <p:nvPr/>
        </p:nvSpPr>
        <p:spPr>
          <a:xfrm>
            <a:off x="46101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8B99A4"/>
                </a:solidFill>
                <a:latin typeface="Bricolage Grotesque" pitchFamily="34" charset="0"/>
                <a:ea typeface="Bricolage Grotesque" pitchFamily="34" charset="-122"/>
                <a:cs typeface="Bricolage Grotesque" pitchFamily="34" charset="-120"/>
              </a:rPr>
              <a:t>→</a:t>
            </a:r>
            <a:endParaRPr lang="en-US" sz="2550" dirty="0"/>
          </a:p>
        </p:txBody>
      </p:sp>
      <p:sp>
        <p:nvSpPr>
          <p:cNvPr id="16" name="Shape 14"/>
          <p:cNvSpPr/>
          <p:nvPr/>
        </p:nvSpPr>
        <p:spPr>
          <a:xfrm>
            <a:off x="5181600" y="2800350"/>
            <a:ext cx="3695700" cy="247650"/>
          </a:xfrm>
          <a:prstGeom prst="rect">
            <a:avLst/>
          </a:prstGeom>
          <a:solidFill>
            <a:srgbClr val="B97417"/>
          </a:solidFill>
          <a:ln/>
        </p:spPr>
      </p:sp>
      <p:sp>
        <p:nvSpPr>
          <p:cNvPr id="17" name="Shape 15"/>
          <p:cNvSpPr/>
          <p:nvPr/>
        </p:nvSpPr>
        <p:spPr>
          <a:xfrm>
            <a:off x="5181600" y="3200400"/>
            <a:ext cx="3695700" cy="5267325"/>
          </a:xfrm>
          <a:prstGeom prst="roundRect">
            <a:avLst>
              <a:gd name="adj" fmla="val 3093"/>
            </a:avLst>
          </a:prstGeom>
          <a:solidFill>
            <a:srgbClr val="FDFDFB"/>
          </a:solidFill>
          <a:ln w="9525">
            <a:solidFill>
              <a:srgbClr val="B97417"/>
            </a:solidFill>
            <a:prstDash val="solid"/>
          </a:ln>
        </p:spPr>
      </p:sp>
      <p:sp>
        <p:nvSpPr>
          <p:cNvPr id="18" name="Text 16"/>
          <p:cNvSpPr/>
          <p:nvPr/>
        </p:nvSpPr>
        <p:spPr>
          <a:xfrm>
            <a:off x="54006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B97417"/>
                </a:solidFill>
                <a:latin typeface="IBM Plex Mono" pitchFamily="34" charset="0"/>
                <a:ea typeface="IBM Plex Mono" pitchFamily="34" charset="-122"/>
                <a:cs typeface="IBM Plex Mono" pitchFamily="34" charset="-120"/>
              </a:rPr>
              <a:t>G1 · WARN</a:t>
            </a:r>
            <a:endParaRPr lang="en-US" sz="1950" dirty="0"/>
          </a:p>
        </p:txBody>
      </p:sp>
      <p:sp>
        <p:nvSpPr>
          <p:cNvPr id="19" name="Text 17"/>
          <p:cNvSpPr/>
          <p:nvPr/>
        </p:nvSpPr>
        <p:spPr>
          <a:xfrm>
            <a:off x="5400675" y="3781425"/>
            <a:ext cx="358330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Alerts on, nothing held</a:t>
            </a:r>
            <a:endParaRPr lang="en-US" sz="2025" dirty="0"/>
          </a:p>
        </p:txBody>
      </p:sp>
      <p:sp>
        <p:nvSpPr>
          <p:cNvPr id="20" name="Text 18"/>
          <p:cNvSpPr/>
          <p:nvPr/>
        </p:nvSpPr>
        <p:spPr>
          <a:xfrm>
            <a:off x="5400675" y="4162425"/>
            <a:ext cx="3355277"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Deploy events + traces join the evidence — the NULL spike now pages one team with a cause.</a:t>
            </a:r>
            <a:endParaRPr lang="en-US" sz="1800" dirty="0"/>
          </a:p>
        </p:txBody>
      </p:sp>
      <p:sp>
        <p:nvSpPr>
          <p:cNvPr id="21" name="Shape 19"/>
          <p:cNvSpPr/>
          <p:nvPr/>
        </p:nvSpPr>
        <p:spPr>
          <a:xfrm>
            <a:off x="5400675" y="6934200"/>
            <a:ext cx="3257550" cy="685800"/>
          </a:xfrm>
          <a:prstGeom prst="roundRect">
            <a:avLst>
              <a:gd name="adj" fmla="val 8333"/>
            </a:avLst>
          </a:prstGeom>
          <a:solidFill>
            <a:srgbClr val="DFF0EB"/>
          </a:solidFill>
          <a:ln/>
        </p:spPr>
      </p:sp>
      <p:sp>
        <p:nvSpPr>
          <p:cNvPr id="22" name="Text 20"/>
          <p:cNvSpPr/>
          <p:nvPr/>
        </p:nvSpPr>
        <p:spPr>
          <a:xfrm>
            <a:off x="5514975" y="6972300"/>
            <a:ext cx="3126677"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evidence: Platform-attested</a:t>
            </a:r>
            <a:endParaRPr lang="en-US" sz="1800" dirty="0"/>
          </a:p>
        </p:txBody>
      </p:sp>
      <p:sp>
        <p:nvSpPr>
          <p:cNvPr id="23" name="Text 21"/>
          <p:cNvSpPr/>
          <p:nvPr/>
        </p:nvSpPr>
        <p:spPr>
          <a:xfrm>
            <a:off x="5400675" y="7677150"/>
            <a:ext cx="335527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gate: 4 wks stable baselines</a:t>
            </a:r>
            <a:endParaRPr lang="en-US" sz="1800" dirty="0"/>
          </a:p>
        </p:txBody>
      </p:sp>
      <p:sp>
        <p:nvSpPr>
          <p:cNvPr id="24" name="Text 22"/>
          <p:cNvSpPr/>
          <p:nvPr/>
        </p:nvSpPr>
        <p:spPr>
          <a:xfrm>
            <a:off x="88392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8B99A4"/>
                </a:solidFill>
                <a:latin typeface="Bricolage Grotesque" pitchFamily="34" charset="0"/>
                <a:ea typeface="Bricolage Grotesque" pitchFamily="34" charset="-122"/>
                <a:cs typeface="Bricolage Grotesque" pitchFamily="34" charset="-120"/>
              </a:rPr>
              <a:t>→</a:t>
            </a:r>
            <a:endParaRPr lang="en-US" sz="2550" dirty="0"/>
          </a:p>
        </p:txBody>
      </p:sp>
      <p:sp>
        <p:nvSpPr>
          <p:cNvPr id="25" name="Shape 23"/>
          <p:cNvSpPr/>
          <p:nvPr/>
        </p:nvSpPr>
        <p:spPr>
          <a:xfrm>
            <a:off x="9410700" y="2647950"/>
            <a:ext cx="3695700" cy="400050"/>
          </a:xfrm>
          <a:prstGeom prst="rect">
            <a:avLst/>
          </a:prstGeom>
          <a:solidFill>
            <a:srgbClr val="0E7C6B">
              <a:alpha val="55000"/>
            </a:srgbClr>
          </a:solidFill>
          <a:ln/>
        </p:spPr>
      </p:sp>
      <p:sp>
        <p:nvSpPr>
          <p:cNvPr id="26" name="Shape 24"/>
          <p:cNvSpPr/>
          <p:nvPr/>
        </p:nvSpPr>
        <p:spPr>
          <a:xfrm>
            <a:off x="9410700" y="3200400"/>
            <a:ext cx="3695700" cy="5267325"/>
          </a:xfrm>
          <a:prstGeom prst="roundRect">
            <a:avLst>
              <a:gd name="adj" fmla="val 3093"/>
            </a:avLst>
          </a:prstGeom>
          <a:solidFill>
            <a:srgbClr val="FDFDFB"/>
          </a:solidFill>
          <a:ln w="9525">
            <a:solidFill>
              <a:srgbClr val="0E7C6B"/>
            </a:solidFill>
            <a:prstDash val="solid"/>
          </a:ln>
        </p:spPr>
      </p:sp>
      <p:sp>
        <p:nvSpPr>
          <p:cNvPr id="27" name="Text 25"/>
          <p:cNvSpPr/>
          <p:nvPr/>
        </p:nvSpPr>
        <p:spPr>
          <a:xfrm>
            <a:off x="9629775" y="3381375"/>
            <a:ext cx="3583305"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IBM Plex Mono" pitchFamily="34" charset="0"/>
                <a:ea typeface="IBM Plex Mono" pitchFamily="34" charset="-122"/>
                <a:cs typeface="IBM Plex Mono" pitchFamily="34" charset="-120"/>
              </a:rPr>
              <a:t>G2 · SOFT-FAIL</a:t>
            </a:r>
            <a:endParaRPr lang="en-US" sz="1950" dirty="0"/>
          </a:p>
        </p:txBody>
      </p:sp>
      <p:sp>
        <p:nvSpPr>
          <p:cNvPr id="28" name="Text 26"/>
          <p:cNvSpPr/>
          <p:nvPr/>
        </p:nvSpPr>
        <p:spPr>
          <a:xfrm>
            <a:off x="9629775" y="3781425"/>
            <a:ext cx="358330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Holds in lower envs</a:t>
            </a:r>
            <a:endParaRPr lang="en-US" sz="2025" dirty="0"/>
          </a:p>
        </p:txBody>
      </p:sp>
      <p:sp>
        <p:nvSpPr>
          <p:cNvPr id="29" name="Text 27"/>
          <p:cNvSpPr/>
          <p:nvPr/>
        </p:nvSpPr>
        <p:spPr>
          <a:xfrm>
            <a:off x="9629775" y="4162425"/>
            <a:ext cx="3355277"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3D4A55"/>
                </a:solidFill>
                <a:latin typeface="Source Serif 4" pitchFamily="34" charset="0"/>
                <a:ea typeface="Source Serif 4" pitchFamily="34" charset="-122"/>
                <a:cs typeface="Source Serif 4" pitchFamily="34" charset="-120"/>
              </a:rPr>
              <a:t>Contract accepted by the producer; violations block staging, only log in prod — shadow mode earns the right.</a:t>
            </a:r>
            <a:endParaRPr lang="en-US" sz="1800" dirty="0"/>
          </a:p>
        </p:txBody>
      </p:sp>
      <p:sp>
        <p:nvSpPr>
          <p:cNvPr id="30" name="Shape 28"/>
          <p:cNvSpPr/>
          <p:nvPr/>
        </p:nvSpPr>
        <p:spPr>
          <a:xfrm>
            <a:off x="9629775" y="6934200"/>
            <a:ext cx="3257550" cy="685800"/>
          </a:xfrm>
          <a:prstGeom prst="roundRect">
            <a:avLst>
              <a:gd name="adj" fmla="val 8333"/>
            </a:avLst>
          </a:prstGeom>
          <a:solidFill>
            <a:srgbClr val="DFF0EB"/>
          </a:solidFill>
          <a:ln/>
        </p:spPr>
      </p:sp>
      <p:sp>
        <p:nvSpPr>
          <p:cNvPr id="31" name="Text 29"/>
          <p:cNvSpPr/>
          <p:nvPr/>
        </p:nvSpPr>
        <p:spPr>
          <a:xfrm>
            <a:off x="9744075" y="6972300"/>
            <a:ext cx="3126677"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evidence: Producer-attested</a:t>
            </a:r>
            <a:endParaRPr lang="en-US" sz="1800" dirty="0"/>
          </a:p>
        </p:txBody>
      </p:sp>
      <p:sp>
        <p:nvSpPr>
          <p:cNvPr id="32" name="Text 30"/>
          <p:cNvSpPr/>
          <p:nvPr/>
        </p:nvSpPr>
        <p:spPr>
          <a:xfrm>
            <a:off x="9629775" y="7677150"/>
            <a:ext cx="3355277"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gate: contract from 90 days observed</a:t>
            </a:r>
            <a:endParaRPr lang="en-US" sz="1800" dirty="0"/>
          </a:p>
        </p:txBody>
      </p:sp>
      <p:sp>
        <p:nvSpPr>
          <p:cNvPr id="33" name="Text 31"/>
          <p:cNvSpPr/>
          <p:nvPr/>
        </p:nvSpPr>
        <p:spPr>
          <a:xfrm>
            <a:off x="13068300" y="2438400"/>
            <a:ext cx="609600" cy="6067425"/>
          </a:xfrm>
          <a:prstGeom prst="rect">
            <a:avLst/>
          </a:prstGeom>
          <a:noFill/>
          <a:ln/>
        </p:spPr>
        <p:txBody>
          <a:bodyPr wrap="square" lIns="25400" tIns="25400" rIns="25400" bIns="25400" rtlCol="0" anchor="ctr">
            <a:normAutofit/>
          </a:bodyPr>
          <a:lstStyle/>
          <a:p>
            <a:pPr algn="ctr"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34" name="Shape 32"/>
          <p:cNvSpPr/>
          <p:nvPr/>
        </p:nvSpPr>
        <p:spPr>
          <a:xfrm>
            <a:off x="13639800" y="2495550"/>
            <a:ext cx="3695700" cy="552450"/>
          </a:xfrm>
          <a:custGeom>
            <a:avLst/>
            <a:gdLst/>
            <a:ahLst/>
            <a:cxnLst/>
            <a:rect l="l" t="t" r="r" b="b"/>
            <a:pathLst>
              <a:path w="3695700" h="552450">
                <a:moveTo>
                  <a:pt x="0" y="0"/>
                </a:moveTo>
                <a:lnTo>
                  <a:pt x="3629025" y="0"/>
                </a:lnTo>
                <a:arcTo hR="66675" wR="66675" stAng="16200000" swAng="5400000"/>
                <a:lnTo>
                  <a:pt x="3695700" y="485775"/>
                </a:lnTo>
                <a:arcTo hR="66675" wR="66675" stAng="0" swAng="5400000"/>
                <a:lnTo>
                  <a:pt x="0" y="552450"/>
                </a:lnTo>
                <a:lnTo>
                  <a:pt x="0" y="0"/>
                </a:lnTo>
                <a:close/>
              </a:path>
            </a:pathLst>
          </a:custGeom>
          <a:solidFill>
            <a:srgbClr val="0E7C6B"/>
          </a:solidFill>
          <a:ln/>
        </p:spPr>
      </p:sp>
      <p:sp>
        <p:nvSpPr>
          <p:cNvPr id="35" name="Shape 33"/>
          <p:cNvSpPr/>
          <p:nvPr/>
        </p:nvSpPr>
        <p:spPr>
          <a:xfrm>
            <a:off x="13639800" y="3200400"/>
            <a:ext cx="3695700" cy="5267325"/>
          </a:xfrm>
          <a:prstGeom prst="roundRect">
            <a:avLst>
              <a:gd name="adj" fmla="val 3093"/>
            </a:avLst>
          </a:prstGeom>
          <a:solidFill>
            <a:srgbClr val="1B2530"/>
          </a:solidFill>
          <a:ln/>
        </p:spPr>
      </p:sp>
      <p:sp>
        <p:nvSpPr>
          <p:cNvPr id="36" name="Text 34"/>
          <p:cNvSpPr/>
          <p:nvPr/>
        </p:nvSpPr>
        <p:spPr>
          <a:xfrm>
            <a:off x="13849350" y="3371850"/>
            <a:ext cx="360426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IBM Plex Mono" pitchFamily="34" charset="0"/>
                <a:ea typeface="IBM Plex Mono" pitchFamily="34" charset="-122"/>
                <a:cs typeface="IBM Plex Mono" pitchFamily="34" charset="-120"/>
              </a:rPr>
              <a:t>G3 · HARD-FAIL</a:t>
            </a:r>
            <a:endParaRPr lang="en-US" sz="1950" dirty="0"/>
          </a:p>
        </p:txBody>
      </p:sp>
      <p:sp>
        <p:nvSpPr>
          <p:cNvPr id="37" name="Text 35"/>
          <p:cNvSpPr/>
          <p:nvPr/>
        </p:nvSpPr>
        <p:spPr>
          <a:xfrm>
            <a:off x="13849350" y="3771900"/>
            <a:ext cx="3604260"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Blocks bad data in prod</a:t>
            </a:r>
            <a:endParaRPr lang="en-US" sz="2025" dirty="0"/>
          </a:p>
        </p:txBody>
      </p:sp>
      <p:sp>
        <p:nvSpPr>
          <p:cNvPr id="38" name="Text 36"/>
          <p:cNvSpPr/>
          <p:nvPr/>
        </p:nvSpPr>
        <p:spPr>
          <a:xfrm>
            <a:off x="13849350" y="4152900"/>
            <a:ext cx="3374898"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DCE3E8"/>
                </a:solidFill>
                <a:latin typeface="Source Serif 4" pitchFamily="34" charset="0"/>
                <a:ea typeface="Source Serif 4" pitchFamily="34" charset="-122"/>
                <a:cs typeface="Source Serif 4" pitchFamily="34" charset="-120"/>
              </a:rPr>
              <a:t>The gate holds the batch; consumers keep reading last-certified data. Tier-1 assets only.</a:t>
            </a:r>
            <a:endParaRPr lang="en-US" sz="1800" dirty="0"/>
          </a:p>
        </p:txBody>
      </p:sp>
      <p:sp>
        <p:nvSpPr>
          <p:cNvPr id="39" name="Shape 37"/>
          <p:cNvSpPr/>
          <p:nvPr/>
        </p:nvSpPr>
        <p:spPr>
          <a:xfrm>
            <a:off x="13849350" y="6943725"/>
            <a:ext cx="3276600" cy="685800"/>
          </a:xfrm>
          <a:prstGeom prst="roundRect">
            <a:avLst>
              <a:gd name="adj" fmla="val 8333"/>
            </a:avLst>
          </a:prstGeom>
          <a:solidFill>
            <a:srgbClr val="0E7C6B"/>
          </a:solidFill>
          <a:ln/>
        </p:spPr>
      </p:sp>
      <p:sp>
        <p:nvSpPr>
          <p:cNvPr id="40" name="Text 38"/>
          <p:cNvSpPr/>
          <p:nvPr/>
        </p:nvSpPr>
        <p:spPr>
          <a:xfrm>
            <a:off x="13963650" y="6981825"/>
            <a:ext cx="3146298"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FE3DA"/>
                </a:solidFill>
                <a:latin typeface="IBM Plex Mono" pitchFamily="34" charset="0"/>
                <a:ea typeface="IBM Plex Mono" pitchFamily="34" charset="-122"/>
                <a:cs typeface="IBM Plex Mono" pitchFamily="34" charset="-120"/>
              </a:rPr>
              <a:t>evidence: Producer-attested</a:t>
            </a:r>
            <a:endParaRPr lang="en-US" sz="1800" dirty="0"/>
          </a:p>
        </p:txBody>
      </p:sp>
      <p:sp>
        <p:nvSpPr>
          <p:cNvPr id="41" name="Text 39"/>
          <p:cNvSpPr/>
          <p:nvPr/>
        </p:nvSpPr>
        <p:spPr>
          <a:xfrm>
            <a:off x="13849350" y="7686675"/>
            <a:ext cx="3374898"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gate: shadow-mode precision proven</a:t>
            </a:r>
            <a:endParaRPr lang="en-US" sz="1800" dirty="0"/>
          </a:p>
        </p:txBody>
      </p:sp>
      <p:sp>
        <p:nvSpPr>
          <p:cNvPr id="42" name="Shape 40"/>
          <p:cNvSpPr/>
          <p:nvPr/>
        </p:nvSpPr>
        <p:spPr>
          <a:xfrm>
            <a:off x="952500" y="8658225"/>
            <a:ext cx="9374237" cy="1209675"/>
          </a:xfrm>
          <a:prstGeom prst="roundRect">
            <a:avLst>
              <a:gd name="adj" fmla="val 9449"/>
            </a:avLst>
          </a:prstGeom>
          <a:solidFill>
            <a:srgbClr val="E3EFEA"/>
          </a:solidFill>
          <a:ln/>
        </p:spPr>
      </p:sp>
      <p:sp>
        <p:nvSpPr>
          <p:cNvPr id="43" name="Text 41"/>
          <p:cNvSpPr/>
          <p:nvPr/>
        </p:nvSpPr>
        <p:spPr>
          <a:xfrm>
            <a:off x="1200150" y="8791575"/>
            <a:ext cx="132785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THE RULE</a:t>
            </a:r>
            <a:endParaRPr lang="en-US" sz="1800" dirty="0"/>
          </a:p>
        </p:txBody>
      </p:sp>
      <p:sp>
        <p:nvSpPr>
          <p:cNvPr id="44" name="Text 42"/>
          <p:cNvSpPr/>
          <p:nvPr/>
        </p:nvSpPr>
        <p:spPr>
          <a:xfrm>
            <a:off x="2597795" y="8791575"/>
            <a:ext cx="7705731" cy="98107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Enforcement rides evidence strength: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Inferred watches, Platform-attested warns, Producer-attested enforces.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No asset skips a rung.</a:t>
            </a:r>
            <a:endParaRPr lang="en-US" sz="1875" dirty="0"/>
          </a:p>
        </p:txBody>
      </p:sp>
      <p:sp>
        <p:nvSpPr>
          <p:cNvPr id="45" name="Shape 43"/>
          <p:cNvSpPr/>
          <p:nvPr/>
        </p:nvSpPr>
        <p:spPr>
          <a:xfrm>
            <a:off x="10498187" y="8658225"/>
            <a:ext cx="6837313" cy="1209675"/>
          </a:xfrm>
          <a:prstGeom prst="roundRect">
            <a:avLst>
              <a:gd name="adj" fmla="val 9449"/>
            </a:avLst>
          </a:prstGeom>
          <a:solidFill>
            <a:srgbClr val="1B2530"/>
          </a:solidFill>
          <a:ln/>
        </p:spPr>
      </p:sp>
      <p:sp>
        <p:nvSpPr>
          <p:cNvPr id="46" name="Text 44"/>
          <p:cNvSpPr/>
          <p:nvPr/>
        </p:nvSpPr>
        <p:spPr>
          <a:xfrm>
            <a:off x="10745837" y="8791575"/>
            <a:ext cx="149369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TIER RULE</a:t>
            </a:r>
            <a:endParaRPr lang="en-US" sz="1800" dirty="0"/>
          </a:p>
        </p:txBody>
      </p:sp>
      <p:sp>
        <p:nvSpPr>
          <p:cNvPr id="47" name="Text 45"/>
          <p:cNvSpPr/>
          <p:nvPr/>
        </p:nvSpPr>
        <p:spPr>
          <a:xfrm>
            <a:off x="12294245" y="8801100"/>
            <a:ext cx="4937413"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Depth matches tier: Tier-1 climbs to G3; Tier-3 may stay at G0.</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PROOF AT EVERY RUNG</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Every metric has a system of record</a:t>
            </a:r>
            <a:endParaRPr lang="en-US" sz="4200" dirty="0"/>
          </a:p>
        </p:txBody>
      </p:sp>
      <p:sp>
        <p:nvSpPr>
          <p:cNvPr id="4" name="Text 2"/>
          <p:cNvSpPr/>
          <p:nvPr/>
        </p:nvSpPr>
        <p:spPr>
          <a:xfrm>
            <a:off x="952500" y="1581150"/>
            <a:ext cx="18021300" cy="37147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Four layers, each computed from the one below — nothing hand-entered, nothing dashboard-only.</a:t>
            </a:r>
            <a:endParaRPr lang="en-US" sz="1950" dirty="0"/>
          </a:p>
        </p:txBody>
      </p:sp>
      <p:sp>
        <p:nvSpPr>
          <p:cNvPr id="5" name="Shape 3"/>
          <p:cNvSpPr/>
          <p:nvPr/>
        </p:nvSpPr>
        <p:spPr>
          <a:xfrm>
            <a:off x="2483197" y="2528888"/>
            <a:ext cx="3316486" cy="895350"/>
          </a:xfrm>
          <a:prstGeom prst="roundRect">
            <a:avLst>
              <a:gd name="adj" fmla="val 10638"/>
            </a:avLst>
          </a:prstGeom>
          <a:solidFill>
            <a:srgbClr val="1B2530"/>
          </a:solidFill>
          <a:ln/>
        </p:spPr>
      </p:sp>
      <p:sp>
        <p:nvSpPr>
          <p:cNvPr id="6" name="Text 4"/>
          <p:cNvSpPr/>
          <p:nvPr/>
        </p:nvSpPr>
        <p:spPr>
          <a:xfrm>
            <a:off x="2526923" y="2662238"/>
            <a:ext cx="3229035"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34B39B"/>
                </a:solidFill>
                <a:latin typeface="IBM Plex Mono" pitchFamily="34" charset="0"/>
                <a:ea typeface="IBM Plex Mono" pitchFamily="34" charset="-122"/>
                <a:cs typeface="IBM Plex Mono" pitchFamily="34" charset="-120"/>
              </a:rPr>
              <a:t>4 · BUSINESS</a:t>
            </a:r>
            <a:endParaRPr lang="en-US" sz="1800" dirty="0"/>
          </a:p>
        </p:txBody>
      </p:sp>
      <p:sp>
        <p:nvSpPr>
          <p:cNvPr id="7" name="Text 5"/>
          <p:cNvSpPr/>
          <p:nvPr/>
        </p:nvSpPr>
        <p:spPr>
          <a:xfrm>
            <a:off x="2526923" y="2995613"/>
            <a:ext cx="3229035" cy="333375"/>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saves banked · toil ↓</a:t>
            </a:r>
            <a:endParaRPr lang="en-US" sz="1800" dirty="0"/>
          </a:p>
        </p:txBody>
      </p:sp>
      <p:sp>
        <p:nvSpPr>
          <p:cNvPr id="8" name="Text 6"/>
          <p:cNvSpPr/>
          <p:nvPr/>
        </p:nvSpPr>
        <p:spPr>
          <a:xfrm>
            <a:off x="633606" y="3538538"/>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9" name="Shape 7"/>
          <p:cNvSpPr/>
          <p:nvPr/>
        </p:nvSpPr>
        <p:spPr>
          <a:xfrm>
            <a:off x="1973014" y="3900488"/>
            <a:ext cx="4336852" cy="895350"/>
          </a:xfrm>
          <a:prstGeom prst="roundRect">
            <a:avLst>
              <a:gd name="adj" fmla="val 10638"/>
            </a:avLst>
          </a:prstGeom>
          <a:solidFill>
            <a:srgbClr val="0E7C6B"/>
          </a:solidFill>
          <a:ln/>
        </p:spPr>
      </p:sp>
      <p:sp>
        <p:nvSpPr>
          <p:cNvPr id="10" name="Text 8"/>
          <p:cNvSpPr/>
          <p:nvPr/>
        </p:nvSpPr>
        <p:spPr>
          <a:xfrm>
            <a:off x="1965722" y="4033837"/>
            <a:ext cx="4351437"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BFE3DA"/>
                </a:solidFill>
                <a:latin typeface="IBM Plex Mono" pitchFamily="34" charset="0"/>
                <a:ea typeface="IBM Plex Mono" pitchFamily="34" charset="-122"/>
                <a:cs typeface="IBM Plex Mono" pitchFamily="34" charset="-120"/>
              </a:rPr>
              <a:t>3 · INCIDENT</a:t>
            </a:r>
            <a:endParaRPr lang="en-US" sz="1800" dirty="0"/>
          </a:p>
        </p:txBody>
      </p:sp>
      <p:sp>
        <p:nvSpPr>
          <p:cNvPr id="11" name="Text 9"/>
          <p:cNvSpPr/>
          <p:nvPr/>
        </p:nvSpPr>
        <p:spPr>
          <a:xfrm>
            <a:off x="1965722" y="4367213"/>
            <a:ext cx="4351437" cy="333375"/>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F6F7F4"/>
                </a:solidFill>
                <a:latin typeface="Source Serif 4" pitchFamily="34" charset="0"/>
                <a:ea typeface="Source Serif 4" pitchFamily="34" charset="-122"/>
                <a:cs typeface="Source Serif 4" pitchFamily="34" charset="-120"/>
              </a:rPr>
              <a:t>MTTD · MTTR · RCA rate · FP rate</a:t>
            </a:r>
            <a:endParaRPr lang="en-US" sz="1800" dirty="0"/>
          </a:p>
        </p:txBody>
      </p:sp>
      <p:sp>
        <p:nvSpPr>
          <p:cNvPr id="12" name="Text 10"/>
          <p:cNvSpPr/>
          <p:nvPr/>
        </p:nvSpPr>
        <p:spPr>
          <a:xfrm>
            <a:off x="633606" y="4910138"/>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13" name="Shape 11"/>
          <p:cNvSpPr/>
          <p:nvPr/>
        </p:nvSpPr>
        <p:spPr>
          <a:xfrm>
            <a:off x="1462683" y="5272088"/>
            <a:ext cx="5357366" cy="1209675"/>
          </a:xfrm>
          <a:prstGeom prst="roundRect">
            <a:avLst>
              <a:gd name="adj" fmla="val 7874"/>
            </a:avLst>
          </a:prstGeom>
          <a:solidFill>
            <a:srgbClr val="DFF0EB"/>
          </a:solidFill>
          <a:ln w="9525">
            <a:solidFill>
              <a:srgbClr val="0E7C6B"/>
            </a:solidFill>
            <a:prstDash val="solid"/>
          </a:ln>
        </p:spPr>
      </p:sp>
      <p:sp>
        <p:nvSpPr>
          <p:cNvPr id="14" name="Text 12"/>
          <p:cNvSpPr/>
          <p:nvPr/>
        </p:nvSpPr>
        <p:spPr>
          <a:xfrm>
            <a:off x="1414842" y="5414963"/>
            <a:ext cx="5453048"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0E7C6B"/>
                </a:solidFill>
                <a:latin typeface="IBM Plex Mono" pitchFamily="34" charset="0"/>
                <a:ea typeface="IBM Plex Mono" pitchFamily="34" charset="-122"/>
                <a:cs typeface="IBM Plex Mono" pitchFamily="34" charset="-120"/>
              </a:rPr>
              <a:t>2 · ASSET</a:t>
            </a:r>
            <a:endParaRPr lang="en-US" sz="1800" dirty="0"/>
          </a:p>
        </p:txBody>
      </p:sp>
      <p:sp>
        <p:nvSpPr>
          <p:cNvPr id="15" name="Text 13"/>
          <p:cNvSpPr/>
          <p:nvPr/>
        </p:nvSpPr>
        <p:spPr>
          <a:xfrm>
            <a:off x="1588348" y="5748338"/>
            <a:ext cx="5106035" cy="628650"/>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1B2530"/>
                </a:solidFill>
                <a:latin typeface="Source Serif 4" pitchFamily="34" charset="0"/>
                <a:ea typeface="Source Serif 4" pitchFamily="34" charset="-122"/>
                <a:cs typeface="Source Serif 4" pitchFamily="34" charset="-120"/>
              </a:rPr>
              <a:t>golden signals — freshness · volume · contract · quality · anomaly</a:t>
            </a:r>
            <a:endParaRPr lang="en-US" sz="1800" dirty="0"/>
          </a:p>
        </p:txBody>
      </p:sp>
      <p:sp>
        <p:nvSpPr>
          <p:cNvPr id="16" name="Text 14"/>
          <p:cNvSpPr/>
          <p:nvPr/>
        </p:nvSpPr>
        <p:spPr>
          <a:xfrm>
            <a:off x="633606" y="6596063"/>
            <a:ext cx="7015669" cy="285750"/>
          </a:xfrm>
          <a:prstGeom prst="rect">
            <a:avLst/>
          </a:prstGeom>
          <a:noFill/>
          <a:ln/>
        </p:spPr>
        <p:txBody>
          <a:bodyPr wrap="square" lIns="25400" tIns="25400" rIns="25400" bIns="25400" rtlCol="0" anchor="t">
            <a:normAutofit/>
          </a:bodyPr>
          <a:lstStyle/>
          <a:p>
            <a:pPr algn="ctr" indent="0" marL="0">
              <a:lnSpc>
                <a:spcPct val="83871"/>
              </a:lnSpc>
              <a:buNone/>
            </a:pPr>
            <a:r>
              <a:rPr lang="en-US" sz="1950" b="1" dirty="0">
                <a:solidFill>
                  <a:srgbClr val="8B99A4"/>
                </a:solidFill>
                <a:latin typeface="Bricolage Grotesque" pitchFamily="34" charset="0"/>
                <a:ea typeface="Bricolage Grotesque" pitchFamily="34" charset="-122"/>
                <a:cs typeface="Bricolage Grotesque" pitchFamily="34" charset="-120"/>
              </a:rPr>
              <a:t>↑</a:t>
            </a:r>
            <a:endParaRPr lang="en-US" sz="1950" dirty="0"/>
          </a:p>
        </p:txBody>
      </p:sp>
      <p:sp>
        <p:nvSpPr>
          <p:cNvPr id="17" name="Shape 15"/>
          <p:cNvSpPr/>
          <p:nvPr/>
        </p:nvSpPr>
        <p:spPr>
          <a:xfrm>
            <a:off x="952500" y="6958013"/>
            <a:ext cx="6377880" cy="1209675"/>
          </a:xfrm>
          <a:prstGeom prst="roundRect">
            <a:avLst>
              <a:gd name="adj" fmla="val 7874"/>
            </a:avLst>
          </a:prstGeom>
          <a:solidFill>
            <a:srgbClr val="FDFDFB"/>
          </a:solidFill>
          <a:ln w="9525">
            <a:solidFill>
              <a:srgbClr val="D9DED7"/>
            </a:solidFill>
            <a:prstDash val="solid"/>
          </a:ln>
        </p:spPr>
      </p:sp>
      <p:sp>
        <p:nvSpPr>
          <p:cNvPr id="18" name="Text 16"/>
          <p:cNvSpPr/>
          <p:nvPr/>
        </p:nvSpPr>
        <p:spPr>
          <a:xfrm>
            <a:off x="853633" y="7100888"/>
            <a:ext cx="6575614"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5B6873"/>
                </a:solidFill>
                <a:latin typeface="IBM Plex Mono" pitchFamily="34" charset="0"/>
                <a:ea typeface="IBM Plex Mono" pitchFamily="34" charset="-122"/>
                <a:cs typeface="IBM Plex Mono" pitchFamily="34" charset="-120"/>
              </a:rPr>
              <a:t>1 · RECORD</a:t>
            </a:r>
            <a:endParaRPr lang="en-US" sz="1800" dirty="0"/>
          </a:p>
        </p:txBody>
      </p:sp>
      <p:sp>
        <p:nvSpPr>
          <p:cNvPr id="19" name="Text 17"/>
          <p:cNvSpPr/>
          <p:nvPr/>
        </p:nvSpPr>
        <p:spPr>
          <a:xfrm>
            <a:off x="1062858" y="7434263"/>
            <a:ext cx="6157165" cy="628650"/>
          </a:xfrm>
          <a:prstGeom prst="rect">
            <a:avLst/>
          </a:prstGeom>
          <a:noFill/>
          <a:ln/>
        </p:spPr>
        <p:txBody>
          <a:bodyPr wrap="square" lIns="25400" tIns="25400" rIns="25400" bIns="25400" rtlCol="0" anchor="t">
            <a:normAutofit/>
          </a:bodyPr>
          <a:lstStyle/>
          <a:p>
            <a:pPr algn="ctr"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PASS/FAIL per record · gate + reason code · the evidence stream</a:t>
            </a:r>
            <a:endParaRPr lang="en-US" sz="1800" dirty="0"/>
          </a:p>
        </p:txBody>
      </p:sp>
      <p:sp>
        <p:nvSpPr>
          <p:cNvPr id="20" name="Text 18"/>
          <p:cNvSpPr/>
          <p:nvPr/>
        </p:nvSpPr>
        <p:spPr>
          <a:xfrm>
            <a:off x="633606" y="8339137"/>
            <a:ext cx="7015669" cy="342900"/>
          </a:xfrm>
          <a:prstGeom prst="rect">
            <a:avLst/>
          </a:prstGeom>
          <a:noFill/>
          <a:ln/>
        </p:spPr>
        <p:txBody>
          <a:bodyPr wrap="square" lIns="25400" tIns="25400" rIns="25400" bIns="25400" rtlCol="0" anchor="t">
            <a:normAutofit/>
          </a:bodyPr>
          <a:lstStyle/>
          <a:p>
            <a:pPr algn="ctr" indent="0" marL="0">
              <a:lnSpc>
                <a:spcPct val="98182"/>
              </a:lnSpc>
              <a:buNone/>
            </a:pPr>
            <a:r>
              <a:rPr lang="en-US" sz="1800" i="1" dirty="0">
                <a:solidFill>
                  <a:srgbClr val="5B6873"/>
                </a:solidFill>
                <a:latin typeface="Source Serif 4" pitchFamily="34" charset="0"/>
                <a:ea typeface="Source Serif 4" pitchFamily="34" charset="-122"/>
                <a:cs typeface="Source Serif 4" pitchFamily="34" charset="-120"/>
              </a:rPr>
              <a:t>≈ APM: span → service health → alert → SLO burn</a:t>
            </a:r>
            <a:endParaRPr lang="en-US" sz="1800" dirty="0"/>
          </a:p>
        </p:txBody>
      </p:sp>
      <p:sp>
        <p:nvSpPr>
          <p:cNvPr id="21" name="Shape 19"/>
          <p:cNvSpPr/>
          <p:nvPr/>
        </p:nvSpPr>
        <p:spPr>
          <a:xfrm>
            <a:off x="7749480" y="2162175"/>
            <a:ext cx="9586020" cy="6848475"/>
          </a:xfrm>
          <a:prstGeom prst="roundRect">
            <a:avLst>
              <a:gd name="adj" fmla="val 1947"/>
            </a:avLst>
          </a:prstGeom>
          <a:solidFill>
            <a:srgbClr val="FDFDFB"/>
          </a:solidFill>
          <a:ln w="9525">
            <a:solidFill>
              <a:srgbClr val="D9DED7"/>
            </a:solidFill>
            <a:prstDash val="solid"/>
          </a:ln>
        </p:spPr>
      </p:sp>
      <p:sp>
        <p:nvSpPr>
          <p:cNvPr id="22" name="Shape 20"/>
          <p:cNvSpPr/>
          <p:nvPr/>
        </p:nvSpPr>
        <p:spPr>
          <a:xfrm>
            <a:off x="7759005" y="2781300"/>
            <a:ext cx="9566970" cy="19050"/>
          </a:xfrm>
          <a:prstGeom prst="rect">
            <a:avLst/>
          </a:prstGeom>
          <a:solidFill>
            <a:srgbClr val="1B2530"/>
          </a:solidFill>
          <a:ln/>
        </p:spPr>
      </p:sp>
      <p:sp>
        <p:nvSpPr>
          <p:cNvPr id="23" name="Text 21"/>
          <p:cNvSpPr/>
          <p:nvPr/>
        </p:nvSpPr>
        <p:spPr>
          <a:xfrm>
            <a:off x="8025705" y="2324100"/>
            <a:ext cx="369069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METRIC</a:t>
            </a:r>
            <a:endParaRPr lang="en-US" sz="1800" dirty="0"/>
          </a:p>
        </p:txBody>
      </p:sp>
      <p:sp>
        <p:nvSpPr>
          <p:cNvPr id="24" name="Text 22"/>
          <p:cNvSpPr/>
          <p:nvPr/>
        </p:nvSpPr>
        <p:spPr>
          <a:xfrm>
            <a:off x="11380887" y="2324100"/>
            <a:ext cx="3406988"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SYSTEM OF RECORD</a:t>
            </a:r>
            <a:endParaRPr lang="en-US" sz="1800" dirty="0"/>
          </a:p>
        </p:txBody>
      </p:sp>
      <p:sp>
        <p:nvSpPr>
          <p:cNvPr id="25" name="Text 23"/>
          <p:cNvSpPr/>
          <p:nvPr/>
        </p:nvSpPr>
        <p:spPr>
          <a:xfrm>
            <a:off x="14478149" y="2324100"/>
            <a:ext cx="2839239"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TARGET · TIER-1</a:t>
            </a:r>
            <a:endParaRPr lang="en-US" sz="1800" dirty="0"/>
          </a:p>
        </p:txBody>
      </p:sp>
      <p:sp>
        <p:nvSpPr>
          <p:cNvPr id="26" name="Shape 24"/>
          <p:cNvSpPr/>
          <p:nvPr/>
        </p:nvSpPr>
        <p:spPr>
          <a:xfrm>
            <a:off x="7759005" y="4029075"/>
            <a:ext cx="9566970" cy="9525"/>
          </a:xfrm>
          <a:prstGeom prst="rect">
            <a:avLst/>
          </a:prstGeom>
          <a:solidFill>
            <a:srgbClr val="D9DED7"/>
          </a:solidFill>
          <a:ln/>
        </p:spPr>
      </p:sp>
      <p:sp>
        <p:nvSpPr>
          <p:cNvPr id="27" name="Text 25"/>
          <p:cNvSpPr/>
          <p:nvPr/>
        </p:nvSpPr>
        <p:spPr>
          <a:xfrm>
            <a:off x="8025705" y="2952750"/>
            <a:ext cx="3455837"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Evidence coverage — % of data graded</a:t>
            </a:r>
            <a:endParaRPr lang="en-US" sz="1950" dirty="0"/>
          </a:p>
        </p:txBody>
      </p:sp>
      <p:sp>
        <p:nvSpPr>
          <p:cNvPr id="28" name="Text 26"/>
          <p:cNvSpPr/>
          <p:nvPr/>
        </p:nvSpPr>
        <p:spPr>
          <a:xfrm>
            <a:off x="11380887" y="2971800"/>
            <a:ext cx="319018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records graded ÷ records flowed (broker counts)</a:t>
            </a:r>
            <a:endParaRPr lang="en-US" sz="1800" dirty="0"/>
          </a:p>
        </p:txBody>
      </p:sp>
      <p:sp>
        <p:nvSpPr>
          <p:cNvPr id="29" name="Text 27"/>
          <p:cNvSpPr/>
          <p:nvPr/>
        </p:nvSpPr>
        <p:spPr>
          <a:xfrm>
            <a:off x="14478149" y="29432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&gt; 95%</a:t>
            </a:r>
            <a:endParaRPr lang="en-US" sz="2025" dirty="0"/>
          </a:p>
        </p:txBody>
      </p:sp>
      <p:sp>
        <p:nvSpPr>
          <p:cNvPr id="30" name="Shape 28"/>
          <p:cNvSpPr/>
          <p:nvPr/>
        </p:nvSpPr>
        <p:spPr>
          <a:xfrm>
            <a:off x="7759005" y="4962525"/>
            <a:ext cx="9566970" cy="9525"/>
          </a:xfrm>
          <a:prstGeom prst="rect">
            <a:avLst/>
          </a:prstGeom>
          <a:solidFill>
            <a:srgbClr val="D9DED7"/>
          </a:solidFill>
          <a:ln/>
        </p:spPr>
      </p:sp>
      <p:sp>
        <p:nvSpPr>
          <p:cNvPr id="31" name="Text 29"/>
          <p:cNvSpPr/>
          <p:nvPr/>
        </p:nvSpPr>
        <p:spPr>
          <a:xfrm>
            <a:off x="8025705" y="41910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Freshness SLO met</a:t>
            </a:r>
            <a:endParaRPr lang="en-US" sz="1950" dirty="0"/>
          </a:p>
        </p:txBody>
      </p:sp>
      <p:sp>
        <p:nvSpPr>
          <p:cNvPr id="32" name="Text 30"/>
          <p:cNvSpPr/>
          <p:nvPr/>
        </p:nvSpPr>
        <p:spPr>
          <a:xfrm>
            <a:off x="11380887" y="421005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freshness engine vs SLO</a:t>
            </a:r>
            <a:endParaRPr lang="en-US" sz="1800" dirty="0"/>
          </a:p>
        </p:txBody>
      </p:sp>
      <p:sp>
        <p:nvSpPr>
          <p:cNvPr id="33" name="Text 31"/>
          <p:cNvSpPr/>
          <p:nvPr/>
        </p:nvSpPr>
        <p:spPr>
          <a:xfrm>
            <a:off x="14478149" y="41814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15-min SLO</a:t>
            </a:r>
            <a:endParaRPr lang="en-US" sz="2025" dirty="0"/>
          </a:p>
        </p:txBody>
      </p:sp>
      <p:sp>
        <p:nvSpPr>
          <p:cNvPr id="34" name="Shape 32"/>
          <p:cNvSpPr/>
          <p:nvPr/>
        </p:nvSpPr>
        <p:spPr>
          <a:xfrm>
            <a:off x="7759005" y="5895975"/>
            <a:ext cx="9566970" cy="9525"/>
          </a:xfrm>
          <a:prstGeom prst="rect">
            <a:avLst/>
          </a:prstGeom>
          <a:solidFill>
            <a:srgbClr val="D9DED7"/>
          </a:solidFill>
          <a:ln/>
        </p:spPr>
      </p:sp>
      <p:sp>
        <p:nvSpPr>
          <p:cNvPr id="35" name="Text 33"/>
          <p:cNvSpPr/>
          <p:nvPr/>
        </p:nvSpPr>
        <p:spPr>
          <a:xfrm>
            <a:off x="8025705" y="512445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MTTD</a:t>
            </a:r>
            <a:endParaRPr lang="en-US" sz="1950" dirty="0"/>
          </a:p>
        </p:txBody>
      </p:sp>
      <p:sp>
        <p:nvSpPr>
          <p:cNvPr id="36" name="Text 34"/>
          <p:cNvSpPr/>
          <p:nvPr/>
        </p:nvSpPr>
        <p:spPr>
          <a:xfrm>
            <a:off x="11380887" y="514350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first-bad evidence → incident ts</a:t>
            </a:r>
            <a:endParaRPr lang="en-US" sz="1800" dirty="0"/>
          </a:p>
        </p:txBody>
      </p:sp>
      <p:sp>
        <p:nvSpPr>
          <p:cNvPr id="37" name="Text 35"/>
          <p:cNvSpPr/>
          <p:nvPr/>
        </p:nvSpPr>
        <p:spPr>
          <a:xfrm>
            <a:off x="14478149" y="51149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&lt; 15 min</a:t>
            </a:r>
            <a:endParaRPr lang="en-US" sz="2025" dirty="0"/>
          </a:p>
        </p:txBody>
      </p:sp>
      <p:sp>
        <p:nvSpPr>
          <p:cNvPr id="38" name="Shape 36"/>
          <p:cNvSpPr/>
          <p:nvPr/>
        </p:nvSpPr>
        <p:spPr>
          <a:xfrm>
            <a:off x="7759005" y="6829425"/>
            <a:ext cx="9566970" cy="9525"/>
          </a:xfrm>
          <a:prstGeom prst="rect">
            <a:avLst/>
          </a:prstGeom>
          <a:solidFill>
            <a:srgbClr val="D9DED7"/>
          </a:solidFill>
          <a:ln/>
        </p:spPr>
      </p:sp>
      <p:sp>
        <p:nvSpPr>
          <p:cNvPr id="39" name="Text 37"/>
          <p:cNvSpPr/>
          <p:nvPr/>
        </p:nvSpPr>
        <p:spPr>
          <a:xfrm>
            <a:off x="8025705" y="60579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Evidence-backed RCA</a:t>
            </a:r>
            <a:endParaRPr lang="en-US" sz="1950" dirty="0"/>
          </a:p>
        </p:txBody>
      </p:sp>
      <p:sp>
        <p:nvSpPr>
          <p:cNvPr id="40" name="Text 38"/>
          <p:cNvSpPr/>
          <p:nvPr/>
        </p:nvSpPr>
        <p:spPr>
          <a:xfrm>
            <a:off x="11380887" y="607695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RCA output + evidence IDs</a:t>
            </a:r>
            <a:endParaRPr lang="en-US" sz="1800" dirty="0"/>
          </a:p>
        </p:txBody>
      </p:sp>
      <p:sp>
        <p:nvSpPr>
          <p:cNvPr id="41" name="Text 39"/>
          <p:cNvSpPr/>
          <p:nvPr/>
        </p:nvSpPr>
        <p:spPr>
          <a:xfrm>
            <a:off x="14478149" y="60483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&gt; 90%</a:t>
            </a:r>
            <a:endParaRPr lang="en-US" sz="2025" dirty="0"/>
          </a:p>
        </p:txBody>
      </p:sp>
      <p:sp>
        <p:nvSpPr>
          <p:cNvPr id="42" name="Shape 40"/>
          <p:cNvSpPr/>
          <p:nvPr/>
        </p:nvSpPr>
        <p:spPr>
          <a:xfrm>
            <a:off x="7759005" y="7762875"/>
            <a:ext cx="9566970" cy="9525"/>
          </a:xfrm>
          <a:prstGeom prst="rect">
            <a:avLst/>
          </a:prstGeom>
          <a:solidFill>
            <a:srgbClr val="D9DED7"/>
          </a:solidFill>
          <a:ln/>
        </p:spPr>
      </p:sp>
      <p:sp>
        <p:nvSpPr>
          <p:cNvPr id="43" name="Text 41"/>
          <p:cNvSpPr/>
          <p:nvPr/>
        </p:nvSpPr>
        <p:spPr>
          <a:xfrm>
            <a:off x="8025705" y="699135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False-positive rate</a:t>
            </a:r>
            <a:endParaRPr lang="en-US" sz="1950" dirty="0"/>
          </a:p>
        </p:txBody>
      </p:sp>
      <p:sp>
        <p:nvSpPr>
          <p:cNvPr id="44" name="Text 42"/>
          <p:cNvSpPr/>
          <p:nvPr/>
        </p:nvSpPr>
        <p:spPr>
          <a:xfrm>
            <a:off x="11380887" y="7010400"/>
            <a:ext cx="3190180" cy="6477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every closed alert labeled real or noise</a:t>
            </a:r>
            <a:endParaRPr lang="en-US" sz="1800" dirty="0"/>
          </a:p>
        </p:txBody>
      </p:sp>
      <p:sp>
        <p:nvSpPr>
          <p:cNvPr id="45" name="Text 43"/>
          <p:cNvSpPr/>
          <p:nvPr/>
        </p:nvSpPr>
        <p:spPr>
          <a:xfrm>
            <a:off x="14478149" y="698182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&lt; 20%</a:t>
            </a:r>
            <a:endParaRPr lang="en-US" sz="2025" dirty="0"/>
          </a:p>
        </p:txBody>
      </p:sp>
      <p:sp>
        <p:nvSpPr>
          <p:cNvPr id="46" name="Text 44"/>
          <p:cNvSpPr/>
          <p:nvPr/>
        </p:nvSpPr>
        <p:spPr>
          <a:xfrm>
            <a:off x="8025705" y="7924800"/>
            <a:ext cx="3690699"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Source Serif 4" pitchFamily="34" charset="0"/>
                <a:ea typeface="Source Serif 4" pitchFamily="34" charset="-122"/>
                <a:cs typeface="Source Serif 4" pitchFamily="34" charset="-120"/>
              </a:rPr>
              <a:t>Saves banked</a:t>
            </a:r>
            <a:endParaRPr lang="en-US" sz="1950" dirty="0"/>
          </a:p>
        </p:txBody>
      </p:sp>
      <p:sp>
        <p:nvSpPr>
          <p:cNvPr id="47" name="Text 45"/>
          <p:cNvSpPr/>
          <p:nvPr/>
        </p:nvSpPr>
        <p:spPr>
          <a:xfrm>
            <a:off x="11380887" y="7943850"/>
            <a:ext cx="3190180" cy="9525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(baseline − actual hours) × loaded rate vs Phase-0</a:t>
            </a:r>
            <a:endParaRPr lang="en-US" sz="1800" dirty="0"/>
          </a:p>
        </p:txBody>
      </p:sp>
      <p:sp>
        <p:nvSpPr>
          <p:cNvPr id="48" name="Text 46"/>
          <p:cNvSpPr/>
          <p:nvPr/>
        </p:nvSpPr>
        <p:spPr>
          <a:xfrm>
            <a:off x="14478149" y="7915275"/>
            <a:ext cx="2839239"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rising · $ each</a:t>
            </a:r>
            <a:endParaRPr lang="en-US" sz="2025" dirty="0"/>
          </a:p>
        </p:txBody>
      </p:sp>
      <p:sp>
        <p:nvSpPr>
          <p:cNvPr id="49" name="Shape 47"/>
          <p:cNvSpPr/>
          <p:nvPr/>
        </p:nvSpPr>
        <p:spPr>
          <a:xfrm>
            <a:off x="952500" y="9182100"/>
            <a:ext cx="16383000" cy="885825"/>
          </a:xfrm>
          <a:prstGeom prst="roundRect">
            <a:avLst>
              <a:gd name="adj" fmla="val 12903"/>
            </a:avLst>
          </a:prstGeom>
          <a:solidFill>
            <a:srgbClr val="1B2530"/>
          </a:solidFill>
          <a:ln/>
        </p:spPr>
      </p:sp>
      <p:sp>
        <p:nvSpPr>
          <p:cNvPr id="50" name="Text 48"/>
          <p:cNvSpPr/>
          <p:nvPr/>
        </p:nvSpPr>
        <p:spPr>
          <a:xfrm>
            <a:off x="1219200" y="9315450"/>
            <a:ext cx="239394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4765F"/>
                </a:solidFill>
                <a:latin typeface="IBM Plex Mono" pitchFamily="34" charset="0"/>
                <a:ea typeface="IBM Plex Mono" pitchFamily="34" charset="-122"/>
                <a:cs typeface="IBM Plex Mono" pitchFamily="34" charset="-120"/>
              </a:rPr>
              <a:t>NEVER REPORTED</a:t>
            </a:r>
            <a:endParaRPr lang="en-US" sz="1800" dirty="0"/>
          </a:p>
        </p:txBody>
      </p:sp>
      <p:sp>
        <p:nvSpPr>
          <p:cNvPr id="51" name="Text 49"/>
          <p:cNvSpPr/>
          <p:nvPr/>
        </p:nvSpPr>
        <p:spPr>
          <a:xfrm>
            <a:off x="3586014" y="9324975"/>
            <a:ext cx="13887270"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PR counts, SDK installs, dashboard counts — if a number doesn't trace to a closed gap, a faster detect, or a prevented incident, it doesn't appear.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7620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FOUR FOUNDATIONS</a:t>
            </a:r>
            <a:endParaRPr lang="en-US" sz="1800" dirty="0"/>
          </a:p>
        </p:txBody>
      </p:sp>
      <p:sp>
        <p:nvSpPr>
          <p:cNvPr id="3" name="Text 1"/>
          <p:cNvSpPr/>
          <p:nvPr/>
        </p:nvSpPr>
        <p:spPr>
          <a:xfrm>
            <a:off x="952500" y="121920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Four questions, four foundations</a:t>
            </a:r>
            <a:endParaRPr lang="en-US" sz="4800" dirty="0"/>
          </a:p>
        </p:txBody>
      </p:sp>
      <p:sp>
        <p:nvSpPr>
          <p:cNvPr id="4" name="Shape 2"/>
          <p:cNvSpPr/>
          <p:nvPr/>
        </p:nvSpPr>
        <p:spPr>
          <a:xfrm>
            <a:off x="952500" y="2181225"/>
            <a:ext cx="16383000" cy="9525"/>
          </a:xfrm>
          <a:prstGeom prst="rect">
            <a:avLst/>
          </a:prstGeom>
          <a:solidFill>
            <a:srgbClr val="D9DED7"/>
          </a:solidFill>
          <a:ln/>
        </p:spPr>
      </p:sp>
      <p:sp>
        <p:nvSpPr>
          <p:cNvPr id="5" name="Text 3"/>
          <p:cNvSpPr/>
          <p:nvPr/>
        </p:nvSpPr>
        <p:spPr>
          <a:xfrm>
            <a:off x="952500" y="2752725"/>
            <a:ext cx="1885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1</a:t>
            </a:r>
            <a:endParaRPr lang="en-US" sz="2550" dirty="0"/>
          </a:p>
        </p:txBody>
      </p:sp>
      <p:sp>
        <p:nvSpPr>
          <p:cNvPr id="6" name="Text 4"/>
          <p:cNvSpPr/>
          <p:nvPr/>
        </p:nvSpPr>
        <p:spPr>
          <a:xfrm>
            <a:off x="1255365" y="2752725"/>
            <a:ext cx="229244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What broke?</a:t>
            </a:r>
            <a:endParaRPr lang="en-US" sz="2700" dirty="0"/>
          </a:p>
        </p:txBody>
      </p:sp>
      <p:sp>
        <p:nvSpPr>
          <p:cNvPr id="7" name="Shape 5"/>
          <p:cNvSpPr/>
          <p:nvPr/>
        </p:nvSpPr>
        <p:spPr>
          <a:xfrm>
            <a:off x="5143500" y="2614613"/>
            <a:ext cx="171450" cy="171450"/>
          </a:xfrm>
          <a:prstGeom prst="ellipse">
            <a:avLst/>
          </a:prstGeom>
          <a:solidFill>
            <a:srgbClr val="0E7C6B"/>
          </a:solidFill>
          <a:ln/>
        </p:spPr>
      </p:sp>
      <p:sp>
        <p:nvSpPr>
          <p:cNvPr id="8" name="Shape 6"/>
          <p:cNvSpPr/>
          <p:nvPr/>
        </p:nvSpPr>
        <p:spPr>
          <a:xfrm>
            <a:off x="5391150" y="2614613"/>
            <a:ext cx="171450" cy="171450"/>
          </a:xfrm>
          <a:prstGeom prst="ellipse">
            <a:avLst/>
          </a:prstGeom>
          <a:solidFill>
            <a:srgbClr val="0E7C6B"/>
          </a:solidFill>
          <a:ln/>
        </p:spPr>
      </p:sp>
      <p:sp>
        <p:nvSpPr>
          <p:cNvPr id="9" name="Shape 7"/>
          <p:cNvSpPr/>
          <p:nvPr/>
        </p:nvSpPr>
        <p:spPr>
          <a:xfrm>
            <a:off x="5638800" y="2614613"/>
            <a:ext cx="171450" cy="171450"/>
          </a:xfrm>
          <a:prstGeom prst="ellipse">
            <a:avLst/>
          </a:prstGeom>
          <a:solidFill>
            <a:srgbClr val="0E7C6B"/>
          </a:solidFill>
          <a:ln/>
        </p:spPr>
      </p:sp>
      <p:sp>
        <p:nvSpPr>
          <p:cNvPr id="10" name="Shape 8"/>
          <p:cNvSpPr/>
          <p:nvPr/>
        </p:nvSpPr>
        <p:spPr>
          <a:xfrm>
            <a:off x="5143500" y="2862263"/>
            <a:ext cx="171450" cy="171450"/>
          </a:xfrm>
          <a:prstGeom prst="ellipse">
            <a:avLst/>
          </a:prstGeom>
          <a:solidFill>
            <a:srgbClr val="0E7C6B"/>
          </a:solidFill>
          <a:ln/>
        </p:spPr>
      </p:sp>
      <p:sp>
        <p:nvSpPr>
          <p:cNvPr id="11" name="Shape 9"/>
          <p:cNvSpPr/>
          <p:nvPr/>
        </p:nvSpPr>
        <p:spPr>
          <a:xfrm>
            <a:off x="5391150" y="2862263"/>
            <a:ext cx="171450" cy="171450"/>
          </a:xfrm>
          <a:prstGeom prst="ellipse">
            <a:avLst/>
          </a:prstGeom>
          <a:solidFill>
            <a:srgbClr val="A3442E"/>
          </a:solidFill>
          <a:ln/>
        </p:spPr>
      </p:sp>
      <p:sp>
        <p:nvSpPr>
          <p:cNvPr id="12" name="Shape 10"/>
          <p:cNvSpPr/>
          <p:nvPr/>
        </p:nvSpPr>
        <p:spPr>
          <a:xfrm>
            <a:off x="5638800" y="2862263"/>
            <a:ext cx="171450" cy="171450"/>
          </a:xfrm>
          <a:prstGeom prst="ellipse">
            <a:avLst/>
          </a:prstGeom>
          <a:solidFill>
            <a:srgbClr val="0E7C6B"/>
          </a:solidFill>
          <a:ln/>
        </p:spPr>
      </p:sp>
      <p:sp>
        <p:nvSpPr>
          <p:cNvPr id="13" name="Shape 11"/>
          <p:cNvSpPr/>
          <p:nvPr/>
        </p:nvSpPr>
        <p:spPr>
          <a:xfrm>
            <a:off x="5143500" y="3109913"/>
            <a:ext cx="171450" cy="171450"/>
          </a:xfrm>
          <a:prstGeom prst="ellipse">
            <a:avLst/>
          </a:prstGeom>
          <a:solidFill>
            <a:srgbClr val="0E7C6B"/>
          </a:solidFill>
          <a:ln/>
        </p:spPr>
      </p:sp>
      <p:sp>
        <p:nvSpPr>
          <p:cNvPr id="14" name="Shape 12"/>
          <p:cNvSpPr/>
          <p:nvPr/>
        </p:nvSpPr>
        <p:spPr>
          <a:xfrm>
            <a:off x="5391150" y="3109913"/>
            <a:ext cx="171450" cy="171450"/>
          </a:xfrm>
          <a:prstGeom prst="ellipse">
            <a:avLst/>
          </a:prstGeom>
          <a:solidFill>
            <a:srgbClr val="0E7C6B"/>
          </a:solidFill>
          <a:ln/>
        </p:spPr>
      </p:sp>
      <p:sp>
        <p:nvSpPr>
          <p:cNvPr id="15" name="Shape 13"/>
          <p:cNvSpPr/>
          <p:nvPr/>
        </p:nvSpPr>
        <p:spPr>
          <a:xfrm>
            <a:off x="5638800" y="3109913"/>
            <a:ext cx="171450" cy="171450"/>
          </a:xfrm>
          <a:prstGeom prst="ellipse">
            <a:avLst/>
          </a:prstGeom>
          <a:solidFill>
            <a:srgbClr val="0E7C6B"/>
          </a:solidFill>
          <a:ln/>
        </p:spPr>
      </p:sp>
      <p:sp>
        <p:nvSpPr>
          <p:cNvPr id="16" name="Shape 14"/>
          <p:cNvSpPr/>
          <p:nvPr/>
        </p:nvSpPr>
        <p:spPr>
          <a:xfrm>
            <a:off x="5981700" y="2933700"/>
            <a:ext cx="438150" cy="28575"/>
          </a:xfrm>
          <a:prstGeom prst="rect">
            <a:avLst/>
          </a:prstGeom>
          <a:solidFill>
            <a:srgbClr val="C7CEC6"/>
          </a:solidFill>
          <a:ln/>
        </p:spPr>
      </p:sp>
      <p:sp>
        <p:nvSpPr>
          <p:cNvPr id="17" name="Shape 15"/>
          <p:cNvSpPr/>
          <p:nvPr/>
        </p:nvSpPr>
        <p:spPr>
          <a:xfrm>
            <a:off x="6591300" y="2700338"/>
            <a:ext cx="2438400" cy="495300"/>
          </a:xfrm>
          <a:prstGeom prst="roundRect">
            <a:avLst>
              <a:gd name="adj" fmla="val 15385"/>
            </a:avLst>
          </a:prstGeom>
          <a:solidFill>
            <a:srgbClr val="1B2530"/>
          </a:solidFill>
          <a:ln/>
        </p:spPr>
      </p:sp>
      <p:sp>
        <p:nvSpPr>
          <p:cNvPr id="18" name="Text 16"/>
          <p:cNvSpPr/>
          <p:nvPr/>
        </p:nvSpPr>
        <p:spPr>
          <a:xfrm>
            <a:off x="6781800" y="2795588"/>
            <a:ext cx="2133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IBM Plex Mono" pitchFamily="34" charset="0"/>
                <a:ea typeface="IBM Plex Mono" pitchFamily="34" charset="-122"/>
                <a:cs typeface="IBM Plex Mono" pitchFamily="34" charset="-120"/>
              </a:rPr>
              <a:t>one health feed</a:t>
            </a:r>
            <a:endParaRPr lang="en-US" sz="1800" dirty="0"/>
          </a:p>
        </p:txBody>
      </p:sp>
      <p:sp>
        <p:nvSpPr>
          <p:cNvPr id="19" name="Text 17"/>
          <p:cNvSpPr/>
          <p:nvPr/>
        </p:nvSpPr>
        <p:spPr>
          <a:xfrm>
            <a:off x="9715500" y="2419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Every check — batch jobs, stored tables, live streams — reports into one place that says what failed.</a:t>
            </a:r>
            <a:endParaRPr lang="en-US" sz="1950" dirty="0"/>
          </a:p>
        </p:txBody>
      </p:sp>
      <p:sp>
        <p:nvSpPr>
          <p:cNvPr id="20" name="Shape 18"/>
          <p:cNvSpPr/>
          <p:nvPr/>
        </p:nvSpPr>
        <p:spPr>
          <a:xfrm>
            <a:off x="15697200" y="2738438"/>
            <a:ext cx="1638300" cy="419100"/>
          </a:xfrm>
          <a:prstGeom prst="roundRect">
            <a:avLst>
              <a:gd name="adj" fmla="val 13636"/>
            </a:avLst>
          </a:prstGeom>
          <a:solidFill>
            <a:srgbClr val="E3EFEA"/>
          </a:solidFill>
          <a:ln/>
        </p:spPr>
      </p:sp>
      <p:sp>
        <p:nvSpPr>
          <p:cNvPr id="21" name="Text 19"/>
          <p:cNvSpPr/>
          <p:nvPr/>
        </p:nvSpPr>
        <p:spPr>
          <a:xfrm>
            <a:off x="15830550" y="2795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M1–M3</a:t>
            </a:r>
            <a:endParaRPr lang="en-US" sz="1800" dirty="0"/>
          </a:p>
        </p:txBody>
      </p:sp>
      <p:sp>
        <p:nvSpPr>
          <p:cNvPr id="22" name="Shape 20"/>
          <p:cNvSpPr/>
          <p:nvPr/>
        </p:nvSpPr>
        <p:spPr>
          <a:xfrm>
            <a:off x="952500" y="3705225"/>
            <a:ext cx="16383000" cy="9525"/>
          </a:xfrm>
          <a:prstGeom prst="rect">
            <a:avLst/>
          </a:prstGeom>
          <a:solidFill>
            <a:srgbClr val="D9DED7"/>
          </a:solidFill>
          <a:ln/>
        </p:spPr>
      </p:sp>
      <p:sp>
        <p:nvSpPr>
          <p:cNvPr id="23" name="Text 21"/>
          <p:cNvSpPr/>
          <p:nvPr/>
        </p:nvSpPr>
        <p:spPr>
          <a:xfrm>
            <a:off x="952500" y="4276725"/>
            <a:ext cx="271611"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2</a:t>
            </a:r>
            <a:endParaRPr lang="en-US" sz="2550" dirty="0"/>
          </a:p>
        </p:txBody>
      </p:sp>
      <p:sp>
        <p:nvSpPr>
          <p:cNvPr id="24" name="Text 22"/>
          <p:cNvSpPr/>
          <p:nvPr/>
        </p:nvSpPr>
        <p:spPr>
          <a:xfrm>
            <a:off x="1338411" y="4276725"/>
            <a:ext cx="979884"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Why?</a:t>
            </a:r>
            <a:endParaRPr lang="en-US" sz="2700" dirty="0"/>
          </a:p>
        </p:txBody>
      </p:sp>
      <p:sp>
        <p:nvSpPr>
          <p:cNvPr id="25" name="Shape 23"/>
          <p:cNvSpPr/>
          <p:nvPr/>
        </p:nvSpPr>
        <p:spPr>
          <a:xfrm>
            <a:off x="5753100" y="4014788"/>
            <a:ext cx="1912739" cy="400050"/>
          </a:xfrm>
          <a:prstGeom prst="roundRect">
            <a:avLst>
              <a:gd name="adj" fmla="val 14286"/>
            </a:avLst>
          </a:prstGeom>
          <a:solidFill>
            <a:srgbClr val="F5EAD8"/>
          </a:solidFill>
          <a:ln/>
        </p:spPr>
      </p:sp>
      <p:sp>
        <p:nvSpPr>
          <p:cNvPr id="26" name="Text 24"/>
          <p:cNvSpPr/>
          <p:nvPr/>
        </p:nvSpPr>
        <p:spPr>
          <a:xfrm>
            <a:off x="5886450" y="4062412"/>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27" name="Shape 25"/>
          <p:cNvSpPr/>
          <p:nvPr/>
        </p:nvSpPr>
        <p:spPr>
          <a:xfrm>
            <a:off x="6191250" y="4491038"/>
            <a:ext cx="28575" cy="152400"/>
          </a:xfrm>
          <a:prstGeom prst="rect">
            <a:avLst/>
          </a:prstGeom>
          <a:solidFill>
            <a:srgbClr val="B97417"/>
          </a:solidFill>
          <a:ln/>
        </p:spPr>
      </p:sp>
      <p:sp>
        <p:nvSpPr>
          <p:cNvPr id="28" name="Shape 26"/>
          <p:cNvSpPr/>
          <p:nvPr/>
        </p:nvSpPr>
        <p:spPr>
          <a:xfrm>
            <a:off x="5143500" y="4738688"/>
            <a:ext cx="171450" cy="171450"/>
          </a:xfrm>
          <a:prstGeom prst="ellipse">
            <a:avLst/>
          </a:prstGeom>
          <a:solidFill>
            <a:srgbClr val="0E7C6B"/>
          </a:solidFill>
          <a:ln/>
        </p:spPr>
      </p:sp>
      <p:sp>
        <p:nvSpPr>
          <p:cNvPr id="29" name="Shape 27"/>
          <p:cNvSpPr/>
          <p:nvPr/>
        </p:nvSpPr>
        <p:spPr>
          <a:xfrm>
            <a:off x="5314950" y="4810125"/>
            <a:ext cx="742950" cy="28575"/>
          </a:xfrm>
          <a:prstGeom prst="rect">
            <a:avLst/>
          </a:prstGeom>
          <a:solidFill>
            <a:srgbClr val="B97417"/>
          </a:solidFill>
          <a:ln/>
        </p:spPr>
      </p:sp>
      <p:sp>
        <p:nvSpPr>
          <p:cNvPr id="30" name="Shape 28"/>
          <p:cNvSpPr/>
          <p:nvPr/>
        </p:nvSpPr>
        <p:spPr>
          <a:xfrm>
            <a:off x="6057900" y="4719638"/>
            <a:ext cx="209550" cy="209550"/>
          </a:xfrm>
          <a:prstGeom prst="ellipse">
            <a:avLst/>
          </a:prstGeom>
          <a:solidFill>
            <a:srgbClr val="A3442E"/>
          </a:solidFill>
          <a:ln/>
        </p:spPr>
      </p:sp>
      <p:sp>
        <p:nvSpPr>
          <p:cNvPr id="31" name="Shape 29"/>
          <p:cNvSpPr/>
          <p:nvPr/>
        </p:nvSpPr>
        <p:spPr>
          <a:xfrm>
            <a:off x="6267450" y="4810125"/>
            <a:ext cx="742950" cy="28575"/>
          </a:xfrm>
          <a:prstGeom prst="rect">
            <a:avLst/>
          </a:prstGeom>
          <a:solidFill>
            <a:srgbClr val="C7CEC6"/>
          </a:solidFill>
          <a:ln/>
        </p:spPr>
      </p:sp>
      <p:sp>
        <p:nvSpPr>
          <p:cNvPr id="32" name="Shape 30"/>
          <p:cNvSpPr/>
          <p:nvPr/>
        </p:nvSpPr>
        <p:spPr>
          <a:xfrm>
            <a:off x="7010400" y="4738688"/>
            <a:ext cx="171450" cy="171450"/>
          </a:xfrm>
          <a:prstGeom prst="ellipse">
            <a:avLst/>
          </a:prstGeom>
          <a:solidFill>
            <a:srgbClr val="0E7C6B"/>
          </a:solidFill>
          <a:ln/>
        </p:spPr>
      </p:sp>
      <p:sp>
        <p:nvSpPr>
          <p:cNvPr id="33" name="Shape 31"/>
          <p:cNvSpPr/>
          <p:nvPr/>
        </p:nvSpPr>
        <p:spPr>
          <a:xfrm>
            <a:off x="7181850" y="4810125"/>
            <a:ext cx="742950" cy="28575"/>
          </a:xfrm>
          <a:prstGeom prst="rect">
            <a:avLst/>
          </a:prstGeom>
          <a:solidFill>
            <a:srgbClr val="C7CEC6"/>
          </a:solidFill>
          <a:ln/>
        </p:spPr>
      </p:sp>
      <p:sp>
        <p:nvSpPr>
          <p:cNvPr id="34" name="Shape 32"/>
          <p:cNvSpPr/>
          <p:nvPr/>
        </p:nvSpPr>
        <p:spPr>
          <a:xfrm>
            <a:off x="7924800" y="4738688"/>
            <a:ext cx="171450" cy="171450"/>
          </a:xfrm>
          <a:prstGeom prst="ellipse">
            <a:avLst/>
          </a:prstGeom>
          <a:solidFill>
            <a:srgbClr val="0E7C6B"/>
          </a:solidFill>
          <a:ln/>
        </p:spPr>
      </p:sp>
      <p:sp>
        <p:nvSpPr>
          <p:cNvPr id="35" name="Text 33"/>
          <p:cNvSpPr/>
          <p:nvPr/>
        </p:nvSpPr>
        <p:spPr>
          <a:xfrm>
            <a:off x="9715500" y="3943350"/>
            <a:ext cx="576872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 map of how data flows, linked to code deploys — an incident names the change that caused it, not just a symptom.</a:t>
            </a:r>
            <a:endParaRPr lang="en-US" sz="1950" dirty="0"/>
          </a:p>
        </p:txBody>
      </p:sp>
      <p:sp>
        <p:nvSpPr>
          <p:cNvPr id="36" name="Shape 34"/>
          <p:cNvSpPr/>
          <p:nvPr/>
        </p:nvSpPr>
        <p:spPr>
          <a:xfrm>
            <a:off x="15697200" y="4262438"/>
            <a:ext cx="1638300" cy="419100"/>
          </a:xfrm>
          <a:prstGeom prst="roundRect">
            <a:avLst>
              <a:gd name="adj" fmla="val 13636"/>
            </a:avLst>
          </a:prstGeom>
          <a:solidFill>
            <a:srgbClr val="E3EFEA"/>
          </a:solidFill>
          <a:ln/>
        </p:spPr>
      </p:sp>
      <p:sp>
        <p:nvSpPr>
          <p:cNvPr id="37" name="Text 35"/>
          <p:cNvSpPr/>
          <p:nvPr/>
        </p:nvSpPr>
        <p:spPr>
          <a:xfrm>
            <a:off x="15830550" y="4319588"/>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M4–M5</a:t>
            </a:r>
            <a:endParaRPr lang="en-US" sz="1800" dirty="0"/>
          </a:p>
        </p:txBody>
      </p:sp>
      <p:sp>
        <p:nvSpPr>
          <p:cNvPr id="38" name="Shape 36"/>
          <p:cNvSpPr/>
          <p:nvPr/>
        </p:nvSpPr>
        <p:spPr>
          <a:xfrm>
            <a:off x="952500" y="5229225"/>
            <a:ext cx="16383000" cy="9525"/>
          </a:xfrm>
          <a:prstGeom prst="rect">
            <a:avLst/>
          </a:prstGeom>
          <a:solidFill>
            <a:srgbClr val="D9DED7"/>
          </a:solidFill>
          <a:ln/>
        </p:spPr>
      </p:sp>
      <p:sp>
        <p:nvSpPr>
          <p:cNvPr id="39" name="Text 37"/>
          <p:cNvSpPr/>
          <p:nvPr/>
        </p:nvSpPr>
        <p:spPr>
          <a:xfrm>
            <a:off x="952500" y="5862638"/>
            <a:ext cx="27235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3</a:t>
            </a:r>
            <a:endParaRPr lang="en-US" sz="2550" dirty="0"/>
          </a:p>
        </p:txBody>
      </p:sp>
      <p:sp>
        <p:nvSpPr>
          <p:cNvPr id="40" name="Text 38"/>
          <p:cNvSpPr/>
          <p:nvPr/>
        </p:nvSpPr>
        <p:spPr>
          <a:xfrm>
            <a:off x="1339155" y="5862638"/>
            <a:ext cx="3055828" cy="428625"/>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Who is affected?</a:t>
            </a:r>
            <a:endParaRPr lang="en-US" sz="2700" dirty="0"/>
          </a:p>
        </p:txBody>
      </p:sp>
      <p:sp>
        <p:nvSpPr>
          <p:cNvPr id="41" name="Shape 39"/>
          <p:cNvSpPr/>
          <p:nvPr/>
        </p:nvSpPr>
        <p:spPr>
          <a:xfrm>
            <a:off x="5143500" y="5953125"/>
            <a:ext cx="209550" cy="209550"/>
          </a:xfrm>
          <a:prstGeom prst="ellipse">
            <a:avLst/>
          </a:prstGeom>
          <a:solidFill>
            <a:srgbClr val="A3442E"/>
          </a:solidFill>
          <a:ln/>
        </p:spPr>
      </p:sp>
      <p:sp>
        <p:nvSpPr>
          <p:cNvPr id="42" name="Shape 40"/>
          <p:cNvSpPr/>
          <p:nvPr/>
        </p:nvSpPr>
        <p:spPr>
          <a:xfrm>
            <a:off x="5353050" y="6043613"/>
            <a:ext cx="381000" cy="28575"/>
          </a:xfrm>
          <a:prstGeom prst="rect">
            <a:avLst/>
          </a:prstGeom>
          <a:solidFill>
            <a:srgbClr val="C7CEC6"/>
          </a:solidFill>
          <a:ln/>
        </p:spPr>
      </p:sp>
      <p:sp>
        <p:nvSpPr>
          <p:cNvPr id="43" name="Shape 41"/>
          <p:cNvSpPr/>
          <p:nvPr/>
        </p:nvSpPr>
        <p:spPr>
          <a:xfrm>
            <a:off x="5734050" y="5467350"/>
            <a:ext cx="28575" cy="1181100"/>
          </a:xfrm>
          <a:prstGeom prst="rect">
            <a:avLst/>
          </a:prstGeom>
          <a:solidFill>
            <a:srgbClr val="C7CEC6"/>
          </a:solidFill>
          <a:ln/>
        </p:spPr>
      </p:sp>
      <p:sp>
        <p:nvSpPr>
          <p:cNvPr id="44" name="Shape 42"/>
          <p:cNvSpPr/>
          <p:nvPr/>
        </p:nvSpPr>
        <p:spPr>
          <a:xfrm>
            <a:off x="5762625" y="5605463"/>
            <a:ext cx="381000" cy="28575"/>
          </a:xfrm>
          <a:prstGeom prst="rect">
            <a:avLst/>
          </a:prstGeom>
          <a:solidFill>
            <a:srgbClr val="C7CEC6"/>
          </a:solidFill>
          <a:ln/>
        </p:spPr>
      </p:sp>
      <p:sp>
        <p:nvSpPr>
          <p:cNvPr id="45" name="Shape 43"/>
          <p:cNvSpPr/>
          <p:nvPr/>
        </p:nvSpPr>
        <p:spPr>
          <a:xfrm>
            <a:off x="6143625" y="5534025"/>
            <a:ext cx="171450" cy="171450"/>
          </a:xfrm>
          <a:prstGeom prst="ellipse">
            <a:avLst/>
          </a:prstGeom>
          <a:solidFill>
            <a:srgbClr val="B97417"/>
          </a:solidFill>
          <a:ln/>
        </p:spPr>
      </p:sp>
      <p:sp>
        <p:nvSpPr>
          <p:cNvPr id="46" name="Text 44"/>
          <p:cNvSpPr/>
          <p:nvPr/>
        </p:nvSpPr>
        <p:spPr>
          <a:xfrm>
            <a:off x="6429375" y="546735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table</a:t>
            </a:r>
            <a:endParaRPr lang="en-US" sz="1800" dirty="0"/>
          </a:p>
        </p:txBody>
      </p:sp>
      <p:sp>
        <p:nvSpPr>
          <p:cNvPr id="47" name="Shape 45"/>
          <p:cNvSpPr/>
          <p:nvPr/>
        </p:nvSpPr>
        <p:spPr>
          <a:xfrm>
            <a:off x="5762625" y="6043613"/>
            <a:ext cx="381000" cy="28575"/>
          </a:xfrm>
          <a:prstGeom prst="rect">
            <a:avLst/>
          </a:prstGeom>
          <a:solidFill>
            <a:srgbClr val="C7CEC6"/>
          </a:solidFill>
          <a:ln/>
        </p:spPr>
      </p:sp>
      <p:sp>
        <p:nvSpPr>
          <p:cNvPr id="48" name="Shape 46"/>
          <p:cNvSpPr/>
          <p:nvPr/>
        </p:nvSpPr>
        <p:spPr>
          <a:xfrm>
            <a:off x="6143625" y="5972175"/>
            <a:ext cx="171450" cy="171450"/>
          </a:xfrm>
          <a:prstGeom prst="ellipse">
            <a:avLst/>
          </a:prstGeom>
          <a:solidFill>
            <a:srgbClr val="B97417"/>
          </a:solidFill>
          <a:ln/>
        </p:spPr>
      </p:sp>
      <p:sp>
        <p:nvSpPr>
          <p:cNvPr id="49" name="Text 47"/>
          <p:cNvSpPr/>
          <p:nvPr/>
        </p:nvSpPr>
        <p:spPr>
          <a:xfrm>
            <a:off x="6429375" y="5905500"/>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report</a:t>
            </a:r>
            <a:endParaRPr lang="en-US" sz="1800" dirty="0"/>
          </a:p>
        </p:txBody>
      </p:sp>
      <p:sp>
        <p:nvSpPr>
          <p:cNvPr id="50" name="Shape 48"/>
          <p:cNvSpPr/>
          <p:nvPr/>
        </p:nvSpPr>
        <p:spPr>
          <a:xfrm>
            <a:off x="5762625" y="6481763"/>
            <a:ext cx="381000" cy="28575"/>
          </a:xfrm>
          <a:prstGeom prst="rect">
            <a:avLst/>
          </a:prstGeom>
          <a:solidFill>
            <a:srgbClr val="C7CEC6"/>
          </a:solidFill>
          <a:ln/>
        </p:spPr>
      </p:sp>
      <p:sp>
        <p:nvSpPr>
          <p:cNvPr id="51" name="Shape 49"/>
          <p:cNvSpPr/>
          <p:nvPr/>
        </p:nvSpPr>
        <p:spPr>
          <a:xfrm>
            <a:off x="6143625" y="6410325"/>
            <a:ext cx="171450" cy="171450"/>
          </a:xfrm>
          <a:prstGeom prst="ellipse">
            <a:avLst/>
          </a:prstGeom>
          <a:solidFill>
            <a:srgbClr val="B97417"/>
          </a:solidFill>
          <a:ln/>
        </p:spPr>
      </p:sp>
      <p:sp>
        <p:nvSpPr>
          <p:cNvPr id="52" name="Text 50"/>
          <p:cNvSpPr/>
          <p:nvPr/>
        </p:nvSpPr>
        <p:spPr>
          <a:xfrm>
            <a:off x="6429375" y="6343650"/>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team</a:t>
            </a:r>
            <a:endParaRPr lang="en-US" sz="1800" dirty="0"/>
          </a:p>
        </p:txBody>
      </p:sp>
      <p:sp>
        <p:nvSpPr>
          <p:cNvPr id="53" name="Text 51"/>
          <p:cNvSpPr/>
          <p:nvPr/>
        </p:nvSpPr>
        <p:spPr>
          <a:xfrm>
            <a:off x="9715500" y="5529263"/>
            <a:ext cx="619242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same map knows every downstream table, report, and team — one click shows who is exposed before they find out the hard way.</a:t>
            </a:r>
            <a:endParaRPr lang="en-US" sz="1950" dirty="0"/>
          </a:p>
        </p:txBody>
      </p:sp>
      <p:sp>
        <p:nvSpPr>
          <p:cNvPr id="54" name="Shape 52"/>
          <p:cNvSpPr/>
          <p:nvPr/>
        </p:nvSpPr>
        <p:spPr>
          <a:xfrm>
            <a:off x="16108561" y="5848350"/>
            <a:ext cx="1226939" cy="419100"/>
          </a:xfrm>
          <a:prstGeom prst="roundRect">
            <a:avLst>
              <a:gd name="adj" fmla="val 13636"/>
            </a:avLst>
          </a:prstGeom>
          <a:solidFill>
            <a:srgbClr val="E3EFEA"/>
          </a:solidFill>
          <a:ln/>
        </p:spPr>
      </p:sp>
      <p:sp>
        <p:nvSpPr>
          <p:cNvPr id="55" name="Text 53"/>
          <p:cNvSpPr/>
          <p:nvPr/>
        </p:nvSpPr>
        <p:spPr>
          <a:xfrm>
            <a:off x="16241911" y="5905500"/>
            <a:ext cx="10364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M4</a:t>
            </a:r>
            <a:endParaRPr lang="en-US" sz="1800" dirty="0"/>
          </a:p>
        </p:txBody>
      </p:sp>
      <p:sp>
        <p:nvSpPr>
          <p:cNvPr id="56" name="Shape 54"/>
          <p:cNvSpPr/>
          <p:nvPr/>
        </p:nvSpPr>
        <p:spPr>
          <a:xfrm>
            <a:off x="952500" y="8753475"/>
            <a:ext cx="16383000" cy="9525"/>
          </a:xfrm>
          <a:prstGeom prst="rect">
            <a:avLst/>
          </a:prstGeom>
          <a:solidFill>
            <a:srgbClr val="D9DED7"/>
          </a:solidFill>
          <a:ln/>
        </p:spPr>
      </p:sp>
      <p:sp>
        <p:nvSpPr>
          <p:cNvPr id="57" name="Shape 55"/>
          <p:cNvSpPr/>
          <p:nvPr/>
        </p:nvSpPr>
        <p:spPr>
          <a:xfrm>
            <a:off x="952500" y="6877050"/>
            <a:ext cx="16383000" cy="9525"/>
          </a:xfrm>
          <a:prstGeom prst="rect">
            <a:avLst/>
          </a:prstGeom>
          <a:solidFill>
            <a:srgbClr val="D9DED7"/>
          </a:solidFill>
          <a:ln/>
        </p:spPr>
      </p:sp>
      <p:sp>
        <p:nvSpPr>
          <p:cNvPr id="58" name="Text 56"/>
          <p:cNvSpPr/>
          <p:nvPr/>
        </p:nvSpPr>
        <p:spPr>
          <a:xfrm>
            <a:off x="952500" y="7429500"/>
            <a:ext cx="278160"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4</a:t>
            </a:r>
            <a:endParaRPr lang="en-US" sz="2550" dirty="0"/>
          </a:p>
        </p:txBody>
      </p:sp>
      <p:sp>
        <p:nvSpPr>
          <p:cNvPr id="59" name="Text 57"/>
          <p:cNvSpPr/>
          <p:nvPr/>
        </p:nvSpPr>
        <p:spPr>
          <a:xfrm>
            <a:off x="1344960" y="7429500"/>
            <a:ext cx="3520066" cy="819150"/>
          </a:xfrm>
          <a:prstGeom prst="rect">
            <a:avLst/>
          </a:prstGeom>
          <a:noFill/>
          <a:ln/>
        </p:spPr>
        <p:txBody>
          <a:bodyPr wrap="square" lIns="25400" tIns="25400" rIns="25400" bIns="25400" rtlCol="0" anchor="t">
            <a:normAutofit/>
          </a:bodyPr>
          <a:lstStyle/>
          <a:p>
            <a:pPr algn="l" indent="0" marL="0">
              <a:lnSpc>
                <a:spcPct val="96279"/>
              </a:lnSpc>
              <a:buNone/>
            </a:pPr>
            <a:r>
              <a:rPr lang="en-US" sz="2700" b="1" dirty="0">
                <a:solidFill>
                  <a:srgbClr val="1B2530"/>
                </a:solidFill>
                <a:latin typeface="Bricolage Grotesque" pitchFamily="34" charset="0"/>
                <a:ea typeface="Bricolage Grotesque" pitchFamily="34" charset="-122"/>
                <a:cs typeface="Bricolage Grotesque" pitchFamily="34" charset="-120"/>
              </a:rPr>
              <a:t>How does it stop recurring?</a:t>
            </a:r>
            <a:endParaRPr lang="en-US" sz="2700" dirty="0"/>
          </a:p>
        </p:txBody>
      </p:sp>
      <p:sp>
        <p:nvSpPr>
          <p:cNvPr id="60" name="Shape 58"/>
          <p:cNvSpPr/>
          <p:nvPr/>
        </p:nvSpPr>
        <p:spPr>
          <a:xfrm>
            <a:off x="5143500" y="7715250"/>
            <a:ext cx="209550" cy="209550"/>
          </a:xfrm>
          <a:prstGeom prst="roundRect">
            <a:avLst>
              <a:gd name="adj" fmla="val 22727"/>
            </a:avLst>
          </a:prstGeom>
          <a:solidFill>
            <a:srgbClr val="A3442E"/>
          </a:solidFill>
          <a:ln/>
        </p:spPr>
      </p:sp>
      <p:sp>
        <p:nvSpPr>
          <p:cNvPr id="61" name="Shape 59"/>
          <p:cNvSpPr/>
          <p:nvPr/>
        </p:nvSpPr>
        <p:spPr>
          <a:xfrm>
            <a:off x="5353050" y="7805738"/>
            <a:ext cx="323850" cy="28575"/>
          </a:xfrm>
          <a:prstGeom prst="rect">
            <a:avLst/>
          </a:prstGeom>
          <a:solidFill>
            <a:srgbClr val="A3442E"/>
          </a:solidFill>
          <a:ln/>
        </p:spPr>
      </p:sp>
      <p:sp>
        <p:nvSpPr>
          <p:cNvPr id="62" name="Shape 60"/>
          <p:cNvSpPr/>
          <p:nvPr/>
        </p:nvSpPr>
        <p:spPr>
          <a:xfrm>
            <a:off x="5676900" y="7467600"/>
            <a:ext cx="114300" cy="704850"/>
          </a:xfrm>
          <a:prstGeom prst="roundRect">
            <a:avLst>
              <a:gd name="adj" fmla="val 50000"/>
            </a:avLst>
          </a:prstGeom>
          <a:solidFill>
            <a:srgbClr val="1B2530"/>
          </a:solidFill>
          <a:ln/>
        </p:spPr>
      </p:sp>
      <p:sp>
        <p:nvSpPr>
          <p:cNvPr id="63" name="Shape 61"/>
          <p:cNvSpPr/>
          <p:nvPr/>
        </p:nvSpPr>
        <p:spPr>
          <a:xfrm>
            <a:off x="5791200" y="7805738"/>
            <a:ext cx="323850" cy="28575"/>
          </a:xfrm>
          <a:prstGeom prst="rect">
            <a:avLst/>
          </a:prstGeom>
          <a:solidFill>
            <a:srgbClr val="0E7C6B"/>
          </a:solidFill>
          <a:ln/>
        </p:spPr>
      </p:sp>
      <p:sp>
        <p:nvSpPr>
          <p:cNvPr id="64" name="Shape 62"/>
          <p:cNvSpPr/>
          <p:nvPr/>
        </p:nvSpPr>
        <p:spPr>
          <a:xfrm>
            <a:off x="6115050" y="7734300"/>
            <a:ext cx="171450" cy="171450"/>
          </a:xfrm>
          <a:prstGeom prst="ellipse">
            <a:avLst/>
          </a:prstGeom>
          <a:solidFill>
            <a:srgbClr val="0E7C6B"/>
          </a:solidFill>
          <a:ln/>
        </p:spPr>
      </p:sp>
      <p:sp>
        <p:nvSpPr>
          <p:cNvPr id="65" name="Shape 63"/>
          <p:cNvSpPr/>
          <p:nvPr/>
        </p:nvSpPr>
        <p:spPr>
          <a:xfrm>
            <a:off x="6381750" y="7734300"/>
            <a:ext cx="171450" cy="171450"/>
          </a:xfrm>
          <a:prstGeom prst="ellipse">
            <a:avLst/>
          </a:prstGeom>
          <a:solidFill>
            <a:srgbClr val="0E7C6B"/>
          </a:solidFill>
          <a:ln/>
        </p:spPr>
      </p:sp>
      <p:sp>
        <p:nvSpPr>
          <p:cNvPr id="66" name="Text 64"/>
          <p:cNvSpPr/>
          <p:nvPr/>
        </p:nvSpPr>
        <p:spPr>
          <a:xfrm>
            <a:off x="6705600" y="7667625"/>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gate holds it</a:t>
            </a:r>
            <a:endParaRPr lang="en-US" sz="1800" dirty="0"/>
          </a:p>
        </p:txBody>
      </p:sp>
      <p:sp>
        <p:nvSpPr>
          <p:cNvPr id="67" name="Text 65"/>
          <p:cNvSpPr/>
          <p:nvPr/>
        </p:nvSpPr>
        <p:spPr>
          <a:xfrm>
            <a:off x="9715500" y="7115175"/>
            <a:ext cx="5768721"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Written rules agreed with producing teams, plus a gate that holds bad data before anyone reads it — consumers keep reading last-certified data.</a:t>
            </a:r>
            <a:endParaRPr lang="en-US" sz="1950" dirty="0"/>
          </a:p>
        </p:txBody>
      </p:sp>
      <p:sp>
        <p:nvSpPr>
          <p:cNvPr id="68" name="Shape 66"/>
          <p:cNvSpPr/>
          <p:nvPr/>
        </p:nvSpPr>
        <p:spPr>
          <a:xfrm>
            <a:off x="15697200" y="7610475"/>
            <a:ext cx="1638300" cy="419100"/>
          </a:xfrm>
          <a:prstGeom prst="roundRect">
            <a:avLst>
              <a:gd name="adj" fmla="val 13636"/>
            </a:avLst>
          </a:prstGeom>
          <a:solidFill>
            <a:srgbClr val="E3EFEA"/>
          </a:solidFill>
          <a:ln/>
        </p:spPr>
      </p:sp>
      <p:sp>
        <p:nvSpPr>
          <p:cNvPr id="69" name="Text 67"/>
          <p:cNvSpPr/>
          <p:nvPr/>
        </p:nvSpPr>
        <p:spPr>
          <a:xfrm>
            <a:off x="15830550" y="7667625"/>
            <a:ext cx="14478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LIVE M6–M7</a:t>
            </a:r>
            <a:endParaRPr lang="en-US" sz="1800" dirty="0"/>
          </a:p>
        </p:txBody>
      </p:sp>
      <p:sp>
        <p:nvSpPr>
          <p:cNvPr id="70" name="Shape 68"/>
          <p:cNvSpPr/>
          <p:nvPr/>
        </p:nvSpPr>
        <p:spPr>
          <a:xfrm>
            <a:off x="952500" y="9048750"/>
            <a:ext cx="16383000" cy="1123950"/>
          </a:xfrm>
          <a:prstGeom prst="roundRect">
            <a:avLst>
              <a:gd name="adj" fmla="val 10169"/>
            </a:avLst>
          </a:prstGeom>
          <a:solidFill>
            <a:srgbClr val="1B2530"/>
          </a:solidFill>
          <a:ln/>
        </p:spPr>
      </p:sp>
      <p:sp>
        <p:nvSpPr>
          <p:cNvPr id="71" name="Text 69"/>
          <p:cNvSpPr/>
          <p:nvPr/>
        </p:nvSpPr>
        <p:spPr>
          <a:xfrm>
            <a:off x="1295400" y="9286875"/>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BY MONTH 24</a:t>
            </a:r>
            <a:endParaRPr lang="en-US" sz="1800" dirty="0"/>
          </a:p>
        </p:txBody>
      </p:sp>
      <p:sp>
        <p:nvSpPr>
          <p:cNvPr id="72" name="Text 70"/>
          <p:cNvSpPr/>
          <p:nvPr/>
        </p:nvSpPr>
        <p:spPr>
          <a:xfrm>
            <a:off x="3234035" y="9258300"/>
            <a:ext cx="14171322"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Bad data never reaches a Tier-1 consumer unseen · a new use case onboards in ≤ 2 weeks · every connection in the map carries a trust score.</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MACHINE · ARCHITECTURE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Architecture overview</a:t>
            </a:r>
            <a:endParaRPr lang="en-US" sz="4800" dirty="0"/>
          </a:p>
        </p:txBody>
      </p:sp>
      <p:sp>
        <p:nvSpPr>
          <p:cNvPr id="4" name="Text 2"/>
          <p:cNvSpPr/>
          <p:nvPr/>
        </p:nvSpPr>
        <p:spPr>
          <a:xfrm>
            <a:off x="952500" y="2200275"/>
            <a:ext cx="13244513"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Target state — none of this runs today. Three missions of thirty engineers are building the pieces that converge into it.</a:t>
            </a:r>
            <a:endParaRPr lang="en-US" sz="2025" dirty="0"/>
          </a:p>
        </p:txBody>
      </p:sp>
      <p:sp>
        <p:nvSpPr>
          <p:cNvPr id="5" name="Shape 3"/>
          <p:cNvSpPr/>
          <p:nvPr/>
        </p:nvSpPr>
        <p:spPr>
          <a:xfrm>
            <a:off x="952500" y="3419475"/>
            <a:ext cx="2381250" cy="1162050"/>
          </a:xfrm>
          <a:prstGeom prst="roundRect">
            <a:avLst>
              <a:gd name="adj" fmla="val 8197"/>
            </a:avLst>
          </a:prstGeom>
          <a:solidFill>
            <a:srgbClr val="1B2530"/>
          </a:solidFill>
          <a:ln/>
        </p:spPr>
      </p:sp>
      <p:sp>
        <p:nvSpPr>
          <p:cNvPr id="6" name="Text 4"/>
          <p:cNvSpPr/>
          <p:nvPr/>
        </p:nvSpPr>
        <p:spPr>
          <a:xfrm>
            <a:off x="1181100" y="3609975"/>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Enforcement</a:t>
            </a:r>
            <a:endParaRPr lang="en-US" sz="1950" dirty="0"/>
          </a:p>
        </p:txBody>
      </p:sp>
      <p:sp>
        <p:nvSpPr>
          <p:cNvPr id="7" name="Shape 5"/>
          <p:cNvSpPr/>
          <p:nvPr/>
        </p:nvSpPr>
        <p:spPr>
          <a:xfrm>
            <a:off x="3486150" y="3419475"/>
            <a:ext cx="7067550" cy="1162050"/>
          </a:xfrm>
          <a:prstGeom prst="roundRect">
            <a:avLst>
              <a:gd name="adj" fmla="val 8197"/>
            </a:avLst>
          </a:prstGeom>
          <a:solidFill>
            <a:srgbClr val="FDFDFB"/>
          </a:solidFill>
          <a:ln w="9525">
            <a:solidFill>
              <a:srgbClr val="D9DED7"/>
            </a:solidFill>
            <a:prstDash val="solid"/>
          </a:ln>
        </p:spPr>
      </p:sp>
      <p:sp>
        <p:nvSpPr>
          <p:cNvPr id="8" name="Text 6"/>
          <p:cNvSpPr/>
          <p:nvPr/>
        </p:nvSpPr>
        <p:spPr>
          <a:xfrm>
            <a:off x="3724275" y="361950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Policy Enforcer</a:t>
            </a:r>
            <a:endParaRPr lang="en-US" sz="1875" dirty="0"/>
          </a:p>
        </p:txBody>
      </p:sp>
      <p:sp>
        <p:nvSpPr>
          <p:cNvPr id="9" name="Text 7"/>
          <p:cNvSpPr/>
          <p:nvPr/>
        </p:nvSpPr>
        <p:spPr>
          <a:xfrm>
            <a:off x="600075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0" name="Text 8"/>
          <p:cNvSpPr/>
          <p:nvPr/>
        </p:nvSpPr>
        <p:spPr>
          <a:xfrm>
            <a:off x="6276975" y="3619500"/>
            <a:ext cx="33004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Gateway Control Plane</a:t>
            </a:r>
            <a:endParaRPr lang="en-US" sz="1875" dirty="0"/>
          </a:p>
        </p:txBody>
      </p:sp>
      <p:sp>
        <p:nvSpPr>
          <p:cNvPr id="11" name="Text 9"/>
          <p:cNvSpPr/>
          <p:nvPr/>
        </p:nvSpPr>
        <p:spPr>
          <a:xfrm>
            <a:off x="9410700" y="361950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2" name="Text 10"/>
          <p:cNvSpPr/>
          <p:nvPr/>
        </p:nvSpPr>
        <p:spPr>
          <a:xfrm>
            <a:off x="3724275" y="4067175"/>
            <a:ext cx="188595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Bus</a:t>
            </a:r>
            <a:endParaRPr lang="en-US" sz="1875" dirty="0"/>
          </a:p>
        </p:txBody>
      </p:sp>
      <p:sp>
        <p:nvSpPr>
          <p:cNvPr id="13" name="Shape 11"/>
          <p:cNvSpPr/>
          <p:nvPr/>
        </p:nvSpPr>
        <p:spPr>
          <a:xfrm>
            <a:off x="952500" y="4733925"/>
            <a:ext cx="2381250" cy="714375"/>
          </a:xfrm>
          <a:prstGeom prst="roundRect">
            <a:avLst>
              <a:gd name="adj" fmla="val 13333"/>
            </a:avLst>
          </a:prstGeom>
          <a:solidFill>
            <a:srgbClr val="1B2530"/>
          </a:solidFill>
          <a:ln/>
        </p:spPr>
      </p:sp>
      <p:sp>
        <p:nvSpPr>
          <p:cNvPr id="14" name="Text 12"/>
          <p:cNvSpPr/>
          <p:nvPr/>
        </p:nvSpPr>
        <p:spPr>
          <a:xfrm>
            <a:off x="1181100" y="4924425"/>
            <a:ext cx="2000250" cy="371475"/>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Processing</a:t>
            </a:r>
            <a:endParaRPr lang="en-US" sz="1950" dirty="0"/>
          </a:p>
        </p:txBody>
      </p:sp>
      <p:sp>
        <p:nvSpPr>
          <p:cNvPr id="15" name="Shape 13"/>
          <p:cNvSpPr/>
          <p:nvPr/>
        </p:nvSpPr>
        <p:spPr>
          <a:xfrm>
            <a:off x="3486150" y="4733925"/>
            <a:ext cx="7067550" cy="714375"/>
          </a:xfrm>
          <a:prstGeom prst="roundRect">
            <a:avLst>
              <a:gd name="adj" fmla="val 13333"/>
            </a:avLst>
          </a:prstGeom>
          <a:solidFill>
            <a:srgbClr val="FDFDFB"/>
          </a:solidFill>
          <a:ln w="9525">
            <a:solidFill>
              <a:srgbClr val="D9DED7"/>
            </a:solidFill>
            <a:prstDash val="solid"/>
          </a:ln>
        </p:spPr>
      </p:sp>
      <p:sp>
        <p:nvSpPr>
          <p:cNvPr id="16" name="Text 14"/>
          <p:cNvSpPr/>
          <p:nvPr/>
        </p:nvSpPr>
        <p:spPr>
          <a:xfrm>
            <a:off x="3724275" y="4933950"/>
            <a:ext cx="267176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Signal Engines ×5</a:t>
            </a:r>
            <a:endParaRPr lang="en-US" sz="1875" dirty="0"/>
          </a:p>
        </p:txBody>
      </p:sp>
      <p:sp>
        <p:nvSpPr>
          <p:cNvPr id="17" name="Text 15"/>
          <p:cNvSpPr/>
          <p:nvPr/>
        </p:nvSpPr>
        <p:spPr>
          <a:xfrm>
            <a:off x="6286500" y="4933950"/>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18" name="Text 16"/>
          <p:cNvSpPr/>
          <p:nvPr/>
        </p:nvSpPr>
        <p:spPr>
          <a:xfrm>
            <a:off x="6562725" y="4933950"/>
            <a:ext cx="2357438"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Alerting Engine</a:t>
            </a:r>
            <a:endParaRPr lang="en-US" sz="1875" dirty="0"/>
          </a:p>
        </p:txBody>
      </p:sp>
      <p:sp>
        <p:nvSpPr>
          <p:cNvPr id="19" name="Shape 17"/>
          <p:cNvSpPr/>
          <p:nvPr/>
        </p:nvSpPr>
        <p:spPr>
          <a:xfrm>
            <a:off x="952500" y="5600700"/>
            <a:ext cx="2381250" cy="1162050"/>
          </a:xfrm>
          <a:prstGeom prst="roundRect">
            <a:avLst>
              <a:gd name="adj" fmla="val 8197"/>
            </a:avLst>
          </a:prstGeom>
          <a:solidFill>
            <a:srgbClr val="1B2530"/>
          </a:solidFill>
          <a:ln/>
        </p:spPr>
      </p:sp>
      <p:sp>
        <p:nvSpPr>
          <p:cNvPr id="20" name="Text 18"/>
          <p:cNvSpPr/>
          <p:nvPr/>
        </p:nvSpPr>
        <p:spPr>
          <a:xfrm>
            <a:off x="1181100" y="579120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Knowledge</a:t>
            </a:r>
            <a:endParaRPr lang="en-US" sz="1950" dirty="0"/>
          </a:p>
        </p:txBody>
      </p:sp>
      <p:sp>
        <p:nvSpPr>
          <p:cNvPr id="21" name="Shape 19"/>
          <p:cNvSpPr/>
          <p:nvPr/>
        </p:nvSpPr>
        <p:spPr>
          <a:xfrm>
            <a:off x="3486150" y="5600700"/>
            <a:ext cx="7067550" cy="1162050"/>
          </a:xfrm>
          <a:prstGeom prst="roundRect">
            <a:avLst>
              <a:gd name="adj" fmla="val 8197"/>
            </a:avLst>
          </a:prstGeom>
          <a:solidFill>
            <a:srgbClr val="FDFDFB"/>
          </a:solidFill>
          <a:ln w="9525">
            <a:solidFill>
              <a:srgbClr val="D9DED7"/>
            </a:solidFill>
            <a:prstDash val="solid"/>
          </a:ln>
        </p:spPr>
      </p:sp>
      <p:sp>
        <p:nvSpPr>
          <p:cNvPr id="22" name="Text 20"/>
          <p:cNvSpPr/>
          <p:nvPr/>
        </p:nvSpPr>
        <p:spPr>
          <a:xfrm>
            <a:off x="3724275" y="580072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Neptune graph</a:t>
            </a:r>
            <a:endParaRPr lang="en-US" sz="1875" dirty="0"/>
          </a:p>
        </p:txBody>
      </p:sp>
      <p:sp>
        <p:nvSpPr>
          <p:cNvPr id="23" name="Text 21"/>
          <p:cNvSpPr/>
          <p:nvPr/>
        </p:nvSpPr>
        <p:spPr>
          <a:xfrm>
            <a:off x="5715000"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4" name="Text 22"/>
          <p:cNvSpPr/>
          <p:nvPr/>
        </p:nvSpPr>
        <p:spPr>
          <a:xfrm>
            <a:off x="5991225" y="5800725"/>
            <a:ext cx="22002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DynamoDB state</a:t>
            </a:r>
            <a:endParaRPr lang="en-US" sz="1875" dirty="0"/>
          </a:p>
        </p:txBody>
      </p:sp>
      <p:sp>
        <p:nvSpPr>
          <p:cNvPr id="25" name="Text 23"/>
          <p:cNvSpPr/>
          <p:nvPr/>
        </p:nvSpPr>
        <p:spPr>
          <a:xfrm>
            <a:off x="8124825" y="58007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26" name="Text 24"/>
          <p:cNvSpPr/>
          <p:nvPr/>
        </p:nvSpPr>
        <p:spPr>
          <a:xfrm>
            <a:off x="3724275" y="6248400"/>
            <a:ext cx="2514600"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Lineage Ingestor</a:t>
            </a:r>
            <a:endParaRPr lang="en-US" sz="1875" dirty="0"/>
          </a:p>
        </p:txBody>
      </p:sp>
      <p:sp>
        <p:nvSpPr>
          <p:cNvPr id="27" name="Shape 25"/>
          <p:cNvSpPr/>
          <p:nvPr/>
        </p:nvSpPr>
        <p:spPr>
          <a:xfrm>
            <a:off x="952500" y="6915150"/>
            <a:ext cx="2381250" cy="1162050"/>
          </a:xfrm>
          <a:prstGeom prst="roundRect">
            <a:avLst>
              <a:gd name="adj" fmla="val 8197"/>
            </a:avLst>
          </a:prstGeom>
          <a:solidFill>
            <a:srgbClr val="1B2530"/>
          </a:solidFill>
          <a:ln/>
        </p:spPr>
      </p:sp>
      <p:sp>
        <p:nvSpPr>
          <p:cNvPr id="28" name="Text 26"/>
          <p:cNvSpPr/>
          <p:nvPr/>
        </p:nvSpPr>
        <p:spPr>
          <a:xfrm>
            <a:off x="1181100" y="710565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F6F7F4"/>
                </a:solidFill>
                <a:latin typeface="Bricolage Grotesque" pitchFamily="34" charset="0"/>
                <a:ea typeface="Bricolage Grotesque" pitchFamily="34" charset="-122"/>
                <a:cs typeface="Bricolage Grotesque" pitchFamily="34" charset="-120"/>
              </a:rPr>
              <a:t>Consumption</a:t>
            </a:r>
            <a:endParaRPr lang="en-US" sz="1950" dirty="0"/>
          </a:p>
        </p:txBody>
      </p:sp>
      <p:sp>
        <p:nvSpPr>
          <p:cNvPr id="29" name="Shape 27"/>
          <p:cNvSpPr/>
          <p:nvPr/>
        </p:nvSpPr>
        <p:spPr>
          <a:xfrm>
            <a:off x="3486150" y="6915150"/>
            <a:ext cx="7067550" cy="1162050"/>
          </a:xfrm>
          <a:prstGeom prst="roundRect">
            <a:avLst>
              <a:gd name="adj" fmla="val 8197"/>
            </a:avLst>
          </a:prstGeom>
          <a:solidFill>
            <a:srgbClr val="FDFDFB"/>
          </a:solidFill>
          <a:ln w="9525">
            <a:solidFill>
              <a:srgbClr val="D9DED7"/>
            </a:solidFill>
            <a:prstDash val="solid"/>
          </a:ln>
        </p:spPr>
      </p:sp>
      <p:sp>
        <p:nvSpPr>
          <p:cNvPr id="30" name="Text 28"/>
          <p:cNvSpPr/>
          <p:nvPr/>
        </p:nvSpPr>
        <p:spPr>
          <a:xfrm>
            <a:off x="3724275" y="7115175"/>
            <a:ext cx="40862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Triage &amp; Health Experience</a:t>
            </a:r>
            <a:endParaRPr lang="en-US" sz="1875" dirty="0"/>
          </a:p>
        </p:txBody>
      </p:sp>
      <p:sp>
        <p:nvSpPr>
          <p:cNvPr id="31" name="Text 29"/>
          <p:cNvSpPr/>
          <p:nvPr/>
        </p:nvSpPr>
        <p:spPr>
          <a:xfrm>
            <a:off x="7572375"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2" name="Text 30"/>
          <p:cNvSpPr/>
          <p:nvPr/>
        </p:nvSpPr>
        <p:spPr>
          <a:xfrm>
            <a:off x="7848600" y="7115175"/>
            <a:ext cx="20431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Governance UI</a:t>
            </a:r>
            <a:endParaRPr lang="en-US" sz="1875" dirty="0"/>
          </a:p>
        </p:txBody>
      </p:sp>
      <p:sp>
        <p:nvSpPr>
          <p:cNvPr id="33" name="Text 31"/>
          <p:cNvSpPr/>
          <p:nvPr/>
        </p:nvSpPr>
        <p:spPr>
          <a:xfrm>
            <a:off x="9839325" y="711517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34" name="Text 32"/>
          <p:cNvSpPr/>
          <p:nvPr/>
        </p:nvSpPr>
        <p:spPr>
          <a:xfrm>
            <a:off x="3724275" y="7562850"/>
            <a:ext cx="157162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Dashboards</a:t>
            </a:r>
            <a:endParaRPr lang="en-US" sz="1875" dirty="0"/>
          </a:p>
        </p:txBody>
      </p:sp>
      <p:sp>
        <p:nvSpPr>
          <p:cNvPr id="35" name="Shape 33"/>
          <p:cNvSpPr/>
          <p:nvPr/>
        </p:nvSpPr>
        <p:spPr>
          <a:xfrm>
            <a:off x="952500" y="8229600"/>
            <a:ext cx="2381250" cy="1162050"/>
          </a:xfrm>
          <a:prstGeom prst="roundRect">
            <a:avLst>
              <a:gd name="adj" fmla="val 8197"/>
            </a:avLst>
          </a:prstGeom>
          <a:solidFill>
            <a:srgbClr val="E3EFEA"/>
          </a:solidFill>
          <a:ln/>
        </p:spPr>
      </p:sp>
      <p:sp>
        <p:nvSpPr>
          <p:cNvPr id="36" name="Text 34"/>
          <p:cNvSpPr/>
          <p:nvPr/>
        </p:nvSpPr>
        <p:spPr>
          <a:xfrm>
            <a:off x="1181100" y="8420100"/>
            <a:ext cx="2000250" cy="819150"/>
          </a:xfrm>
          <a:prstGeom prst="rect">
            <a:avLst/>
          </a:prstGeom>
          <a:noFill/>
          <a:ln/>
        </p:spPr>
        <p:txBody>
          <a:bodyPr wrap="square" lIns="25400" tIns="25400" rIns="25400" bIns="25400" rtlCol="0" anchor="ctr">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Automation</a:t>
            </a:r>
            <a:endParaRPr lang="en-US" sz="1950" dirty="0"/>
          </a:p>
        </p:txBody>
      </p:sp>
      <p:sp>
        <p:nvSpPr>
          <p:cNvPr id="37" name="Shape 35"/>
          <p:cNvSpPr/>
          <p:nvPr/>
        </p:nvSpPr>
        <p:spPr>
          <a:xfrm>
            <a:off x="3486150" y="8229600"/>
            <a:ext cx="7067550" cy="1162050"/>
          </a:xfrm>
          <a:prstGeom prst="roundRect">
            <a:avLst>
              <a:gd name="adj" fmla="val 8197"/>
            </a:avLst>
          </a:prstGeom>
          <a:solidFill>
            <a:srgbClr val="FDFDFB"/>
          </a:solidFill>
          <a:ln w="9525">
            <a:solidFill>
              <a:srgbClr val="D9DED7"/>
            </a:solidFill>
            <a:prstDash val="solid"/>
          </a:ln>
        </p:spPr>
      </p:sp>
      <p:sp>
        <p:nvSpPr>
          <p:cNvPr id="38" name="Text 36"/>
          <p:cNvSpPr/>
          <p:nvPr/>
        </p:nvSpPr>
        <p:spPr>
          <a:xfrm>
            <a:off x="3724275" y="8429625"/>
            <a:ext cx="3300413"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Zero-Touch Onboarding</a:t>
            </a:r>
            <a:endParaRPr lang="en-US" sz="1875" dirty="0"/>
          </a:p>
        </p:txBody>
      </p:sp>
      <p:sp>
        <p:nvSpPr>
          <p:cNvPr id="39" name="Text 37"/>
          <p:cNvSpPr/>
          <p:nvPr/>
        </p:nvSpPr>
        <p:spPr>
          <a:xfrm>
            <a:off x="6858000" y="84296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0" name="Text 38"/>
          <p:cNvSpPr/>
          <p:nvPr/>
        </p:nvSpPr>
        <p:spPr>
          <a:xfrm>
            <a:off x="7134225" y="8429625"/>
            <a:ext cx="790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Scout</a:t>
            </a:r>
            <a:endParaRPr lang="en-US" sz="1875" dirty="0"/>
          </a:p>
        </p:txBody>
      </p:sp>
      <p:sp>
        <p:nvSpPr>
          <p:cNvPr id="41" name="Text 39"/>
          <p:cNvSpPr/>
          <p:nvPr/>
        </p:nvSpPr>
        <p:spPr>
          <a:xfrm>
            <a:off x="7981950" y="8429625"/>
            <a:ext cx="2190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C7CEC6"/>
                </a:solidFill>
                <a:latin typeface="IBM Plex Mono" pitchFamily="34" charset="0"/>
                <a:ea typeface="IBM Plex Mono" pitchFamily="34" charset="-122"/>
                <a:cs typeface="IBM Plex Mono" pitchFamily="34" charset="-120"/>
              </a:rPr>
              <a:t>·</a:t>
            </a:r>
            <a:endParaRPr lang="en-US" sz="1875" dirty="0"/>
          </a:p>
        </p:txBody>
      </p:sp>
      <p:sp>
        <p:nvSpPr>
          <p:cNvPr id="42" name="Text 40"/>
          <p:cNvSpPr/>
          <p:nvPr/>
        </p:nvSpPr>
        <p:spPr>
          <a:xfrm>
            <a:off x="3724275" y="8877300"/>
            <a:ext cx="3457575"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Author / Review agents</a:t>
            </a:r>
            <a:endParaRPr lang="en-US" sz="1875" dirty="0"/>
          </a:p>
        </p:txBody>
      </p:sp>
      <p:sp>
        <p:nvSpPr>
          <p:cNvPr id="43" name="Text 41"/>
          <p:cNvSpPr/>
          <p:nvPr/>
        </p:nvSpPr>
        <p:spPr>
          <a:xfrm>
            <a:off x="10934700" y="347662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Out-of-band by design</a:t>
            </a:r>
            <a:endParaRPr lang="en-US" sz="2250" dirty="0"/>
          </a:p>
        </p:txBody>
      </p:sp>
      <p:sp>
        <p:nvSpPr>
          <p:cNvPr id="44" name="Text 42"/>
          <p:cNvSpPr/>
          <p:nvPr/>
        </p:nvSpPr>
        <p:spPr>
          <a:xfrm>
            <a:off x="10934700" y="391477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Validation happens after publication, beside the data path. Bad data still flows; the platform produces evidence, never blocks.</a:t>
            </a:r>
            <a:endParaRPr lang="en-US" sz="1950" dirty="0"/>
          </a:p>
        </p:txBody>
      </p:sp>
      <p:sp>
        <p:nvSpPr>
          <p:cNvPr id="45" name="Text 43"/>
          <p:cNvSpPr/>
          <p:nvPr/>
        </p:nvSpPr>
        <p:spPr>
          <a:xfrm>
            <a:off x="10934700" y="5295900"/>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Three separated concerns</a:t>
            </a:r>
            <a:endParaRPr lang="en-US" sz="2250" dirty="0"/>
          </a:p>
        </p:txBody>
      </p:sp>
      <p:sp>
        <p:nvSpPr>
          <p:cNvPr id="46" name="Text 44"/>
          <p:cNvSpPr/>
          <p:nvPr/>
        </p:nvSpPr>
        <p:spPr>
          <a:xfrm>
            <a:off x="10934700" y="5734050"/>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Record truth (Enforcer), system health (Signal Engines), causal analysis (RCA over the graph). Each owned and scaled independently.</a:t>
            </a:r>
            <a:endParaRPr lang="en-US" sz="1950" dirty="0"/>
          </a:p>
        </p:txBody>
      </p:sp>
      <p:sp>
        <p:nvSpPr>
          <p:cNvPr id="47" name="Text 45"/>
          <p:cNvSpPr/>
          <p:nvPr/>
        </p:nvSpPr>
        <p:spPr>
          <a:xfrm>
            <a:off x="10934700" y="7115175"/>
            <a:ext cx="704088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Evidence as the only API</a:t>
            </a:r>
            <a:endParaRPr lang="en-US" sz="2250" dirty="0"/>
          </a:p>
        </p:txBody>
      </p:sp>
      <p:sp>
        <p:nvSpPr>
          <p:cNvPr id="48" name="Text 46"/>
          <p:cNvSpPr/>
          <p:nvPr/>
        </p:nvSpPr>
        <p:spPr>
          <a:xfrm>
            <a:off x="10934700" y="7553325"/>
            <a:ext cx="6592824"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Downstream systems never consume raw business topics — everything operates on the immutable Evidence Bus.</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THREE MISSIONS</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Three missions of ten, converging on one platform</a:t>
            </a:r>
            <a:endParaRPr lang="en-US" sz="4800" dirty="0"/>
          </a:p>
        </p:txBody>
      </p:sp>
      <p:sp>
        <p:nvSpPr>
          <p:cNvPr id="4" name="Shape 2"/>
          <p:cNvSpPr/>
          <p:nvPr/>
        </p:nvSpPr>
        <p:spPr>
          <a:xfrm>
            <a:off x="952500" y="2447925"/>
            <a:ext cx="5295900" cy="5400675"/>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2858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1</a:t>
            </a:r>
            <a:endParaRPr lang="en-US" sz="1800" dirty="0"/>
          </a:p>
        </p:txBody>
      </p:sp>
      <p:sp>
        <p:nvSpPr>
          <p:cNvPr id="6" name="Text 4"/>
          <p:cNvSpPr/>
          <p:nvPr/>
        </p:nvSpPr>
        <p:spPr>
          <a:xfrm>
            <a:off x="55294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7" name="Text 5"/>
          <p:cNvSpPr/>
          <p:nvPr/>
        </p:nvSpPr>
        <p:spPr>
          <a:xfrm>
            <a:off x="12858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550" dirty="0"/>
          </a:p>
        </p:txBody>
      </p:sp>
      <p:sp>
        <p:nvSpPr>
          <p:cNvPr id="8" name="Text 6"/>
          <p:cNvSpPr/>
          <p:nvPr/>
        </p:nvSpPr>
        <p:spPr>
          <a:xfrm>
            <a:off x="1285875" y="3838575"/>
            <a:ext cx="4768025"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The platform core: capture → join → score → simulate. Owns the evidence stream and the enterprise-registry integration.</a:t>
            </a:r>
            <a:endParaRPr lang="en-US" sz="1950" dirty="0"/>
          </a:p>
        </p:txBody>
      </p:sp>
      <p:sp>
        <p:nvSpPr>
          <p:cNvPr id="9" name="Shape 7"/>
          <p:cNvSpPr/>
          <p:nvPr/>
        </p:nvSpPr>
        <p:spPr>
          <a:xfrm>
            <a:off x="1285875" y="5324475"/>
            <a:ext cx="4629150" cy="9525"/>
          </a:xfrm>
          <a:prstGeom prst="rect">
            <a:avLst/>
          </a:prstGeom>
          <a:solidFill>
            <a:srgbClr val="D9DED7"/>
          </a:solidFill>
          <a:ln/>
        </p:spPr>
      </p:sp>
      <p:sp>
        <p:nvSpPr>
          <p:cNvPr id="10" name="Text 8"/>
          <p:cNvSpPr/>
          <p:nvPr/>
        </p:nvSpPr>
        <p:spPr>
          <a:xfrm>
            <a:off x="1285875" y="550545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1" name="Text 9"/>
          <p:cNvSpPr/>
          <p:nvPr/>
        </p:nvSpPr>
        <p:spPr>
          <a:xfrm>
            <a:off x="1285875" y="5867400"/>
            <a:ext cx="4768025" cy="170497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Platform-core squad (3)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evidence stream + enterprise-registry integration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URNs minted from the enterprise-managed catalog; the join key everything lands in.</a:t>
            </a:r>
            <a:endParaRPr lang="en-US" sz="1875" dirty="0"/>
          </a:p>
        </p:txBody>
      </p:sp>
      <p:sp>
        <p:nvSpPr>
          <p:cNvPr id="12" name="Shape 10"/>
          <p:cNvSpPr/>
          <p:nvPr/>
        </p:nvSpPr>
        <p:spPr>
          <a:xfrm>
            <a:off x="6496050" y="2447925"/>
            <a:ext cx="5295900" cy="5400675"/>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682942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2</a:t>
            </a:r>
            <a:endParaRPr lang="en-US" sz="1800" dirty="0"/>
          </a:p>
        </p:txBody>
      </p:sp>
      <p:sp>
        <p:nvSpPr>
          <p:cNvPr id="14" name="Text 12"/>
          <p:cNvSpPr/>
          <p:nvPr/>
        </p:nvSpPr>
        <p:spPr>
          <a:xfrm>
            <a:off x="1107296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15" name="Text 13"/>
          <p:cNvSpPr/>
          <p:nvPr/>
        </p:nvSpPr>
        <p:spPr>
          <a:xfrm>
            <a:off x="682942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Data Quality</a:t>
            </a:r>
            <a:endParaRPr lang="en-US" sz="2550" dirty="0"/>
          </a:p>
        </p:txBody>
      </p:sp>
      <p:sp>
        <p:nvSpPr>
          <p:cNvPr id="16" name="Text 14"/>
          <p:cNvSpPr/>
          <p:nvPr/>
        </p:nvSpPr>
        <p:spPr>
          <a:xfrm>
            <a:off x="6829425" y="3838575"/>
            <a:ext cx="4768025"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Detection → prevention: checks at rest, in-stream monitoring, then contracts and the gate.</a:t>
            </a:r>
            <a:endParaRPr lang="en-US" sz="1950" dirty="0"/>
          </a:p>
        </p:txBody>
      </p:sp>
      <p:sp>
        <p:nvSpPr>
          <p:cNvPr id="17" name="Shape 15"/>
          <p:cNvSpPr/>
          <p:nvPr/>
        </p:nvSpPr>
        <p:spPr>
          <a:xfrm>
            <a:off x="6829425" y="5991225"/>
            <a:ext cx="4629150" cy="9525"/>
          </a:xfrm>
          <a:prstGeom prst="rect">
            <a:avLst/>
          </a:prstGeom>
          <a:solidFill>
            <a:srgbClr val="D9DED7"/>
          </a:solidFill>
          <a:ln/>
        </p:spPr>
      </p:sp>
      <p:sp>
        <p:nvSpPr>
          <p:cNvPr id="18" name="Text 16"/>
          <p:cNvSpPr/>
          <p:nvPr/>
        </p:nvSpPr>
        <p:spPr>
          <a:xfrm>
            <a:off x="6829425" y="6172200"/>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19" name="Text 17"/>
          <p:cNvSpPr/>
          <p:nvPr/>
        </p:nvSpPr>
        <p:spPr>
          <a:xfrm>
            <a:off x="6829425" y="6534150"/>
            <a:ext cx="476802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Contracts &amp; gate squad (2→4)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certification gate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shadow mode by M5, first real block M7.</a:t>
            </a:r>
            <a:endParaRPr lang="en-US" sz="1875" dirty="0"/>
          </a:p>
        </p:txBody>
      </p:sp>
      <p:sp>
        <p:nvSpPr>
          <p:cNvPr id="20" name="Shape 18"/>
          <p:cNvSpPr/>
          <p:nvPr/>
        </p:nvSpPr>
        <p:spPr>
          <a:xfrm>
            <a:off x="12039600" y="2447925"/>
            <a:ext cx="5295900" cy="5400675"/>
          </a:xfrm>
          <a:prstGeom prst="roundRect">
            <a:avLst>
              <a:gd name="adj" fmla="val 2518"/>
            </a:avLst>
          </a:prstGeom>
          <a:solidFill>
            <a:srgbClr val="FDFDFB"/>
          </a:solidFill>
          <a:ln w="9525">
            <a:solidFill>
              <a:srgbClr val="D9DED7"/>
            </a:solidFill>
            <a:prstDash val="solid"/>
          </a:ln>
        </p:spPr>
      </p:sp>
      <p:sp>
        <p:nvSpPr>
          <p:cNvPr id="21" name="Text 19"/>
          <p:cNvSpPr/>
          <p:nvPr/>
        </p:nvSpPr>
        <p:spPr>
          <a:xfrm>
            <a:off x="12372975" y="28765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MISSION 3</a:t>
            </a:r>
            <a:endParaRPr lang="en-US" sz="1800" dirty="0"/>
          </a:p>
        </p:txBody>
      </p:sp>
      <p:sp>
        <p:nvSpPr>
          <p:cNvPr id="22" name="Text 20"/>
          <p:cNvSpPr/>
          <p:nvPr/>
        </p:nvSpPr>
        <p:spPr>
          <a:xfrm>
            <a:off x="16616511" y="2762250"/>
            <a:ext cx="461814"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0E7C6B"/>
                </a:solidFill>
                <a:latin typeface="Bricolage Grotesque" pitchFamily="34" charset="0"/>
                <a:ea typeface="Bricolage Grotesque" pitchFamily="34" charset="-122"/>
                <a:cs typeface="Bricolage Grotesque" pitchFamily="34" charset="-120"/>
              </a:rPr>
              <a:t>10</a:t>
            </a:r>
            <a:endParaRPr lang="en-US" sz="3000" dirty="0"/>
          </a:p>
        </p:txBody>
      </p:sp>
      <p:sp>
        <p:nvSpPr>
          <p:cNvPr id="23" name="Text 21"/>
          <p:cNvSpPr/>
          <p:nvPr/>
        </p:nvSpPr>
        <p:spPr>
          <a:xfrm>
            <a:off x="12372975" y="3314700"/>
            <a:ext cx="5092065" cy="428625"/>
          </a:xfrm>
          <a:prstGeom prst="rect">
            <a:avLst/>
          </a:prstGeom>
          <a:noFill/>
          <a:ln/>
        </p:spPr>
        <p:txBody>
          <a:bodyPr wrap="square" lIns="25400" tIns="25400" rIns="25400" bIns="25400" rtlCol="0" anchor="t">
            <a:normAutofit/>
          </a:bodyPr>
          <a:lstStyle/>
          <a:p>
            <a:pPr algn="l" indent="0" marL="0">
              <a:buNone/>
            </a:pPr>
            <a:r>
              <a:rPr lang="en-US" sz="2550"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550" dirty="0"/>
          </a:p>
        </p:txBody>
      </p:sp>
      <p:sp>
        <p:nvSpPr>
          <p:cNvPr id="24" name="Text 22"/>
          <p:cNvSpPr/>
          <p:nvPr/>
        </p:nvSpPr>
        <p:spPr>
          <a:xfrm>
            <a:off x="12372975" y="3838575"/>
            <a:ext cx="4768025"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3D4A55"/>
                </a:solidFill>
                <a:latin typeface="Source Serif 4" pitchFamily="34" charset="0"/>
                <a:ea typeface="Source Serif 4" pitchFamily="34" charset="-122"/>
                <a:cs typeface="Source Serif 4" pitchFamily="34" charset="-120"/>
              </a:rPr>
              <a:t>The experience: automated onboarding, data health reporting, and acting on findings — with the saves ledger as proof.</a:t>
            </a:r>
            <a:endParaRPr lang="en-US" sz="1950" dirty="0"/>
          </a:p>
        </p:txBody>
      </p:sp>
      <p:sp>
        <p:nvSpPr>
          <p:cNvPr id="25" name="Shape 23"/>
          <p:cNvSpPr/>
          <p:nvPr/>
        </p:nvSpPr>
        <p:spPr>
          <a:xfrm>
            <a:off x="12372975" y="5657850"/>
            <a:ext cx="4629150" cy="9525"/>
          </a:xfrm>
          <a:prstGeom prst="rect">
            <a:avLst/>
          </a:prstGeom>
          <a:solidFill>
            <a:srgbClr val="D9DED7"/>
          </a:solidFill>
          <a:ln/>
        </p:spPr>
      </p:sp>
      <p:sp>
        <p:nvSpPr>
          <p:cNvPr id="26" name="Text 24"/>
          <p:cNvSpPr/>
          <p:nvPr/>
        </p:nvSpPr>
        <p:spPr>
          <a:xfrm>
            <a:off x="12372975" y="5838825"/>
            <a:ext cx="5092065"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BUILDS THE SUBSTRATE</a:t>
            </a:r>
            <a:endParaRPr lang="en-US" sz="1800" dirty="0"/>
          </a:p>
        </p:txBody>
      </p:sp>
      <p:sp>
        <p:nvSpPr>
          <p:cNvPr id="27" name="Text 25"/>
          <p:cNvSpPr/>
          <p:nvPr/>
        </p:nvSpPr>
        <p:spPr>
          <a:xfrm>
            <a:off x="12372975" y="6200775"/>
            <a:ext cx="4768025"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Dashboard squad (5) builds the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health surface + guided onboarding path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health finds the gaps; onboarding is the path that fixes them.</a:t>
            </a:r>
            <a:endParaRPr lang="en-US" sz="1875" dirty="0"/>
          </a:p>
        </p:txBody>
      </p:sp>
      <p:sp>
        <p:nvSpPr>
          <p:cNvPr id="28" name="Shape 26"/>
          <p:cNvSpPr/>
          <p:nvPr/>
        </p:nvSpPr>
        <p:spPr>
          <a:xfrm>
            <a:off x="952500" y="8191500"/>
            <a:ext cx="16383000" cy="1514475"/>
          </a:xfrm>
          <a:prstGeom prst="roundRect">
            <a:avLst>
              <a:gd name="adj" fmla="val 7547"/>
            </a:avLst>
          </a:prstGeom>
          <a:solidFill>
            <a:srgbClr val="1B2530"/>
          </a:solidFill>
          <a:ln/>
        </p:spPr>
      </p:sp>
      <p:sp>
        <p:nvSpPr>
          <p:cNvPr id="29" name="Text 27"/>
          <p:cNvSpPr/>
          <p:nvPr/>
        </p:nvSpPr>
        <p:spPr>
          <a:xfrm>
            <a:off x="1295400" y="8448675"/>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30" name="Text 28"/>
          <p:cNvSpPr/>
          <p:nvPr/>
        </p:nvSpPr>
        <p:spPr>
          <a:xfrm>
            <a:off x="3389412" y="8420100"/>
            <a:ext cx="14011284" cy="1095375"/>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Convergence is the theme: automated onboarding feeds the evidence stream, evidence becomes health reporting, health drives action. Islands today, joined at the M5 gate — ending at a platform that onboards and fixes on its own.</a:t>
            </a:r>
            <a:endParaRPr lang="en-US" sz="2025" dirty="0"/>
          </a:p>
        </p:txBody>
      </p:sp>
      <p:sp>
        <p:nvSpPr>
          <p:cNvPr id="31" name="Shape 29"/>
          <p:cNvSpPr/>
          <p:nvPr/>
        </p:nvSpPr>
        <p:spPr>
          <a:xfrm>
            <a:off x="952500" y="9934575"/>
            <a:ext cx="16383000" cy="895350"/>
          </a:xfrm>
          <a:prstGeom prst="roundRect">
            <a:avLst>
              <a:gd name="adj" fmla="val 12766"/>
            </a:avLst>
          </a:prstGeom>
          <a:solidFill>
            <a:srgbClr val="E3EFEA"/>
          </a:solidFill>
          <a:ln/>
        </p:spPr>
      </p:sp>
      <p:sp>
        <p:nvSpPr>
          <p:cNvPr id="32" name="Text 30"/>
          <p:cNvSpPr/>
          <p:nvPr/>
        </p:nvSpPr>
        <p:spPr>
          <a:xfrm>
            <a:off x="1219200" y="10067925"/>
            <a:ext cx="393299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EVERY MISSION IS A RUNG</a:t>
            </a:r>
            <a:endParaRPr lang="en-US" sz="1800" dirty="0"/>
          </a:p>
        </p:txBody>
      </p:sp>
      <p:sp>
        <p:nvSpPr>
          <p:cNvPr id="33" name="Text 31"/>
          <p:cNvSpPr/>
          <p:nvPr/>
        </p:nvSpPr>
        <p:spPr>
          <a:xfrm>
            <a:off x="5004197" y="10067925"/>
            <a:ext cx="12426541"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Lineage &amp; Confidence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detect &amp; explain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(A2–A3) · Data Quality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prevent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(A4) · Onboarding &amp; Experience → it can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onboard &amp; fix itself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(A5)</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3429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HOW THE WORK ACTUALLY RUNS</a:t>
            </a:r>
            <a:endParaRPr lang="en-US" sz="1800" dirty="0"/>
          </a:p>
        </p:txBody>
      </p:sp>
      <p:sp>
        <p:nvSpPr>
          <p:cNvPr id="3" name="Text 1"/>
          <p:cNvSpPr/>
          <p:nvPr/>
        </p:nvSpPr>
        <p:spPr>
          <a:xfrm>
            <a:off x="952500" y="723900"/>
            <a:ext cx="18021300" cy="533400"/>
          </a:xfrm>
          <a:prstGeom prst="rect">
            <a:avLst/>
          </a:prstGeom>
          <a:noFill/>
          <a:ln/>
        </p:spPr>
        <p:txBody>
          <a:bodyPr wrap="square" lIns="25400" tIns="25400" rIns="25400" bIns="25400" rtlCol="0" anchor="t">
            <a:normAutofit/>
          </a:bodyPr>
          <a:lstStyle/>
          <a:p>
            <a:pPr algn="l" indent="0" marL="0">
              <a:lnSpc>
                <a:spcPct val="87500"/>
              </a:lnSpc>
              <a:buNone/>
            </a:pPr>
            <a:r>
              <a:rPr lang="en-US" sz="3750" b="1" spc="-56" kern="0" dirty="0">
                <a:solidFill>
                  <a:srgbClr val="1B2530"/>
                </a:solidFill>
                <a:latin typeface="Bricolage Grotesque" pitchFamily="34" charset="0"/>
                <a:ea typeface="Bricolage Grotesque" pitchFamily="34" charset="-122"/>
                <a:cs typeface="Bricolage Grotesque" pitchFamily="34" charset="-120"/>
              </a:rPr>
              <a:t>Nine months, as parallel initiatives</a:t>
            </a:r>
            <a:endParaRPr lang="en-US" sz="3750" dirty="0"/>
          </a:p>
        </p:txBody>
      </p:sp>
      <p:sp>
        <p:nvSpPr>
          <p:cNvPr id="4" name="Shape 2"/>
          <p:cNvSpPr/>
          <p:nvPr/>
        </p:nvSpPr>
        <p:spPr>
          <a:xfrm>
            <a:off x="952500" y="1538288"/>
            <a:ext cx="122188" cy="142875"/>
          </a:xfrm>
          <a:prstGeom prst="roundRect">
            <a:avLst>
              <a:gd name="adj" fmla="val 31181"/>
            </a:avLst>
          </a:prstGeom>
          <a:solidFill>
            <a:srgbClr val="0E7C6B"/>
          </a:solidFill>
          <a:ln/>
        </p:spPr>
      </p:sp>
      <p:sp>
        <p:nvSpPr>
          <p:cNvPr id="5" name="Text 3"/>
          <p:cNvSpPr/>
          <p:nvPr/>
        </p:nvSpPr>
        <p:spPr>
          <a:xfrm>
            <a:off x="1169938" y="1304925"/>
            <a:ext cx="2777975"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mission foundation work</a:t>
            </a:r>
            <a:endParaRPr lang="en-US" sz="1800" dirty="0"/>
          </a:p>
        </p:txBody>
      </p:sp>
      <p:sp>
        <p:nvSpPr>
          <p:cNvPr id="6" name="Shape 4"/>
          <p:cNvSpPr/>
          <p:nvPr/>
        </p:nvSpPr>
        <p:spPr>
          <a:xfrm>
            <a:off x="4133701" y="1538288"/>
            <a:ext cx="122188" cy="142875"/>
          </a:xfrm>
          <a:prstGeom prst="roundRect">
            <a:avLst>
              <a:gd name="adj" fmla="val 31181"/>
            </a:avLst>
          </a:prstGeom>
          <a:solidFill>
            <a:srgbClr val="1B2530"/>
          </a:solidFill>
          <a:ln/>
        </p:spPr>
      </p:sp>
      <p:sp>
        <p:nvSpPr>
          <p:cNvPr id="7" name="Text 5"/>
          <p:cNvSpPr/>
          <p:nvPr/>
        </p:nvSpPr>
        <p:spPr>
          <a:xfrm>
            <a:off x="4351139" y="1304925"/>
            <a:ext cx="2899383"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platform substrate build</a:t>
            </a:r>
            <a:endParaRPr lang="en-US" sz="1800" dirty="0"/>
          </a:p>
        </p:txBody>
      </p:sp>
      <p:sp>
        <p:nvSpPr>
          <p:cNvPr id="8" name="Shape 6"/>
          <p:cNvSpPr/>
          <p:nvPr/>
        </p:nvSpPr>
        <p:spPr>
          <a:xfrm>
            <a:off x="7432774" y="1538288"/>
            <a:ext cx="125164" cy="142875"/>
          </a:xfrm>
          <a:prstGeom prst="roundRect">
            <a:avLst>
              <a:gd name="adj" fmla="val 30440"/>
            </a:avLst>
          </a:prstGeom>
          <a:solidFill>
            <a:srgbClr val="FBF3E4"/>
          </a:solidFill>
          <a:ln w="9525">
            <a:solidFill>
              <a:srgbClr val="B97417"/>
            </a:solidFill>
            <a:prstDash val="solid"/>
          </a:ln>
        </p:spPr>
      </p:sp>
      <p:sp>
        <p:nvSpPr>
          <p:cNvPr id="9" name="Text 7"/>
          <p:cNvSpPr/>
          <p:nvPr/>
        </p:nvSpPr>
        <p:spPr>
          <a:xfrm>
            <a:off x="7653189" y="1304925"/>
            <a:ext cx="5566221" cy="6477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M5 gate — all joins on UC1, the pilot use case</a:t>
            </a:r>
            <a:endParaRPr lang="en-US" sz="1800" dirty="0"/>
          </a:p>
        </p:txBody>
      </p:sp>
      <p:sp>
        <p:nvSpPr>
          <p:cNvPr id="10" name="Text 8"/>
          <p:cNvSpPr/>
          <p:nvPr/>
        </p:nvSpPr>
        <p:spPr>
          <a:xfrm>
            <a:off x="13323987" y="1295400"/>
            <a:ext cx="4131859" cy="666750"/>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chips mark the demo at the end of each bar</a:t>
            </a:r>
            <a:endParaRPr lang="en-US" sz="1800" dirty="0"/>
          </a:p>
        </p:txBody>
      </p:sp>
      <p:sp>
        <p:nvSpPr>
          <p:cNvPr id="11" name="Shape 9"/>
          <p:cNvSpPr/>
          <p:nvPr/>
        </p:nvSpPr>
        <p:spPr>
          <a:xfrm>
            <a:off x="952500" y="2419350"/>
            <a:ext cx="4095750" cy="28575"/>
          </a:xfrm>
          <a:prstGeom prst="rect">
            <a:avLst/>
          </a:prstGeom>
          <a:solidFill>
            <a:srgbClr val="1B2530"/>
          </a:solidFill>
          <a:ln/>
        </p:spPr>
      </p:sp>
      <p:sp>
        <p:nvSpPr>
          <p:cNvPr id="12" name="Text 10"/>
          <p:cNvSpPr/>
          <p:nvPr/>
        </p:nvSpPr>
        <p:spPr>
          <a:xfrm>
            <a:off x="952500" y="2057400"/>
            <a:ext cx="42186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PARALLEL INITIATIVES</a:t>
            </a:r>
            <a:endParaRPr lang="en-US" sz="1800" dirty="0"/>
          </a:p>
        </p:txBody>
      </p:sp>
      <p:sp>
        <p:nvSpPr>
          <p:cNvPr id="13" name="Shape 11"/>
          <p:cNvSpPr/>
          <p:nvPr/>
        </p:nvSpPr>
        <p:spPr>
          <a:xfrm>
            <a:off x="5048250" y="2419350"/>
            <a:ext cx="1228725" cy="28575"/>
          </a:xfrm>
          <a:prstGeom prst="rect">
            <a:avLst/>
          </a:prstGeom>
          <a:solidFill>
            <a:srgbClr val="1B2530"/>
          </a:solidFill>
          <a:ln/>
        </p:spPr>
      </p:sp>
      <p:sp>
        <p:nvSpPr>
          <p:cNvPr id="14" name="Text 12"/>
          <p:cNvSpPr/>
          <p:nvPr/>
        </p:nvSpPr>
        <p:spPr>
          <a:xfrm>
            <a:off x="501015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m0</a:t>
            </a:r>
            <a:endParaRPr lang="en-US" sz="1800" dirty="0"/>
          </a:p>
        </p:txBody>
      </p:sp>
      <p:sp>
        <p:nvSpPr>
          <p:cNvPr id="15" name="Shape 13"/>
          <p:cNvSpPr/>
          <p:nvPr/>
        </p:nvSpPr>
        <p:spPr>
          <a:xfrm>
            <a:off x="6276975" y="2419350"/>
            <a:ext cx="1228725" cy="28575"/>
          </a:xfrm>
          <a:prstGeom prst="rect">
            <a:avLst/>
          </a:prstGeom>
          <a:solidFill>
            <a:srgbClr val="1B2530"/>
          </a:solidFill>
          <a:ln/>
        </p:spPr>
      </p:sp>
      <p:sp>
        <p:nvSpPr>
          <p:cNvPr id="16" name="Text 14"/>
          <p:cNvSpPr/>
          <p:nvPr/>
        </p:nvSpPr>
        <p:spPr>
          <a:xfrm>
            <a:off x="62388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m1</a:t>
            </a:r>
            <a:endParaRPr lang="en-US" sz="1800" dirty="0"/>
          </a:p>
        </p:txBody>
      </p:sp>
      <p:sp>
        <p:nvSpPr>
          <p:cNvPr id="17" name="Shape 15"/>
          <p:cNvSpPr/>
          <p:nvPr/>
        </p:nvSpPr>
        <p:spPr>
          <a:xfrm>
            <a:off x="7505700" y="2419350"/>
            <a:ext cx="1228725" cy="28575"/>
          </a:xfrm>
          <a:prstGeom prst="rect">
            <a:avLst/>
          </a:prstGeom>
          <a:solidFill>
            <a:srgbClr val="1B2530"/>
          </a:solidFill>
          <a:ln/>
        </p:spPr>
      </p:sp>
      <p:sp>
        <p:nvSpPr>
          <p:cNvPr id="18" name="Text 16"/>
          <p:cNvSpPr/>
          <p:nvPr/>
        </p:nvSpPr>
        <p:spPr>
          <a:xfrm>
            <a:off x="746760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m2</a:t>
            </a:r>
            <a:endParaRPr lang="en-US" sz="1800" dirty="0"/>
          </a:p>
        </p:txBody>
      </p:sp>
      <p:sp>
        <p:nvSpPr>
          <p:cNvPr id="19" name="Shape 17"/>
          <p:cNvSpPr/>
          <p:nvPr/>
        </p:nvSpPr>
        <p:spPr>
          <a:xfrm>
            <a:off x="8734425" y="2419350"/>
            <a:ext cx="1228725" cy="28575"/>
          </a:xfrm>
          <a:prstGeom prst="rect">
            <a:avLst/>
          </a:prstGeom>
          <a:solidFill>
            <a:srgbClr val="1B2530"/>
          </a:solidFill>
          <a:ln/>
        </p:spPr>
      </p:sp>
      <p:sp>
        <p:nvSpPr>
          <p:cNvPr id="20" name="Text 18"/>
          <p:cNvSpPr/>
          <p:nvPr/>
        </p:nvSpPr>
        <p:spPr>
          <a:xfrm>
            <a:off x="869632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21" name="Shape 19"/>
          <p:cNvSpPr/>
          <p:nvPr/>
        </p:nvSpPr>
        <p:spPr>
          <a:xfrm>
            <a:off x="9963150" y="2419350"/>
            <a:ext cx="1228725" cy="28575"/>
          </a:xfrm>
          <a:prstGeom prst="rect">
            <a:avLst/>
          </a:prstGeom>
          <a:solidFill>
            <a:srgbClr val="1B2530"/>
          </a:solidFill>
          <a:ln/>
        </p:spPr>
      </p:sp>
      <p:sp>
        <p:nvSpPr>
          <p:cNvPr id="22" name="Text 20"/>
          <p:cNvSpPr/>
          <p:nvPr/>
        </p:nvSpPr>
        <p:spPr>
          <a:xfrm>
            <a:off x="992505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23" name="Shape 21"/>
          <p:cNvSpPr/>
          <p:nvPr/>
        </p:nvSpPr>
        <p:spPr>
          <a:xfrm>
            <a:off x="11191875" y="2419350"/>
            <a:ext cx="1228725" cy="28575"/>
          </a:xfrm>
          <a:prstGeom prst="rect">
            <a:avLst/>
          </a:prstGeom>
          <a:solidFill>
            <a:srgbClr val="1B2530"/>
          </a:solidFill>
          <a:ln/>
        </p:spPr>
      </p:sp>
      <p:sp>
        <p:nvSpPr>
          <p:cNvPr id="24" name="Text 22"/>
          <p:cNvSpPr/>
          <p:nvPr/>
        </p:nvSpPr>
        <p:spPr>
          <a:xfrm>
            <a:off x="111537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5" name="Shape 23"/>
          <p:cNvSpPr/>
          <p:nvPr/>
        </p:nvSpPr>
        <p:spPr>
          <a:xfrm>
            <a:off x="12420600" y="2419350"/>
            <a:ext cx="1228725" cy="28575"/>
          </a:xfrm>
          <a:prstGeom prst="rect">
            <a:avLst/>
          </a:prstGeom>
          <a:solidFill>
            <a:srgbClr val="1B2530"/>
          </a:solidFill>
          <a:ln/>
        </p:spPr>
      </p:sp>
      <p:sp>
        <p:nvSpPr>
          <p:cNvPr id="26" name="Text 24"/>
          <p:cNvSpPr/>
          <p:nvPr/>
        </p:nvSpPr>
        <p:spPr>
          <a:xfrm>
            <a:off x="12382500"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m6</a:t>
            </a:r>
            <a:endParaRPr lang="en-US" sz="1800" dirty="0"/>
          </a:p>
        </p:txBody>
      </p:sp>
      <p:sp>
        <p:nvSpPr>
          <p:cNvPr id="27" name="Shape 25"/>
          <p:cNvSpPr/>
          <p:nvPr/>
        </p:nvSpPr>
        <p:spPr>
          <a:xfrm>
            <a:off x="13649325" y="2419350"/>
            <a:ext cx="1228725" cy="28575"/>
          </a:xfrm>
          <a:prstGeom prst="rect">
            <a:avLst/>
          </a:prstGeom>
          <a:solidFill>
            <a:srgbClr val="1B2530"/>
          </a:solidFill>
          <a:ln/>
        </p:spPr>
      </p:sp>
      <p:sp>
        <p:nvSpPr>
          <p:cNvPr id="28" name="Text 26"/>
          <p:cNvSpPr/>
          <p:nvPr/>
        </p:nvSpPr>
        <p:spPr>
          <a:xfrm>
            <a:off x="1361122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m7</a:t>
            </a:r>
            <a:endParaRPr lang="en-US" sz="1800" dirty="0"/>
          </a:p>
        </p:txBody>
      </p:sp>
      <p:sp>
        <p:nvSpPr>
          <p:cNvPr id="29" name="Shape 27"/>
          <p:cNvSpPr/>
          <p:nvPr/>
        </p:nvSpPr>
        <p:spPr>
          <a:xfrm>
            <a:off x="14878050" y="2419350"/>
            <a:ext cx="1228725" cy="28575"/>
          </a:xfrm>
          <a:prstGeom prst="rect">
            <a:avLst/>
          </a:prstGeom>
          <a:solidFill>
            <a:srgbClr val="B97417"/>
          </a:solidFill>
          <a:ln/>
        </p:spPr>
      </p:sp>
      <p:sp>
        <p:nvSpPr>
          <p:cNvPr id="30" name="Text 28"/>
          <p:cNvSpPr/>
          <p:nvPr/>
        </p:nvSpPr>
        <p:spPr>
          <a:xfrm>
            <a:off x="14839950" y="2057400"/>
            <a:ext cx="1304925"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B97417"/>
                </a:solidFill>
                <a:latin typeface="IBM Plex Mono" pitchFamily="34" charset="0"/>
                <a:ea typeface="IBM Plex Mono" pitchFamily="34" charset="-122"/>
                <a:cs typeface="IBM Plex Mono" pitchFamily="34" charset="-120"/>
              </a:rPr>
              <a:t>m8·GATE</a:t>
            </a:r>
            <a:endParaRPr lang="en-US" sz="1800" dirty="0"/>
          </a:p>
        </p:txBody>
      </p:sp>
      <p:sp>
        <p:nvSpPr>
          <p:cNvPr id="31" name="Shape 29"/>
          <p:cNvSpPr/>
          <p:nvPr/>
        </p:nvSpPr>
        <p:spPr>
          <a:xfrm>
            <a:off x="16106775" y="2419350"/>
            <a:ext cx="1228725" cy="28575"/>
          </a:xfrm>
          <a:prstGeom prst="rect">
            <a:avLst/>
          </a:prstGeom>
          <a:solidFill>
            <a:srgbClr val="1B2530"/>
          </a:solidFill>
          <a:ln/>
        </p:spPr>
      </p:sp>
      <p:sp>
        <p:nvSpPr>
          <p:cNvPr id="32" name="Text 30"/>
          <p:cNvSpPr/>
          <p:nvPr/>
        </p:nvSpPr>
        <p:spPr>
          <a:xfrm>
            <a:off x="16068675" y="2057400"/>
            <a:ext cx="130492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5B6873"/>
                </a:solidFill>
                <a:latin typeface="IBM Plex Mono" pitchFamily="34" charset="0"/>
                <a:ea typeface="IBM Plex Mono" pitchFamily="34" charset="-122"/>
                <a:cs typeface="IBM Plex Mono" pitchFamily="34" charset="-120"/>
              </a:rPr>
              <a:t>m9</a:t>
            </a:r>
            <a:endParaRPr lang="en-US" sz="1800" dirty="0"/>
          </a:p>
        </p:txBody>
      </p:sp>
      <p:sp>
        <p:nvSpPr>
          <p:cNvPr id="33" name="Shape 31"/>
          <p:cNvSpPr/>
          <p:nvPr/>
        </p:nvSpPr>
        <p:spPr>
          <a:xfrm>
            <a:off x="5048250" y="2447925"/>
            <a:ext cx="9525" cy="6600825"/>
          </a:xfrm>
          <a:prstGeom prst="rect">
            <a:avLst/>
          </a:prstGeom>
          <a:solidFill>
            <a:srgbClr val="E3E7E1"/>
          </a:solidFill>
          <a:ln/>
        </p:spPr>
      </p:sp>
      <p:sp>
        <p:nvSpPr>
          <p:cNvPr id="34" name="Shape 32"/>
          <p:cNvSpPr/>
          <p:nvPr/>
        </p:nvSpPr>
        <p:spPr>
          <a:xfrm>
            <a:off x="6276082" y="2447925"/>
            <a:ext cx="9525" cy="6600825"/>
          </a:xfrm>
          <a:prstGeom prst="rect">
            <a:avLst/>
          </a:prstGeom>
          <a:solidFill>
            <a:srgbClr val="E3E7E1"/>
          </a:solidFill>
          <a:ln/>
        </p:spPr>
      </p:sp>
      <p:sp>
        <p:nvSpPr>
          <p:cNvPr id="35" name="Shape 33"/>
          <p:cNvSpPr/>
          <p:nvPr/>
        </p:nvSpPr>
        <p:spPr>
          <a:xfrm>
            <a:off x="7503914" y="2447925"/>
            <a:ext cx="9525" cy="6600825"/>
          </a:xfrm>
          <a:prstGeom prst="rect">
            <a:avLst/>
          </a:prstGeom>
          <a:solidFill>
            <a:srgbClr val="E3E7E1"/>
          </a:solidFill>
          <a:ln/>
        </p:spPr>
      </p:sp>
      <p:sp>
        <p:nvSpPr>
          <p:cNvPr id="36" name="Shape 34"/>
          <p:cNvSpPr/>
          <p:nvPr/>
        </p:nvSpPr>
        <p:spPr>
          <a:xfrm>
            <a:off x="8731746" y="2447925"/>
            <a:ext cx="9525" cy="6600825"/>
          </a:xfrm>
          <a:prstGeom prst="rect">
            <a:avLst/>
          </a:prstGeom>
          <a:solidFill>
            <a:srgbClr val="E3E7E1"/>
          </a:solidFill>
          <a:ln/>
        </p:spPr>
      </p:sp>
      <p:sp>
        <p:nvSpPr>
          <p:cNvPr id="37" name="Shape 35"/>
          <p:cNvSpPr/>
          <p:nvPr/>
        </p:nvSpPr>
        <p:spPr>
          <a:xfrm>
            <a:off x="9959578" y="2447925"/>
            <a:ext cx="9525" cy="6600825"/>
          </a:xfrm>
          <a:prstGeom prst="rect">
            <a:avLst/>
          </a:prstGeom>
          <a:solidFill>
            <a:srgbClr val="E3E7E1"/>
          </a:solidFill>
          <a:ln/>
        </p:spPr>
      </p:sp>
      <p:sp>
        <p:nvSpPr>
          <p:cNvPr id="38" name="Shape 36"/>
          <p:cNvSpPr/>
          <p:nvPr/>
        </p:nvSpPr>
        <p:spPr>
          <a:xfrm>
            <a:off x="11187410" y="2447925"/>
            <a:ext cx="9525" cy="6600825"/>
          </a:xfrm>
          <a:prstGeom prst="rect">
            <a:avLst/>
          </a:prstGeom>
          <a:solidFill>
            <a:srgbClr val="E3E7E1"/>
          </a:solidFill>
          <a:ln/>
        </p:spPr>
      </p:sp>
      <p:sp>
        <p:nvSpPr>
          <p:cNvPr id="39" name="Shape 37"/>
          <p:cNvSpPr/>
          <p:nvPr/>
        </p:nvSpPr>
        <p:spPr>
          <a:xfrm>
            <a:off x="12415242" y="2447925"/>
            <a:ext cx="9525" cy="6600825"/>
          </a:xfrm>
          <a:prstGeom prst="rect">
            <a:avLst/>
          </a:prstGeom>
          <a:solidFill>
            <a:srgbClr val="E3E7E1"/>
          </a:solidFill>
          <a:ln/>
        </p:spPr>
      </p:sp>
      <p:sp>
        <p:nvSpPr>
          <p:cNvPr id="40" name="Shape 38"/>
          <p:cNvSpPr/>
          <p:nvPr/>
        </p:nvSpPr>
        <p:spPr>
          <a:xfrm>
            <a:off x="13643074" y="2447925"/>
            <a:ext cx="9525" cy="6600825"/>
          </a:xfrm>
          <a:prstGeom prst="rect">
            <a:avLst/>
          </a:prstGeom>
          <a:solidFill>
            <a:srgbClr val="E3E7E1"/>
          </a:solidFill>
          <a:ln/>
        </p:spPr>
      </p:sp>
      <p:sp>
        <p:nvSpPr>
          <p:cNvPr id="41" name="Shape 39"/>
          <p:cNvSpPr/>
          <p:nvPr/>
        </p:nvSpPr>
        <p:spPr>
          <a:xfrm>
            <a:off x="14870906" y="2447925"/>
            <a:ext cx="1237357" cy="6600825"/>
          </a:xfrm>
          <a:prstGeom prst="rect">
            <a:avLst/>
          </a:prstGeom>
          <a:solidFill>
            <a:srgbClr val="FBF3E4"/>
          </a:solidFill>
          <a:ln/>
        </p:spPr>
      </p:sp>
      <p:sp>
        <p:nvSpPr>
          <p:cNvPr id="42" name="Shape 40"/>
          <p:cNvSpPr/>
          <p:nvPr/>
        </p:nvSpPr>
        <p:spPr>
          <a:xfrm>
            <a:off x="14870906" y="2447925"/>
            <a:ext cx="19050" cy="6600825"/>
          </a:xfrm>
          <a:prstGeom prst="rect">
            <a:avLst/>
          </a:prstGeom>
          <a:solidFill>
            <a:srgbClr val="B97417"/>
          </a:solidFill>
          <a:ln/>
        </p:spPr>
      </p:sp>
      <p:sp>
        <p:nvSpPr>
          <p:cNvPr id="43" name="Shape 41"/>
          <p:cNvSpPr/>
          <p:nvPr/>
        </p:nvSpPr>
        <p:spPr>
          <a:xfrm>
            <a:off x="16108263" y="2447925"/>
            <a:ext cx="9525" cy="6600825"/>
          </a:xfrm>
          <a:prstGeom prst="rect">
            <a:avLst/>
          </a:prstGeom>
          <a:solidFill>
            <a:srgbClr val="E3E7E1"/>
          </a:solidFill>
          <a:ln/>
        </p:spPr>
      </p:sp>
      <p:sp>
        <p:nvSpPr>
          <p:cNvPr id="44" name="Text 42"/>
          <p:cNvSpPr/>
          <p:nvPr/>
        </p:nvSpPr>
        <p:spPr>
          <a:xfrm>
            <a:off x="952500" y="252412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LINEAGE &amp; CONFIDENCE</a:t>
            </a:r>
            <a:endParaRPr lang="en-US" sz="1800" dirty="0"/>
          </a:p>
        </p:txBody>
      </p:sp>
      <p:sp>
        <p:nvSpPr>
          <p:cNvPr id="45" name="Text 43"/>
          <p:cNvSpPr/>
          <p:nvPr/>
        </p:nvSpPr>
        <p:spPr>
          <a:xfrm>
            <a:off x="952500" y="28289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Enterprise-registry integration — URNs from the catalog</a:t>
            </a:r>
            <a:endParaRPr lang="en-US" sz="1800" dirty="0"/>
          </a:p>
        </p:txBody>
      </p:sp>
      <p:sp>
        <p:nvSpPr>
          <p:cNvPr id="46" name="Shape 44"/>
          <p:cNvSpPr/>
          <p:nvPr/>
        </p:nvSpPr>
        <p:spPr>
          <a:xfrm>
            <a:off x="5048250" y="2952750"/>
            <a:ext cx="3686175" cy="323850"/>
          </a:xfrm>
          <a:prstGeom prst="roundRect">
            <a:avLst>
              <a:gd name="adj" fmla="val 20588"/>
            </a:avLst>
          </a:prstGeom>
          <a:solidFill>
            <a:srgbClr val="1B2530"/>
          </a:solidFill>
          <a:ln/>
        </p:spPr>
      </p:sp>
      <p:sp>
        <p:nvSpPr>
          <p:cNvPr id="47" name="Text 45"/>
          <p:cNvSpPr/>
          <p:nvPr/>
        </p:nvSpPr>
        <p:spPr>
          <a:xfrm>
            <a:off x="5162550" y="296227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m0–m3</a:t>
            </a:r>
            <a:endParaRPr lang="en-US" sz="1800" dirty="0"/>
          </a:p>
        </p:txBody>
      </p:sp>
      <p:sp>
        <p:nvSpPr>
          <p:cNvPr id="48" name="Shape 46"/>
          <p:cNvSpPr/>
          <p:nvPr/>
        </p:nvSpPr>
        <p:spPr>
          <a:xfrm>
            <a:off x="7507486" y="2962275"/>
            <a:ext cx="1112639" cy="304800"/>
          </a:xfrm>
          <a:prstGeom prst="roundRect">
            <a:avLst>
              <a:gd name="adj" fmla="val 12500"/>
            </a:avLst>
          </a:prstGeom>
          <a:solidFill>
            <a:srgbClr val="F6F7F4"/>
          </a:solidFill>
          <a:ln/>
        </p:spPr>
      </p:sp>
      <p:sp>
        <p:nvSpPr>
          <p:cNvPr id="49" name="Text 47"/>
          <p:cNvSpPr/>
          <p:nvPr/>
        </p:nvSpPr>
        <p:spPr>
          <a:xfrm>
            <a:off x="7583686" y="2962275"/>
            <a:ext cx="107150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live M1</a:t>
            </a:r>
            <a:endParaRPr lang="en-US" sz="1800" dirty="0"/>
          </a:p>
        </p:txBody>
      </p:sp>
      <p:sp>
        <p:nvSpPr>
          <p:cNvPr id="50" name="Text 48"/>
          <p:cNvSpPr/>
          <p:nvPr/>
        </p:nvSpPr>
        <p:spPr>
          <a:xfrm>
            <a:off x="952500" y="34004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Evidence stream — every check result, one bus</a:t>
            </a:r>
            <a:endParaRPr lang="en-US" sz="1800" dirty="0"/>
          </a:p>
        </p:txBody>
      </p:sp>
      <p:sp>
        <p:nvSpPr>
          <p:cNvPr id="51" name="Shape 49"/>
          <p:cNvSpPr/>
          <p:nvPr/>
        </p:nvSpPr>
        <p:spPr>
          <a:xfrm>
            <a:off x="12420600" y="3524250"/>
            <a:ext cx="4914900" cy="323850"/>
          </a:xfrm>
          <a:prstGeom prst="roundRect">
            <a:avLst>
              <a:gd name="adj" fmla="val 20588"/>
            </a:avLst>
          </a:prstGeom>
          <a:solidFill>
            <a:srgbClr val="1B2530"/>
          </a:solidFill>
          <a:ln/>
        </p:spPr>
      </p:sp>
      <p:sp>
        <p:nvSpPr>
          <p:cNvPr id="52" name="Text 50"/>
          <p:cNvSpPr/>
          <p:nvPr/>
        </p:nvSpPr>
        <p:spPr>
          <a:xfrm>
            <a:off x="12534900" y="3533775"/>
            <a:ext cx="37719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m6–m9 · after foundations</a:t>
            </a:r>
            <a:endParaRPr lang="en-US" sz="1800" dirty="0"/>
          </a:p>
        </p:txBody>
      </p:sp>
      <p:sp>
        <p:nvSpPr>
          <p:cNvPr id="53" name="Shape 51"/>
          <p:cNvSpPr/>
          <p:nvPr/>
        </p:nvSpPr>
        <p:spPr>
          <a:xfrm>
            <a:off x="16794361" y="3533775"/>
            <a:ext cx="426839" cy="304800"/>
          </a:xfrm>
          <a:prstGeom prst="roundRect">
            <a:avLst>
              <a:gd name="adj" fmla="val 12500"/>
            </a:avLst>
          </a:prstGeom>
          <a:solidFill>
            <a:srgbClr val="F6F7F4"/>
          </a:solidFill>
          <a:ln/>
        </p:spPr>
      </p:sp>
      <p:sp>
        <p:nvSpPr>
          <p:cNvPr id="54" name="Text 52"/>
          <p:cNvSpPr/>
          <p:nvPr/>
        </p:nvSpPr>
        <p:spPr>
          <a:xfrm>
            <a:off x="16870561" y="353377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M6</a:t>
            </a:r>
            <a:endParaRPr lang="en-US" sz="1800" dirty="0"/>
          </a:p>
        </p:txBody>
      </p:sp>
      <p:sp>
        <p:nvSpPr>
          <p:cNvPr id="55" name="Text 53"/>
          <p:cNvSpPr/>
          <p:nvPr/>
        </p:nvSpPr>
        <p:spPr>
          <a:xfrm>
            <a:off x="952500" y="399097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Baseline lineage scan — all layers</a:t>
            </a:r>
            <a:endParaRPr lang="en-US" sz="1800" dirty="0"/>
          </a:p>
        </p:txBody>
      </p:sp>
      <p:sp>
        <p:nvSpPr>
          <p:cNvPr id="56" name="Shape 54"/>
          <p:cNvSpPr/>
          <p:nvPr/>
        </p:nvSpPr>
        <p:spPr>
          <a:xfrm>
            <a:off x="5048250" y="3971925"/>
            <a:ext cx="3686175" cy="323850"/>
          </a:xfrm>
          <a:prstGeom prst="roundRect">
            <a:avLst>
              <a:gd name="adj" fmla="val 20588"/>
            </a:avLst>
          </a:prstGeom>
          <a:solidFill>
            <a:srgbClr val="0E7C6B"/>
          </a:solidFill>
          <a:ln/>
        </p:spPr>
      </p:sp>
      <p:sp>
        <p:nvSpPr>
          <p:cNvPr id="57" name="Text 55"/>
          <p:cNvSpPr/>
          <p:nvPr/>
        </p:nvSpPr>
        <p:spPr>
          <a:xfrm>
            <a:off x="5162550" y="3981450"/>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m0–m3 · 3 mo</a:t>
            </a:r>
            <a:endParaRPr lang="en-US" sz="1800" dirty="0"/>
          </a:p>
        </p:txBody>
      </p:sp>
      <p:sp>
        <p:nvSpPr>
          <p:cNvPr id="58" name="Shape 56"/>
          <p:cNvSpPr/>
          <p:nvPr/>
        </p:nvSpPr>
        <p:spPr>
          <a:xfrm>
            <a:off x="8193286" y="3981450"/>
            <a:ext cx="426839" cy="304800"/>
          </a:xfrm>
          <a:prstGeom prst="roundRect">
            <a:avLst>
              <a:gd name="adj" fmla="val 12500"/>
            </a:avLst>
          </a:prstGeom>
          <a:solidFill>
            <a:srgbClr val="F6F7F4"/>
          </a:solidFill>
          <a:ln/>
        </p:spPr>
      </p:sp>
      <p:sp>
        <p:nvSpPr>
          <p:cNvPr id="59" name="Text 57"/>
          <p:cNvSpPr/>
          <p:nvPr/>
        </p:nvSpPr>
        <p:spPr>
          <a:xfrm>
            <a:off x="8269486" y="398145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60" name="Text 58"/>
          <p:cNvSpPr/>
          <p:nvPr/>
        </p:nvSpPr>
        <p:spPr>
          <a:xfrm>
            <a:off x="952500" y="42957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Incremental lineage — refresh on every deploy</a:t>
            </a:r>
            <a:endParaRPr lang="en-US" sz="1800" dirty="0"/>
          </a:p>
        </p:txBody>
      </p:sp>
      <p:sp>
        <p:nvSpPr>
          <p:cNvPr id="61" name="Shape 59"/>
          <p:cNvSpPr/>
          <p:nvPr/>
        </p:nvSpPr>
        <p:spPr>
          <a:xfrm>
            <a:off x="7505700" y="4419600"/>
            <a:ext cx="3686175" cy="323850"/>
          </a:xfrm>
          <a:prstGeom prst="roundRect">
            <a:avLst>
              <a:gd name="adj" fmla="val 20588"/>
            </a:avLst>
          </a:prstGeom>
          <a:solidFill>
            <a:srgbClr val="0E7C6B"/>
          </a:solidFill>
          <a:ln/>
        </p:spPr>
      </p:sp>
      <p:sp>
        <p:nvSpPr>
          <p:cNvPr id="62" name="Text 60"/>
          <p:cNvSpPr/>
          <p:nvPr/>
        </p:nvSpPr>
        <p:spPr>
          <a:xfrm>
            <a:off x="7620000" y="4429125"/>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m2–m5 · lands m5</a:t>
            </a:r>
            <a:endParaRPr lang="en-US" sz="1800" dirty="0"/>
          </a:p>
        </p:txBody>
      </p:sp>
      <p:sp>
        <p:nvSpPr>
          <p:cNvPr id="63" name="Shape 61"/>
          <p:cNvSpPr/>
          <p:nvPr/>
        </p:nvSpPr>
        <p:spPr>
          <a:xfrm>
            <a:off x="10650736" y="4429125"/>
            <a:ext cx="426839" cy="304800"/>
          </a:xfrm>
          <a:prstGeom prst="roundRect">
            <a:avLst>
              <a:gd name="adj" fmla="val 12500"/>
            </a:avLst>
          </a:prstGeom>
          <a:solidFill>
            <a:srgbClr val="F6F7F4"/>
          </a:solidFill>
          <a:ln/>
        </p:spPr>
      </p:sp>
      <p:sp>
        <p:nvSpPr>
          <p:cNvPr id="64" name="Text 62"/>
          <p:cNvSpPr/>
          <p:nvPr/>
        </p:nvSpPr>
        <p:spPr>
          <a:xfrm>
            <a:off x="10726936" y="44291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65" name="Text 63"/>
          <p:cNvSpPr/>
          <p:nvPr/>
        </p:nvSpPr>
        <p:spPr>
          <a:xfrm>
            <a:off x="952500" y="488632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Impact analysis &amp; confidence scores</a:t>
            </a:r>
            <a:endParaRPr lang="en-US" sz="1800" dirty="0"/>
          </a:p>
        </p:txBody>
      </p:sp>
      <p:sp>
        <p:nvSpPr>
          <p:cNvPr id="66" name="Shape 64"/>
          <p:cNvSpPr/>
          <p:nvPr/>
        </p:nvSpPr>
        <p:spPr>
          <a:xfrm>
            <a:off x="9963150" y="4867275"/>
            <a:ext cx="3686175" cy="323850"/>
          </a:xfrm>
          <a:prstGeom prst="roundRect">
            <a:avLst>
              <a:gd name="adj" fmla="val 20588"/>
            </a:avLst>
          </a:prstGeom>
          <a:solidFill>
            <a:srgbClr val="0E7C6B"/>
          </a:solidFill>
          <a:ln/>
        </p:spPr>
      </p:sp>
      <p:sp>
        <p:nvSpPr>
          <p:cNvPr id="67" name="Text 65"/>
          <p:cNvSpPr/>
          <p:nvPr/>
        </p:nvSpPr>
        <p:spPr>
          <a:xfrm>
            <a:off x="10077450" y="4876800"/>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68" name="Shape 66"/>
          <p:cNvSpPr/>
          <p:nvPr/>
        </p:nvSpPr>
        <p:spPr>
          <a:xfrm>
            <a:off x="13108186" y="4876800"/>
            <a:ext cx="426839" cy="304800"/>
          </a:xfrm>
          <a:prstGeom prst="roundRect">
            <a:avLst>
              <a:gd name="adj" fmla="val 12500"/>
            </a:avLst>
          </a:prstGeom>
          <a:solidFill>
            <a:srgbClr val="F6F7F4"/>
          </a:solidFill>
          <a:ln/>
        </p:spPr>
      </p:sp>
      <p:sp>
        <p:nvSpPr>
          <p:cNvPr id="69" name="Text 67"/>
          <p:cNvSpPr/>
          <p:nvPr/>
        </p:nvSpPr>
        <p:spPr>
          <a:xfrm>
            <a:off x="13184386" y="48768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70" name="Text 68"/>
          <p:cNvSpPr/>
          <p:nvPr/>
        </p:nvSpPr>
        <p:spPr>
          <a:xfrm>
            <a:off x="952500" y="524827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DATA QUALITY</a:t>
            </a:r>
            <a:endParaRPr lang="en-US" sz="1800" dirty="0"/>
          </a:p>
        </p:txBody>
      </p:sp>
      <p:sp>
        <p:nvSpPr>
          <p:cNvPr id="71" name="Text 69"/>
          <p:cNvSpPr/>
          <p:nvPr/>
        </p:nvSpPr>
        <p:spPr>
          <a:xfrm>
            <a:off x="952500" y="55530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Real-time DQ — in-stream checks (service &amp; Kafka)</a:t>
            </a:r>
            <a:endParaRPr lang="en-US" sz="1800" dirty="0"/>
          </a:p>
        </p:txBody>
      </p:sp>
      <p:sp>
        <p:nvSpPr>
          <p:cNvPr id="72" name="Shape 70"/>
          <p:cNvSpPr/>
          <p:nvPr/>
        </p:nvSpPr>
        <p:spPr>
          <a:xfrm>
            <a:off x="6276975" y="5676900"/>
            <a:ext cx="4914900" cy="323850"/>
          </a:xfrm>
          <a:prstGeom prst="roundRect">
            <a:avLst>
              <a:gd name="adj" fmla="val 20588"/>
            </a:avLst>
          </a:prstGeom>
          <a:solidFill>
            <a:srgbClr val="0E7C6B"/>
          </a:solidFill>
          <a:ln/>
        </p:spPr>
      </p:sp>
      <p:sp>
        <p:nvSpPr>
          <p:cNvPr id="73" name="Text 71"/>
          <p:cNvSpPr/>
          <p:nvPr/>
        </p:nvSpPr>
        <p:spPr>
          <a:xfrm>
            <a:off x="6391275" y="5686425"/>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m1–m5 · in parallel</a:t>
            </a:r>
            <a:endParaRPr lang="en-US" sz="1800" dirty="0"/>
          </a:p>
        </p:txBody>
      </p:sp>
      <p:sp>
        <p:nvSpPr>
          <p:cNvPr id="74" name="Shape 72"/>
          <p:cNvSpPr/>
          <p:nvPr/>
        </p:nvSpPr>
        <p:spPr>
          <a:xfrm>
            <a:off x="10650736" y="5686425"/>
            <a:ext cx="426839" cy="304800"/>
          </a:xfrm>
          <a:prstGeom prst="roundRect">
            <a:avLst>
              <a:gd name="adj" fmla="val 12500"/>
            </a:avLst>
          </a:prstGeom>
          <a:solidFill>
            <a:srgbClr val="F6F7F4"/>
          </a:solidFill>
          <a:ln/>
        </p:spPr>
      </p:sp>
      <p:sp>
        <p:nvSpPr>
          <p:cNvPr id="75" name="Text 73"/>
          <p:cNvSpPr/>
          <p:nvPr/>
        </p:nvSpPr>
        <p:spPr>
          <a:xfrm>
            <a:off x="10726936" y="56864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M3</a:t>
            </a:r>
            <a:endParaRPr lang="en-US" sz="1800" dirty="0"/>
          </a:p>
        </p:txBody>
      </p:sp>
      <p:sp>
        <p:nvSpPr>
          <p:cNvPr id="76" name="Text 74"/>
          <p:cNvSpPr/>
          <p:nvPr/>
        </p:nvSpPr>
        <p:spPr>
          <a:xfrm>
            <a:off x="952500" y="6143625"/>
            <a:ext cx="4371975" cy="32385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Async DQ — at-rest &amp; batch checks</a:t>
            </a:r>
            <a:endParaRPr lang="en-US" sz="1800" dirty="0"/>
          </a:p>
        </p:txBody>
      </p:sp>
      <p:sp>
        <p:nvSpPr>
          <p:cNvPr id="77" name="Shape 75"/>
          <p:cNvSpPr/>
          <p:nvPr/>
        </p:nvSpPr>
        <p:spPr>
          <a:xfrm>
            <a:off x="6276975" y="6124575"/>
            <a:ext cx="4914900" cy="323850"/>
          </a:xfrm>
          <a:prstGeom prst="roundRect">
            <a:avLst>
              <a:gd name="adj" fmla="val 20588"/>
            </a:avLst>
          </a:prstGeom>
          <a:solidFill>
            <a:srgbClr val="0E7C6B"/>
          </a:solidFill>
          <a:ln/>
        </p:spPr>
      </p:sp>
      <p:sp>
        <p:nvSpPr>
          <p:cNvPr id="78" name="Text 76"/>
          <p:cNvSpPr/>
          <p:nvPr/>
        </p:nvSpPr>
        <p:spPr>
          <a:xfrm>
            <a:off x="6391275" y="6134100"/>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m1–m5 · in parallel</a:t>
            </a:r>
            <a:endParaRPr lang="en-US" sz="1800" dirty="0"/>
          </a:p>
        </p:txBody>
      </p:sp>
      <p:sp>
        <p:nvSpPr>
          <p:cNvPr id="79" name="Shape 77"/>
          <p:cNvSpPr/>
          <p:nvPr/>
        </p:nvSpPr>
        <p:spPr>
          <a:xfrm>
            <a:off x="10650736" y="6134100"/>
            <a:ext cx="426839" cy="304800"/>
          </a:xfrm>
          <a:prstGeom prst="roundRect">
            <a:avLst>
              <a:gd name="adj" fmla="val 12500"/>
            </a:avLst>
          </a:prstGeom>
          <a:solidFill>
            <a:srgbClr val="F6F7F4"/>
          </a:solidFill>
          <a:ln/>
        </p:spPr>
      </p:sp>
      <p:sp>
        <p:nvSpPr>
          <p:cNvPr id="80" name="Text 78"/>
          <p:cNvSpPr/>
          <p:nvPr/>
        </p:nvSpPr>
        <p:spPr>
          <a:xfrm>
            <a:off x="10726936" y="6134100"/>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M2</a:t>
            </a:r>
            <a:endParaRPr lang="en-US" sz="1800" dirty="0"/>
          </a:p>
        </p:txBody>
      </p:sp>
      <p:sp>
        <p:nvSpPr>
          <p:cNvPr id="81" name="Text 79"/>
          <p:cNvSpPr/>
          <p:nvPr/>
        </p:nvSpPr>
        <p:spPr>
          <a:xfrm>
            <a:off x="952500" y="644842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Data contracts &amp; gate — build → shadow → block</a:t>
            </a:r>
            <a:endParaRPr lang="en-US" sz="1800" dirty="0"/>
          </a:p>
        </p:txBody>
      </p:sp>
      <p:sp>
        <p:nvSpPr>
          <p:cNvPr id="82" name="Shape 80"/>
          <p:cNvSpPr/>
          <p:nvPr/>
        </p:nvSpPr>
        <p:spPr>
          <a:xfrm>
            <a:off x="11191875" y="6572250"/>
            <a:ext cx="4914900" cy="323850"/>
          </a:xfrm>
          <a:prstGeom prst="roundRect">
            <a:avLst>
              <a:gd name="adj" fmla="val 20588"/>
            </a:avLst>
          </a:prstGeom>
          <a:solidFill>
            <a:srgbClr val="1B2530"/>
          </a:solidFill>
          <a:ln/>
        </p:spPr>
      </p:sp>
      <p:sp>
        <p:nvSpPr>
          <p:cNvPr id="83" name="Text 81"/>
          <p:cNvSpPr/>
          <p:nvPr/>
        </p:nvSpPr>
        <p:spPr>
          <a:xfrm>
            <a:off x="11306175" y="6581775"/>
            <a:ext cx="422456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m5–m9 · after both DQ tracks</a:t>
            </a:r>
            <a:endParaRPr lang="en-US" sz="1800" dirty="0"/>
          </a:p>
        </p:txBody>
      </p:sp>
      <p:sp>
        <p:nvSpPr>
          <p:cNvPr id="84" name="Shape 82"/>
          <p:cNvSpPr/>
          <p:nvPr/>
        </p:nvSpPr>
        <p:spPr>
          <a:xfrm>
            <a:off x="15565636" y="6581775"/>
            <a:ext cx="426839" cy="304800"/>
          </a:xfrm>
          <a:prstGeom prst="roundRect">
            <a:avLst>
              <a:gd name="adj" fmla="val 12500"/>
            </a:avLst>
          </a:prstGeom>
          <a:solidFill>
            <a:srgbClr val="FBF3E4"/>
          </a:solidFill>
          <a:ln/>
        </p:spPr>
      </p:sp>
      <p:sp>
        <p:nvSpPr>
          <p:cNvPr id="85" name="Text 83"/>
          <p:cNvSpPr/>
          <p:nvPr/>
        </p:nvSpPr>
        <p:spPr>
          <a:xfrm>
            <a:off x="15641836" y="658177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86" name="Text 84"/>
          <p:cNvSpPr/>
          <p:nvPr/>
        </p:nvSpPr>
        <p:spPr>
          <a:xfrm>
            <a:off x="952500" y="7077075"/>
            <a:ext cx="450532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ONBOARDING &amp; EXPERIENCE</a:t>
            </a:r>
            <a:endParaRPr lang="en-US" sz="1800" dirty="0"/>
          </a:p>
        </p:txBody>
      </p:sp>
      <p:sp>
        <p:nvSpPr>
          <p:cNvPr id="87" name="Text 85"/>
          <p:cNvSpPr/>
          <p:nvPr/>
        </p:nvSpPr>
        <p:spPr>
          <a:xfrm>
            <a:off x="952500" y="73818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Health surface — one shared dashboard</a:t>
            </a:r>
            <a:endParaRPr lang="en-US" sz="1800" dirty="0"/>
          </a:p>
        </p:txBody>
      </p:sp>
      <p:sp>
        <p:nvSpPr>
          <p:cNvPr id="88" name="Shape 86"/>
          <p:cNvSpPr/>
          <p:nvPr/>
        </p:nvSpPr>
        <p:spPr>
          <a:xfrm>
            <a:off x="6276975" y="7505700"/>
            <a:ext cx="4914900" cy="323850"/>
          </a:xfrm>
          <a:prstGeom prst="roundRect">
            <a:avLst>
              <a:gd name="adj" fmla="val 20588"/>
            </a:avLst>
          </a:prstGeom>
          <a:solidFill>
            <a:srgbClr val="1B2530"/>
          </a:solidFill>
          <a:ln/>
        </p:spPr>
      </p:sp>
      <p:sp>
        <p:nvSpPr>
          <p:cNvPr id="89" name="Text 87"/>
          <p:cNvSpPr/>
          <p:nvPr/>
        </p:nvSpPr>
        <p:spPr>
          <a:xfrm>
            <a:off x="6391275" y="75152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C4CC"/>
                </a:solidFill>
                <a:latin typeface="IBM Plex Mono" pitchFamily="34" charset="0"/>
                <a:ea typeface="IBM Plex Mono" pitchFamily="34" charset="-122"/>
                <a:cs typeface="IBM Plex Mono" pitchFamily="34" charset="-120"/>
              </a:rPr>
              <a:t>m1–m5</a:t>
            </a:r>
            <a:endParaRPr lang="en-US" sz="1800" dirty="0"/>
          </a:p>
        </p:txBody>
      </p:sp>
      <p:sp>
        <p:nvSpPr>
          <p:cNvPr id="90" name="Shape 88"/>
          <p:cNvSpPr/>
          <p:nvPr/>
        </p:nvSpPr>
        <p:spPr>
          <a:xfrm>
            <a:off x="10239375" y="7515225"/>
            <a:ext cx="838200" cy="304800"/>
          </a:xfrm>
          <a:prstGeom prst="roundRect">
            <a:avLst>
              <a:gd name="adj" fmla="val 12500"/>
            </a:avLst>
          </a:prstGeom>
          <a:solidFill>
            <a:srgbClr val="F6F7F4"/>
          </a:solidFill>
          <a:ln/>
        </p:spPr>
      </p:sp>
      <p:sp>
        <p:nvSpPr>
          <p:cNvPr id="91" name="Text 89"/>
          <p:cNvSpPr/>
          <p:nvPr/>
        </p:nvSpPr>
        <p:spPr>
          <a:xfrm>
            <a:off x="10315575" y="7515225"/>
            <a:ext cx="7696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1B2530"/>
                </a:solidFill>
                <a:latin typeface="IBM Plex Mono" pitchFamily="34" charset="0"/>
                <a:ea typeface="IBM Plex Mono" pitchFamily="34" charset="-122"/>
                <a:cs typeface="IBM Plex Mono" pitchFamily="34" charset="-120"/>
              </a:rPr>
              <a:t>v0 M3</a:t>
            </a:r>
            <a:endParaRPr lang="en-US" sz="1800" dirty="0"/>
          </a:p>
        </p:txBody>
      </p:sp>
      <p:sp>
        <p:nvSpPr>
          <p:cNvPr id="92" name="Text 90"/>
          <p:cNvSpPr/>
          <p:nvPr/>
        </p:nvSpPr>
        <p:spPr>
          <a:xfrm>
            <a:off x="952500" y="79533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Data health reporting — routed with runbooks</a:t>
            </a:r>
            <a:endParaRPr lang="en-US" sz="1800" dirty="0"/>
          </a:p>
        </p:txBody>
      </p:sp>
      <p:sp>
        <p:nvSpPr>
          <p:cNvPr id="93" name="Shape 91"/>
          <p:cNvSpPr/>
          <p:nvPr/>
        </p:nvSpPr>
        <p:spPr>
          <a:xfrm>
            <a:off x="9963150" y="8077200"/>
            <a:ext cx="3686175" cy="323850"/>
          </a:xfrm>
          <a:prstGeom prst="roundRect">
            <a:avLst>
              <a:gd name="adj" fmla="val 20588"/>
            </a:avLst>
          </a:prstGeom>
          <a:solidFill>
            <a:srgbClr val="0E7C6B"/>
          </a:solidFill>
          <a:ln/>
        </p:spPr>
      </p:sp>
      <p:sp>
        <p:nvSpPr>
          <p:cNvPr id="94" name="Text 92"/>
          <p:cNvSpPr/>
          <p:nvPr/>
        </p:nvSpPr>
        <p:spPr>
          <a:xfrm>
            <a:off x="10077450" y="80867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m4–m7</a:t>
            </a:r>
            <a:endParaRPr lang="en-US" sz="1800" dirty="0"/>
          </a:p>
        </p:txBody>
      </p:sp>
      <p:sp>
        <p:nvSpPr>
          <p:cNvPr id="95" name="Shape 93"/>
          <p:cNvSpPr/>
          <p:nvPr/>
        </p:nvSpPr>
        <p:spPr>
          <a:xfrm>
            <a:off x="13108186" y="8086725"/>
            <a:ext cx="426839" cy="304800"/>
          </a:xfrm>
          <a:prstGeom prst="roundRect">
            <a:avLst>
              <a:gd name="adj" fmla="val 12500"/>
            </a:avLst>
          </a:prstGeom>
          <a:solidFill>
            <a:srgbClr val="F6F7F4"/>
          </a:solidFill>
          <a:ln/>
        </p:spPr>
      </p:sp>
      <p:sp>
        <p:nvSpPr>
          <p:cNvPr id="96" name="Text 94"/>
          <p:cNvSpPr/>
          <p:nvPr/>
        </p:nvSpPr>
        <p:spPr>
          <a:xfrm>
            <a:off x="13184386" y="80867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a:t>
            </a:r>
            <a:endParaRPr lang="en-US" sz="1800" dirty="0"/>
          </a:p>
        </p:txBody>
      </p:sp>
      <p:sp>
        <p:nvSpPr>
          <p:cNvPr id="97" name="Text 95"/>
          <p:cNvSpPr/>
          <p:nvPr/>
        </p:nvSpPr>
        <p:spPr>
          <a:xfrm>
            <a:off x="952500" y="8524875"/>
            <a:ext cx="4085273"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Automated onboarding — wires DQ + monitoring, sets expectations</a:t>
            </a:r>
            <a:endParaRPr lang="en-US" sz="1800" dirty="0"/>
          </a:p>
        </p:txBody>
      </p:sp>
      <p:sp>
        <p:nvSpPr>
          <p:cNvPr id="98" name="Shape 96"/>
          <p:cNvSpPr/>
          <p:nvPr/>
        </p:nvSpPr>
        <p:spPr>
          <a:xfrm>
            <a:off x="11191875" y="8648700"/>
            <a:ext cx="4914900" cy="323850"/>
          </a:xfrm>
          <a:prstGeom prst="roundRect">
            <a:avLst>
              <a:gd name="adj" fmla="val 20588"/>
            </a:avLst>
          </a:prstGeom>
          <a:solidFill>
            <a:srgbClr val="0E7C6B"/>
          </a:solidFill>
          <a:ln/>
        </p:spPr>
      </p:sp>
      <p:sp>
        <p:nvSpPr>
          <p:cNvPr id="99" name="Text 97"/>
          <p:cNvSpPr/>
          <p:nvPr/>
        </p:nvSpPr>
        <p:spPr>
          <a:xfrm>
            <a:off x="11306175" y="865822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FF0EB"/>
                </a:solidFill>
                <a:latin typeface="IBM Plex Mono" pitchFamily="34" charset="0"/>
                <a:ea typeface="IBM Plex Mono" pitchFamily="34" charset="-122"/>
                <a:cs typeface="IBM Plex Mono" pitchFamily="34" charset="-120"/>
              </a:rPr>
              <a:t>m5–m9</a:t>
            </a:r>
            <a:endParaRPr lang="en-US" sz="1800" dirty="0"/>
          </a:p>
        </p:txBody>
      </p:sp>
      <p:sp>
        <p:nvSpPr>
          <p:cNvPr id="100" name="Shape 98"/>
          <p:cNvSpPr/>
          <p:nvPr/>
        </p:nvSpPr>
        <p:spPr>
          <a:xfrm>
            <a:off x="15565636" y="8658225"/>
            <a:ext cx="426839" cy="304800"/>
          </a:xfrm>
          <a:prstGeom prst="roundRect">
            <a:avLst>
              <a:gd name="adj" fmla="val 12500"/>
            </a:avLst>
          </a:prstGeom>
          <a:solidFill>
            <a:srgbClr val="FBF3E4"/>
          </a:solidFill>
          <a:ln/>
        </p:spPr>
      </p:sp>
      <p:sp>
        <p:nvSpPr>
          <p:cNvPr id="101" name="Text 99"/>
          <p:cNvSpPr/>
          <p:nvPr/>
        </p:nvSpPr>
        <p:spPr>
          <a:xfrm>
            <a:off x="15641836" y="8658225"/>
            <a:ext cx="31712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a:t>
            </a:r>
            <a:endParaRPr lang="en-US" sz="1800" dirty="0"/>
          </a:p>
        </p:txBody>
      </p:sp>
      <p:sp>
        <p:nvSpPr>
          <p:cNvPr id="102" name="Shape 100"/>
          <p:cNvSpPr/>
          <p:nvPr/>
        </p:nvSpPr>
        <p:spPr>
          <a:xfrm>
            <a:off x="952500" y="9144000"/>
            <a:ext cx="16383000" cy="857250"/>
          </a:xfrm>
          <a:prstGeom prst="roundRect">
            <a:avLst>
              <a:gd name="adj" fmla="val 13333"/>
            </a:avLst>
          </a:prstGeom>
          <a:solidFill>
            <a:srgbClr val="F5EAD8"/>
          </a:solidFill>
          <a:ln/>
        </p:spPr>
      </p:sp>
      <p:sp>
        <p:nvSpPr>
          <p:cNvPr id="103" name="Text 101"/>
          <p:cNvSpPr/>
          <p:nvPr/>
        </p:nvSpPr>
        <p:spPr>
          <a:xfrm>
            <a:off x="1257300" y="9248775"/>
            <a:ext cx="290701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BARS, NOT MOMENTS</a:t>
            </a:r>
            <a:endParaRPr lang="en-US" sz="1800" dirty="0"/>
          </a:p>
        </p:txBody>
      </p:sp>
      <p:sp>
        <p:nvSpPr>
          <p:cNvPr id="104" name="Text 102"/>
          <p:cNvSpPr/>
          <p:nvPr/>
        </p:nvSpPr>
        <p:spPr>
          <a:xfrm>
            <a:off x="4128641" y="9239250"/>
            <a:ext cx="13289121"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Three phases: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0–6 foundations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(registry link, lineage, RT + async DQ in parallel) ·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6–9 join on UC1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(the pilot use case) + evidence stream on ·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contracts &amp; gate last</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 in shadow. A chip = the demo ending a bar.</a:t>
            </a:r>
            <a:endParaRPr lang="en-US" sz="18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6096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CLIMB · TWO CHALLENGES, ANSWERED BY DESIGN</a:t>
            </a:r>
            <a:endParaRPr lang="en-US" sz="1800" dirty="0"/>
          </a:p>
        </p:txBody>
      </p:sp>
      <p:sp>
        <p:nvSpPr>
          <p:cNvPr id="3" name="Text 1"/>
          <p:cNvSpPr/>
          <p:nvPr/>
        </p:nvSpPr>
        <p:spPr>
          <a:xfrm>
            <a:off x="952500" y="10287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Design choices we made</a:t>
            </a:r>
            <a:endParaRPr lang="en-US" sz="4200" dirty="0"/>
          </a:p>
        </p:txBody>
      </p:sp>
      <p:sp>
        <p:nvSpPr>
          <p:cNvPr id="4" name="Shape 2"/>
          <p:cNvSpPr/>
          <p:nvPr/>
        </p:nvSpPr>
        <p:spPr>
          <a:xfrm>
            <a:off x="952500" y="1847850"/>
            <a:ext cx="8058150" cy="6972300"/>
          </a:xfrm>
          <a:prstGeom prst="roundRect">
            <a:avLst>
              <a:gd name="adj" fmla="val 1913"/>
            </a:avLst>
          </a:prstGeom>
          <a:solidFill>
            <a:srgbClr val="FDFDFB"/>
          </a:solidFill>
          <a:ln w="9525">
            <a:solidFill>
              <a:srgbClr val="D9DED7"/>
            </a:solidFill>
            <a:prstDash val="solid"/>
          </a:ln>
        </p:spPr>
      </p:sp>
      <p:sp>
        <p:nvSpPr>
          <p:cNvPr id="5" name="Text 3"/>
          <p:cNvSpPr/>
          <p:nvPr/>
        </p:nvSpPr>
        <p:spPr>
          <a:xfrm>
            <a:off x="1247775" y="2085975"/>
            <a:ext cx="821436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A3442E"/>
                </a:solidFill>
                <a:latin typeface="IBM Plex Mono" pitchFamily="34" charset="0"/>
                <a:ea typeface="IBM Plex Mono" pitchFamily="34" charset="-122"/>
                <a:cs typeface="IBM Plex Mono" pitchFamily="34" charset="-120"/>
              </a:rPr>
              <a:t>FALSE POSITIVES — A DESIGN TARGET, NOT A HOPE</a:t>
            </a:r>
            <a:endParaRPr lang="en-US" sz="1800" dirty="0"/>
          </a:p>
        </p:txBody>
      </p:sp>
      <p:sp>
        <p:nvSpPr>
          <p:cNvPr id="6" name="Shape 4"/>
          <p:cNvSpPr/>
          <p:nvPr/>
        </p:nvSpPr>
        <p:spPr>
          <a:xfrm>
            <a:off x="1247775" y="4086225"/>
            <a:ext cx="7467600" cy="9525"/>
          </a:xfrm>
          <a:prstGeom prst="rect">
            <a:avLst/>
          </a:prstGeom>
          <a:solidFill>
            <a:srgbClr val="D9DED7"/>
          </a:solidFill>
          <a:ln/>
        </p:spPr>
      </p:sp>
      <p:sp>
        <p:nvSpPr>
          <p:cNvPr id="7" name="Text 5"/>
          <p:cNvSpPr/>
          <p:nvPr/>
        </p:nvSpPr>
        <p:spPr>
          <a:xfrm>
            <a:off x="1247775" y="26384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Precision is scored</a:t>
            </a:r>
            <a:endParaRPr lang="en-US" sz="1950" dirty="0"/>
          </a:p>
        </p:txBody>
      </p:sp>
      <p:sp>
        <p:nvSpPr>
          <p:cNvPr id="8" name="Text 6"/>
          <p:cNvSpPr/>
          <p:nvPr/>
        </p:nvSpPr>
        <p:spPr>
          <a:xfrm>
            <a:off x="4162425" y="26193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Every alert is closed as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real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or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noise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precision = real ÷ all. Target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&lt; 20%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noise (60–80% today); a red month creates a tuning backlog item.</a:t>
            </a:r>
            <a:endParaRPr lang="en-US" sz="1875" dirty="0"/>
          </a:p>
        </p:txBody>
      </p:sp>
      <p:sp>
        <p:nvSpPr>
          <p:cNvPr id="9" name="Shape 7"/>
          <p:cNvSpPr/>
          <p:nvPr/>
        </p:nvSpPr>
        <p:spPr>
          <a:xfrm>
            <a:off x="1247775" y="5362575"/>
            <a:ext cx="7467600" cy="9525"/>
          </a:xfrm>
          <a:prstGeom prst="rect">
            <a:avLst/>
          </a:prstGeom>
          <a:solidFill>
            <a:srgbClr val="D9DED7"/>
          </a:solidFill>
          <a:ln/>
        </p:spPr>
      </p:sp>
      <p:sp>
        <p:nvSpPr>
          <p:cNvPr id="10" name="Text 8"/>
          <p:cNvSpPr/>
          <p:nvPr/>
        </p:nvSpPr>
        <p:spPr>
          <a:xfrm>
            <a:off x="1247775" y="4248150"/>
            <a:ext cx="2845118"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Baselines earn the right</a:t>
            </a:r>
            <a:endParaRPr lang="en-US" sz="1950" dirty="0"/>
          </a:p>
        </p:txBody>
      </p:sp>
      <p:sp>
        <p:nvSpPr>
          <p:cNvPr id="11" name="Text 9"/>
          <p:cNvSpPr/>
          <p:nvPr/>
        </p:nvSpPr>
        <p:spPr>
          <a:xfrm>
            <a:off x="4162425" y="422910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4–6 weeks of learned history before a signal may page; anomaly scores alert, never block.</a:t>
            </a:r>
            <a:endParaRPr lang="en-US" sz="1875" dirty="0"/>
          </a:p>
        </p:txBody>
      </p:sp>
      <p:sp>
        <p:nvSpPr>
          <p:cNvPr id="12" name="Shape 10"/>
          <p:cNvSpPr/>
          <p:nvPr/>
        </p:nvSpPr>
        <p:spPr>
          <a:xfrm>
            <a:off x="1247775" y="6638925"/>
            <a:ext cx="7467600" cy="9525"/>
          </a:xfrm>
          <a:prstGeom prst="rect">
            <a:avLst/>
          </a:prstGeom>
          <a:solidFill>
            <a:srgbClr val="D9DED7"/>
          </a:solidFill>
          <a:ln/>
        </p:spPr>
      </p:sp>
      <p:sp>
        <p:nvSpPr>
          <p:cNvPr id="13" name="Text 11"/>
          <p:cNvSpPr/>
          <p:nvPr/>
        </p:nvSpPr>
        <p:spPr>
          <a:xfrm>
            <a:off x="1247775" y="552450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Shadow before block</a:t>
            </a:r>
            <a:endParaRPr lang="en-US" sz="1950" dirty="0"/>
          </a:p>
        </p:txBody>
      </p:sp>
      <p:sp>
        <p:nvSpPr>
          <p:cNvPr id="14" name="Text 12"/>
          <p:cNvSpPr/>
          <p:nvPr/>
        </p:nvSpPr>
        <p:spPr>
          <a:xfrm>
            <a:off x="4162425" y="550545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gate logs what it would hold, holds nothing, and blocks only after precision is proven on real traffic.</a:t>
            </a:r>
            <a:endParaRPr lang="en-US" sz="1875" dirty="0"/>
          </a:p>
        </p:txBody>
      </p:sp>
      <p:sp>
        <p:nvSpPr>
          <p:cNvPr id="15" name="Text 13"/>
          <p:cNvSpPr/>
          <p:nvPr/>
        </p:nvSpPr>
        <p:spPr>
          <a:xfrm>
            <a:off x="1247775" y="680085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Ten signals, one page</a:t>
            </a:r>
            <a:endParaRPr lang="en-US" sz="1950" dirty="0"/>
          </a:p>
        </p:txBody>
      </p:sp>
      <p:sp>
        <p:nvSpPr>
          <p:cNvPr id="16" name="Text 14"/>
          <p:cNvSpPr/>
          <p:nvPr/>
        </p:nvSpPr>
        <p:spPr>
          <a:xfrm>
            <a:off x="4162425" y="6781800"/>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Alerting groups by cause — a deploy that breaks five assets pages one team, once, with the cause attached.</a:t>
            </a:r>
            <a:endParaRPr lang="en-US" sz="1875" dirty="0"/>
          </a:p>
        </p:txBody>
      </p:sp>
      <p:sp>
        <p:nvSpPr>
          <p:cNvPr id="17" name="Shape 15"/>
          <p:cNvSpPr/>
          <p:nvPr/>
        </p:nvSpPr>
        <p:spPr>
          <a:xfrm>
            <a:off x="9277350" y="1847850"/>
            <a:ext cx="8058150" cy="6972300"/>
          </a:xfrm>
          <a:prstGeom prst="roundRect">
            <a:avLst>
              <a:gd name="adj" fmla="val 1913"/>
            </a:avLst>
          </a:prstGeom>
          <a:solidFill>
            <a:srgbClr val="FDFDFB"/>
          </a:solidFill>
          <a:ln w="9525">
            <a:solidFill>
              <a:srgbClr val="0E7C6B"/>
            </a:solidFill>
            <a:prstDash val="solid"/>
          </a:ln>
        </p:spPr>
      </p:sp>
      <p:sp>
        <p:nvSpPr>
          <p:cNvPr id="18" name="Text 16"/>
          <p:cNvSpPr/>
          <p:nvPr/>
        </p:nvSpPr>
        <p:spPr>
          <a:xfrm>
            <a:off x="9572625" y="2085975"/>
            <a:ext cx="821436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WHY BUILD — WHAT NO VENDOR SELLS</a:t>
            </a:r>
            <a:endParaRPr lang="en-US" sz="1800" dirty="0"/>
          </a:p>
        </p:txBody>
      </p:sp>
      <p:sp>
        <p:nvSpPr>
          <p:cNvPr id="19" name="Shape 17"/>
          <p:cNvSpPr/>
          <p:nvPr/>
        </p:nvSpPr>
        <p:spPr>
          <a:xfrm>
            <a:off x="9572625" y="4086225"/>
            <a:ext cx="7467600" cy="9525"/>
          </a:xfrm>
          <a:prstGeom prst="rect">
            <a:avLst/>
          </a:prstGeom>
          <a:solidFill>
            <a:srgbClr val="D9DED7"/>
          </a:solidFill>
          <a:ln/>
        </p:spPr>
      </p:sp>
      <p:sp>
        <p:nvSpPr>
          <p:cNvPr id="20" name="Text 18"/>
          <p:cNvSpPr/>
          <p:nvPr/>
        </p:nvSpPr>
        <p:spPr>
          <a:xfrm>
            <a:off x="9572625" y="26384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Element-level lineage</a:t>
            </a:r>
            <a:endParaRPr lang="en-US" sz="1950" dirty="0"/>
          </a:p>
        </p:txBody>
      </p:sp>
      <p:sp>
        <p:nvSpPr>
          <p:cNvPr id="21" name="Text 19"/>
          <p:cNvSpPr/>
          <p:nvPr/>
        </p:nvSpPr>
        <p:spPr>
          <a:xfrm>
            <a:off x="12487275" y="26193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Captured by static code analysis at merge time. Warehouse monitors see tables; they cannot see the code edges, services, and streams between them.</a:t>
            </a:r>
            <a:endParaRPr lang="en-US" sz="1875" dirty="0"/>
          </a:p>
        </p:txBody>
      </p:sp>
      <p:sp>
        <p:nvSpPr>
          <p:cNvPr id="22" name="Shape 20"/>
          <p:cNvSpPr/>
          <p:nvPr/>
        </p:nvSpPr>
        <p:spPr>
          <a:xfrm>
            <a:off x="9572625" y="5695950"/>
            <a:ext cx="7467600" cy="9525"/>
          </a:xfrm>
          <a:prstGeom prst="rect">
            <a:avLst/>
          </a:prstGeom>
          <a:solidFill>
            <a:srgbClr val="D9DED7"/>
          </a:solidFill>
          <a:ln/>
        </p:spPr>
      </p:sp>
      <p:sp>
        <p:nvSpPr>
          <p:cNvPr id="23" name="Text 21"/>
          <p:cNvSpPr/>
          <p:nvPr/>
        </p:nvSpPr>
        <p:spPr>
          <a:xfrm>
            <a:off x="9572625" y="4248150"/>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Deploy correlation</a:t>
            </a:r>
            <a:endParaRPr lang="en-US" sz="1950" dirty="0"/>
          </a:p>
        </p:txBody>
      </p:sp>
      <p:sp>
        <p:nvSpPr>
          <p:cNvPr id="24" name="Text 22"/>
          <p:cNvSpPr/>
          <p:nvPr/>
        </p:nvSpPr>
        <p:spPr>
          <a:xfrm>
            <a:off x="12487275" y="4229100"/>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CI/CD events joined to evidence under one enterprise-registry URN — </a:t>
            </a:r>
            <a:pPr algn="l" indent="0" marL="0">
              <a:lnSpc>
                <a:spcPct val="102941"/>
              </a:lnSpc>
              <a:buNone/>
            </a:pPr>
            <a:r>
              <a:rPr lang="en-US" sz="1875" i="1" dirty="0">
                <a:solidFill>
                  <a:srgbClr val="3D4A55"/>
                </a:solidFill>
                <a:latin typeface="Source Serif 4" pitchFamily="34" charset="0"/>
                <a:ea typeface="Source Serif 4" pitchFamily="34" charset="-122"/>
                <a:cs typeface="Source Serif 4" pitchFamily="34" charset="-120"/>
              </a:rPr>
              <a:t>deploy introduced failure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is the RCA answer a table monitor cannot produce.</a:t>
            </a:r>
            <a:endParaRPr lang="en-US" sz="1875" dirty="0"/>
          </a:p>
        </p:txBody>
      </p:sp>
      <p:sp>
        <p:nvSpPr>
          <p:cNvPr id="25" name="Shape 23"/>
          <p:cNvSpPr/>
          <p:nvPr/>
        </p:nvSpPr>
        <p:spPr>
          <a:xfrm>
            <a:off x="9572625" y="6972300"/>
            <a:ext cx="7467600" cy="9525"/>
          </a:xfrm>
          <a:prstGeom prst="rect">
            <a:avLst/>
          </a:prstGeom>
          <a:solidFill>
            <a:srgbClr val="D9DED7"/>
          </a:solidFill>
          <a:ln/>
        </p:spPr>
      </p:sp>
      <p:sp>
        <p:nvSpPr>
          <p:cNvPr id="26" name="Text 24"/>
          <p:cNvSpPr/>
          <p:nvPr/>
        </p:nvSpPr>
        <p:spPr>
          <a:xfrm>
            <a:off x="9572625" y="585787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An open evidence API</a:t>
            </a:r>
            <a:endParaRPr lang="en-US" sz="1950" dirty="0"/>
          </a:p>
        </p:txBody>
      </p:sp>
      <p:sp>
        <p:nvSpPr>
          <p:cNvPr id="27" name="Text 25"/>
          <p:cNvSpPr/>
          <p:nvPr/>
        </p:nvSpPr>
        <p:spPr>
          <a:xfrm>
            <a:off x="12487275" y="5838825"/>
            <a:ext cx="4689539"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Every result lands on one bus we own; future tools build on it instead of a vendor's closed store.</a:t>
            </a:r>
            <a:endParaRPr lang="en-US" sz="1875" dirty="0"/>
          </a:p>
        </p:txBody>
      </p:sp>
      <p:sp>
        <p:nvSpPr>
          <p:cNvPr id="28" name="Text 26"/>
          <p:cNvSpPr/>
          <p:nvPr/>
        </p:nvSpPr>
        <p:spPr>
          <a:xfrm>
            <a:off x="9572625" y="7134225"/>
            <a:ext cx="3038475"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Buy the commodity</a:t>
            </a:r>
            <a:endParaRPr lang="en-US" sz="1950" dirty="0"/>
          </a:p>
        </p:txBody>
      </p:sp>
      <p:sp>
        <p:nvSpPr>
          <p:cNvPr id="29" name="Text 27"/>
          <p:cNvSpPr/>
          <p:nvPr/>
        </p:nvSpPr>
        <p:spPr>
          <a:xfrm>
            <a:off x="12487275" y="7115175"/>
            <a:ext cx="468953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Existing warehouse and team-built checks federate into the same stream unchanged — the join is the build, not the checks.</a:t>
            </a:r>
            <a:endParaRPr lang="en-US" sz="1875" dirty="0"/>
          </a:p>
        </p:txBody>
      </p:sp>
      <p:sp>
        <p:nvSpPr>
          <p:cNvPr id="30" name="Shape 28"/>
          <p:cNvSpPr/>
          <p:nvPr/>
        </p:nvSpPr>
        <p:spPr>
          <a:xfrm>
            <a:off x="952500" y="9048750"/>
            <a:ext cx="16383000" cy="1371600"/>
          </a:xfrm>
          <a:prstGeom prst="roundRect">
            <a:avLst>
              <a:gd name="adj" fmla="val 8333"/>
            </a:avLst>
          </a:prstGeom>
          <a:solidFill>
            <a:srgbClr val="1B2530"/>
          </a:solidFill>
          <a:ln/>
        </p:spPr>
      </p:sp>
      <p:sp>
        <p:nvSpPr>
          <p:cNvPr id="31" name="Text 29"/>
          <p:cNvSpPr/>
          <p:nvPr/>
        </p:nvSpPr>
        <p:spPr>
          <a:xfrm>
            <a:off x="1257300" y="9239250"/>
            <a:ext cx="22230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THE BENCHMARK</a:t>
            </a:r>
            <a:endParaRPr lang="en-US" sz="1800" dirty="0"/>
          </a:p>
        </p:txBody>
      </p:sp>
      <p:sp>
        <p:nvSpPr>
          <p:cNvPr id="32" name="Text 30"/>
          <p:cNvSpPr/>
          <p:nvPr/>
        </p:nvSpPr>
        <p:spPr>
          <a:xfrm>
            <a:off x="3506837" y="9220200"/>
            <a:ext cx="13929579" cy="10668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Warehouse tools say a table looks wrong, hours after it lands. The experience on slide 3 needs more: the causing deploy named at the service and stream layer, </a:t>
            </a:r>
            <a:pPr algn="l" indent="0" marL="0">
              <a:lnSpc>
                <a:spcPct val="101111"/>
              </a:lnSpc>
              <a:buNone/>
            </a:pPr>
            <a:r>
              <a:rPr lang="en-US" sz="1950" b="1" dirty="0">
                <a:solidFill>
                  <a:srgbClr val="F6F7F4"/>
                </a:solidFill>
                <a:latin typeface="Source Serif 4" pitchFamily="34" charset="0"/>
                <a:ea typeface="Source Serif 4" pitchFamily="34" charset="-122"/>
                <a:cs typeface="Source Serif 4" pitchFamily="34" charset="-120"/>
              </a:rPr>
              <a:t>before consumers read </a:t>
            </a:r>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 That gap is the build — commodity checks plug into the same evidence stream.</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DECISION · SCALE &amp; COST</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Scale targets and cost</a:t>
            </a:r>
            <a:endParaRPr lang="en-US" sz="4800" dirty="0"/>
          </a:p>
        </p:txBody>
      </p:sp>
      <p:sp>
        <p:nvSpPr>
          <p:cNvPr id="4" name="Shape 2"/>
          <p:cNvSpPr/>
          <p:nvPr/>
        </p:nvSpPr>
        <p:spPr>
          <a:xfrm>
            <a:off x="952500" y="2447925"/>
            <a:ext cx="8454033" cy="4429125"/>
          </a:xfrm>
          <a:prstGeom prst="roundRect">
            <a:avLst>
              <a:gd name="adj" fmla="val 3011"/>
            </a:avLst>
          </a:prstGeom>
          <a:solidFill>
            <a:srgbClr val="FDFDFB"/>
          </a:solidFill>
          <a:ln w="9525">
            <a:solidFill>
              <a:srgbClr val="D9DED7"/>
            </a:solidFill>
            <a:prstDash val="solid"/>
          </a:ln>
        </p:spPr>
      </p:sp>
      <p:sp>
        <p:nvSpPr>
          <p:cNvPr id="5" name="Shape 3"/>
          <p:cNvSpPr/>
          <p:nvPr/>
        </p:nvSpPr>
        <p:spPr>
          <a:xfrm>
            <a:off x="962025" y="3143250"/>
            <a:ext cx="8434983" cy="19050"/>
          </a:xfrm>
          <a:prstGeom prst="rect">
            <a:avLst/>
          </a:prstGeom>
          <a:solidFill>
            <a:srgbClr val="1B2530"/>
          </a:solidFill>
          <a:ln/>
        </p:spPr>
      </p:sp>
      <p:sp>
        <p:nvSpPr>
          <p:cNvPr id="6" name="Text 4"/>
          <p:cNvSpPr/>
          <p:nvPr/>
        </p:nvSpPr>
        <p:spPr>
          <a:xfrm>
            <a:off x="1285875" y="2647950"/>
            <a:ext cx="3527152"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DIMENSION</a:t>
            </a:r>
            <a:endParaRPr lang="en-US" sz="1800" dirty="0"/>
          </a:p>
        </p:txBody>
      </p:sp>
      <p:sp>
        <p:nvSpPr>
          <p:cNvPr id="7" name="Text 5"/>
          <p:cNvSpPr/>
          <p:nvPr/>
        </p:nvSpPr>
        <p:spPr>
          <a:xfrm>
            <a:off x="4492377" y="2647950"/>
            <a:ext cx="2519348"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DAY 1</a:t>
            </a:r>
            <a:endParaRPr lang="en-US" sz="1800" dirty="0"/>
          </a:p>
        </p:txBody>
      </p:sp>
      <p:sp>
        <p:nvSpPr>
          <p:cNvPr id="8" name="Text 6"/>
          <p:cNvSpPr/>
          <p:nvPr/>
        </p:nvSpPr>
        <p:spPr>
          <a:xfrm>
            <a:off x="6782693" y="2647950"/>
            <a:ext cx="2519511"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MONTH 12</a:t>
            </a:r>
            <a:endParaRPr lang="en-US" sz="1800" dirty="0"/>
          </a:p>
        </p:txBody>
      </p:sp>
      <p:sp>
        <p:nvSpPr>
          <p:cNvPr id="9" name="Shape 7"/>
          <p:cNvSpPr/>
          <p:nvPr/>
        </p:nvSpPr>
        <p:spPr>
          <a:xfrm>
            <a:off x="962025" y="3895725"/>
            <a:ext cx="8434983" cy="9525"/>
          </a:xfrm>
          <a:prstGeom prst="rect">
            <a:avLst/>
          </a:prstGeom>
          <a:solidFill>
            <a:srgbClr val="D9DED7"/>
          </a:solidFill>
          <a:ln/>
        </p:spPr>
      </p:sp>
      <p:sp>
        <p:nvSpPr>
          <p:cNvPr id="10" name="Text 8"/>
          <p:cNvSpPr/>
          <p:nvPr/>
        </p:nvSpPr>
        <p:spPr>
          <a:xfrm>
            <a:off x="1285875" y="33528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Event throughput</a:t>
            </a:r>
            <a:endParaRPr lang="en-US" sz="2025" dirty="0"/>
          </a:p>
        </p:txBody>
      </p:sp>
      <p:sp>
        <p:nvSpPr>
          <p:cNvPr id="11" name="Text 9"/>
          <p:cNvSpPr/>
          <p:nvPr/>
        </p:nvSpPr>
        <p:spPr>
          <a:xfrm>
            <a:off x="4492377" y="33623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10K /sec</a:t>
            </a:r>
            <a:endParaRPr lang="en-US" sz="1950" dirty="0"/>
          </a:p>
        </p:txBody>
      </p:sp>
      <p:sp>
        <p:nvSpPr>
          <p:cNvPr id="12" name="Text 10"/>
          <p:cNvSpPr/>
          <p:nvPr/>
        </p:nvSpPr>
        <p:spPr>
          <a:xfrm>
            <a:off x="6782693" y="33528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50–500K /sec</a:t>
            </a:r>
            <a:endParaRPr lang="en-US" sz="2025" dirty="0"/>
          </a:p>
        </p:txBody>
      </p:sp>
      <p:sp>
        <p:nvSpPr>
          <p:cNvPr id="13" name="Shape 11"/>
          <p:cNvSpPr/>
          <p:nvPr/>
        </p:nvSpPr>
        <p:spPr>
          <a:xfrm>
            <a:off x="962025" y="4638675"/>
            <a:ext cx="8434983" cy="9525"/>
          </a:xfrm>
          <a:prstGeom prst="rect">
            <a:avLst/>
          </a:prstGeom>
          <a:solidFill>
            <a:srgbClr val="D9DED7"/>
          </a:solidFill>
          <a:ln/>
        </p:spPr>
      </p:sp>
      <p:sp>
        <p:nvSpPr>
          <p:cNvPr id="14" name="Text 12"/>
          <p:cNvSpPr/>
          <p:nvPr/>
        </p:nvSpPr>
        <p:spPr>
          <a:xfrm>
            <a:off x="1285875" y="40957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latency</a:t>
            </a:r>
            <a:endParaRPr lang="en-US" sz="2025" dirty="0"/>
          </a:p>
        </p:txBody>
      </p:sp>
      <p:sp>
        <p:nvSpPr>
          <p:cNvPr id="15" name="Text 13"/>
          <p:cNvSpPr/>
          <p:nvPr/>
        </p:nvSpPr>
        <p:spPr>
          <a:xfrm>
            <a:off x="4492377" y="41052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s p99</a:t>
            </a:r>
            <a:endParaRPr lang="en-US" sz="1950" dirty="0"/>
          </a:p>
        </p:txBody>
      </p:sp>
      <p:sp>
        <p:nvSpPr>
          <p:cNvPr id="16" name="Text 14"/>
          <p:cNvSpPr/>
          <p:nvPr/>
        </p:nvSpPr>
        <p:spPr>
          <a:xfrm>
            <a:off x="6782693" y="40957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17" name="Shape 15"/>
          <p:cNvSpPr/>
          <p:nvPr/>
        </p:nvSpPr>
        <p:spPr>
          <a:xfrm>
            <a:off x="962025" y="5381625"/>
            <a:ext cx="8434983" cy="9525"/>
          </a:xfrm>
          <a:prstGeom prst="rect">
            <a:avLst/>
          </a:prstGeom>
          <a:solidFill>
            <a:srgbClr val="D9DED7"/>
          </a:solidFill>
          <a:ln/>
        </p:spPr>
      </p:sp>
      <p:sp>
        <p:nvSpPr>
          <p:cNvPr id="18" name="Text 16"/>
          <p:cNvSpPr/>
          <p:nvPr/>
        </p:nvSpPr>
        <p:spPr>
          <a:xfrm>
            <a:off x="1285875" y="48387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RCA query latency</a:t>
            </a:r>
            <a:endParaRPr lang="en-US" sz="2025" dirty="0"/>
          </a:p>
        </p:txBody>
      </p:sp>
      <p:sp>
        <p:nvSpPr>
          <p:cNvPr id="19" name="Text 17"/>
          <p:cNvSpPr/>
          <p:nvPr/>
        </p:nvSpPr>
        <p:spPr>
          <a:xfrm>
            <a:off x="4492377" y="48482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&lt; 2 min</a:t>
            </a:r>
            <a:endParaRPr lang="en-US" sz="1950" dirty="0"/>
          </a:p>
        </p:txBody>
      </p:sp>
      <p:sp>
        <p:nvSpPr>
          <p:cNvPr id="20" name="Text 18"/>
          <p:cNvSpPr/>
          <p:nvPr/>
        </p:nvSpPr>
        <p:spPr>
          <a:xfrm>
            <a:off x="6782693" y="48387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held at scale</a:t>
            </a:r>
            <a:endParaRPr lang="en-US" sz="2025" dirty="0"/>
          </a:p>
        </p:txBody>
      </p:sp>
      <p:sp>
        <p:nvSpPr>
          <p:cNvPr id="21" name="Shape 19"/>
          <p:cNvSpPr/>
          <p:nvPr/>
        </p:nvSpPr>
        <p:spPr>
          <a:xfrm>
            <a:off x="962025" y="6124575"/>
            <a:ext cx="8434983" cy="9525"/>
          </a:xfrm>
          <a:prstGeom prst="rect">
            <a:avLst/>
          </a:prstGeom>
          <a:solidFill>
            <a:srgbClr val="D9DED7"/>
          </a:solidFill>
          <a:ln/>
        </p:spPr>
      </p:sp>
      <p:sp>
        <p:nvSpPr>
          <p:cNvPr id="22" name="Text 20"/>
          <p:cNvSpPr/>
          <p:nvPr/>
        </p:nvSpPr>
        <p:spPr>
          <a:xfrm>
            <a:off x="1285875" y="558165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Evidence Bus partitions</a:t>
            </a:r>
            <a:endParaRPr lang="en-US" sz="2025" dirty="0"/>
          </a:p>
        </p:txBody>
      </p:sp>
      <p:sp>
        <p:nvSpPr>
          <p:cNvPr id="23" name="Text 21"/>
          <p:cNvSpPr/>
          <p:nvPr/>
        </p:nvSpPr>
        <p:spPr>
          <a:xfrm>
            <a:off x="4492377" y="559117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64</a:t>
            </a:r>
            <a:endParaRPr lang="en-US" sz="1950" dirty="0"/>
          </a:p>
        </p:txBody>
      </p:sp>
      <p:sp>
        <p:nvSpPr>
          <p:cNvPr id="24" name="Text 22"/>
          <p:cNvSpPr/>
          <p:nvPr/>
        </p:nvSpPr>
        <p:spPr>
          <a:xfrm>
            <a:off x="6782693" y="558165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64–256</a:t>
            </a:r>
            <a:endParaRPr lang="en-US" sz="2025" dirty="0"/>
          </a:p>
        </p:txBody>
      </p:sp>
      <p:sp>
        <p:nvSpPr>
          <p:cNvPr id="25" name="Text 23"/>
          <p:cNvSpPr/>
          <p:nvPr/>
        </p:nvSpPr>
        <p:spPr>
          <a:xfrm>
            <a:off x="1285875" y="6324600"/>
            <a:ext cx="3527152" cy="390525"/>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Source Serif 4" pitchFamily="34" charset="0"/>
                <a:ea typeface="Source Serif 4" pitchFamily="34" charset="-122"/>
                <a:cs typeface="Source Serif 4" pitchFamily="34" charset="-120"/>
              </a:rPr>
              <a:t>Datasets supported</a:t>
            </a:r>
            <a:endParaRPr lang="en-US" sz="2025" dirty="0"/>
          </a:p>
        </p:txBody>
      </p:sp>
      <p:sp>
        <p:nvSpPr>
          <p:cNvPr id="26" name="Text 24"/>
          <p:cNvSpPr/>
          <p:nvPr/>
        </p:nvSpPr>
        <p:spPr>
          <a:xfrm>
            <a:off x="4492377" y="6334125"/>
            <a:ext cx="2519348" cy="361950"/>
          </a:xfrm>
          <a:prstGeom prst="rect">
            <a:avLst/>
          </a:prstGeom>
          <a:noFill/>
          <a:ln/>
        </p:spPr>
        <p:txBody>
          <a:bodyPr wrap="square" lIns="25400" tIns="25400" rIns="25400" bIns="25400" rtlCol="0" anchor="t">
            <a:normAutofit/>
          </a:bodyPr>
          <a:lstStyle/>
          <a:p>
            <a:pPr algn="l" indent="0" marL="0">
              <a:buNone/>
            </a:pPr>
            <a:r>
              <a:rPr lang="en-US" sz="1950" dirty="0">
                <a:solidFill>
                  <a:srgbClr val="5B6873"/>
                </a:solidFill>
                <a:latin typeface="IBM Plex Mono" pitchFamily="34" charset="0"/>
                <a:ea typeface="IBM Plex Mono" pitchFamily="34" charset="-122"/>
                <a:cs typeface="IBM Plex Mono" pitchFamily="34" charset="-120"/>
              </a:rPr>
              <a:t>50 Tier-1</a:t>
            </a:r>
            <a:endParaRPr lang="en-US" sz="1950" dirty="0"/>
          </a:p>
        </p:txBody>
      </p:sp>
      <p:sp>
        <p:nvSpPr>
          <p:cNvPr id="27" name="Text 25"/>
          <p:cNvSpPr/>
          <p:nvPr/>
        </p:nvSpPr>
        <p:spPr>
          <a:xfrm>
            <a:off x="6782693" y="6324600"/>
            <a:ext cx="2519511" cy="371475"/>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IBM Plex Mono" pitchFamily="34" charset="0"/>
                <a:ea typeface="IBM Plex Mono" pitchFamily="34" charset="-122"/>
                <a:cs typeface="IBM Plex Mono" pitchFamily="34" charset="-120"/>
              </a:rPr>
              <a:t>10,000 total</a:t>
            </a:r>
            <a:endParaRPr lang="en-US" sz="2025" dirty="0"/>
          </a:p>
        </p:txBody>
      </p:sp>
      <p:sp>
        <p:nvSpPr>
          <p:cNvPr id="28" name="Shape 26"/>
          <p:cNvSpPr/>
          <p:nvPr/>
        </p:nvSpPr>
        <p:spPr>
          <a:xfrm>
            <a:off x="9825633" y="2447925"/>
            <a:ext cx="7509867" cy="5324475"/>
          </a:xfrm>
          <a:prstGeom prst="roundRect">
            <a:avLst>
              <a:gd name="adj" fmla="val 2504"/>
            </a:avLst>
          </a:prstGeom>
          <a:solidFill>
            <a:srgbClr val="1B2530"/>
          </a:solidFill>
          <a:ln/>
        </p:spPr>
      </p:sp>
      <p:sp>
        <p:nvSpPr>
          <p:cNvPr id="29" name="Text 27"/>
          <p:cNvSpPr/>
          <p:nvPr/>
        </p:nvSpPr>
        <p:spPr>
          <a:xfrm>
            <a:off x="10206633" y="2771775"/>
            <a:ext cx="7422654"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34B39B"/>
                </a:solidFill>
                <a:latin typeface="IBM Plex Mono" pitchFamily="34" charset="0"/>
                <a:ea typeface="IBM Plex Mono" pitchFamily="34" charset="-122"/>
                <a:cs typeface="IBM Plex Mono" pitchFamily="34" charset="-120"/>
              </a:rPr>
              <a:t>MONTHLY INFRASTRUCTURE</a:t>
            </a:r>
            <a:endParaRPr lang="en-US" sz="1800" dirty="0"/>
          </a:p>
        </p:txBody>
      </p:sp>
      <p:sp>
        <p:nvSpPr>
          <p:cNvPr id="30" name="Shape 28"/>
          <p:cNvSpPr/>
          <p:nvPr/>
        </p:nvSpPr>
        <p:spPr>
          <a:xfrm>
            <a:off x="10206633" y="3819525"/>
            <a:ext cx="6747867" cy="9525"/>
          </a:xfrm>
          <a:prstGeom prst="rect">
            <a:avLst/>
          </a:prstGeom>
          <a:solidFill>
            <a:srgbClr val="2E3B47"/>
          </a:solidFill>
          <a:ln/>
        </p:spPr>
      </p:sp>
      <p:sp>
        <p:nvSpPr>
          <p:cNvPr id="31" name="Text 29"/>
          <p:cNvSpPr/>
          <p:nvPr/>
        </p:nvSpPr>
        <p:spPr>
          <a:xfrm>
            <a:off x="10206633" y="3362325"/>
            <a:ext cx="328617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EKS — Enforcer + engines</a:t>
            </a:r>
            <a:endParaRPr lang="en-US" sz="1950" dirty="0"/>
          </a:p>
        </p:txBody>
      </p:sp>
      <p:sp>
        <p:nvSpPr>
          <p:cNvPr id="32" name="Text 30"/>
          <p:cNvSpPr/>
          <p:nvPr/>
        </p:nvSpPr>
        <p:spPr>
          <a:xfrm>
            <a:off x="16062871" y="33623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$5,000</a:t>
            </a:r>
            <a:endParaRPr lang="en-US" sz="1950" dirty="0"/>
          </a:p>
        </p:txBody>
      </p:sp>
      <p:sp>
        <p:nvSpPr>
          <p:cNvPr id="33" name="Shape 31"/>
          <p:cNvSpPr/>
          <p:nvPr/>
        </p:nvSpPr>
        <p:spPr>
          <a:xfrm>
            <a:off x="10206633" y="4400550"/>
            <a:ext cx="6747867" cy="9525"/>
          </a:xfrm>
          <a:prstGeom prst="rect">
            <a:avLst/>
          </a:prstGeom>
          <a:solidFill>
            <a:srgbClr val="2E3B47"/>
          </a:solidFill>
          <a:ln/>
        </p:spPr>
      </p:sp>
      <p:sp>
        <p:nvSpPr>
          <p:cNvPr id="34" name="Text 32"/>
          <p:cNvSpPr/>
          <p:nvPr/>
        </p:nvSpPr>
        <p:spPr>
          <a:xfrm>
            <a:off x="10206633" y="3943350"/>
            <a:ext cx="2670780"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MSK — Evidence Bus</a:t>
            </a:r>
            <a:endParaRPr lang="en-US" sz="1950" dirty="0"/>
          </a:p>
        </p:txBody>
      </p:sp>
      <p:sp>
        <p:nvSpPr>
          <p:cNvPr id="35" name="Text 33"/>
          <p:cNvSpPr/>
          <p:nvPr/>
        </p:nvSpPr>
        <p:spPr>
          <a:xfrm>
            <a:off x="16062871" y="39433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6" name="Shape 34"/>
          <p:cNvSpPr/>
          <p:nvPr/>
        </p:nvSpPr>
        <p:spPr>
          <a:xfrm>
            <a:off x="10206633" y="4981575"/>
            <a:ext cx="6747867" cy="9525"/>
          </a:xfrm>
          <a:prstGeom prst="rect">
            <a:avLst/>
          </a:prstGeom>
          <a:solidFill>
            <a:srgbClr val="2E3B47"/>
          </a:solidFill>
          <a:ln/>
        </p:spPr>
      </p:sp>
      <p:sp>
        <p:nvSpPr>
          <p:cNvPr id="37" name="Text 35"/>
          <p:cNvSpPr/>
          <p:nvPr/>
        </p:nvSpPr>
        <p:spPr>
          <a:xfrm>
            <a:off x="10206633" y="4524375"/>
            <a:ext cx="3101831"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Neptune — causal graph</a:t>
            </a:r>
            <a:endParaRPr lang="en-US" sz="1950" dirty="0"/>
          </a:p>
        </p:txBody>
      </p:sp>
      <p:sp>
        <p:nvSpPr>
          <p:cNvPr id="38" name="Text 36"/>
          <p:cNvSpPr/>
          <p:nvPr/>
        </p:nvSpPr>
        <p:spPr>
          <a:xfrm>
            <a:off x="16062871" y="452437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$4,000</a:t>
            </a:r>
            <a:endParaRPr lang="en-US" sz="1950" dirty="0"/>
          </a:p>
        </p:txBody>
      </p:sp>
      <p:sp>
        <p:nvSpPr>
          <p:cNvPr id="39" name="Shape 37"/>
          <p:cNvSpPr/>
          <p:nvPr/>
        </p:nvSpPr>
        <p:spPr>
          <a:xfrm>
            <a:off x="10206633" y="5562600"/>
            <a:ext cx="6747867" cy="9525"/>
          </a:xfrm>
          <a:prstGeom prst="rect">
            <a:avLst/>
          </a:prstGeom>
          <a:solidFill>
            <a:srgbClr val="2E3B47"/>
          </a:solidFill>
          <a:ln/>
        </p:spPr>
      </p:sp>
      <p:sp>
        <p:nvSpPr>
          <p:cNvPr id="40" name="Text 38"/>
          <p:cNvSpPr/>
          <p:nvPr/>
        </p:nvSpPr>
        <p:spPr>
          <a:xfrm>
            <a:off x="10206633" y="5105400"/>
            <a:ext cx="243356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DynamoDB — state</a:t>
            </a:r>
            <a:endParaRPr lang="en-US" sz="1950" dirty="0"/>
          </a:p>
        </p:txBody>
      </p:sp>
      <p:sp>
        <p:nvSpPr>
          <p:cNvPr id="41" name="Text 39"/>
          <p:cNvSpPr/>
          <p:nvPr/>
        </p:nvSpPr>
        <p:spPr>
          <a:xfrm>
            <a:off x="16062871" y="510540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2" name="Shape 40"/>
          <p:cNvSpPr/>
          <p:nvPr/>
        </p:nvSpPr>
        <p:spPr>
          <a:xfrm>
            <a:off x="10206633" y="6143625"/>
            <a:ext cx="6747867" cy="9525"/>
          </a:xfrm>
          <a:prstGeom prst="rect">
            <a:avLst/>
          </a:prstGeom>
          <a:solidFill>
            <a:srgbClr val="2E3B47"/>
          </a:solidFill>
          <a:ln/>
        </p:spPr>
      </p:sp>
      <p:sp>
        <p:nvSpPr>
          <p:cNvPr id="43" name="Text 41"/>
          <p:cNvSpPr/>
          <p:nvPr/>
        </p:nvSpPr>
        <p:spPr>
          <a:xfrm>
            <a:off x="10206633" y="5686425"/>
            <a:ext cx="3008843"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Bedrock — Copilot LLM</a:t>
            </a:r>
            <a:endParaRPr lang="en-US" sz="1950" dirty="0"/>
          </a:p>
        </p:txBody>
      </p:sp>
      <p:sp>
        <p:nvSpPr>
          <p:cNvPr id="44" name="Text 42"/>
          <p:cNvSpPr/>
          <p:nvPr/>
        </p:nvSpPr>
        <p:spPr>
          <a:xfrm>
            <a:off x="16062871" y="5686425"/>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$2,000</a:t>
            </a:r>
            <a:endParaRPr lang="en-US" sz="1950" dirty="0"/>
          </a:p>
        </p:txBody>
      </p:sp>
      <p:sp>
        <p:nvSpPr>
          <p:cNvPr id="45" name="Shape 43"/>
          <p:cNvSpPr/>
          <p:nvPr/>
        </p:nvSpPr>
        <p:spPr>
          <a:xfrm>
            <a:off x="10206633" y="6724650"/>
            <a:ext cx="6747867" cy="9525"/>
          </a:xfrm>
          <a:prstGeom prst="rect">
            <a:avLst/>
          </a:prstGeom>
          <a:solidFill>
            <a:srgbClr val="2E3B47"/>
          </a:solidFill>
          <a:ln/>
        </p:spPr>
      </p:sp>
      <p:sp>
        <p:nvSpPr>
          <p:cNvPr id="46" name="Text 44"/>
          <p:cNvSpPr/>
          <p:nvPr/>
        </p:nvSpPr>
        <p:spPr>
          <a:xfrm>
            <a:off x="10206633" y="6267450"/>
            <a:ext cx="3324314" cy="381000"/>
          </a:xfrm>
          <a:prstGeom prst="rect">
            <a:avLst/>
          </a:prstGeom>
          <a:noFill/>
          <a:ln/>
        </p:spPr>
        <p:txBody>
          <a:bodyPr wrap="square" lIns="25400" tIns="25400" rIns="25400" bIns="25400" rtlCol="0" anchor="t">
            <a:normAutofit/>
          </a:bodyPr>
          <a:lstStyle/>
          <a:p>
            <a:pPr algn="l" indent="0" marL="0">
              <a:buNone/>
            </a:pPr>
            <a:r>
              <a:rPr lang="en-US" sz="1950" dirty="0">
                <a:solidFill>
                  <a:srgbClr val="DCE3E8"/>
                </a:solidFill>
                <a:latin typeface="Source Serif 4" pitchFamily="34" charset="0"/>
                <a:ea typeface="Source Serif 4" pitchFamily="34" charset="-122"/>
                <a:cs typeface="Source Serif 4" pitchFamily="34" charset="-120"/>
              </a:rPr>
              <a:t>S3 archive + platform obs.</a:t>
            </a:r>
            <a:endParaRPr lang="en-US" sz="1950" dirty="0"/>
          </a:p>
        </p:txBody>
      </p:sp>
      <p:sp>
        <p:nvSpPr>
          <p:cNvPr id="47" name="Text 45"/>
          <p:cNvSpPr/>
          <p:nvPr/>
        </p:nvSpPr>
        <p:spPr>
          <a:xfrm>
            <a:off x="16062871" y="6267450"/>
            <a:ext cx="967829" cy="381000"/>
          </a:xfrm>
          <a:prstGeom prst="rect">
            <a:avLst/>
          </a:prstGeom>
          <a:noFill/>
          <a:ln/>
        </p:spPr>
        <p:txBody>
          <a:bodyPr wrap="square" lIns="25400" tIns="25400" rIns="25400" bIns="25400" rtlCol="0" anchor="t">
            <a:normAutofit/>
          </a:bodyPr>
          <a:lstStyle/>
          <a:p>
            <a:pPr algn="l" indent="0" marL="0">
              <a:buNone/>
            </a:pPr>
            <a:r>
              <a:rPr lang="en-US" sz="1950" dirty="0">
                <a:solidFill>
                  <a:srgbClr val="B9C4CC"/>
                </a:solidFill>
                <a:latin typeface="IBM Plex Mono" pitchFamily="34" charset="0"/>
                <a:ea typeface="IBM Plex Mono" pitchFamily="34" charset="-122"/>
                <a:cs typeface="IBM Plex Mono" pitchFamily="34" charset="-120"/>
              </a:rPr>
              <a:t>$3,000</a:t>
            </a:r>
            <a:endParaRPr lang="en-US" sz="1950" dirty="0"/>
          </a:p>
        </p:txBody>
      </p:sp>
      <p:sp>
        <p:nvSpPr>
          <p:cNvPr id="48" name="Text 46"/>
          <p:cNvSpPr/>
          <p:nvPr/>
        </p:nvSpPr>
        <p:spPr>
          <a:xfrm>
            <a:off x="10206633" y="7086600"/>
            <a:ext cx="218439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Total estimated</a:t>
            </a:r>
            <a:endParaRPr lang="en-US" sz="2100" dirty="0"/>
          </a:p>
        </p:txBody>
      </p:sp>
      <p:sp>
        <p:nvSpPr>
          <p:cNvPr id="49" name="Text 47"/>
          <p:cNvSpPr/>
          <p:nvPr/>
        </p:nvSpPr>
        <p:spPr>
          <a:xfrm>
            <a:off x="14888021" y="6924675"/>
            <a:ext cx="2273126" cy="561975"/>
          </a:xfrm>
          <a:prstGeom prst="rect">
            <a:avLst/>
          </a:prstGeom>
          <a:noFill/>
          <a:ln/>
        </p:spPr>
        <p:txBody>
          <a:bodyPr wrap="square" lIns="25400" tIns="25400" rIns="25400" bIns="25400" rtlCol="0" anchor="t">
            <a:normAutofit/>
          </a:bodyPr>
          <a:lstStyle/>
          <a:p>
            <a:pPr algn="l" indent="0" marL="0">
              <a:buNone/>
            </a:pPr>
            <a:r>
              <a:rPr lang="en-US" sz="3450" b="1" dirty="0">
                <a:solidFill>
                  <a:srgbClr val="34B39B"/>
                </a:solidFill>
                <a:latin typeface="Bricolage Grotesque" pitchFamily="34" charset="0"/>
                <a:ea typeface="Bricolage Grotesque" pitchFamily="34" charset="-122"/>
                <a:cs typeface="Bricolage Grotesque" pitchFamily="34" charset="-120"/>
              </a:rPr>
              <a:t>~$21K/mo</a:t>
            </a:r>
            <a:endParaRPr lang="en-US" sz="3450" dirty="0"/>
          </a:p>
        </p:txBody>
      </p:sp>
      <p:sp>
        <p:nvSpPr>
          <p:cNvPr id="50" name="Shape 48"/>
          <p:cNvSpPr/>
          <p:nvPr/>
        </p:nvSpPr>
        <p:spPr>
          <a:xfrm>
            <a:off x="952500" y="8039100"/>
            <a:ext cx="16383000" cy="1676400"/>
          </a:xfrm>
          <a:prstGeom prst="roundRect">
            <a:avLst>
              <a:gd name="adj" fmla="val 6818"/>
            </a:avLst>
          </a:prstGeom>
          <a:solidFill>
            <a:srgbClr val="F5EAD8"/>
          </a:solidFill>
          <a:ln/>
        </p:spPr>
      </p:sp>
      <p:sp>
        <p:nvSpPr>
          <p:cNvPr id="51" name="Text 49"/>
          <p:cNvSpPr/>
          <p:nvPr/>
        </p:nvSpPr>
        <p:spPr>
          <a:xfrm>
            <a:off x="1257300" y="8220075"/>
            <a:ext cx="461681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HOW THESE NUMBERS ARE BUILT</a:t>
            </a:r>
            <a:endParaRPr lang="en-US" sz="1800" dirty="0"/>
          </a:p>
        </p:txBody>
      </p:sp>
      <p:sp>
        <p:nvSpPr>
          <p:cNvPr id="52" name="Text 50"/>
          <p:cNvSpPr/>
          <p:nvPr/>
        </p:nvSpPr>
        <p:spPr>
          <a:xfrm>
            <a:off x="5683002" y="8210550"/>
            <a:ext cx="11688129"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Throughput: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today's pilot-domain broker peak ≈ 10K events/s; 50K = pilot + adjacent domains at month 12; 500K = the enterprise-wide ceiling used to size 10× headroom. </a:t>
            </a:r>
            <a:pPr algn="l" indent="0" marL="0">
              <a:lnSpc>
                <a:spcPct val="102941"/>
              </a:lnSpc>
              <a:buNone/>
            </a:pPr>
            <a:r>
              <a:rPr lang="en-US" sz="1875" b="1" dirty="0">
                <a:solidFill>
                  <a:srgbClr val="1B2530"/>
                </a:solidFill>
                <a:latin typeface="Source Serif 4" pitchFamily="34" charset="0"/>
                <a:ea typeface="Source Serif 4" pitchFamily="34" charset="-122"/>
                <a:cs typeface="Source Serif 4" pitchFamily="34" charset="-120"/>
              </a:rPr>
              <a:t>Cost: </a:t>
            </a:r>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AWS on-demand list — stream compute at 2× peak, evidence hot 7d / warm 30d / cold S3, state stores at signal write rates. ±30% until Phase 0 measures real volumes.</a:t>
            </a:r>
            <a:endParaRPr lang="en-US" sz="18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DECISION · GOVERNANCE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How leadership steers — and stops — this program</a:t>
            </a:r>
            <a:endParaRPr lang="en-US" sz="4800" dirty="0"/>
          </a:p>
        </p:txBody>
      </p:sp>
      <p:sp>
        <p:nvSpPr>
          <p:cNvPr id="4" name="Text 2"/>
          <p:cNvSpPr/>
          <p:nvPr/>
        </p:nvSpPr>
        <p:spPr>
          <a:xfrm>
            <a:off x="952500" y="2143125"/>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Different from the measurement slide: those metrics ask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is the data healthy?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per asset, live. These six ask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is the program working?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monthly, for steering.</a:t>
            </a:r>
            <a:endParaRPr lang="en-US" sz="1950" dirty="0"/>
          </a:p>
        </p:txBody>
      </p:sp>
      <p:sp>
        <p:nvSpPr>
          <p:cNvPr id="5" name="Text 3"/>
          <p:cNvSpPr/>
          <p:nvPr/>
        </p:nvSpPr>
        <p:spPr>
          <a:xfrm>
            <a:off x="952500" y="3057525"/>
            <a:ext cx="18021300"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5B6873"/>
                </a:solidFill>
                <a:latin typeface="IBM Plex Mono" pitchFamily="34" charset="0"/>
                <a:ea typeface="IBM Plex Mono" pitchFamily="34" charset="-122"/>
                <a:cs typeface="IBM Plex Mono" pitchFamily="34" charset="-120"/>
              </a:rPr>
              <a:t>THE MONTHLY SCORECARD — SIX NUMBERS, NO STATUS PROSE</a:t>
            </a:r>
            <a:endParaRPr lang="en-US" sz="1800" dirty="0"/>
          </a:p>
        </p:txBody>
      </p:sp>
      <p:sp>
        <p:nvSpPr>
          <p:cNvPr id="6" name="Shape 4"/>
          <p:cNvSpPr/>
          <p:nvPr/>
        </p:nvSpPr>
        <p:spPr>
          <a:xfrm>
            <a:off x="952500" y="3514725"/>
            <a:ext cx="2587526" cy="1695450"/>
          </a:xfrm>
          <a:prstGeom prst="roundRect">
            <a:avLst>
              <a:gd name="adj" fmla="val 5618"/>
            </a:avLst>
          </a:prstGeom>
          <a:solidFill>
            <a:srgbClr val="FDFDFB"/>
          </a:solidFill>
          <a:ln w="9525">
            <a:solidFill>
              <a:srgbClr val="D9DED7"/>
            </a:solidFill>
            <a:prstDash val="solid"/>
          </a:ln>
        </p:spPr>
      </p:sp>
      <p:sp>
        <p:nvSpPr>
          <p:cNvPr id="7" name="Text 5"/>
          <p:cNvSpPr/>
          <p:nvPr/>
        </p:nvSpPr>
        <p:spPr>
          <a:xfrm>
            <a:off x="1152525" y="37147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Time-to-detect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8" name="Text 6"/>
          <p:cNvSpPr/>
          <p:nvPr/>
        </p:nvSpPr>
        <p:spPr>
          <a:xfrm>
            <a:off x="1152525" y="4086225"/>
            <a:ext cx="2406223"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vs Phase-0 baseline</a:t>
            </a:r>
            <a:endParaRPr lang="en-US" sz="1800" dirty="0"/>
          </a:p>
        </p:txBody>
      </p:sp>
      <p:sp>
        <p:nvSpPr>
          <p:cNvPr id="9" name="Shape 7"/>
          <p:cNvSpPr/>
          <p:nvPr/>
        </p:nvSpPr>
        <p:spPr>
          <a:xfrm>
            <a:off x="3711476" y="3514725"/>
            <a:ext cx="2587675" cy="1695450"/>
          </a:xfrm>
          <a:prstGeom prst="roundRect">
            <a:avLst>
              <a:gd name="adj" fmla="val 5618"/>
            </a:avLst>
          </a:prstGeom>
          <a:solidFill>
            <a:srgbClr val="FDFDFB"/>
          </a:solidFill>
          <a:ln w="9525">
            <a:solidFill>
              <a:srgbClr val="D9DED7"/>
            </a:solidFill>
            <a:prstDash val="solid"/>
          </a:ln>
        </p:spPr>
      </p:sp>
      <p:sp>
        <p:nvSpPr>
          <p:cNvPr id="10" name="Text 8"/>
          <p:cNvSpPr/>
          <p:nvPr/>
        </p:nvSpPr>
        <p:spPr>
          <a:xfrm>
            <a:off x="3911501"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Time-to-root-cause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1" name="Text 9"/>
          <p:cNvSpPr/>
          <p:nvPr/>
        </p:nvSpPr>
        <p:spPr>
          <a:xfrm>
            <a:off x="3911501" y="43815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war room → minutes</a:t>
            </a:r>
            <a:endParaRPr lang="en-US" sz="1800" dirty="0"/>
          </a:p>
        </p:txBody>
      </p:sp>
      <p:sp>
        <p:nvSpPr>
          <p:cNvPr id="12" name="Shape 10"/>
          <p:cNvSpPr/>
          <p:nvPr/>
        </p:nvSpPr>
        <p:spPr>
          <a:xfrm>
            <a:off x="6470600" y="3514725"/>
            <a:ext cx="2587675" cy="1695450"/>
          </a:xfrm>
          <a:prstGeom prst="roundRect">
            <a:avLst>
              <a:gd name="adj" fmla="val 5618"/>
            </a:avLst>
          </a:prstGeom>
          <a:solidFill>
            <a:srgbClr val="FDFDFB"/>
          </a:solidFill>
          <a:ln w="9525">
            <a:solidFill>
              <a:srgbClr val="D9DED7"/>
            </a:solidFill>
            <a:prstDash val="solid"/>
          </a:ln>
        </p:spPr>
      </p:sp>
      <p:sp>
        <p:nvSpPr>
          <p:cNvPr id="13" name="Text 11"/>
          <p:cNvSpPr/>
          <p:nvPr/>
        </p:nvSpPr>
        <p:spPr>
          <a:xfrm>
            <a:off x="6670625" y="3714750"/>
            <a:ext cx="2406387"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Teams paged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4" name="Text 12"/>
          <p:cNvSpPr/>
          <p:nvPr/>
        </p:nvSpPr>
        <p:spPr>
          <a:xfrm>
            <a:off x="6670625" y="4086225"/>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per incident · target: one</a:t>
            </a:r>
            <a:endParaRPr lang="en-US" sz="1800" dirty="0"/>
          </a:p>
        </p:txBody>
      </p:sp>
      <p:sp>
        <p:nvSpPr>
          <p:cNvPr id="15" name="Shape 13"/>
          <p:cNvSpPr/>
          <p:nvPr/>
        </p:nvSpPr>
        <p:spPr>
          <a:xfrm>
            <a:off x="9229725" y="3514725"/>
            <a:ext cx="2587526" cy="1695450"/>
          </a:xfrm>
          <a:prstGeom prst="roundRect">
            <a:avLst>
              <a:gd name="adj" fmla="val 5618"/>
            </a:avLst>
          </a:prstGeom>
          <a:solidFill>
            <a:srgbClr val="FDFDFB"/>
          </a:solidFill>
          <a:ln w="9525">
            <a:solidFill>
              <a:srgbClr val="D9DED7"/>
            </a:solidFill>
            <a:prstDash val="solid"/>
          </a:ln>
        </p:spPr>
      </p:sp>
      <p:sp>
        <p:nvSpPr>
          <p:cNvPr id="16" name="Text 14"/>
          <p:cNvSpPr/>
          <p:nvPr/>
        </p:nvSpPr>
        <p:spPr>
          <a:xfrm>
            <a:off x="9429750" y="3714750"/>
            <a:ext cx="240622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Saves banked </a:t>
            </a:r>
            <a:pPr algn="l" indent="0" marL="0">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17" name="Text 15"/>
          <p:cNvSpPr/>
          <p:nvPr/>
        </p:nvSpPr>
        <p:spPr>
          <a:xfrm>
            <a:off x="9429750" y="4086225"/>
            <a:ext cx="2263676"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each with $ counterfactual</a:t>
            </a:r>
            <a:endParaRPr lang="en-US" sz="1800" dirty="0"/>
          </a:p>
        </p:txBody>
      </p:sp>
      <p:sp>
        <p:nvSpPr>
          <p:cNvPr id="18" name="Shape 16"/>
          <p:cNvSpPr/>
          <p:nvPr/>
        </p:nvSpPr>
        <p:spPr>
          <a:xfrm>
            <a:off x="11988701" y="3514725"/>
            <a:ext cx="2587675" cy="1695450"/>
          </a:xfrm>
          <a:prstGeom prst="roundRect">
            <a:avLst>
              <a:gd name="adj" fmla="val 5618"/>
            </a:avLst>
          </a:prstGeom>
          <a:solidFill>
            <a:srgbClr val="FDFDFB"/>
          </a:solidFill>
          <a:ln w="9525">
            <a:solidFill>
              <a:srgbClr val="D9DED7"/>
            </a:solidFill>
            <a:prstDash val="solid"/>
          </a:ln>
        </p:spPr>
      </p:sp>
      <p:sp>
        <p:nvSpPr>
          <p:cNvPr id="19" name="Text 17"/>
          <p:cNvSpPr/>
          <p:nvPr/>
        </p:nvSpPr>
        <p:spPr>
          <a:xfrm>
            <a:off x="12188726"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Foundations joined</a:t>
            </a:r>
            <a:endParaRPr lang="en-US" sz="1950" dirty="0"/>
          </a:p>
        </p:txBody>
      </p:sp>
      <p:sp>
        <p:nvSpPr>
          <p:cNvPr id="20" name="Text 18"/>
          <p:cNvSpPr/>
          <p:nvPr/>
        </p:nvSpPr>
        <p:spPr>
          <a:xfrm>
            <a:off x="12188726" y="4381500"/>
            <a:ext cx="2406387" cy="35242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0 → 4, on use case 1</a:t>
            </a:r>
            <a:endParaRPr lang="en-US" sz="1800" dirty="0"/>
          </a:p>
        </p:txBody>
      </p:sp>
      <p:sp>
        <p:nvSpPr>
          <p:cNvPr id="21" name="Shape 19"/>
          <p:cNvSpPr/>
          <p:nvPr/>
        </p:nvSpPr>
        <p:spPr>
          <a:xfrm>
            <a:off x="14747825" y="3514725"/>
            <a:ext cx="2587675" cy="1695450"/>
          </a:xfrm>
          <a:prstGeom prst="roundRect">
            <a:avLst>
              <a:gd name="adj" fmla="val 5618"/>
            </a:avLst>
          </a:prstGeom>
          <a:solidFill>
            <a:srgbClr val="FDFDFB"/>
          </a:solidFill>
          <a:ln w="9525">
            <a:solidFill>
              <a:srgbClr val="D9DED7"/>
            </a:solidFill>
            <a:prstDash val="solid"/>
          </a:ln>
        </p:spPr>
      </p:sp>
      <p:sp>
        <p:nvSpPr>
          <p:cNvPr id="22" name="Text 20"/>
          <p:cNvSpPr/>
          <p:nvPr/>
        </p:nvSpPr>
        <p:spPr>
          <a:xfrm>
            <a:off x="14947850" y="3714750"/>
            <a:ext cx="2263825"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Dependency health</a:t>
            </a:r>
            <a:endParaRPr lang="en-US" sz="1950" dirty="0"/>
          </a:p>
        </p:txBody>
      </p:sp>
      <p:sp>
        <p:nvSpPr>
          <p:cNvPr id="23" name="Text 21"/>
          <p:cNvSpPr/>
          <p:nvPr/>
        </p:nvSpPr>
        <p:spPr>
          <a:xfrm>
            <a:off x="14947850" y="4381500"/>
            <a:ext cx="2263825"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RAG, sponsor-escalated</a:t>
            </a:r>
            <a:endParaRPr lang="en-US" sz="1800" dirty="0"/>
          </a:p>
        </p:txBody>
      </p:sp>
      <p:sp>
        <p:nvSpPr>
          <p:cNvPr id="24" name="Shape 22"/>
          <p:cNvSpPr/>
          <p:nvPr/>
        </p:nvSpPr>
        <p:spPr>
          <a:xfrm>
            <a:off x="952500" y="5514975"/>
            <a:ext cx="5308550" cy="2419350"/>
          </a:xfrm>
          <a:prstGeom prst="roundRect">
            <a:avLst>
              <a:gd name="adj" fmla="val 4724"/>
            </a:avLst>
          </a:prstGeom>
          <a:solidFill>
            <a:srgbClr val="FDFDFB"/>
          </a:solidFill>
          <a:ln w="9525">
            <a:solidFill>
              <a:srgbClr val="D9DED7"/>
            </a:solidFill>
            <a:prstDash val="solid"/>
          </a:ln>
        </p:spPr>
      </p:sp>
      <p:sp>
        <p:nvSpPr>
          <p:cNvPr id="25" name="Text 23"/>
          <p:cNvSpPr/>
          <p:nvPr/>
        </p:nvSpPr>
        <p:spPr>
          <a:xfrm>
            <a:off x="1247775"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Reviews are live replays</a:t>
            </a:r>
            <a:endParaRPr lang="en-US" sz="2100" dirty="0"/>
          </a:p>
        </p:txBody>
      </p:sp>
      <p:sp>
        <p:nvSpPr>
          <p:cNvPr id="26" name="Text 24"/>
          <p:cNvSpPr/>
          <p:nvPr/>
        </p:nvSpPr>
        <p:spPr>
          <a:xfrm>
            <a:off x="1247775" y="6191250"/>
            <a:ext cx="4859540" cy="1524000"/>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Milestone reviews replay a real incident on the pilot thread — the war room, then the causal chain. No "percent complete."</a:t>
            </a:r>
            <a:endParaRPr lang="en-US" sz="1950" dirty="0"/>
          </a:p>
        </p:txBody>
      </p:sp>
      <p:sp>
        <p:nvSpPr>
          <p:cNvPr id="27" name="Shape 25"/>
          <p:cNvSpPr/>
          <p:nvPr/>
        </p:nvSpPr>
        <p:spPr>
          <a:xfrm>
            <a:off x="6489650" y="5514975"/>
            <a:ext cx="5308550" cy="2419350"/>
          </a:xfrm>
          <a:prstGeom prst="roundRect">
            <a:avLst>
              <a:gd name="adj" fmla="val 4724"/>
            </a:avLst>
          </a:prstGeom>
          <a:solidFill>
            <a:srgbClr val="FDFDFB"/>
          </a:solidFill>
          <a:ln w="9525">
            <a:solidFill>
              <a:srgbClr val="D9DED7"/>
            </a:solidFill>
            <a:prstDash val="solid"/>
          </a:ln>
        </p:spPr>
      </p:sp>
      <p:sp>
        <p:nvSpPr>
          <p:cNvPr id="28" name="Text 26"/>
          <p:cNvSpPr/>
          <p:nvPr/>
        </p:nvSpPr>
        <p:spPr>
          <a:xfrm>
            <a:off x="6784925"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Sponsor-owned KPI</a:t>
            </a:r>
            <a:endParaRPr lang="en-US" sz="2100" dirty="0"/>
          </a:p>
        </p:txBody>
      </p:sp>
      <p:sp>
        <p:nvSpPr>
          <p:cNvPr id="29" name="Text 27"/>
          <p:cNvSpPr/>
          <p:nvPr/>
        </p:nvSpPr>
        <p:spPr>
          <a:xfrm>
            <a:off x="6784925" y="61912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The pilot thread maps to one executive sponsor's own metric — one leader personally invested in the gate demo.</a:t>
            </a:r>
            <a:endParaRPr lang="en-US" sz="1950" dirty="0"/>
          </a:p>
        </p:txBody>
      </p:sp>
      <p:sp>
        <p:nvSpPr>
          <p:cNvPr id="30" name="Shape 28"/>
          <p:cNvSpPr/>
          <p:nvPr/>
        </p:nvSpPr>
        <p:spPr>
          <a:xfrm>
            <a:off x="12026801" y="5514975"/>
            <a:ext cx="5308550" cy="2419350"/>
          </a:xfrm>
          <a:prstGeom prst="roundRect">
            <a:avLst>
              <a:gd name="adj" fmla="val 4724"/>
            </a:avLst>
          </a:prstGeom>
          <a:solidFill>
            <a:srgbClr val="FDFDFB"/>
          </a:solidFill>
          <a:ln w="9525">
            <a:solidFill>
              <a:srgbClr val="D9DED7"/>
            </a:solidFill>
            <a:prstDash val="solid"/>
          </a:ln>
        </p:spPr>
      </p:sp>
      <p:sp>
        <p:nvSpPr>
          <p:cNvPr id="31" name="Text 29"/>
          <p:cNvSpPr/>
          <p:nvPr/>
        </p:nvSpPr>
        <p:spPr>
          <a:xfrm>
            <a:off x="12322076" y="5772150"/>
            <a:ext cx="51898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Fixed cadence from month 1</a:t>
            </a:r>
            <a:endParaRPr lang="en-US" sz="2100" dirty="0"/>
          </a:p>
        </p:txBody>
      </p:sp>
      <p:sp>
        <p:nvSpPr>
          <p:cNvPr id="32" name="Text 30"/>
          <p:cNvSpPr/>
          <p:nvPr/>
        </p:nvSpPr>
        <p:spPr>
          <a:xfrm>
            <a:off x="12322076" y="6191250"/>
            <a:ext cx="4859540" cy="1152525"/>
          </a:xfrm>
          <a:prstGeom prst="rect">
            <a:avLst/>
          </a:prstGeom>
          <a:noFill/>
          <a:ln/>
        </p:spPr>
        <p:txBody>
          <a:bodyPr wrap="square" lIns="25400" tIns="25400" rIns="25400" bIns="25400" rtlCol="0" anchor="t">
            <a:normAutofit/>
          </a:bodyPr>
          <a:lstStyle/>
          <a:p>
            <a:pPr algn="l" indent="0" marL="0">
              <a:lnSpc>
                <a:spcPct val="108333"/>
              </a:lnSpc>
              <a:buNone/>
            </a:pPr>
            <a:r>
              <a:rPr lang="en-US" sz="1950" dirty="0">
                <a:solidFill>
                  <a:srgbClr val="5B6873"/>
                </a:solidFill>
                <a:latin typeface="Source Serif 4" pitchFamily="34" charset="0"/>
                <a:ea typeface="Source Serif 4" pitchFamily="34" charset="-122"/>
                <a:cs typeface="Source Serif 4" pitchFamily="34" charset="-120"/>
              </a:rPr>
              <a:t>Silence is never read as stall. Baselines measured in Phase 0, so every number has a before.</a:t>
            </a:r>
            <a:endParaRPr lang="en-US" sz="1950" dirty="0"/>
          </a:p>
        </p:txBody>
      </p:sp>
      <p:sp>
        <p:nvSpPr>
          <p:cNvPr id="33" name="Shape 31"/>
          <p:cNvSpPr/>
          <p:nvPr/>
        </p:nvSpPr>
        <p:spPr>
          <a:xfrm>
            <a:off x="952500" y="8239125"/>
            <a:ext cx="16383000" cy="1609725"/>
          </a:xfrm>
          <a:prstGeom prst="roundRect">
            <a:avLst>
              <a:gd name="adj" fmla="val 7101"/>
            </a:avLst>
          </a:prstGeom>
          <a:solidFill>
            <a:srgbClr val="1B2530"/>
          </a:solidFill>
          <a:ln/>
        </p:spPr>
      </p:sp>
      <p:sp>
        <p:nvSpPr>
          <p:cNvPr id="34" name="Text 32"/>
          <p:cNvSpPr/>
          <p:nvPr/>
        </p:nvSpPr>
        <p:spPr>
          <a:xfrm>
            <a:off x="1295400" y="8524875"/>
            <a:ext cx="530079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D4765F"/>
                </a:solidFill>
                <a:latin typeface="IBM Plex Mono" pitchFamily="34" charset="0"/>
                <a:ea typeface="IBM Plex Mono" pitchFamily="34" charset="-122"/>
                <a:cs typeface="IBM Plex Mono" pitchFamily="34" charset="-120"/>
              </a:rPr>
              <a:t>KILL CRITERIA — STATED UP FRONT</a:t>
            </a:r>
            <a:endParaRPr lang="en-US" sz="1800" dirty="0"/>
          </a:p>
        </p:txBody>
      </p:sp>
      <p:sp>
        <p:nvSpPr>
          <p:cNvPr id="35" name="Text 33"/>
          <p:cNvSpPr/>
          <p:nvPr/>
        </p:nvSpPr>
        <p:spPr>
          <a:xfrm>
            <a:off x="6342906" y="8486775"/>
            <a:ext cx="10969185" cy="1152525"/>
          </a:xfrm>
          <a:prstGeom prst="rect">
            <a:avLst/>
          </a:prstGeom>
          <a:noFill/>
          <a:ln/>
        </p:spPr>
        <p:txBody>
          <a:bodyPr wrap="square" lIns="25400" tIns="25400" rIns="25400" bIns="25400" rtlCol="0" anchor="t">
            <a:normAutofit/>
          </a:bodyPr>
          <a:lstStyle/>
          <a:p>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real saves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and no </a:t>
            </a:r>
            <a:pPr algn="l" indent="0" marL="0">
              <a:lnSpc>
                <a:spcPct val="105811"/>
              </a:lnSpc>
              <a:buNone/>
            </a:pPr>
            <a:r>
              <a:rPr lang="en-US" sz="2025" b="1" dirty="0">
                <a:solidFill>
                  <a:srgbClr val="F6F7F4"/>
                </a:solidFill>
                <a:latin typeface="Source Serif 4" pitchFamily="34" charset="0"/>
                <a:ea typeface="Source Serif 4" pitchFamily="34" charset="-122"/>
                <a:cs typeface="Source Serif 4" pitchFamily="34" charset="-120"/>
              </a:rPr>
              <a:t>time-to-detect improvement </a:t>
            </a:r>
            <a:pPr algn="l" indent="0" marL="0">
              <a:lnSpc>
                <a:spcPct val="105811"/>
              </a:lnSpc>
              <a:buNone/>
            </a:pPr>
            <a:r>
              <a:rPr lang="en-US" sz="2025" dirty="0">
                <a:solidFill>
                  <a:srgbClr val="DCE3E8"/>
                </a:solidFill>
                <a:latin typeface="Source Serif 4" pitchFamily="34" charset="0"/>
                <a:ea typeface="Source Serif 4" pitchFamily="34" charset="-122"/>
                <a:cs typeface="Source Serif 4" pitchFamily="34" charset="-120"/>
              </a:rPr>
              <a:t>by the month-9 gate → the program stops and thirty engineers redeploy. Decided on the scorecard, not on architecture progress.</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PAYOFF · THE TOP RUNG, IN OPERATION</a:t>
            </a:r>
            <a:endParaRPr lang="en-US" sz="1800" dirty="0"/>
          </a:p>
        </p:txBody>
      </p:sp>
      <p:sp>
        <p:nvSpPr>
          <p:cNvPr id="3" name="Text 1"/>
          <p:cNvSpPr/>
          <p:nvPr/>
        </p:nvSpPr>
        <p:spPr>
          <a:xfrm>
            <a:off x="952500" y="952500"/>
            <a:ext cx="16874490" cy="114300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At the top rung, incidents heal — and assets onboard — themselves</a:t>
            </a:r>
            <a:endParaRPr lang="en-US" sz="4200" dirty="0"/>
          </a:p>
        </p:txBody>
      </p:sp>
      <p:sp>
        <p:nvSpPr>
          <p:cNvPr id="4" name="Text 2"/>
          <p:cNvSpPr/>
          <p:nvPr/>
        </p:nvSpPr>
        <p:spPr>
          <a:xfrm>
            <a:off x="952500" y="2133600"/>
            <a:ext cx="16874490"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The same deploy and a brand-new asset, replayed at the top rung,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A5 · self-healing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 every step exists in the plan; A5 only removes the human hand.</a:t>
            </a:r>
            <a:endParaRPr lang="en-US" sz="1950" dirty="0"/>
          </a:p>
        </p:txBody>
      </p:sp>
      <p:sp>
        <p:nvSpPr>
          <p:cNvPr id="5" name="Shape 3"/>
          <p:cNvSpPr/>
          <p:nvPr/>
        </p:nvSpPr>
        <p:spPr>
          <a:xfrm>
            <a:off x="952500" y="3009900"/>
            <a:ext cx="8058150" cy="5734050"/>
          </a:xfrm>
          <a:prstGeom prst="roundRect">
            <a:avLst>
              <a:gd name="adj" fmla="val 2326"/>
            </a:avLst>
          </a:prstGeom>
          <a:solidFill>
            <a:srgbClr val="FDFDFB"/>
          </a:solidFill>
          <a:ln w="9525">
            <a:solidFill>
              <a:srgbClr val="D9DED7"/>
            </a:solidFill>
            <a:prstDash val="solid"/>
          </a:ln>
        </p:spPr>
      </p:sp>
      <p:sp>
        <p:nvSpPr>
          <p:cNvPr id="6" name="Text 4"/>
          <p:cNvSpPr/>
          <p:nvPr/>
        </p:nvSpPr>
        <p:spPr>
          <a:xfrm>
            <a:off x="1209675" y="3190875"/>
            <a:ext cx="829818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A3442E"/>
                </a:solidFill>
                <a:latin typeface="IBM Plex Mono" pitchFamily="34" charset="0"/>
                <a:ea typeface="IBM Plex Mono" pitchFamily="34" charset="-122"/>
                <a:cs typeface="IBM Plex Mono" pitchFamily="34" charset="-120"/>
              </a:rPr>
              <a:t>SELF-HEALING · THE SAME 10:00 DEPLOY</a:t>
            </a:r>
            <a:endParaRPr lang="en-US" sz="1800" dirty="0"/>
          </a:p>
        </p:txBody>
      </p:sp>
      <p:sp>
        <p:nvSpPr>
          <p:cNvPr id="7" name="Shape 5"/>
          <p:cNvSpPr/>
          <p:nvPr/>
        </p:nvSpPr>
        <p:spPr>
          <a:xfrm>
            <a:off x="1209675" y="4151412"/>
            <a:ext cx="7543800" cy="9525"/>
          </a:xfrm>
          <a:prstGeom prst="rect">
            <a:avLst/>
          </a:prstGeom>
          <a:solidFill>
            <a:srgbClr val="E8EBE6"/>
          </a:solidFill>
          <a:ln/>
        </p:spPr>
      </p:sp>
      <p:sp>
        <p:nvSpPr>
          <p:cNvPr id="8" name="Text 6"/>
          <p:cNvSpPr/>
          <p:nvPr/>
        </p:nvSpPr>
        <p:spPr>
          <a:xfrm>
            <a:off x="1209675" y="375136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10:00</a:t>
            </a:r>
            <a:endParaRPr lang="en-US" sz="1800" dirty="0"/>
          </a:p>
        </p:txBody>
      </p:sp>
      <p:sp>
        <p:nvSpPr>
          <p:cNvPr id="9" name="Text 7"/>
          <p:cNvSpPr/>
          <p:nvPr/>
        </p:nvSpPr>
        <p:spPr>
          <a:xfrm>
            <a:off x="2276475" y="3751362"/>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payments-svc v3.17 ships — customer_id NULLs begin</a:t>
            </a:r>
            <a:endParaRPr lang="en-US" sz="1875" dirty="0"/>
          </a:p>
        </p:txBody>
      </p:sp>
      <p:sp>
        <p:nvSpPr>
          <p:cNvPr id="10" name="Shape 8"/>
          <p:cNvSpPr/>
          <p:nvPr/>
        </p:nvSpPr>
        <p:spPr>
          <a:xfrm>
            <a:off x="1209675" y="4759523"/>
            <a:ext cx="7543800" cy="9525"/>
          </a:xfrm>
          <a:prstGeom prst="rect">
            <a:avLst/>
          </a:prstGeom>
          <a:solidFill>
            <a:srgbClr val="E8EBE6"/>
          </a:solidFill>
          <a:ln/>
        </p:spPr>
      </p:sp>
      <p:sp>
        <p:nvSpPr>
          <p:cNvPr id="11" name="Text 9"/>
          <p:cNvSpPr/>
          <p:nvPr/>
        </p:nvSpPr>
        <p:spPr>
          <a:xfrm>
            <a:off x="1209675" y="4359473"/>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+2 s</a:t>
            </a:r>
            <a:endParaRPr lang="en-US" sz="1800" dirty="0"/>
          </a:p>
        </p:txBody>
      </p:sp>
      <p:sp>
        <p:nvSpPr>
          <p:cNvPr id="12" name="Text 10"/>
          <p:cNvSpPr/>
          <p:nvPr/>
        </p:nvSpPr>
        <p:spPr>
          <a:xfrm>
            <a:off x="2276475" y="4359473"/>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Enforcer FAILs the first batch — </a:t>
            </a:r>
            <a:pPr algn="l" indent="0" marL="0">
              <a:lnSpc>
                <a:spcPct val="99265"/>
              </a:lnSpc>
              <a:buNone/>
            </a:pPr>
            <a:r>
              <a:rPr lang="en-US" sz="1875" b="1" dirty="0">
                <a:solidFill>
                  <a:srgbClr val="3D4A55"/>
                </a:solidFill>
                <a:latin typeface="Source Serif 4" pitchFamily="34" charset="0"/>
                <a:ea typeface="Source Serif 4" pitchFamily="34" charset="-122"/>
                <a:cs typeface="Source Serif 4" pitchFamily="34" charset="-120"/>
              </a:rPr>
              <a:t>gate holds it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A4 · M24</a:t>
            </a:r>
            <a:endParaRPr lang="en-US" sz="1875" dirty="0"/>
          </a:p>
        </p:txBody>
      </p:sp>
      <p:sp>
        <p:nvSpPr>
          <p:cNvPr id="13" name="Shape 11"/>
          <p:cNvSpPr/>
          <p:nvPr/>
        </p:nvSpPr>
        <p:spPr>
          <a:xfrm>
            <a:off x="1209675" y="5681960"/>
            <a:ext cx="7543800" cy="9525"/>
          </a:xfrm>
          <a:prstGeom prst="rect">
            <a:avLst/>
          </a:prstGeom>
          <a:solidFill>
            <a:srgbClr val="E8EBE6"/>
          </a:solidFill>
          <a:ln/>
        </p:spPr>
      </p:sp>
      <p:sp>
        <p:nvSpPr>
          <p:cNvPr id="14" name="Text 12"/>
          <p:cNvSpPr/>
          <p:nvPr/>
        </p:nvSpPr>
        <p:spPr>
          <a:xfrm>
            <a:off x="1209675" y="4967585"/>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10:01</a:t>
            </a:r>
            <a:endParaRPr lang="en-US" sz="1800" dirty="0"/>
          </a:p>
        </p:txBody>
      </p:sp>
      <p:sp>
        <p:nvSpPr>
          <p:cNvPr id="15" name="Text 13"/>
          <p:cNvSpPr/>
          <p:nvPr/>
        </p:nvSpPr>
        <p:spPr>
          <a:xfrm>
            <a:off x="2276475" y="4967585"/>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consumers pinned to last-certified data — zero exposure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A4</a:t>
            </a:r>
            <a:endParaRPr lang="en-US" sz="1875" dirty="0"/>
          </a:p>
        </p:txBody>
      </p:sp>
      <p:sp>
        <p:nvSpPr>
          <p:cNvPr id="16" name="Shape 14"/>
          <p:cNvSpPr/>
          <p:nvPr/>
        </p:nvSpPr>
        <p:spPr>
          <a:xfrm>
            <a:off x="1209675" y="6604397"/>
            <a:ext cx="7543800" cy="9525"/>
          </a:xfrm>
          <a:prstGeom prst="rect">
            <a:avLst/>
          </a:prstGeom>
          <a:solidFill>
            <a:srgbClr val="E8EBE6"/>
          </a:solidFill>
          <a:ln/>
        </p:spPr>
      </p:sp>
      <p:sp>
        <p:nvSpPr>
          <p:cNvPr id="17" name="Text 15"/>
          <p:cNvSpPr/>
          <p:nvPr/>
        </p:nvSpPr>
        <p:spPr>
          <a:xfrm>
            <a:off x="1209675" y="589002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10:02</a:t>
            </a:r>
            <a:endParaRPr lang="en-US" sz="1800" dirty="0"/>
          </a:p>
        </p:txBody>
      </p:sp>
      <p:sp>
        <p:nvSpPr>
          <p:cNvPr id="18" name="Text 16"/>
          <p:cNvSpPr/>
          <p:nvPr/>
        </p:nvSpPr>
        <p:spPr>
          <a:xfrm>
            <a:off x="2276475" y="5890022"/>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lineage + deploy join name v3.17 as cause; rollback &amp; replay proposed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A3 · M15</a:t>
            </a:r>
            <a:endParaRPr lang="en-US" sz="1875" dirty="0"/>
          </a:p>
        </p:txBody>
      </p:sp>
      <p:sp>
        <p:nvSpPr>
          <p:cNvPr id="19" name="Shape 17"/>
          <p:cNvSpPr/>
          <p:nvPr/>
        </p:nvSpPr>
        <p:spPr>
          <a:xfrm>
            <a:off x="1209675" y="7526834"/>
            <a:ext cx="7543800" cy="9525"/>
          </a:xfrm>
          <a:prstGeom prst="rect">
            <a:avLst/>
          </a:prstGeom>
          <a:solidFill>
            <a:srgbClr val="E8EBE6"/>
          </a:solidFill>
          <a:ln/>
        </p:spPr>
      </p:sp>
      <p:sp>
        <p:nvSpPr>
          <p:cNvPr id="20" name="Text 18"/>
          <p:cNvSpPr/>
          <p:nvPr/>
        </p:nvSpPr>
        <p:spPr>
          <a:xfrm>
            <a:off x="1209675" y="6812459"/>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10:06</a:t>
            </a:r>
            <a:endParaRPr lang="en-US" sz="1800" dirty="0"/>
          </a:p>
        </p:txBody>
      </p:sp>
      <p:sp>
        <p:nvSpPr>
          <p:cNvPr id="21" name="Text 19"/>
          <p:cNvSpPr/>
          <p:nvPr/>
        </p:nvSpPr>
        <p:spPr>
          <a:xfrm>
            <a:off x="2276475" y="6812459"/>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one approval </a:t>
            </a:r>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 rollback, replay, backfill run themselves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22" name="Text 20"/>
          <p:cNvSpPr/>
          <p:nvPr/>
        </p:nvSpPr>
        <p:spPr>
          <a:xfrm>
            <a:off x="1209675" y="7734895"/>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10:40</a:t>
            </a:r>
            <a:endParaRPr lang="en-US" sz="1800" dirty="0"/>
          </a:p>
        </p:txBody>
      </p:sp>
      <p:sp>
        <p:nvSpPr>
          <p:cNvPr id="23" name="Text 21"/>
          <p:cNvSpPr/>
          <p:nvPr/>
        </p:nvSpPr>
        <p:spPr>
          <a:xfrm>
            <a:off x="2276475" y="7734895"/>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healed — the missed check is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added to the contract automatically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24" name="Shape 22"/>
          <p:cNvSpPr/>
          <p:nvPr/>
        </p:nvSpPr>
        <p:spPr>
          <a:xfrm>
            <a:off x="9277350" y="3009900"/>
            <a:ext cx="8058150" cy="5734050"/>
          </a:xfrm>
          <a:prstGeom prst="roundRect">
            <a:avLst>
              <a:gd name="adj" fmla="val 2326"/>
            </a:avLst>
          </a:prstGeom>
          <a:solidFill>
            <a:srgbClr val="FDFDFB"/>
          </a:solidFill>
          <a:ln w="9525">
            <a:solidFill>
              <a:srgbClr val="0E7C6B"/>
            </a:solidFill>
            <a:prstDash val="solid"/>
          </a:ln>
        </p:spPr>
      </p:sp>
      <p:sp>
        <p:nvSpPr>
          <p:cNvPr id="25" name="Text 23"/>
          <p:cNvSpPr/>
          <p:nvPr/>
        </p:nvSpPr>
        <p:spPr>
          <a:xfrm>
            <a:off x="9534525" y="3190875"/>
            <a:ext cx="829818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ZERO-TOUCH ONBOARDING · A NEW ASSET, SAME DAY</a:t>
            </a:r>
            <a:endParaRPr lang="en-US" sz="1800" dirty="0"/>
          </a:p>
        </p:txBody>
      </p:sp>
      <p:sp>
        <p:nvSpPr>
          <p:cNvPr id="26" name="Text 24"/>
          <p:cNvSpPr/>
          <p:nvPr/>
        </p:nvSpPr>
        <p:spPr>
          <a:xfrm>
            <a:off x="9534525" y="3533775"/>
            <a:ext cx="7770114"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producer-initiated at first — automatic once the asset registers in the enterprise registry</a:t>
            </a:r>
            <a:endParaRPr lang="en-US" sz="1800" dirty="0"/>
          </a:p>
        </p:txBody>
      </p:sp>
      <p:sp>
        <p:nvSpPr>
          <p:cNvPr id="27" name="Shape 25"/>
          <p:cNvSpPr/>
          <p:nvPr/>
        </p:nvSpPr>
        <p:spPr>
          <a:xfrm>
            <a:off x="9534525" y="5007322"/>
            <a:ext cx="7543800" cy="9525"/>
          </a:xfrm>
          <a:prstGeom prst="rect">
            <a:avLst/>
          </a:prstGeom>
          <a:solidFill>
            <a:srgbClr val="E8EBE6"/>
          </a:solidFill>
          <a:ln/>
        </p:spPr>
      </p:sp>
      <p:sp>
        <p:nvSpPr>
          <p:cNvPr id="28" name="Text 26"/>
          <p:cNvSpPr/>
          <p:nvPr/>
        </p:nvSpPr>
        <p:spPr>
          <a:xfrm>
            <a:off x="9534525" y="4292947"/>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day 0</a:t>
            </a:r>
            <a:endParaRPr lang="en-US" sz="1800" dirty="0"/>
          </a:p>
        </p:txBody>
      </p:sp>
      <p:sp>
        <p:nvSpPr>
          <p:cNvPr id="29" name="Text 27"/>
          <p:cNvSpPr/>
          <p:nvPr/>
        </p:nvSpPr>
        <p:spPr>
          <a:xfrm>
            <a:off x="10601325" y="4292947"/>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enterprise-registry registration discovers refunds.refund_issued — URN minted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live M9</a:t>
            </a:r>
            <a:endParaRPr lang="en-US" sz="1875" dirty="0"/>
          </a:p>
        </p:txBody>
      </p:sp>
      <p:sp>
        <p:nvSpPr>
          <p:cNvPr id="30" name="Shape 28"/>
          <p:cNvSpPr/>
          <p:nvPr/>
        </p:nvSpPr>
        <p:spPr>
          <a:xfrm>
            <a:off x="9534525" y="5842695"/>
            <a:ext cx="7543800" cy="9525"/>
          </a:xfrm>
          <a:prstGeom prst="rect">
            <a:avLst/>
          </a:prstGeom>
          <a:solidFill>
            <a:srgbClr val="E8EBE6"/>
          </a:solidFill>
          <a:ln/>
        </p:spPr>
      </p:sp>
      <p:sp>
        <p:nvSpPr>
          <p:cNvPr id="31" name="Text 29"/>
          <p:cNvSpPr/>
          <p:nvPr/>
        </p:nvSpPr>
        <p:spPr>
          <a:xfrm>
            <a:off x="9534525" y="5128320"/>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day 0</a:t>
            </a:r>
            <a:endParaRPr lang="en-US" sz="1800" dirty="0"/>
          </a:p>
        </p:txBody>
      </p:sp>
      <p:sp>
        <p:nvSpPr>
          <p:cNvPr id="32" name="Text 30"/>
          <p:cNvSpPr/>
          <p:nvPr/>
        </p:nvSpPr>
        <p:spPr>
          <a:xfrm>
            <a:off x="10601325" y="5128320"/>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minimum observability set attaches by policy — lineage, DQ, freshness, volume — no code change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live M9</a:t>
            </a:r>
            <a:endParaRPr lang="en-US" sz="1875" dirty="0"/>
          </a:p>
        </p:txBody>
      </p:sp>
      <p:sp>
        <p:nvSpPr>
          <p:cNvPr id="33" name="Shape 31"/>
          <p:cNvSpPr/>
          <p:nvPr/>
        </p:nvSpPr>
        <p:spPr>
          <a:xfrm>
            <a:off x="9534525" y="6678067"/>
            <a:ext cx="7543800" cy="9525"/>
          </a:xfrm>
          <a:prstGeom prst="rect">
            <a:avLst/>
          </a:prstGeom>
          <a:solidFill>
            <a:srgbClr val="E8EBE6"/>
          </a:solidFill>
          <a:ln/>
        </p:spPr>
      </p:sp>
      <p:sp>
        <p:nvSpPr>
          <p:cNvPr id="34" name="Text 32"/>
          <p:cNvSpPr/>
          <p:nvPr/>
        </p:nvSpPr>
        <p:spPr>
          <a:xfrm>
            <a:off x="9534525" y="5963692"/>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4</a:t>
            </a:r>
            <a:endParaRPr lang="en-US" sz="1800" dirty="0"/>
          </a:p>
        </p:txBody>
      </p:sp>
      <p:sp>
        <p:nvSpPr>
          <p:cNvPr id="35" name="Text 33"/>
          <p:cNvSpPr/>
          <p:nvPr/>
        </p:nvSpPr>
        <p:spPr>
          <a:xfrm>
            <a:off x="10601325" y="5963692"/>
            <a:ext cx="6671310"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baselines learned from its own traffic — allowed to warn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M15</a:t>
            </a:r>
            <a:endParaRPr lang="en-US" sz="1875" dirty="0"/>
          </a:p>
        </p:txBody>
      </p:sp>
      <p:sp>
        <p:nvSpPr>
          <p:cNvPr id="36" name="Shape 34"/>
          <p:cNvSpPr/>
          <p:nvPr/>
        </p:nvSpPr>
        <p:spPr>
          <a:xfrm>
            <a:off x="9534525" y="7199114"/>
            <a:ext cx="7543800" cy="9525"/>
          </a:xfrm>
          <a:prstGeom prst="rect">
            <a:avLst/>
          </a:prstGeom>
          <a:solidFill>
            <a:srgbClr val="E8EBE6"/>
          </a:solidFill>
          <a:ln/>
        </p:spPr>
      </p:sp>
      <p:sp>
        <p:nvSpPr>
          <p:cNvPr id="37" name="Text 35"/>
          <p:cNvSpPr/>
          <p:nvPr/>
        </p:nvSpPr>
        <p:spPr>
          <a:xfrm>
            <a:off x="9534525" y="6799064"/>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8</a:t>
            </a:r>
            <a:endParaRPr lang="en-US" sz="1800" dirty="0"/>
          </a:p>
        </p:txBody>
      </p:sp>
      <p:sp>
        <p:nvSpPr>
          <p:cNvPr id="38" name="Text 36"/>
          <p:cNvSpPr/>
          <p:nvPr/>
        </p:nvSpPr>
        <p:spPr>
          <a:xfrm>
            <a:off x="10601325" y="6799064"/>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contract auto-drafted from observed traffic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M15</a:t>
            </a:r>
            <a:endParaRPr lang="en-US" sz="1875" dirty="0"/>
          </a:p>
        </p:txBody>
      </p:sp>
      <p:sp>
        <p:nvSpPr>
          <p:cNvPr id="39" name="Shape 37"/>
          <p:cNvSpPr/>
          <p:nvPr/>
        </p:nvSpPr>
        <p:spPr>
          <a:xfrm>
            <a:off x="9534525" y="7720161"/>
            <a:ext cx="7543800" cy="9525"/>
          </a:xfrm>
          <a:prstGeom prst="rect">
            <a:avLst/>
          </a:prstGeom>
          <a:solidFill>
            <a:srgbClr val="E8EBE6"/>
          </a:solidFill>
          <a:ln/>
        </p:spPr>
      </p:sp>
      <p:sp>
        <p:nvSpPr>
          <p:cNvPr id="40" name="Text 38"/>
          <p:cNvSpPr/>
          <p:nvPr/>
        </p:nvSpPr>
        <p:spPr>
          <a:xfrm>
            <a:off x="9534525" y="7320111"/>
            <a:ext cx="9906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week 9</a:t>
            </a:r>
            <a:endParaRPr lang="en-US" sz="1800" dirty="0"/>
          </a:p>
        </p:txBody>
      </p:sp>
      <p:sp>
        <p:nvSpPr>
          <p:cNvPr id="41" name="Text 39"/>
          <p:cNvSpPr/>
          <p:nvPr/>
        </p:nvSpPr>
        <p:spPr>
          <a:xfrm>
            <a:off x="10601325" y="7320111"/>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producer one-click attest — enforcement unlocked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M24</a:t>
            </a:r>
            <a:endParaRPr lang="en-US" sz="1875" dirty="0"/>
          </a:p>
        </p:txBody>
      </p:sp>
      <p:sp>
        <p:nvSpPr>
          <p:cNvPr id="42" name="Text 40"/>
          <p:cNvSpPr/>
          <p:nvPr/>
        </p:nvSpPr>
        <p:spPr>
          <a:xfrm>
            <a:off x="9534525" y="7841159"/>
            <a:ext cx="99060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week 12</a:t>
            </a:r>
            <a:endParaRPr lang="en-US" sz="1800" dirty="0"/>
          </a:p>
        </p:txBody>
      </p:sp>
      <p:sp>
        <p:nvSpPr>
          <p:cNvPr id="43" name="Text 41"/>
          <p:cNvSpPr/>
          <p:nvPr/>
        </p:nvSpPr>
        <p:spPr>
          <a:xfrm>
            <a:off x="10601325" y="7841159"/>
            <a:ext cx="7124700"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1B2530"/>
                </a:solidFill>
                <a:latin typeface="Source Serif 4" pitchFamily="34" charset="0"/>
                <a:ea typeface="Source Serif 4" pitchFamily="34" charset="-122"/>
                <a:cs typeface="Source Serif 4" pitchFamily="34" charset="-120"/>
              </a:rPr>
              <a:t>enforcing in prod (G3) — </a:t>
            </a:r>
            <a:pPr algn="l" indent="0" marL="0">
              <a:lnSpc>
                <a:spcPct val="99265"/>
              </a:lnSpc>
              <a:buNone/>
            </a:pPr>
            <a:r>
              <a:rPr lang="en-US" sz="1875" b="1" dirty="0">
                <a:solidFill>
                  <a:srgbClr val="1B2530"/>
                </a:solidFill>
                <a:latin typeface="Source Serif 4" pitchFamily="34" charset="0"/>
                <a:ea typeface="Source Serif 4" pitchFamily="34" charset="-122"/>
                <a:cs typeface="Source Serif 4" pitchFamily="34" charset="-120"/>
              </a:rPr>
              <a:t>not one ticket filed </a:t>
            </a:r>
            <a:pPr algn="l" indent="0" marL="0">
              <a:lnSpc>
                <a:spcPct val="99265"/>
              </a:lnSpc>
              <a:buNone/>
            </a:pPr>
            <a:r>
              <a:rPr lang="en-US" sz="1800" dirty="0">
                <a:solidFill>
                  <a:srgbClr val="0E7C6B"/>
                </a:solidFill>
                <a:latin typeface="IBM Plex Mono" pitchFamily="34" charset="0"/>
                <a:ea typeface="IBM Plex Mono" pitchFamily="34" charset="-122"/>
                <a:cs typeface="IBM Plex Mono" pitchFamily="34" charset="-120"/>
              </a:rPr>
              <a:t>A5</a:t>
            </a:r>
            <a:endParaRPr lang="en-US" sz="1875" dirty="0"/>
          </a:p>
        </p:txBody>
      </p:sp>
      <p:sp>
        <p:nvSpPr>
          <p:cNvPr id="44" name="Shape 42"/>
          <p:cNvSpPr/>
          <p:nvPr/>
        </p:nvSpPr>
        <p:spPr>
          <a:xfrm>
            <a:off x="952500" y="8934450"/>
            <a:ext cx="16383000" cy="933450"/>
          </a:xfrm>
          <a:prstGeom prst="roundRect">
            <a:avLst>
              <a:gd name="adj" fmla="val 12245"/>
            </a:avLst>
          </a:prstGeom>
          <a:solidFill>
            <a:srgbClr val="1B2530"/>
          </a:solidFill>
          <a:ln/>
        </p:spPr>
      </p:sp>
      <p:sp>
        <p:nvSpPr>
          <p:cNvPr id="45" name="Text 43"/>
          <p:cNvSpPr/>
          <p:nvPr/>
        </p:nvSpPr>
        <p:spPr>
          <a:xfrm>
            <a:off x="1219200" y="9086850"/>
            <a:ext cx="495880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AUTONOMY IS EARNED LIKE TRUST</a:t>
            </a:r>
            <a:endParaRPr lang="en-US" sz="1800" dirty="0"/>
          </a:p>
        </p:txBody>
      </p:sp>
      <p:sp>
        <p:nvSpPr>
          <p:cNvPr id="46" name="Text 44"/>
          <p:cNvSpPr/>
          <p:nvPr/>
        </p:nvSpPr>
        <p:spPr>
          <a:xfrm>
            <a:off x="5936754" y="9086850"/>
            <a:ext cx="11466007"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Every automated action ships in shadow, then behind one approval, then alone. </a:t>
            </a:r>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The same ladder that governs enforcement governs healing.</a:t>
            </a:r>
            <a:endParaRPr lang="en-US" sz="18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THE DECISION · ASKS</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Asks, dependencies, assumptions, risks</a:t>
            </a:r>
            <a:endParaRPr lang="en-US" sz="4800" dirty="0"/>
          </a:p>
        </p:txBody>
      </p:sp>
      <p:sp>
        <p:nvSpPr>
          <p:cNvPr id="4" name="Shape 2"/>
          <p:cNvSpPr/>
          <p:nvPr/>
        </p:nvSpPr>
        <p:spPr>
          <a:xfrm>
            <a:off x="952500" y="2409825"/>
            <a:ext cx="8058150" cy="5438775"/>
          </a:xfrm>
          <a:prstGeom prst="roundRect">
            <a:avLst>
              <a:gd name="adj" fmla="val 2452"/>
            </a:avLst>
          </a:prstGeom>
          <a:solidFill>
            <a:srgbClr val="FDFDFB"/>
          </a:solidFill>
          <a:ln w="9525">
            <a:solidFill>
              <a:srgbClr val="D9DED7"/>
            </a:solidFill>
            <a:prstDash val="solid"/>
          </a:ln>
        </p:spPr>
      </p:sp>
      <p:sp>
        <p:nvSpPr>
          <p:cNvPr id="5" name="Text 3"/>
          <p:cNvSpPr/>
          <p:nvPr/>
        </p:nvSpPr>
        <p:spPr>
          <a:xfrm>
            <a:off x="128587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PRODUCERS — THE TEAMS OWNING THE REPOS</a:t>
            </a:r>
            <a:endParaRPr lang="en-US" sz="1800" dirty="0"/>
          </a:p>
        </p:txBody>
      </p:sp>
      <p:sp>
        <p:nvSpPr>
          <p:cNvPr id="6" name="Shape 4"/>
          <p:cNvSpPr/>
          <p:nvPr/>
        </p:nvSpPr>
        <p:spPr>
          <a:xfrm>
            <a:off x="1285875" y="4152900"/>
            <a:ext cx="7391400" cy="9525"/>
          </a:xfrm>
          <a:prstGeom prst="rect">
            <a:avLst/>
          </a:prstGeom>
          <a:solidFill>
            <a:srgbClr val="D9DED7"/>
          </a:solidFill>
          <a:ln/>
        </p:spPr>
      </p:sp>
      <p:sp>
        <p:nvSpPr>
          <p:cNvPr id="7" name="Text 5"/>
          <p:cNvSpPr/>
          <p:nvPr/>
        </p:nvSpPr>
        <p:spPr>
          <a:xfrm>
            <a:off x="1285875" y="3305175"/>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P0–P2</a:t>
            </a:r>
            <a:endParaRPr lang="en-US" sz="1800" dirty="0"/>
          </a:p>
        </p:txBody>
      </p:sp>
      <p:sp>
        <p:nvSpPr>
          <p:cNvPr id="8" name="Text 6"/>
          <p:cNvSpPr/>
          <p:nvPr/>
        </p:nvSpPr>
        <p:spPr>
          <a:xfrm>
            <a:off x="2695575" y="3286125"/>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Nothing.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Zero code changes — detection is out-of-band, read-only, in our account.</a:t>
            </a:r>
            <a:endParaRPr lang="en-US" sz="1950" dirty="0"/>
          </a:p>
        </p:txBody>
      </p:sp>
      <p:sp>
        <p:nvSpPr>
          <p:cNvPr id="9" name="Shape 7"/>
          <p:cNvSpPr/>
          <p:nvPr/>
        </p:nvSpPr>
        <p:spPr>
          <a:xfrm>
            <a:off x="1285875" y="5543550"/>
            <a:ext cx="7391400" cy="9525"/>
          </a:xfrm>
          <a:prstGeom prst="rect">
            <a:avLst/>
          </a:prstGeom>
          <a:solidFill>
            <a:srgbClr val="D9DED7"/>
          </a:solidFill>
          <a:ln/>
        </p:spPr>
      </p:sp>
      <p:sp>
        <p:nvSpPr>
          <p:cNvPr id="10" name="Text 8"/>
          <p:cNvSpPr/>
          <p:nvPr/>
        </p:nvSpPr>
        <p:spPr>
          <a:xfrm>
            <a:off x="1285875" y="4343400"/>
            <a:ext cx="1362075"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P3</a:t>
            </a:r>
            <a:endParaRPr lang="en-US" sz="1800" dirty="0"/>
          </a:p>
        </p:txBody>
      </p:sp>
      <p:sp>
        <p:nvSpPr>
          <p:cNvPr id="11" name="Text 9"/>
          <p:cNvSpPr/>
          <p:nvPr/>
        </p:nvSpPr>
        <p:spPr>
          <a:xfrm>
            <a:off x="2695575" y="4324350"/>
            <a:ext cx="6161151"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Review one auto-drafted contract — </a:t>
            </a:r>
            <a:pPr algn="l" indent="0" marL="0">
              <a:lnSpc>
                <a:spcPct val="104722"/>
              </a:lnSpc>
              <a:buNone/>
            </a:pPr>
            <a:r>
              <a:rPr lang="en-US" sz="1950" b="1" dirty="0">
                <a:solidFill>
                  <a:srgbClr val="3D4A55"/>
                </a:solidFill>
                <a:latin typeface="Source Serif 4" pitchFamily="34" charset="0"/>
                <a:ea typeface="Source Serif 4" pitchFamily="34" charset="-122"/>
                <a:cs typeface="Source Serif 4" pitchFamily="34" charset="-120"/>
              </a:rPr>
              <a:t>~20 minutes </a:t>
            </a:r>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 drafted from 90 days of their own observed behavior.</a:t>
            </a:r>
            <a:endParaRPr lang="en-US" sz="1950" dirty="0"/>
          </a:p>
        </p:txBody>
      </p:sp>
      <p:sp>
        <p:nvSpPr>
          <p:cNvPr id="12" name="Text 10"/>
          <p:cNvSpPr/>
          <p:nvPr/>
        </p:nvSpPr>
        <p:spPr>
          <a:xfrm>
            <a:off x="1285875" y="5734050"/>
            <a:ext cx="1314450"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P4 · Tier-1</a:t>
            </a:r>
            <a:endParaRPr lang="en-US" sz="1800" dirty="0"/>
          </a:p>
        </p:txBody>
      </p:sp>
      <p:sp>
        <p:nvSpPr>
          <p:cNvPr id="13" name="Text 11"/>
          <p:cNvSpPr/>
          <p:nvPr/>
        </p:nvSpPr>
        <p:spPr>
          <a:xfrm>
            <a:off x="2695575" y="5715000"/>
            <a:ext cx="6161151" cy="74295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Adopt lineage emitters / in-path asserts — Tier-1 streams only, paired with the platform team.</a:t>
            </a:r>
            <a:endParaRPr lang="en-US" sz="1950" dirty="0"/>
          </a:p>
        </p:txBody>
      </p:sp>
      <p:sp>
        <p:nvSpPr>
          <p:cNvPr id="14" name="Shape 12"/>
          <p:cNvSpPr/>
          <p:nvPr/>
        </p:nvSpPr>
        <p:spPr>
          <a:xfrm>
            <a:off x="1285875" y="6581775"/>
            <a:ext cx="7391400" cy="971550"/>
          </a:xfrm>
          <a:prstGeom prst="roundRect">
            <a:avLst>
              <a:gd name="adj" fmla="val 9804"/>
            </a:avLst>
          </a:prstGeom>
          <a:solidFill>
            <a:srgbClr val="E3EFEA"/>
          </a:solidFill>
          <a:ln/>
        </p:spPr>
      </p:sp>
      <p:sp>
        <p:nvSpPr>
          <p:cNvPr id="15" name="Text 13"/>
          <p:cNvSpPr/>
          <p:nvPr/>
        </p:nvSpPr>
        <p:spPr>
          <a:xfrm>
            <a:off x="1495425" y="6734175"/>
            <a:ext cx="719404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Adoption cost is deliberately near-zero until the platform has proven value at the gate.</a:t>
            </a:r>
            <a:endParaRPr lang="en-US" sz="1875" dirty="0"/>
          </a:p>
        </p:txBody>
      </p:sp>
      <p:sp>
        <p:nvSpPr>
          <p:cNvPr id="16" name="Shape 14"/>
          <p:cNvSpPr/>
          <p:nvPr/>
        </p:nvSpPr>
        <p:spPr>
          <a:xfrm>
            <a:off x="9277350" y="2409825"/>
            <a:ext cx="8058150" cy="5438775"/>
          </a:xfrm>
          <a:prstGeom prst="roundRect">
            <a:avLst>
              <a:gd name="adj" fmla="val 2452"/>
            </a:avLst>
          </a:prstGeom>
          <a:solidFill>
            <a:srgbClr val="FDFDFB"/>
          </a:solidFill>
          <a:ln w="9525">
            <a:solidFill>
              <a:srgbClr val="D9DED7"/>
            </a:solidFill>
            <a:prstDash val="solid"/>
          </a:ln>
        </p:spPr>
      </p:sp>
      <p:sp>
        <p:nvSpPr>
          <p:cNvPr id="17" name="Text 15"/>
          <p:cNvSpPr/>
          <p:nvPr/>
        </p:nvSpPr>
        <p:spPr>
          <a:xfrm>
            <a:off x="9610725" y="2705100"/>
            <a:ext cx="813054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FROM ENTERPRISE TOOLS</a:t>
            </a:r>
            <a:endParaRPr lang="en-US" sz="1800" dirty="0"/>
          </a:p>
        </p:txBody>
      </p:sp>
      <p:sp>
        <p:nvSpPr>
          <p:cNvPr id="18" name="Shape 16"/>
          <p:cNvSpPr/>
          <p:nvPr/>
        </p:nvSpPr>
        <p:spPr>
          <a:xfrm>
            <a:off x="9610725" y="4438650"/>
            <a:ext cx="7391400" cy="9525"/>
          </a:xfrm>
          <a:prstGeom prst="rect">
            <a:avLst/>
          </a:prstGeom>
          <a:solidFill>
            <a:srgbClr val="D9DED7"/>
          </a:solidFill>
          <a:ln/>
        </p:spPr>
      </p:sp>
      <p:sp>
        <p:nvSpPr>
          <p:cNvPr id="19" name="Text 17"/>
          <p:cNvSpPr/>
          <p:nvPr/>
        </p:nvSpPr>
        <p:spPr>
          <a:xfrm>
            <a:off x="9610725" y="328612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P0</a:t>
            </a:r>
            <a:endParaRPr lang="en-US" sz="1800" dirty="0"/>
          </a:p>
        </p:txBody>
      </p:sp>
      <p:sp>
        <p:nvSpPr>
          <p:cNvPr id="20" name="Text 18"/>
          <p:cNvSpPr/>
          <p:nvPr/>
        </p:nvSpPr>
        <p:spPr>
          <a:xfrm>
            <a:off x="10448925" y="3267075"/>
            <a:ext cx="6749796"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THE decision: the enterprise registry is the naming authority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URNs come from the managed catalog; pilot's ~10 assets first. Without it every join fails silently later.</a:t>
            </a:r>
            <a:endParaRPr lang="en-US" sz="1875" dirty="0"/>
          </a:p>
        </p:txBody>
      </p:sp>
      <p:sp>
        <p:nvSpPr>
          <p:cNvPr id="21" name="Shape 19"/>
          <p:cNvSpPr/>
          <p:nvPr/>
        </p:nvSpPr>
        <p:spPr>
          <a:xfrm>
            <a:off x="9610725" y="5419725"/>
            <a:ext cx="7391400" cy="9525"/>
          </a:xfrm>
          <a:prstGeom prst="rect">
            <a:avLst/>
          </a:prstGeom>
          <a:solidFill>
            <a:srgbClr val="D9DED7"/>
          </a:solidFill>
          <a:ln/>
        </p:spPr>
      </p:sp>
      <p:sp>
        <p:nvSpPr>
          <p:cNvPr id="22" name="Text 20"/>
          <p:cNvSpPr/>
          <p:nvPr/>
        </p:nvSpPr>
        <p:spPr>
          <a:xfrm>
            <a:off x="9610725" y="461010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P0</a:t>
            </a:r>
            <a:endParaRPr lang="en-US" sz="1800" dirty="0"/>
          </a:p>
        </p:txBody>
      </p:sp>
      <p:sp>
        <p:nvSpPr>
          <p:cNvPr id="23" name="Text 21"/>
          <p:cNvSpPr/>
          <p:nvPr/>
        </p:nvSpPr>
        <p:spPr>
          <a:xfrm>
            <a:off x="10448925" y="459105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platform: read-only credentials + topic catalog + schema registry.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detect at tables.</a:t>
            </a:r>
            <a:endParaRPr lang="en-US" sz="1875" dirty="0"/>
          </a:p>
        </p:txBody>
      </p:sp>
      <p:sp>
        <p:nvSpPr>
          <p:cNvPr id="24" name="Shape 22"/>
          <p:cNvSpPr/>
          <p:nvPr/>
        </p:nvSpPr>
        <p:spPr>
          <a:xfrm>
            <a:off x="9610725" y="6400800"/>
            <a:ext cx="7391400" cy="9525"/>
          </a:xfrm>
          <a:prstGeom prst="rect">
            <a:avLst/>
          </a:prstGeom>
          <a:solidFill>
            <a:srgbClr val="D9DED7"/>
          </a:solidFill>
          <a:ln/>
        </p:spPr>
      </p:sp>
      <p:sp>
        <p:nvSpPr>
          <p:cNvPr id="25" name="Text 23"/>
          <p:cNvSpPr/>
          <p:nvPr/>
        </p:nvSpPr>
        <p:spPr>
          <a:xfrm>
            <a:off x="9610725" y="5591175"/>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a:t>
            </a:r>
            <a:endParaRPr lang="en-US" sz="1800" dirty="0"/>
          </a:p>
        </p:txBody>
      </p:sp>
      <p:sp>
        <p:nvSpPr>
          <p:cNvPr id="26" name="Text 24"/>
          <p:cNvSpPr/>
          <p:nvPr/>
        </p:nvSpPr>
        <p:spPr>
          <a:xfrm>
            <a:off x="10448925" y="5572125"/>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Central DQ tooling: read access to check results.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scheduled export, staler.</a:t>
            </a:r>
            <a:endParaRPr lang="en-US" sz="1875" dirty="0"/>
          </a:p>
        </p:txBody>
      </p:sp>
      <p:sp>
        <p:nvSpPr>
          <p:cNvPr id="27" name="Text 25"/>
          <p:cNvSpPr/>
          <p:nvPr/>
        </p:nvSpPr>
        <p:spPr>
          <a:xfrm>
            <a:off x="9610725" y="6572250"/>
            <a:ext cx="742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a:t>
            </a:r>
            <a:endParaRPr lang="en-US" sz="1800" dirty="0"/>
          </a:p>
        </p:txBody>
      </p:sp>
      <p:sp>
        <p:nvSpPr>
          <p:cNvPr id="28" name="Text 26"/>
          <p:cNvSpPr/>
          <p:nvPr/>
        </p:nvSpPr>
        <p:spPr>
          <a:xfrm>
            <a:off x="10448925" y="6553200"/>
            <a:ext cx="674979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CI/CD: deploy events (commit + timestamp), pilot pipelines only. </a:t>
            </a:r>
            <a:pPr algn="l" indent="0" marL="0">
              <a:lnSpc>
                <a:spcPct val="106618"/>
              </a:lnSpc>
              <a:buNone/>
            </a:pPr>
            <a:r>
              <a:rPr lang="en-US" sz="1875" i="1" dirty="0">
                <a:solidFill>
                  <a:srgbClr val="5B6873"/>
                </a:solidFill>
                <a:latin typeface="Source Serif 4" pitchFamily="34" charset="0"/>
                <a:ea typeface="Source Serif 4" pitchFamily="34" charset="-122"/>
                <a:cs typeface="Source Serif 4" pitchFamily="34" charset="-120"/>
              </a:rPr>
              <a:t>Plan B: infer from logs.</a:t>
            </a:r>
            <a:endParaRPr lang="en-US" sz="1875" dirty="0"/>
          </a:p>
        </p:txBody>
      </p:sp>
      <p:sp>
        <p:nvSpPr>
          <p:cNvPr id="29" name="Shape 27"/>
          <p:cNvSpPr/>
          <p:nvPr/>
        </p:nvSpPr>
        <p:spPr>
          <a:xfrm>
            <a:off x="952500" y="8153400"/>
            <a:ext cx="16383000" cy="1790700"/>
          </a:xfrm>
          <a:prstGeom prst="roundRect">
            <a:avLst>
              <a:gd name="adj" fmla="val 6383"/>
            </a:avLst>
          </a:prstGeom>
          <a:solidFill>
            <a:srgbClr val="F5EAD8"/>
          </a:solidFill>
          <a:ln/>
        </p:spPr>
      </p:sp>
      <p:sp>
        <p:nvSpPr>
          <p:cNvPr id="30" name="Text 28"/>
          <p:cNvSpPr/>
          <p:nvPr/>
        </p:nvSpPr>
        <p:spPr>
          <a:xfrm>
            <a:off x="1295400" y="8382000"/>
            <a:ext cx="4274820"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DEPENDS · ASSUMES · RISKS</a:t>
            </a:r>
            <a:endParaRPr lang="en-US" sz="1800" dirty="0"/>
          </a:p>
        </p:txBody>
      </p:sp>
      <p:sp>
        <p:nvSpPr>
          <p:cNvPr id="31" name="Text 29"/>
          <p:cNvSpPr/>
          <p:nvPr/>
        </p:nvSpPr>
        <p:spPr>
          <a:xfrm>
            <a:off x="5410200" y="8362950"/>
            <a:ext cx="11929872" cy="14097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Depends on: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the registry decision, read-only broker + CI/CD access — each dated (weeks 3–4) with a stub fallback. </a:t>
            </a:r>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Assumes: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pilot volumes ≈ today's; producers stay hands-off until value shows. </a:t>
            </a:r>
            <a:pPr algn="l" indent="0" marL="0">
              <a:lnSpc>
                <a:spcPct val="106618"/>
              </a:lnSpc>
              <a:buNone/>
            </a:pPr>
            <a:r>
              <a:rPr lang="en-US" sz="1875" b="1" dirty="0">
                <a:solidFill>
                  <a:srgbClr val="1B2530"/>
                </a:solidFill>
                <a:latin typeface="Source Serif 4" pitchFamily="34" charset="0"/>
                <a:ea typeface="Source Serif 4" pitchFamily="34" charset="-122"/>
                <a:cs typeface="Source Serif 4" pitchFamily="34" charset="-120"/>
              </a:rPr>
              <a:t>Risks: </a:t>
            </a:r>
            <a:pPr algn="l" indent="0" marL="0">
              <a:lnSpc>
                <a:spcPct val="106618"/>
              </a:lnSpc>
              <a:buNone/>
            </a:pPr>
            <a:r>
              <a:rPr lang="en-US" sz="1875" dirty="0">
                <a:solidFill>
                  <a:srgbClr val="1B2530"/>
                </a:solidFill>
                <a:latin typeface="Source Serif 4" pitchFamily="34" charset="0"/>
                <a:ea typeface="Source Serif 4" pitchFamily="34" charset="-122"/>
                <a:cs typeface="Source Serif 4" pitchFamily="34" charset="-120"/>
              </a:rPr>
              <a:t>adoption stalls → executive merge SLA; noisy alerts → shadow mode + the &lt;20% noise target. Slips surface on the scorecard, never absorbed silently.</a:t>
            </a:r>
            <a:endParaRPr lang="en-US" sz="18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34B39B"/>
                </a:solidFill>
                <a:latin typeface="IBM Plex Mono" pitchFamily="34" charset="0"/>
                <a:ea typeface="IBM Plex Mono" pitchFamily="34" charset="-122"/>
                <a:cs typeface="IBM Plex Mono" pitchFamily="34" charset="-120"/>
              </a:rPr>
              <a:t>CLOSE</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F6F7F4"/>
                </a:solidFill>
                <a:latin typeface="Bricolage Grotesque" pitchFamily="34" charset="0"/>
                <a:ea typeface="Bricolage Grotesque" pitchFamily="34" charset="-122"/>
                <a:cs typeface="Bricolage Grotesque" pitchFamily="34" charset="-120"/>
              </a:rPr>
              <a:t>Risks and decisions needed</a:t>
            </a:r>
            <a:endParaRPr lang="en-US" sz="4800" dirty="0"/>
          </a:p>
        </p:txBody>
      </p:sp>
      <p:sp>
        <p:nvSpPr>
          <p:cNvPr id="4" name="Shape 2"/>
          <p:cNvSpPr/>
          <p:nvPr/>
        </p:nvSpPr>
        <p:spPr>
          <a:xfrm>
            <a:off x="952500" y="2447925"/>
            <a:ext cx="8291959" cy="1485900"/>
          </a:xfrm>
          <a:prstGeom prst="roundRect">
            <a:avLst>
              <a:gd name="adj" fmla="val 7692"/>
            </a:avLst>
          </a:prstGeom>
          <a:solidFill>
            <a:srgbClr val="243140"/>
          </a:solidFill>
          <a:ln/>
        </p:spPr>
      </p:sp>
      <p:sp>
        <p:nvSpPr>
          <p:cNvPr id="5" name="Text 3"/>
          <p:cNvSpPr/>
          <p:nvPr/>
        </p:nvSpPr>
        <p:spPr>
          <a:xfrm>
            <a:off x="1219200" y="26574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6" name="Text 4"/>
          <p:cNvSpPr/>
          <p:nvPr/>
        </p:nvSpPr>
        <p:spPr>
          <a:xfrm>
            <a:off x="1920329" y="2657475"/>
            <a:ext cx="4158913"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PRs generated but not merged</a:t>
            </a:r>
            <a:endParaRPr lang="en-US" sz="2025" dirty="0"/>
          </a:p>
        </p:txBody>
      </p:sp>
      <p:sp>
        <p:nvSpPr>
          <p:cNvPr id="7" name="Text 5"/>
          <p:cNvSpPr/>
          <p:nvPr/>
        </p:nvSpPr>
        <p:spPr>
          <a:xfrm>
            <a:off x="1219200" y="30384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executive-backed merge SLA, escalation path, visible scorecards.</a:t>
            </a:r>
            <a:endParaRPr lang="en-US" sz="1875" dirty="0"/>
          </a:p>
        </p:txBody>
      </p:sp>
      <p:sp>
        <p:nvSpPr>
          <p:cNvPr id="8" name="Shape 6"/>
          <p:cNvSpPr/>
          <p:nvPr/>
        </p:nvSpPr>
        <p:spPr>
          <a:xfrm>
            <a:off x="952500" y="4086225"/>
            <a:ext cx="8291959" cy="1485900"/>
          </a:xfrm>
          <a:prstGeom prst="roundRect">
            <a:avLst>
              <a:gd name="adj" fmla="val 7692"/>
            </a:avLst>
          </a:prstGeom>
          <a:solidFill>
            <a:srgbClr val="243140"/>
          </a:solidFill>
          <a:ln/>
        </p:spPr>
      </p:sp>
      <p:sp>
        <p:nvSpPr>
          <p:cNvPr id="9" name="Text 7"/>
          <p:cNvSpPr/>
          <p:nvPr/>
        </p:nvSpPr>
        <p:spPr>
          <a:xfrm>
            <a:off x="1219200" y="42957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0" name="Text 8"/>
          <p:cNvSpPr/>
          <p:nvPr/>
        </p:nvSpPr>
        <p:spPr>
          <a:xfrm>
            <a:off x="1920329" y="4295775"/>
            <a:ext cx="433473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Evidence too weak for causality</a:t>
            </a:r>
            <a:endParaRPr lang="en-US" sz="2025" dirty="0"/>
          </a:p>
        </p:txBody>
      </p:sp>
      <p:sp>
        <p:nvSpPr>
          <p:cNvPr id="11" name="Text 9"/>
          <p:cNvSpPr/>
          <p:nvPr/>
        </p:nvSpPr>
        <p:spPr>
          <a:xfrm>
            <a:off x="1219200" y="46767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trust tiers — inferred vs platform-attested vs producer-attested; "unknown" is a valid RCA output.</a:t>
            </a:r>
            <a:endParaRPr lang="en-US" sz="1875" dirty="0"/>
          </a:p>
        </p:txBody>
      </p:sp>
      <p:sp>
        <p:nvSpPr>
          <p:cNvPr id="12" name="Shape 10"/>
          <p:cNvSpPr/>
          <p:nvPr/>
        </p:nvSpPr>
        <p:spPr>
          <a:xfrm>
            <a:off x="952500" y="5724525"/>
            <a:ext cx="8291959" cy="1485900"/>
          </a:xfrm>
          <a:prstGeom prst="roundRect">
            <a:avLst>
              <a:gd name="adj" fmla="val 7692"/>
            </a:avLst>
          </a:prstGeom>
          <a:solidFill>
            <a:srgbClr val="243140"/>
          </a:solidFill>
          <a:ln/>
        </p:spPr>
      </p:sp>
      <p:sp>
        <p:nvSpPr>
          <p:cNvPr id="13" name="Text 11"/>
          <p:cNvSpPr/>
          <p:nvPr/>
        </p:nvSpPr>
        <p:spPr>
          <a:xfrm>
            <a:off x="1219200" y="59340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4" name="Text 12"/>
          <p:cNvSpPr/>
          <p:nvPr/>
        </p:nvSpPr>
        <p:spPr>
          <a:xfrm>
            <a:off x="1920329" y="5934075"/>
            <a:ext cx="556142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The platform becomes its own blind spot</a:t>
            </a:r>
            <a:endParaRPr lang="en-US" sz="2025" dirty="0"/>
          </a:p>
        </p:txBody>
      </p:sp>
      <p:sp>
        <p:nvSpPr>
          <p:cNvPr id="15" name="Text 13"/>
          <p:cNvSpPr/>
          <p:nvPr/>
        </p:nvSpPr>
        <p:spPr>
          <a:xfrm>
            <a:off x="1219200" y="63150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observability-of-observability — evidence-gap alerts, lag monitoring, runbooks from day one.</a:t>
            </a:r>
            <a:endParaRPr lang="en-US" sz="1875" dirty="0"/>
          </a:p>
        </p:txBody>
      </p:sp>
      <p:sp>
        <p:nvSpPr>
          <p:cNvPr id="16" name="Shape 14"/>
          <p:cNvSpPr/>
          <p:nvPr/>
        </p:nvSpPr>
        <p:spPr>
          <a:xfrm>
            <a:off x="952500" y="7362825"/>
            <a:ext cx="8291959" cy="1485900"/>
          </a:xfrm>
          <a:prstGeom prst="roundRect">
            <a:avLst>
              <a:gd name="adj" fmla="val 7692"/>
            </a:avLst>
          </a:prstGeom>
          <a:solidFill>
            <a:srgbClr val="243140"/>
          </a:solidFill>
          <a:ln/>
        </p:spPr>
      </p:sp>
      <p:sp>
        <p:nvSpPr>
          <p:cNvPr id="17" name="Text 15"/>
          <p:cNvSpPr/>
          <p:nvPr/>
        </p:nvSpPr>
        <p:spPr>
          <a:xfrm>
            <a:off x="1219200" y="7572375"/>
            <a:ext cx="6249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RISK</a:t>
            </a:r>
            <a:endParaRPr lang="en-US" sz="1800" dirty="0"/>
          </a:p>
        </p:txBody>
      </p:sp>
      <p:sp>
        <p:nvSpPr>
          <p:cNvPr id="18" name="Text 16"/>
          <p:cNvSpPr/>
          <p:nvPr/>
        </p:nvSpPr>
        <p:spPr>
          <a:xfrm>
            <a:off x="1920329" y="7572375"/>
            <a:ext cx="5171137"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F6F7F4"/>
                </a:solidFill>
                <a:latin typeface="Bricolage Grotesque" pitchFamily="34" charset="0"/>
                <a:ea typeface="Bricolage Grotesque" pitchFamily="34" charset="-122"/>
                <a:cs typeface="Bricolage Grotesque" pitchFamily="34" charset="-120"/>
              </a:rPr>
              <a:t>Scope expands before value is proven</a:t>
            </a:r>
            <a:endParaRPr lang="en-US" sz="2025" dirty="0"/>
          </a:p>
        </p:txBody>
      </p:sp>
      <p:sp>
        <p:nvSpPr>
          <p:cNvPr id="19" name="Text 17"/>
          <p:cNvSpPr/>
          <p:nvPr/>
        </p:nvSpPr>
        <p:spPr>
          <a:xfrm>
            <a:off x="1219200" y="7953375"/>
            <a:ext cx="7991316" cy="7239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B9C4CC"/>
                </a:solidFill>
                <a:latin typeface="Source Serif 4" pitchFamily="34" charset="0"/>
                <a:ea typeface="Source Serif 4" pitchFamily="34" charset="-122"/>
                <a:cs typeface="Source Serif 4" pitchFamily="34" charset="-120"/>
              </a:rPr>
              <a:t>Mitigation: hard MVP boundary — three engines, one pilot domain, measurable pain first.</a:t>
            </a:r>
            <a:endParaRPr lang="en-US" sz="1875" dirty="0"/>
          </a:p>
        </p:txBody>
      </p:sp>
      <p:sp>
        <p:nvSpPr>
          <p:cNvPr id="20" name="Shape 18"/>
          <p:cNvSpPr/>
          <p:nvPr/>
        </p:nvSpPr>
        <p:spPr>
          <a:xfrm>
            <a:off x="9663559" y="2447925"/>
            <a:ext cx="7671941" cy="7077075"/>
          </a:xfrm>
          <a:prstGeom prst="roundRect">
            <a:avLst>
              <a:gd name="adj" fmla="val 2153"/>
            </a:avLst>
          </a:prstGeom>
          <a:solidFill>
            <a:srgbClr val="E3EFEA"/>
          </a:solidFill>
          <a:ln/>
        </p:spPr>
      </p:sp>
      <p:sp>
        <p:nvSpPr>
          <p:cNvPr id="21" name="Text 19"/>
          <p:cNvSpPr/>
          <p:nvPr/>
        </p:nvSpPr>
        <p:spPr>
          <a:xfrm>
            <a:off x="10044559" y="2790825"/>
            <a:ext cx="7600935" cy="342900"/>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E7C6B"/>
                </a:solidFill>
                <a:latin typeface="IBM Plex Mono" pitchFamily="34" charset="0"/>
                <a:ea typeface="IBM Plex Mono" pitchFamily="34" charset="-122"/>
                <a:cs typeface="IBM Plex Mono" pitchFamily="34" charset="-120"/>
              </a:rPr>
              <a:t>DECISIONS NEEDED FROM LEADERSHIP</a:t>
            </a:r>
            <a:endParaRPr lang="en-US" sz="1800" dirty="0"/>
          </a:p>
        </p:txBody>
      </p:sp>
      <p:sp>
        <p:nvSpPr>
          <p:cNvPr id="22" name="Shape 20"/>
          <p:cNvSpPr/>
          <p:nvPr/>
        </p:nvSpPr>
        <p:spPr>
          <a:xfrm>
            <a:off x="10044559" y="4238625"/>
            <a:ext cx="6909941" cy="9525"/>
          </a:xfrm>
          <a:prstGeom prst="rect">
            <a:avLst/>
          </a:prstGeom>
          <a:solidFill>
            <a:srgbClr val="C9D7D0"/>
          </a:solidFill>
          <a:ln/>
        </p:spPr>
      </p:sp>
      <p:sp>
        <p:nvSpPr>
          <p:cNvPr id="23" name="Text 21"/>
          <p:cNvSpPr/>
          <p:nvPr/>
        </p:nvSpPr>
        <p:spPr>
          <a:xfrm>
            <a:off x="10044559" y="340995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1</a:t>
            </a:r>
            <a:endParaRPr lang="en-US" sz="2100" dirty="0"/>
          </a:p>
        </p:txBody>
      </p:sp>
      <p:sp>
        <p:nvSpPr>
          <p:cNvPr id="24" name="Text 22"/>
          <p:cNvSpPr/>
          <p:nvPr/>
        </p:nvSpPr>
        <p:spPr>
          <a:xfrm>
            <a:off x="10635109" y="339090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Approve this target architecture as the missions' convergence point</a:t>
            </a:r>
            <a:endParaRPr lang="en-US" sz="2025" dirty="0"/>
          </a:p>
        </p:txBody>
      </p:sp>
      <p:sp>
        <p:nvSpPr>
          <p:cNvPr id="25" name="Shape 23"/>
          <p:cNvSpPr/>
          <p:nvPr/>
        </p:nvSpPr>
        <p:spPr>
          <a:xfrm>
            <a:off x="10044559" y="5238750"/>
            <a:ext cx="6909941" cy="9525"/>
          </a:xfrm>
          <a:prstGeom prst="rect">
            <a:avLst/>
          </a:prstGeom>
          <a:solidFill>
            <a:srgbClr val="C9D7D0"/>
          </a:solidFill>
          <a:ln/>
        </p:spPr>
      </p:sp>
      <p:sp>
        <p:nvSpPr>
          <p:cNvPr id="26" name="Text 24"/>
          <p:cNvSpPr/>
          <p:nvPr/>
        </p:nvSpPr>
        <p:spPr>
          <a:xfrm>
            <a:off x="10044559" y="441007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2</a:t>
            </a:r>
            <a:endParaRPr lang="en-US" sz="2100" dirty="0"/>
          </a:p>
        </p:txBody>
      </p:sp>
      <p:sp>
        <p:nvSpPr>
          <p:cNvPr id="27" name="Text 25"/>
          <p:cNvSpPr/>
          <p:nvPr/>
        </p:nvSpPr>
        <p:spPr>
          <a:xfrm>
            <a:off x="10635109" y="439102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Back the enterprise registry as naming authority now — every join depends on it</a:t>
            </a:r>
            <a:endParaRPr lang="en-US" sz="2025" dirty="0"/>
          </a:p>
        </p:txBody>
      </p:sp>
      <p:sp>
        <p:nvSpPr>
          <p:cNvPr id="28" name="Shape 26"/>
          <p:cNvSpPr/>
          <p:nvPr/>
        </p:nvSpPr>
        <p:spPr>
          <a:xfrm>
            <a:off x="10044559" y="6238875"/>
            <a:ext cx="6909941" cy="9525"/>
          </a:xfrm>
          <a:prstGeom prst="rect">
            <a:avLst/>
          </a:prstGeom>
          <a:solidFill>
            <a:srgbClr val="C9D7D0"/>
          </a:solidFill>
          <a:ln/>
        </p:spPr>
      </p:sp>
      <p:sp>
        <p:nvSpPr>
          <p:cNvPr id="29" name="Text 27"/>
          <p:cNvSpPr/>
          <p:nvPr/>
        </p:nvSpPr>
        <p:spPr>
          <a:xfrm>
            <a:off x="10044559" y="5410200"/>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3</a:t>
            </a:r>
            <a:endParaRPr lang="en-US" sz="2100" dirty="0"/>
          </a:p>
        </p:txBody>
      </p:sp>
      <p:sp>
        <p:nvSpPr>
          <p:cNvPr id="30" name="Text 28"/>
          <p:cNvSpPr/>
          <p:nvPr/>
        </p:nvSpPr>
        <p:spPr>
          <a:xfrm>
            <a:off x="10635109" y="5391150"/>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Hold the MVP boundary — month-9 gate scope does not grow</a:t>
            </a:r>
            <a:endParaRPr lang="en-US" sz="2025" dirty="0"/>
          </a:p>
        </p:txBody>
      </p:sp>
      <p:sp>
        <p:nvSpPr>
          <p:cNvPr id="31" name="Text 29"/>
          <p:cNvSpPr/>
          <p:nvPr/>
        </p:nvSpPr>
        <p:spPr>
          <a:xfrm>
            <a:off x="10044559" y="6410325"/>
            <a:ext cx="49530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4</a:t>
            </a:r>
            <a:endParaRPr lang="en-US" sz="2100" dirty="0"/>
          </a:p>
        </p:txBody>
      </p:sp>
      <p:sp>
        <p:nvSpPr>
          <p:cNvPr id="32" name="Text 30"/>
          <p:cNvSpPr/>
          <p:nvPr/>
        </p:nvSpPr>
        <p:spPr>
          <a:xfrm>
            <a:off x="10635109" y="6391275"/>
            <a:ext cx="6508973" cy="742950"/>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1B2530"/>
                </a:solidFill>
                <a:latin typeface="Source Serif 4" pitchFamily="34" charset="0"/>
                <a:ea typeface="Source Serif 4" pitchFamily="34" charset="-122"/>
                <a:cs typeface="Source Serif 4" pitchFamily="34" charset="-120"/>
              </a:rPr>
              <a:t>Fund the target run-rate: ~$21K/month infrastructure at scale</a:t>
            </a:r>
            <a:endParaRPr lang="en-US" sz="2025" dirty="0"/>
          </a:p>
        </p:txBody>
      </p:sp>
      <p:sp>
        <p:nvSpPr>
          <p:cNvPr id="33" name="Text 31"/>
          <p:cNvSpPr/>
          <p:nvPr/>
        </p:nvSpPr>
        <p:spPr>
          <a:xfrm>
            <a:off x="10044559" y="8124825"/>
            <a:ext cx="7117239" cy="1095375"/>
          </a:xfrm>
          <a:prstGeom prst="rect">
            <a:avLst/>
          </a:prstGeom>
          <a:noFill/>
          <a:ln/>
        </p:spPr>
        <p:txBody>
          <a:bodyPr wrap="square" lIns="25400" tIns="25400" rIns="25400" bIns="25400" rtlCol="0" anchor="t">
            <a:normAutofit/>
          </a:bodyPr>
          <a:lstStyle/>
          <a:p>
            <a:pPr algn="l" indent="0" marL="0">
              <a:lnSpc>
                <a:spcPct val="110294"/>
              </a:lnSpc>
              <a:buNone/>
            </a:pPr>
            <a:r>
              <a:rPr lang="en-US" sz="1875" dirty="0">
                <a:solidFill>
                  <a:srgbClr val="3D4A55"/>
                </a:solidFill>
                <a:latin typeface="Source Serif 4" pitchFamily="34" charset="0"/>
                <a:ea typeface="Source Serif 4" pitchFamily="34" charset="-122"/>
                <a:cs typeface="Source Serif 4" pitchFamily="34" charset="-120"/>
              </a:rPr>
              <a:t>Go/no-go at the month-9 gate: saves banked and time-to-detect down vs the Phase-0 baseline — decided on the scorecard, not on architecture progress.</a:t>
            </a:r>
            <a:endParaRPr lang="en-US" sz="18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530"/>
        </a:solidFill>
      </p:bgPr>
    </p:bg>
    <p:spTree>
      <p:nvGrpSpPr>
        <p:cNvPr id="1" name=""/>
        <p:cNvGrpSpPr/>
        <p:nvPr/>
      </p:nvGrpSpPr>
      <p:grpSpPr>
        <a:xfrm>
          <a:off x="0" y="0"/>
          <a:ext cx="0" cy="0"/>
          <a:chOff x="0" y="0"/>
          <a:chExt cx="0" cy="0"/>
        </a:xfrm>
      </p:grpSpPr>
      <p:sp>
        <p:nvSpPr>
          <p:cNvPr id="2" name="Text 0"/>
          <p:cNvSpPr/>
          <p:nvPr/>
        </p:nvSpPr>
        <p:spPr>
          <a:xfrm>
            <a:off x="1143000" y="3719512"/>
            <a:ext cx="17602200" cy="3429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34B39B"/>
                </a:solidFill>
                <a:latin typeface="IBM Plex Mono" pitchFamily="34" charset="0"/>
                <a:ea typeface="IBM Plex Mono" pitchFamily="34" charset="-122"/>
                <a:cs typeface="IBM Plex Mono" pitchFamily="34" charset="-120"/>
              </a:rPr>
              <a:t>APPENDIX</a:t>
            </a:r>
            <a:endParaRPr lang="en-US" sz="1800" dirty="0"/>
          </a:p>
        </p:txBody>
      </p:sp>
      <p:sp>
        <p:nvSpPr>
          <p:cNvPr id="3" name="Text 1"/>
          <p:cNvSpPr/>
          <p:nvPr/>
        </p:nvSpPr>
        <p:spPr>
          <a:xfrm>
            <a:off x="1143000" y="4367213"/>
            <a:ext cx="15716250" cy="981075"/>
          </a:xfrm>
          <a:prstGeom prst="rect">
            <a:avLst/>
          </a:prstGeom>
          <a:noFill/>
          <a:ln/>
        </p:spPr>
        <p:txBody>
          <a:bodyPr wrap="square" lIns="25400" tIns="25400" rIns="25400" bIns="25400" rtlCol="0" anchor="t">
            <a:normAutofit/>
          </a:bodyPr>
          <a:lstStyle/>
          <a:p>
            <a:pPr algn="l" indent="0" marL="0">
              <a:lnSpc>
                <a:spcPct val="86817"/>
              </a:lnSpc>
              <a:buNone/>
            </a:pPr>
            <a:r>
              <a:rPr lang="en-US" sz="7200" b="1" spc="-144" kern="0" dirty="0">
                <a:solidFill>
                  <a:srgbClr val="F6F7F4"/>
                </a:solidFill>
                <a:latin typeface="Bricolage Grotesque" pitchFamily="34" charset="0"/>
                <a:ea typeface="Bricolage Grotesque" pitchFamily="34" charset="-122"/>
                <a:cs typeface="Bricolage Grotesque" pitchFamily="34" charset="-120"/>
              </a:rPr>
              <a:t>Appendix — the supporting detail</a:t>
            </a:r>
            <a:endParaRPr lang="en-US" sz="7200" dirty="0"/>
          </a:p>
        </p:txBody>
      </p:sp>
      <p:sp>
        <p:nvSpPr>
          <p:cNvPr id="4" name="Text 2"/>
          <p:cNvSpPr/>
          <p:nvPr/>
        </p:nvSpPr>
        <p:spPr>
          <a:xfrm>
            <a:off x="1143000" y="5729288"/>
            <a:ext cx="12263438" cy="971550"/>
          </a:xfrm>
          <a:prstGeom prst="rect">
            <a:avLst/>
          </a:prstGeom>
          <a:noFill/>
          <a:ln/>
        </p:spPr>
        <p:txBody>
          <a:bodyPr wrap="square" lIns="25400" tIns="25400" rIns="25400" bIns="25400" rtlCol="0" anchor="t">
            <a:normAutofit/>
          </a:bodyPr>
          <a:lstStyle/>
          <a:p>
            <a:pPr algn="l" indent="0" marL="0">
              <a:lnSpc>
                <a:spcPct val="107174"/>
              </a:lnSpc>
              <a:buNone/>
            </a:pPr>
            <a:r>
              <a:rPr lang="en-US" sz="2550" dirty="0">
                <a:solidFill>
                  <a:srgbClr val="B9C4CC"/>
                </a:solidFill>
                <a:latin typeface="Source Serif 4" pitchFamily="34" charset="0"/>
                <a:ea typeface="Source Serif 4" pitchFamily="34" charset="-122"/>
                <a:cs typeface="Source Serif 4" pitchFamily="34" charset="-120"/>
              </a:rPr>
              <a:t>Alternate roadmap views, the mission deep dives with worked examples, and quantified reference tables — kept for the questions that go one level deeper.</a:t>
            </a:r>
            <a:endParaRPr lang="en-US" sz="2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334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TRUST MODEL IN FULL</a:t>
            </a:r>
            <a:endParaRPr lang="en-US" sz="1800" dirty="0"/>
          </a:p>
        </p:txBody>
      </p:sp>
      <p:sp>
        <p:nvSpPr>
          <p:cNvPr id="3" name="Text 1"/>
          <p:cNvSpPr/>
          <p:nvPr/>
        </p:nvSpPr>
        <p:spPr>
          <a:xfrm>
            <a:off x="952500" y="9525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Trust is earned, never asserted</a:t>
            </a:r>
            <a:endParaRPr lang="en-US" sz="4200" dirty="0"/>
          </a:p>
        </p:txBody>
      </p:sp>
      <p:sp>
        <p:nvSpPr>
          <p:cNvPr id="4" name="Text 2"/>
          <p:cNvSpPr/>
          <p:nvPr/>
        </p:nvSpPr>
        <p:spPr>
          <a:xfrm>
            <a:off x="952500" y="1581150"/>
            <a:ext cx="18021300" cy="371475"/>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Two axes: how strong the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evidence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is, and how much the platform is </a:t>
            </a:r>
            <a:pPr algn="l" indent="0" marL="0">
              <a:lnSpc>
                <a:spcPct val="97500"/>
              </a:lnSpc>
              <a:buNone/>
            </a:pPr>
            <a:r>
              <a:rPr lang="en-US" sz="1950" b="1" dirty="0">
                <a:solidFill>
                  <a:srgbClr val="3D4A55"/>
                </a:solidFill>
                <a:latin typeface="Source Serif 4" pitchFamily="34" charset="0"/>
                <a:ea typeface="Source Serif 4" pitchFamily="34" charset="-122"/>
                <a:cs typeface="Source Serif 4" pitchFamily="34" charset="-120"/>
              </a:rPr>
              <a:t>allowed to do </a:t>
            </a:r>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with it.</a:t>
            </a:r>
            <a:endParaRPr lang="en-US" sz="1950" dirty="0"/>
          </a:p>
        </p:txBody>
      </p:sp>
      <p:sp>
        <p:nvSpPr>
          <p:cNvPr id="5" name="Shape 3"/>
          <p:cNvSpPr/>
          <p:nvPr/>
        </p:nvSpPr>
        <p:spPr>
          <a:xfrm>
            <a:off x="952500" y="3448050"/>
            <a:ext cx="3238500" cy="28575"/>
          </a:xfrm>
          <a:prstGeom prst="rect">
            <a:avLst/>
          </a:prstGeom>
          <a:solidFill>
            <a:srgbClr val="1B2530"/>
          </a:solidFill>
          <a:ln/>
        </p:spPr>
      </p:sp>
      <p:sp>
        <p:nvSpPr>
          <p:cNvPr id="6" name="Text 4"/>
          <p:cNvSpPr/>
          <p:nvPr/>
        </p:nvSpPr>
        <p:spPr>
          <a:xfrm>
            <a:off x="952500" y="3067050"/>
            <a:ext cx="22230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EVIDENCE TIER</a:t>
            </a:r>
            <a:endParaRPr lang="en-US" sz="1800" dirty="0"/>
          </a:p>
        </p:txBody>
      </p:sp>
      <p:sp>
        <p:nvSpPr>
          <p:cNvPr id="7" name="Shape 5"/>
          <p:cNvSpPr/>
          <p:nvPr/>
        </p:nvSpPr>
        <p:spPr>
          <a:xfrm>
            <a:off x="4191000" y="3448050"/>
            <a:ext cx="4172843" cy="28575"/>
          </a:xfrm>
          <a:prstGeom prst="rect">
            <a:avLst/>
          </a:prstGeom>
          <a:solidFill>
            <a:srgbClr val="1B2530"/>
          </a:solidFill>
          <a:ln/>
        </p:spPr>
      </p:sp>
      <p:sp>
        <p:nvSpPr>
          <p:cNvPr id="8" name="Text 6"/>
          <p:cNvSpPr/>
          <p:nvPr/>
        </p:nvSpPr>
        <p:spPr>
          <a:xfrm>
            <a:off x="4362450" y="3067050"/>
            <a:ext cx="153904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BACKED BY</a:t>
            </a:r>
            <a:endParaRPr lang="en-US" sz="1800" dirty="0"/>
          </a:p>
        </p:txBody>
      </p:sp>
      <p:sp>
        <p:nvSpPr>
          <p:cNvPr id="9" name="Shape 7"/>
          <p:cNvSpPr/>
          <p:nvPr/>
        </p:nvSpPr>
        <p:spPr>
          <a:xfrm>
            <a:off x="8363843" y="3448050"/>
            <a:ext cx="4172843" cy="28575"/>
          </a:xfrm>
          <a:prstGeom prst="rect">
            <a:avLst/>
          </a:prstGeom>
          <a:solidFill>
            <a:srgbClr val="1B2530"/>
          </a:solidFill>
          <a:ln/>
        </p:spPr>
      </p:sp>
      <p:sp>
        <p:nvSpPr>
          <p:cNvPr id="10" name="Text 8"/>
          <p:cNvSpPr/>
          <p:nvPr/>
        </p:nvSpPr>
        <p:spPr>
          <a:xfrm>
            <a:off x="8535293" y="3067050"/>
            <a:ext cx="136796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APM PEER</a:t>
            </a:r>
            <a:endParaRPr lang="en-US" sz="1800" dirty="0"/>
          </a:p>
        </p:txBody>
      </p:sp>
      <p:sp>
        <p:nvSpPr>
          <p:cNvPr id="11" name="Shape 9"/>
          <p:cNvSpPr/>
          <p:nvPr/>
        </p:nvSpPr>
        <p:spPr>
          <a:xfrm>
            <a:off x="12536686" y="3448050"/>
            <a:ext cx="4798814" cy="28575"/>
          </a:xfrm>
          <a:prstGeom prst="rect">
            <a:avLst/>
          </a:prstGeom>
          <a:solidFill>
            <a:srgbClr val="1B2530"/>
          </a:solidFill>
          <a:ln/>
        </p:spPr>
      </p:sp>
      <p:sp>
        <p:nvSpPr>
          <p:cNvPr id="12" name="Text 10"/>
          <p:cNvSpPr/>
          <p:nvPr/>
        </p:nvSpPr>
        <p:spPr>
          <a:xfrm>
            <a:off x="12708136" y="3067050"/>
            <a:ext cx="1164431"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UNLOCKS</a:t>
            </a:r>
            <a:endParaRPr lang="en-US" sz="1800" dirty="0"/>
          </a:p>
        </p:txBody>
      </p:sp>
      <p:sp>
        <p:nvSpPr>
          <p:cNvPr id="13" name="Shape 11"/>
          <p:cNvSpPr/>
          <p:nvPr/>
        </p:nvSpPr>
        <p:spPr>
          <a:xfrm>
            <a:off x="952500" y="4800600"/>
            <a:ext cx="3238500" cy="9525"/>
          </a:xfrm>
          <a:prstGeom prst="rect">
            <a:avLst/>
          </a:prstGeom>
          <a:solidFill>
            <a:srgbClr val="D9DED7"/>
          </a:solidFill>
          <a:ln/>
        </p:spPr>
      </p:sp>
      <p:sp>
        <p:nvSpPr>
          <p:cNvPr id="14" name="Text 12"/>
          <p:cNvSpPr/>
          <p:nvPr/>
        </p:nvSpPr>
        <p:spPr>
          <a:xfrm>
            <a:off x="952500" y="3800475"/>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Inferred</a:t>
            </a:r>
            <a:endParaRPr lang="en-US" sz="2250" dirty="0"/>
          </a:p>
        </p:txBody>
      </p:sp>
      <p:sp>
        <p:nvSpPr>
          <p:cNvPr id="15" name="Text 13"/>
          <p:cNvSpPr/>
          <p:nvPr/>
        </p:nvSpPr>
        <p:spPr>
          <a:xfrm>
            <a:off x="952500" y="4181475"/>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platform guessed</a:t>
            </a:r>
            <a:endParaRPr lang="en-US" sz="1800" dirty="0"/>
          </a:p>
        </p:txBody>
      </p:sp>
      <p:sp>
        <p:nvSpPr>
          <p:cNvPr id="16" name="Shape 14"/>
          <p:cNvSpPr/>
          <p:nvPr/>
        </p:nvSpPr>
        <p:spPr>
          <a:xfrm>
            <a:off x="4191000" y="4800600"/>
            <a:ext cx="4172843" cy="9525"/>
          </a:xfrm>
          <a:prstGeom prst="rect">
            <a:avLst/>
          </a:prstGeom>
          <a:solidFill>
            <a:srgbClr val="D9DED7"/>
          </a:solidFill>
          <a:ln/>
        </p:spPr>
      </p:sp>
      <p:sp>
        <p:nvSpPr>
          <p:cNvPr id="17" name="Text 15"/>
          <p:cNvSpPr/>
          <p:nvPr/>
        </p:nvSpPr>
        <p:spPr>
          <a:xfrm>
            <a:off x="4362450" y="3805237"/>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Repo, config &amp; catalog scans — no producer involvement</a:t>
            </a:r>
            <a:endParaRPr lang="en-US" sz="1875" dirty="0"/>
          </a:p>
        </p:txBody>
      </p:sp>
      <p:sp>
        <p:nvSpPr>
          <p:cNvPr id="18" name="Shape 16"/>
          <p:cNvSpPr/>
          <p:nvPr/>
        </p:nvSpPr>
        <p:spPr>
          <a:xfrm>
            <a:off x="8363843" y="4800600"/>
            <a:ext cx="4172843" cy="9525"/>
          </a:xfrm>
          <a:prstGeom prst="rect">
            <a:avLst/>
          </a:prstGeom>
          <a:solidFill>
            <a:srgbClr val="D9DED7"/>
          </a:solidFill>
          <a:ln/>
        </p:spPr>
      </p:sp>
      <p:sp>
        <p:nvSpPr>
          <p:cNvPr id="19" name="Text 17"/>
          <p:cNvSpPr/>
          <p:nvPr/>
        </p:nvSpPr>
        <p:spPr>
          <a:xfrm>
            <a:off x="8535293" y="3833812"/>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auto-discovered service, unverified</a:t>
            </a:r>
            <a:endParaRPr lang="en-US" sz="1800" dirty="0"/>
          </a:p>
        </p:txBody>
      </p:sp>
      <p:sp>
        <p:nvSpPr>
          <p:cNvPr id="20" name="Shape 18"/>
          <p:cNvSpPr/>
          <p:nvPr/>
        </p:nvSpPr>
        <p:spPr>
          <a:xfrm>
            <a:off x="12536686" y="4800600"/>
            <a:ext cx="4798814" cy="9525"/>
          </a:xfrm>
          <a:prstGeom prst="rect">
            <a:avLst/>
          </a:prstGeom>
          <a:solidFill>
            <a:srgbClr val="D9DED7"/>
          </a:solidFill>
          <a:ln/>
        </p:spPr>
      </p:sp>
      <p:sp>
        <p:nvSpPr>
          <p:cNvPr id="21" name="Shape 19"/>
          <p:cNvSpPr/>
          <p:nvPr/>
        </p:nvSpPr>
        <p:spPr>
          <a:xfrm>
            <a:off x="12708136" y="3938588"/>
            <a:ext cx="1344960" cy="400050"/>
          </a:xfrm>
          <a:prstGeom prst="roundRect">
            <a:avLst>
              <a:gd name="adj" fmla="val 14286"/>
            </a:avLst>
          </a:prstGeom>
          <a:solidFill>
            <a:srgbClr val="F0F1EE"/>
          </a:solidFill>
          <a:ln w="9525">
            <a:solidFill>
              <a:srgbClr val="D9DED7"/>
            </a:solidFill>
            <a:prstDash val="solid"/>
          </a:ln>
        </p:spPr>
      </p:sp>
      <p:sp>
        <p:nvSpPr>
          <p:cNvPr id="22" name="Text 20"/>
          <p:cNvSpPr/>
          <p:nvPr/>
        </p:nvSpPr>
        <p:spPr>
          <a:xfrm>
            <a:off x="12831961" y="3986213"/>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G0 watch</a:t>
            </a:r>
            <a:endParaRPr lang="en-US" sz="1800" dirty="0"/>
          </a:p>
        </p:txBody>
      </p:sp>
      <p:sp>
        <p:nvSpPr>
          <p:cNvPr id="23" name="Text 21"/>
          <p:cNvSpPr/>
          <p:nvPr/>
        </p:nvSpPr>
        <p:spPr>
          <a:xfrm>
            <a:off x="14167396" y="3843338"/>
            <a:ext cx="326314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visibility &amp; coverage counts only</a:t>
            </a:r>
            <a:endParaRPr lang="en-US" sz="1800" dirty="0"/>
          </a:p>
        </p:txBody>
      </p:sp>
      <p:sp>
        <p:nvSpPr>
          <p:cNvPr id="24" name="Shape 22"/>
          <p:cNvSpPr/>
          <p:nvPr/>
        </p:nvSpPr>
        <p:spPr>
          <a:xfrm>
            <a:off x="952500" y="6134100"/>
            <a:ext cx="3238500" cy="9525"/>
          </a:xfrm>
          <a:prstGeom prst="rect">
            <a:avLst/>
          </a:prstGeom>
          <a:solidFill>
            <a:srgbClr val="D9DED7"/>
          </a:solidFill>
          <a:ln/>
        </p:spPr>
      </p:sp>
      <p:sp>
        <p:nvSpPr>
          <p:cNvPr id="25" name="Text 23"/>
          <p:cNvSpPr/>
          <p:nvPr/>
        </p:nvSpPr>
        <p:spPr>
          <a:xfrm>
            <a:off x="952500" y="5133975"/>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Platform-attested</a:t>
            </a:r>
            <a:endParaRPr lang="en-US" sz="2250" dirty="0"/>
          </a:p>
        </p:txBody>
      </p:sp>
      <p:sp>
        <p:nvSpPr>
          <p:cNvPr id="26" name="Text 24"/>
          <p:cNvSpPr/>
          <p:nvPr/>
        </p:nvSpPr>
        <p:spPr>
          <a:xfrm>
            <a:off x="952500" y="5514975"/>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platform saw it</a:t>
            </a:r>
            <a:endParaRPr lang="en-US" sz="1800" dirty="0"/>
          </a:p>
        </p:txBody>
      </p:sp>
      <p:sp>
        <p:nvSpPr>
          <p:cNvPr id="27" name="Shape 25"/>
          <p:cNvSpPr/>
          <p:nvPr/>
        </p:nvSpPr>
        <p:spPr>
          <a:xfrm>
            <a:off x="4191000" y="6134100"/>
            <a:ext cx="4172843" cy="9525"/>
          </a:xfrm>
          <a:prstGeom prst="rect">
            <a:avLst/>
          </a:prstGeom>
          <a:solidFill>
            <a:srgbClr val="D9DED7"/>
          </a:solidFill>
          <a:ln/>
        </p:spPr>
      </p:sp>
      <p:sp>
        <p:nvSpPr>
          <p:cNvPr id="28" name="Text 26"/>
          <p:cNvSpPr/>
          <p:nvPr/>
        </p:nvSpPr>
        <p:spPr>
          <a:xfrm>
            <a:off x="4362450" y="5138738"/>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Deploy events, traces, Kafka principals, evidence stream</a:t>
            </a:r>
            <a:endParaRPr lang="en-US" sz="1875" dirty="0"/>
          </a:p>
        </p:txBody>
      </p:sp>
      <p:sp>
        <p:nvSpPr>
          <p:cNvPr id="29" name="Shape 27"/>
          <p:cNvSpPr/>
          <p:nvPr/>
        </p:nvSpPr>
        <p:spPr>
          <a:xfrm>
            <a:off x="8363843" y="6134100"/>
            <a:ext cx="4172843" cy="9525"/>
          </a:xfrm>
          <a:prstGeom prst="rect">
            <a:avLst/>
          </a:prstGeom>
          <a:solidFill>
            <a:srgbClr val="D9DED7"/>
          </a:solidFill>
          <a:ln/>
        </p:spPr>
      </p:sp>
      <p:sp>
        <p:nvSpPr>
          <p:cNvPr id="30" name="Text 28"/>
          <p:cNvSpPr/>
          <p:nvPr/>
        </p:nvSpPr>
        <p:spPr>
          <a:xfrm>
            <a:off x="8535293" y="5167313"/>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agent-instrumented, deploy markers on</a:t>
            </a:r>
            <a:endParaRPr lang="en-US" sz="1800" dirty="0"/>
          </a:p>
        </p:txBody>
      </p:sp>
      <p:sp>
        <p:nvSpPr>
          <p:cNvPr id="31" name="Shape 29"/>
          <p:cNvSpPr/>
          <p:nvPr/>
        </p:nvSpPr>
        <p:spPr>
          <a:xfrm>
            <a:off x="12536686" y="6134100"/>
            <a:ext cx="4798814" cy="9525"/>
          </a:xfrm>
          <a:prstGeom prst="rect">
            <a:avLst/>
          </a:prstGeom>
          <a:solidFill>
            <a:srgbClr val="D9DED7"/>
          </a:solidFill>
          <a:ln/>
        </p:spPr>
      </p:sp>
      <p:sp>
        <p:nvSpPr>
          <p:cNvPr id="32" name="Shape 30"/>
          <p:cNvSpPr/>
          <p:nvPr/>
        </p:nvSpPr>
        <p:spPr>
          <a:xfrm>
            <a:off x="12708136" y="5272088"/>
            <a:ext cx="1207889" cy="400050"/>
          </a:xfrm>
          <a:prstGeom prst="roundRect">
            <a:avLst>
              <a:gd name="adj" fmla="val 14286"/>
            </a:avLst>
          </a:prstGeom>
          <a:solidFill>
            <a:srgbClr val="FBF3E4"/>
          </a:solidFill>
          <a:ln w="9525">
            <a:solidFill>
              <a:srgbClr val="B97417"/>
            </a:solidFill>
            <a:prstDash val="solid"/>
          </a:ln>
        </p:spPr>
      </p:sp>
      <p:sp>
        <p:nvSpPr>
          <p:cNvPr id="33" name="Text 31"/>
          <p:cNvSpPr/>
          <p:nvPr/>
        </p:nvSpPr>
        <p:spPr>
          <a:xfrm>
            <a:off x="12831961" y="5319713"/>
            <a:ext cx="10364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G1 warn</a:t>
            </a:r>
            <a:endParaRPr lang="en-US" sz="1800" dirty="0"/>
          </a:p>
        </p:txBody>
      </p:sp>
      <p:sp>
        <p:nvSpPr>
          <p:cNvPr id="34" name="Text 32"/>
          <p:cNvSpPr/>
          <p:nvPr/>
        </p:nvSpPr>
        <p:spPr>
          <a:xfrm>
            <a:off x="14030325" y="5176838"/>
            <a:ext cx="3404330"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alerts, blast-radius attribution, RCA candidates</a:t>
            </a:r>
            <a:endParaRPr lang="en-US" sz="1800" dirty="0"/>
          </a:p>
        </p:txBody>
      </p:sp>
      <p:sp>
        <p:nvSpPr>
          <p:cNvPr id="35" name="Text 33"/>
          <p:cNvSpPr/>
          <p:nvPr/>
        </p:nvSpPr>
        <p:spPr>
          <a:xfrm>
            <a:off x="952500" y="6472238"/>
            <a:ext cx="339471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Bricolage Grotesque" pitchFamily="34" charset="0"/>
                <a:ea typeface="Bricolage Grotesque" pitchFamily="34" charset="-122"/>
                <a:cs typeface="Bricolage Grotesque" pitchFamily="34" charset="-120"/>
              </a:rPr>
              <a:t>Producer-attested</a:t>
            </a:r>
            <a:endParaRPr lang="en-US" sz="2250" dirty="0"/>
          </a:p>
        </p:txBody>
      </p:sp>
      <p:sp>
        <p:nvSpPr>
          <p:cNvPr id="36" name="Text 34"/>
          <p:cNvSpPr/>
          <p:nvPr/>
        </p:nvSpPr>
        <p:spPr>
          <a:xfrm>
            <a:off x="952500" y="6853238"/>
            <a:ext cx="3394710"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the owner signed it</a:t>
            </a:r>
            <a:endParaRPr lang="en-US" sz="1800" dirty="0"/>
          </a:p>
        </p:txBody>
      </p:sp>
      <p:sp>
        <p:nvSpPr>
          <p:cNvPr id="37" name="Text 35"/>
          <p:cNvSpPr/>
          <p:nvPr/>
        </p:nvSpPr>
        <p:spPr>
          <a:xfrm>
            <a:off x="4362450" y="6477000"/>
            <a:ext cx="4121435"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Accepted contract, event_time, producer identity field</a:t>
            </a:r>
            <a:endParaRPr lang="en-US" sz="1875" dirty="0"/>
          </a:p>
        </p:txBody>
      </p:sp>
      <p:sp>
        <p:nvSpPr>
          <p:cNvPr id="38" name="Text 36"/>
          <p:cNvSpPr/>
          <p:nvPr/>
        </p:nvSpPr>
        <p:spPr>
          <a:xfrm>
            <a:off x="8535293" y="6505575"/>
            <a:ext cx="4121435" cy="6477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5B6873"/>
                </a:solidFill>
                <a:latin typeface="IBM Plex Mono" pitchFamily="34" charset="0"/>
                <a:ea typeface="IBM Plex Mono" pitchFamily="34" charset="-122"/>
                <a:cs typeface="IBM Plex Mono" pitchFamily="34" charset="-120"/>
              </a:rPr>
              <a:t>SLO signed by the service owner</a:t>
            </a:r>
            <a:endParaRPr lang="en-US" sz="1800" dirty="0"/>
          </a:p>
        </p:txBody>
      </p:sp>
      <p:sp>
        <p:nvSpPr>
          <p:cNvPr id="39" name="Shape 37"/>
          <p:cNvSpPr/>
          <p:nvPr/>
        </p:nvSpPr>
        <p:spPr>
          <a:xfrm>
            <a:off x="12708136" y="6619875"/>
            <a:ext cx="2011710" cy="381000"/>
          </a:xfrm>
          <a:prstGeom prst="roundRect">
            <a:avLst>
              <a:gd name="adj" fmla="val 15000"/>
            </a:avLst>
          </a:prstGeom>
          <a:solidFill>
            <a:srgbClr val="0E7C6B"/>
          </a:solidFill>
          <a:ln/>
        </p:spPr>
      </p:sp>
      <p:sp>
        <p:nvSpPr>
          <p:cNvPr id="40" name="Text 38"/>
          <p:cNvSpPr/>
          <p:nvPr/>
        </p:nvSpPr>
        <p:spPr>
          <a:xfrm>
            <a:off x="12822436" y="6657975"/>
            <a:ext cx="18593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F6F7F4"/>
                </a:solidFill>
                <a:latin typeface="IBM Plex Mono" pitchFamily="34" charset="0"/>
                <a:ea typeface="IBM Plex Mono" pitchFamily="34" charset="-122"/>
                <a:cs typeface="IBM Plex Mono" pitchFamily="34" charset="-120"/>
              </a:rPr>
              <a:t>G2–G3 enforce</a:t>
            </a:r>
            <a:endParaRPr lang="en-US" sz="1800" dirty="0"/>
          </a:p>
        </p:txBody>
      </p:sp>
      <p:sp>
        <p:nvSpPr>
          <p:cNvPr id="41" name="Text 39"/>
          <p:cNvSpPr/>
          <p:nvPr/>
        </p:nvSpPr>
        <p:spPr>
          <a:xfrm>
            <a:off x="14834146" y="6367463"/>
            <a:ext cx="2577554"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soft-fail lower envs → hard block in prod; deterministic RCA</a:t>
            </a:r>
            <a:endParaRPr lang="en-US" sz="1800" dirty="0"/>
          </a:p>
        </p:txBody>
      </p:sp>
      <p:sp>
        <p:nvSpPr>
          <p:cNvPr id="42" name="Shape 40"/>
          <p:cNvSpPr/>
          <p:nvPr/>
        </p:nvSpPr>
        <p:spPr>
          <a:xfrm>
            <a:off x="952500" y="7805738"/>
            <a:ext cx="4105275" cy="885825"/>
          </a:xfrm>
          <a:custGeom>
            <a:avLst/>
            <a:gdLst/>
            <a:ahLst/>
            <a:cxnLst/>
            <a:rect l="l" t="t" r="r" b="b"/>
            <a:pathLst>
              <a:path w="4105275" h="885825">
                <a:moveTo>
                  <a:pt x="95250" y="0"/>
                </a:moveTo>
                <a:lnTo>
                  <a:pt x="4105275" y="0"/>
                </a:lnTo>
                <a:lnTo>
                  <a:pt x="4105275" y="885825"/>
                </a:lnTo>
                <a:lnTo>
                  <a:pt x="95250" y="885825"/>
                </a:lnTo>
                <a:arcTo hR="95250" wR="95250" stAng="5400000" swAng="5400000"/>
                <a:lnTo>
                  <a:pt x="0" y="95250"/>
                </a:lnTo>
                <a:arcTo hR="95250" wR="95250" stAng="10800000" swAng="5400000"/>
                <a:close/>
              </a:path>
            </a:pathLst>
          </a:custGeom>
          <a:solidFill>
            <a:srgbClr val="F0F1EE"/>
          </a:solidFill>
          <a:ln w="9525">
            <a:solidFill>
              <a:srgbClr val="D9DED7"/>
            </a:solidFill>
            <a:prstDash val="solid"/>
          </a:ln>
        </p:spPr>
      </p:sp>
      <p:sp>
        <p:nvSpPr>
          <p:cNvPr id="43" name="Text 41"/>
          <p:cNvSpPr/>
          <p:nvPr/>
        </p:nvSpPr>
        <p:spPr>
          <a:xfrm>
            <a:off x="115252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8B99A4"/>
                </a:solidFill>
                <a:latin typeface="IBM Plex Mono" pitchFamily="34" charset="0"/>
                <a:ea typeface="IBM Plex Mono" pitchFamily="34" charset="-122"/>
                <a:cs typeface="IBM Plex Mono" pitchFamily="34" charset="-120"/>
              </a:rPr>
              <a:t>G0 · WATCH</a:t>
            </a:r>
            <a:endParaRPr lang="en-US" sz="1875" dirty="0"/>
          </a:p>
        </p:txBody>
      </p:sp>
      <p:sp>
        <p:nvSpPr>
          <p:cNvPr id="44" name="Text 42"/>
          <p:cNvSpPr/>
          <p:nvPr/>
        </p:nvSpPr>
        <p:spPr>
          <a:xfrm>
            <a:off x="115252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evidence flows, nothing fires</a:t>
            </a:r>
            <a:endParaRPr lang="en-US" sz="1800" dirty="0"/>
          </a:p>
        </p:txBody>
      </p:sp>
      <p:sp>
        <p:nvSpPr>
          <p:cNvPr id="45" name="Shape 43"/>
          <p:cNvSpPr/>
          <p:nvPr/>
        </p:nvSpPr>
        <p:spPr>
          <a:xfrm>
            <a:off x="5057775" y="7805738"/>
            <a:ext cx="4095750" cy="885825"/>
          </a:xfrm>
          <a:prstGeom prst="rect">
            <a:avLst/>
          </a:prstGeom>
          <a:solidFill>
            <a:srgbClr val="FBF3E4"/>
          </a:solidFill>
          <a:ln/>
        </p:spPr>
      </p:sp>
      <p:sp>
        <p:nvSpPr>
          <p:cNvPr id="46" name="Shape 44"/>
          <p:cNvSpPr/>
          <p:nvPr/>
        </p:nvSpPr>
        <p:spPr>
          <a:xfrm>
            <a:off x="5057775" y="8682038"/>
            <a:ext cx="4095750" cy="9525"/>
          </a:xfrm>
          <a:prstGeom prst="rect">
            <a:avLst/>
          </a:prstGeom>
          <a:solidFill>
            <a:srgbClr val="B97417"/>
          </a:solidFill>
          <a:ln/>
        </p:spPr>
      </p:sp>
      <p:sp>
        <p:nvSpPr>
          <p:cNvPr id="47" name="Shape 45"/>
          <p:cNvSpPr/>
          <p:nvPr/>
        </p:nvSpPr>
        <p:spPr>
          <a:xfrm>
            <a:off x="5057775" y="7805738"/>
            <a:ext cx="4095750" cy="9525"/>
          </a:xfrm>
          <a:prstGeom prst="rect">
            <a:avLst/>
          </a:prstGeom>
          <a:solidFill>
            <a:srgbClr val="B97417"/>
          </a:solidFill>
          <a:ln/>
        </p:spPr>
      </p:sp>
      <p:sp>
        <p:nvSpPr>
          <p:cNvPr id="48" name="Shape 46"/>
          <p:cNvSpPr/>
          <p:nvPr/>
        </p:nvSpPr>
        <p:spPr>
          <a:xfrm>
            <a:off x="9144000" y="7805738"/>
            <a:ext cx="9525" cy="885825"/>
          </a:xfrm>
          <a:prstGeom prst="rect">
            <a:avLst/>
          </a:prstGeom>
          <a:solidFill>
            <a:srgbClr val="B97417"/>
          </a:solidFill>
          <a:ln/>
        </p:spPr>
      </p:sp>
      <p:sp>
        <p:nvSpPr>
          <p:cNvPr id="49" name="Text 47"/>
          <p:cNvSpPr/>
          <p:nvPr/>
        </p:nvSpPr>
        <p:spPr>
          <a:xfrm>
            <a:off x="524827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97417"/>
                </a:solidFill>
                <a:latin typeface="IBM Plex Mono" pitchFamily="34" charset="0"/>
                <a:ea typeface="IBM Plex Mono" pitchFamily="34" charset="-122"/>
                <a:cs typeface="IBM Plex Mono" pitchFamily="34" charset="-120"/>
              </a:rPr>
              <a:t>G1 · WARN</a:t>
            </a:r>
            <a:endParaRPr lang="en-US" sz="1875" dirty="0"/>
          </a:p>
        </p:txBody>
      </p:sp>
      <p:sp>
        <p:nvSpPr>
          <p:cNvPr id="50" name="Text 48"/>
          <p:cNvSpPr/>
          <p:nvPr/>
        </p:nvSpPr>
        <p:spPr>
          <a:xfrm>
            <a:off x="524827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alerts on, nothing held</a:t>
            </a:r>
            <a:endParaRPr lang="en-US" sz="1800" dirty="0"/>
          </a:p>
        </p:txBody>
      </p:sp>
      <p:sp>
        <p:nvSpPr>
          <p:cNvPr id="51" name="Shape 49"/>
          <p:cNvSpPr/>
          <p:nvPr/>
        </p:nvSpPr>
        <p:spPr>
          <a:xfrm>
            <a:off x="9153525" y="7805738"/>
            <a:ext cx="4095750" cy="885825"/>
          </a:xfrm>
          <a:prstGeom prst="rect">
            <a:avLst/>
          </a:prstGeom>
          <a:solidFill>
            <a:srgbClr val="DFF0EB"/>
          </a:solidFill>
          <a:ln/>
        </p:spPr>
      </p:sp>
      <p:sp>
        <p:nvSpPr>
          <p:cNvPr id="52" name="Shape 50"/>
          <p:cNvSpPr/>
          <p:nvPr/>
        </p:nvSpPr>
        <p:spPr>
          <a:xfrm>
            <a:off x="9153525" y="8682038"/>
            <a:ext cx="4095750" cy="9525"/>
          </a:xfrm>
          <a:prstGeom prst="rect">
            <a:avLst/>
          </a:prstGeom>
          <a:solidFill>
            <a:srgbClr val="0E7C6B"/>
          </a:solidFill>
          <a:ln/>
        </p:spPr>
      </p:sp>
      <p:sp>
        <p:nvSpPr>
          <p:cNvPr id="53" name="Shape 51"/>
          <p:cNvSpPr/>
          <p:nvPr/>
        </p:nvSpPr>
        <p:spPr>
          <a:xfrm>
            <a:off x="9153525" y="7805738"/>
            <a:ext cx="4095750" cy="9525"/>
          </a:xfrm>
          <a:prstGeom prst="rect">
            <a:avLst/>
          </a:prstGeom>
          <a:solidFill>
            <a:srgbClr val="0E7C6B"/>
          </a:solidFill>
          <a:ln/>
        </p:spPr>
      </p:sp>
      <p:sp>
        <p:nvSpPr>
          <p:cNvPr id="54" name="Shape 52"/>
          <p:cNvSpPr/>
          <p:nvPr/>
        </p:nvSpPr>
        <p:spPr>
          <a:xfrm>
            <a:off x="13239750" y="7805738"/>
            <a:ext cx="9525" cy="885825"/>
          </a:xfrm>
          <a:prstGeom prst="rect">
            <a:avLst/>
          </a:prstGeom>
          <a:solidFill>
            <a:srgbClr val="0E7C6B"/>
          </a:solidFill>
          <a:ln/>
        </p:spPr>
      </p:sp>
      <p:sp>
        <p:nvSpPr>
          <p:cNvPr id="55" name="Text 53"/>
          <p:cNvSpPr/>
          <p:nvPr/>
        </p:nvSpPr>
        <p:spPr>
          <a:xfrm>
            <a:off x="9344025" y="7929563"/>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IBM Plex Mono" pitchFamily="34" charset="0"/>
                <a:ea typeface="IBM Plex Mono" pitchFamily="34" charset="-122"/>
                <a:cs typeface="IBM Plex Mono" pitchFamily="34" charset="-120"/>
              </a:rPr>
              <a:t>G2 · SOFT-FAIL</a:t>
            </a:r>
            <a:endParaRPr lang="en-US" sz="1875" dirty="0"/>
          </a:p>
        </p:txBody>
      </p:sp>
      <p:sp>
        <p:nvSpPr>
          <p:cNvPr id="56" name="Text 54"/>
          <p:cNvSpPr/>
          <p:nvPr/>
        </p:nvSpPr>
        <p:spPr>
          <a:xfrm>
            <a:off x="9344025" y="8272463"/>
            <a:ext cx="4075748" cy="3333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holds in lower envs only</a:t>
            </a:r>
            <a:endParaRPr lang="en-US" sz="1800" dirty="0"/>
          </a:p>
        </p:txBody>
      </p:sp>
      <p:sp>
        <p:nvSpPr>
          <p:cNvPr id="57" name="Shape 55"/>
          <p:cNvSpPr/>
          <p:nvPr/>
        </p:nvSpPr>
        <p:spPr>
          <a:xfrm>
            <a:off x="13249275" y="7667625"/>
            <a:ext cx="4086225" cy="1162050"/>
          </a:xfrm>
          <a:custGeom>
            <a:avLst/>
            <a:gdLst/>
            <a:ahLst/>
            <a:cxnLst/>
            <a:rect l="l" t="t" r="r" b="b"/>
            <a:pathLst>
              <a:path w="4086225" h="1162050">
                <a:moveTo>
                  <a:pt x="0" y="0"/>
                </a:moveTo>
                <a:lnTo>
                  <a:pt x="3990975" y="0"/>
                </a:lnTo>
                <a:arcTo hR="95250" wR="95250" stAng="16200000" swAng="5400000"/>
                <a:lnTo>
                  <a:pt x="4086225" y="1066800"/>
                </a:lnTo>
                <a:arcTo hR="95250" wR="95250" stAng="0" swAng="5400000"/>
                <a:lnTo>
                  <a:pt x="0" y="1162050"/>
                </a:lnTo>
                <a:lnTo>
                  <a:pt x="0" y="0"/>
                </a:lnTo>
                <a:close/>
              </a:path>
            </a:pathLst>
          </a:custGeom>
          <a:solidFill>
            <a:srgbClr val="0E7C6B"/>
          </a:solidFill>
          <a:ln/>
        </p:spPr>
      </p:sp>
      <p:sp>
        <p:nvSpPr>
          <p:cNvPr id="58" name="Text 56"/>
          <p:cNvSpPr/>
          <p:nvPr/>
        </p:nvSpPr>
        <p:spPr>
          <a:xfrm>
            <a:off x="13439775" y="7781925"/>
            <a:ext cx="407574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FE3DA"/>
                </a:solidFill>
                <a:latin typeface="IBM Plex Mono" pitchFamily="34" charset="0"/>
                <a:ea typeface="IBM Plex Mono" pitchFamily="34" charset="-122"/>
                <a:cs typeface="IBM Plex Mono" pitchFamily="34" charset="-120"/>
              </a:rPr>
              <a:t>G3 · HARD-FAIL</a:t>
            </a:r>
            <a:endParaRPr lang="en-US" sz="1875" dirty="0"/>
          </a:p>
        </p:txBody>
      </p:sp>
      <p:sp>
        <p:nvSpPr>
          <p:cNvPr id="59" name="Text 57"/>
          <p:cNvSpPr/>
          <p:nvPr/>
        </p:nvSpPr>
        <p:spPr>
          <a:xfrm>
            <a:off x="13439775" y="8124825"/>
            <a:ext cx="3816382"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F6F7F4"/>
                </a:solidFill>
                <a:latin typeface="Source Serif 4" pitchFamily="34" charset="0"/>
                <a:ea typeface="Source Serif 4" pitchFamily="34" charset="-122"/>
                <a:cs typeface="Source Serif 4" pitchFamily="34" charset="-120"/>
              </a:rPr>
              <a:t>blocks bad data in prod · Tier-1 only</a:t>
            </a:r>
            <a:endParaRPr lang="en-US" sz="1800" dirty="0"/>
          </a:p>
        </p:txBody>
      </p:sp>
      <p:sp>
        <p:nvSpPr>
          <p:cNvPr id="60" name="Shape 58"/>
          <p:cNvSpPr/>
          <p:nvPr/>
        </p:nvSpPr>
        <p:spPr>
          <a:xfrm>
            <a:off x="952500" y="8982075"/>
            <a:ext cx="16383000" cy="885825"/>
          </a:xfrm>
          <a:prstGeom prst="roundRect">
            <a:avLst>
              <a:gd name="adj" fmla="val 12903"/>
            </a:avLst>
          </a:prstGeom>
          <a:solidFill>
            <a:srgbClr val="1B2530"/>
          </a:solidFill>
          <a:ln/>
        </p:spPr>
      </p:sp>
      <p:sp>
        <p:nvSpPr>
          <p:cNvPr id="61" name="Text 59"/>
          <p:cNvSpPr/>
          <p:nvPr/>
        </p:nvSpPr>
        <p:spPr>
          <a:xfrm>
            <a:off x="1219200" y="9115425"/>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NAMING NOTE</a:t>
            </a:r>
            <a:endParaRPr lang="en-US" sz="1800" dirty="0"/>
          </a:p>
        </p:txBody>
      </p:sp>
      <p:sp>
        <p:nvSpPr>
          <p:cNvPr id="62" name="Text 60"/>
          <p:cNvSpPr/>
          <p:nvPr/>
        </p:nvSpPr>
        <p:spPr>
          <a:xfrm>
            <a:off x="3119735" y="9124950"/>
            <a:ext cx="14367537" cy="6477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G0–G3 here is the </a:t>
            </a:r>
            <a:pPr algn="l" indent="0" marL="0">
              <a:lnSpc>
                <a:spcPct val="98182"/>
              </a:lnSpc>
              <a:buNone/>
            </a:pPr>
            <a:r>
              <a:rPr lang="en-US" sz="1800" b="1" dirty="0">
                <a:solidFill>
                  <a:srgbClr val="F6F7F4"/>
                </a:solidFill>
                <a:latin typeface="Source Serif 4" pitchFamily="34" charset="0"/>
                <a:ea typeface="Source Serif 4" pitchFamily="34" charset="-122"/>
                <a:cs typeface="Source Serif 4" pitchFamily="34" charset="-120"/>
              </a:rPr>
              <a:t>maturity ladder </a:t>
            </a:r>
            <a:pPr algn="l" indent="0" marL="0">
              <a:lnSpc>
                <a:spcPct val="98182"/>
              </a:lnSpc>
              <a:buNone/>
            </a:pPr>
            <a:r>
              <a:rPr lang="en-US" sz="1800" dirty="0">
                <a:solidFill>
                  <a:srgbClr val="DCE3E8"/>
                </a:solidFill>
                <a:latin typeface="Source Serif 4" pitchFamily="34" charset="0"/>
                <a:ea typeface="Source Serif 4" pitchFamily="34" charset="-122"/>
                <a:cs typeface="Source Serif 4" pitchFamily="34" charset="-120"/>
              </a:rPr>
              <a:t>an asset climbs — distinct from the Enforcer's five per-record gates G1–G5 on the earlier slides.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MACHINE, EVIDENCE FLOW</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Evidence flow, end to end</a:t>
            </a:r>
            <a:endParaRPr lang="en-US" sz="4800" dirty="0"/>
          </a:p>
        </p:txBody>
      </p:sp>
      <p:sp>
        <p:nvSpPr>
          <p:cNvPr id="4" name="Shape 2"/>
          <p:cNvSpPr/>
          <p:nvPr/>
        </p:nvSpPr>
        <p:spPr>
          <a:xfrm>
            <a:off x="952500" y="2714625"/>
            <a:ext cx="2800350" cy="3009900"/>
          </a:xfrm>
          <a:prstGeom prst="roundRect">
            <a:avLst>
              <a:gd name="adj" fmla="val 4082"/>
            </a:avLst>
          </a:prstGeom>
          <a:solidFill>
            <a:srgbClr val="FDFDFB"/>
          </a:solidFill>
          <a:ln w="9525">
            <a:solidFill>
              <a:srgbClr val="D9DED7"/>
            </a:solidFill>
            <a:prstDash val="solid"/>
          </a:ln>
        </p:spPr>
      </p:sp>
      <p:sp>
        <p:nvSpPr>
          <p:cNvPr id="5" name="Text 3"/>
          <p:cNvSpPr/>
          <p:nvPr/>
        </p:nvSpPr>
        <p:spPr>
          <a:xfrm>
            <a:off x="120967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PRODUCER</a:t>
            </a:r>
            <a:endParaRPr lang="en-US" sz="1800" dirty="0"/>
          </a:p>
        </p:txBody>
      </p:sp>
      <p:sp>
        <p:nvSpPr>
          <p:cNvPr id="6" name="Text 4"/>
          <p:cNvSpPr/>
          <p:nvPr/>
        </p:nvSpPr>
        <p:spPr>
          <a:xfrm>
            <a:off x="120967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Publishes to Kafka</a:t>
            </a:r>
            <a:endParaRPr lang="en-US" sz="2100" dirty="0"/>
          </a:p>
        </p:txBody>
      </p:sp>
      <p:sp>
        <p:nvSpPr>
          <p:cNvPr id="7" name="Text 5"/>
          <p:cNvSpPr/>
          <p:nvPr/>
        </p:nvSpPr>
        <p:spPr>
          <a:xfrm>
            <a:off x="120967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Unchanged. Data path stays exactly as-is.</a:t>
            </a:r>
            <a:endParaRPr lang="en-US" sz="1800" dirty="0"/>
          </a:p>
        </p:txBody>
      </p:sp>
      <p:sp>
        <p:nvSpPr>
          <p:cNvPr id="8" name="Text 6"/>
          <p:cNvSpPr/>
          <p:nvPr/>
        </p:nvSpPr>
        <p:spPr>
          <a:xfrm>
            <a:off x="384810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9" name="Shape 7"/>
          <p:cNvSpPr/>
          <p:nvPr/>
        </p:nvSpPr>
        <p:spPr>
          <a:xfrm>
            <a:off x="4267200" y="2714625"/>
            <a:ext cx="3124200" cy="3009900"/>
          </a:xfrm>
          <a:prstGeom prst="roundRect">
            <a:avLst>
              <a:gd name="adj" fmla="val 3797"/>
            </a:avLst>
          </a:prstGeom>
          <a:solidFill>
            <a:srgbClr val="1B2530"/>
          </a:solidFill>
          <a:ln/>
        </p:spPr>
      </p:sp>
      <p:sp>
        <p:nvSpPr>
          <p:cNvPr id="10" name="Text 8"/>
          <p:cNvSpPr/>
          <p:nvPr/>
        </p:nvSpPr>
        <p:spPr>
          <a:xfrm>
            <a:off x="4514850" y="2981325"/>
            <a:ext cx="289179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POLICY ENFORCER</a:t>
            </a:r>
            <a:endParaRPr lang="en-US" sz="1800" dirty="0"/>
          </a:p>
        </p:txBody>
      </p:sp>
      <p:sp>
        <p:nvSpPr>
          <p:cNvPr id="11" name="Text 9"/>
          <p:cNvSpPr/>
          <p:nvPr/>
        </p:nvSpPr>
        <p:spPr>
          <a:xfrm>
            <a:off x="4514850" y="3400425"/>
            <a:ext cx="2707767"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F6F7F4"/>
                </a:solidFill>
                <a:latin typeface="Bricolage Grotesque" pitchFamily="34" charset="0"/>
                <a:ea typeface="Bricolage Grotesque" pitchFamily="34" charset="-122"/>
                <a:cs typeface="Bricolage Grotesque" pitchFamily="34" charset="-120"/>
              </a:rPr>
              <a:t>Runs 5 gates per record</a:t>
            </a:r>
            <a:endParaRPr lang="en-US" sz="2100" dirty="0"/>
          </a:p>
        </p:txBody>
      </p:sp>
      <p:sp>
        <p:nvSpPr>
          <p:cNvPr id="12" name="Text 10"/>
          <p:cNvSpPr/>
          <p:nvPr/>
        </p:nvSpPr>
        <p:spPr>
          <a:xfrm>
            <a:off x="4514850" y="4143375"/>
            <a:ext cx="2707767" cy="6858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B9C4CC"/>
                </a:solidFill>
                <a:latin typeface="Source Serif 4" pitchFamily="34" charset="0"/>
                <a:ea typeface="Source Serif 4" pitchFamily="34" charset="-122"/>
                <a:cs typeface="Source Serif 4" pitchFamily="34" charset="-120"/>
              </a:rPr>
              <a:t>Resolution · Identity · Schema · Contract · PII</a:t>
            </a:r>
            <a:endParaRPr lang="en-US" sz="1800" dirty="0"/>
          </a:p>
        </p:txBody>
      </p:sp>
      <p:sp>
        <p:nvSpPr>
          <p:cNvPr id="13" name="Text 11"/>
          <p:cNvSpPr/>
          <p:nvPr/>
        </p:nvSpPr>
        <p:spPr>
          <a:xfrm>
            <a:off x="74866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4" name="Shape 12"/>
          <p:cNvSpPr/>
          <p:nvPr/>
        </p:nvSpPr>
        <p:spPr>
          <a:xfrm>
            <a:off x="7905750" y="2714625"/>
            <a:ext cx="2800350" cy="3009900"/>
          </a:xfrm>
          <a:prstGeom prst="roundRect">
            <a:avLst>
              <a:gd name="adj" fmla="val 4082"/>
            </a:avLst>
          </a:prstGeom>
          <a:solidFill>
            <a:srgbClr val="FDFDFB"/>
          </a:solidFill>
          <a:ln w="9525">
            <a:solidFill>
              <a:srgbClr val="D9DED7"/>
            </a:solidFill>
            <a:prstDash val="solid"/>
          </a:ln>
        </p:spPr>
      </p:sp>
      <p:sp>
        <p:nvSpPr>
          <p:cNvPr id="15" name="Text 13"/>
          <p:cNvSpPr/>
          <p:nvPr/>
        </p:nvSpPr>
        <p:spPr>
          <a:xfrm>
            <a:off x="81629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EVIDENCE BUS</a:t>
            </a:r>
            <a:endParaRPr lang="en-US" sz="1800" dirty="0"/>
          </a:p>
        </p:txBody>
      </p:sp>
      <p:sp>
        <p:nvSpPr>
          <p:cNvPr id="16" name="Text 14"/>
          <p:cNvSpPr/>
          <p:nvPr/>
        </p:nvSpPr>
        <p:spPr>
          <a:xfrm>
            <a:off x="81629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Immutable PASS / FAIL</a:t>
            </a:r>
            <a:endParaRPr lang="en-US" sz="2100" dirty="0"/>
          </a:p>
        </p:txBody>
      </p:sp>
      <p:sp>
        <p:nvSpPr>
          <p:cNvPr id="17" name="Text 15"/>
          <p:cNvSpPr/>
          <p:nvPr/>
        </p:nvSpPr>
        <p:spPr>
          <a:xfrm>
            <a:off x="81629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Trace-anchored, replayable, archived to S3.</a:t>
            </a:r>
            <a:endParaRPr lang="en-US" sz="1800" dirty="0"/>
          </a:p>
        </p:txBody>
      </p:sp>
      <p:sp>
        <p:nvSpPr>
          <p:cNvPr id="18" name="Text 16"/>
          <p:cNvSpPr/>
          <p:nvPr/>
        </p:nvSpPr>
        <p:spPr>
          <a:xfrm>
            <a:off x="108013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19" name="Shape 17"/>
          <p:cNvSpPr/>
          <p:nvPr/>
        </p:nvSpPr>
        <p:spPr>
          <a:xfrm>
            <a:off x="11220450" y="2714625"/>
            <a:ext cx="2800350" cy="3009900"/>
          </a:xfrm>
          <a:prstGeom prst="roundRect">
            <a:avLst>
              <a:gd name="adj" fmla="val 4082"/>
            </a:avLst>
          </a:prstGeom>
          <a:solidFill>
            <a:srgbClr val="FDFDFB"/>
          </a:solidFill>
          <a:ln w="9525">
            <a:solidFill>
              <a:srgbClr val="D9DED7"/>
            </a:solidFill>
            <a:prstDash val="solid"/>
          </a:ln>
        </p:spPr>
      </p:sp>
      <p:sp>
        <p:nvSpPr>
          <p:cNvPr id="20" name="Text 18"/>
          <p:cNvSpPr/>
          <p:nvPr/>
        </p:nvSpPr>
        <p:spPr>
          <a:xfrm>
            <a:off x="114776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a:t>
            </a:r>
            <a:endParaRPr lang="en-US" sz="1800" dirty="0"/>
          </a:p>
        </p:txBody>
      </p:sp>
      <p:sp>
        <p:nvSpPr>
          <p:cNvPr id="21" name="Text 19"/>
          <p:cNvSpPr/>
          <p:nvPr/>
        </p:nvSpPr>
        <p:spPr>
          <a:xfrm>
            <a:off x="114776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Aggregate in 5-min windows</a:t>
            </a:r>
            <a:endParaRPr lang="en-US" sz="2100" dirty="0"/>
          </a:p>
        </p:txBody>
      </p:sp>
      <p:sp>
        <p:nvSpPr>
          <p:cNvPr id="22" name="Text 20"/>
          <p:cNvSpPr/>
          <p:nvPr/>
        </p:nvSpPr>
        <p:spPr>
          <a:xfrm>
            <a:off x="11477625" y="4152900"/>
            <a:ext cx="2362200" cy="100965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Breaches become signals, grouped into incidents.</a:t>
            </a:r>
            <a:endParaRPr lang="en-US" sz="1800" dirty="0"/>
          </a:p>
        </p:txBody>
      </p:sp>
      <p:sp>
        <p:nvSpPr>
          <p:cNvPr id="23" name="Text 21"/>
          <p:cNvSpPr/>
          <p:nvPr/>
        </p:nvSpPr>
        <p:spPr>
          <a:xfrm>
            <a:off x="14116050" y="2714625"/>
            <a:ext cx="400050" cy="3048000"/>
          </a:xfrm>
          <a:prstGeom prst="rect">
            <a:avLst/>
          </a:prstGeom>
          <a:noFill/>
          <a:ln/>
        </p:spPr>
        <p:txBody>
          <a:bodyPr wrap="square" lIns="25400" tIns="25400" rIns="25400" bIns="25400" rtlCol="0" anchor="ctr">
            <a:normAutofit/>
          </a:bodyPr>
          <a:lstStyle/>
          <a:p>
            <a:pPr algn="l" indent="0" marL="0">
              <a:buNone/>
            </a:pPr>
            <a:r>
              <a:rPr lang="en-US" sz="2550" b="1" dirty="0">
                <a:solidFill>
                  <a:srgbClr val="0E7C6B"/>
                </a:solidFill>
                <a:latin typeface="Bricolage Grotesque" pitchFamily="34" charset="0"/>
                <a:ea typeface="Bricolage Grotesque" pitchFamily="34" charset="-122"/>
                <a:cs typeface="Bricolage Grotesque" pitchFamily="34" charset="-120"/>
              </a:rPr>
              <a:t>→</a:t>
            </a:r>
            <a:endParaRPr lang="en-US" sz="2550" dirty="0"/>
          </a:p>
        </p:txBody>
      </p:sp>
      <p:sp>
        <p:nvSpPr>
          <p:cNvPr id="24" name="Shape 22"/>
          <p:cNvSpPr/>
          <p:nvPr/>
        </p:nvSpPr>
        <p:spPr>
          <a:xfrm>
            <a:off x="14535150" y="2714625"/>
            <a:ext cx="2800350" cy="3009900"/>
          </a:xfrm>
          <a:prstGeom prst="roundRect">
            <a:avLst>
              <a:gd name="adj" fmla="val 4082"/>
            </a:avLst>
          </a:prstGeom>
          <a:solidFill>
            <a:srgbClr val="FDFDFB"/>
          </a:solidFill>
          <a:ln w="9525">
            <a:solidFill>
              <a:srgbClr val="D9DED7"/>
            </a:solidFill>
            <a:prstDash val="solid"/>
          </a:ln>
        </p:spPr>
      </p:sp>
      <p:sp>
        <p:nvSpPr>
          <p:cNvPr id="25" name="Text 23"/>
          <p:cNvSpPr/>
          <p:nvPr/>
        </p:nvSpPr>
        <p:spPr>
          <a:xfrm>
            <a:off x="14792325" y="2990850"/>
            <a:ext cx="251460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RCA</a:t>
            </a:r>
            <a:endParaRPr lang="en-US" sz="1800" dirty="0"/>
          </a:p>
        </p:txBody>
      </p:sp>
      <p:sp>
        <p:nvSpPr>
          <p:cNvPr id="26" name="Text 24"/>
          <p:cNvSpPr/>
          <p:nvPr/>
        </p:nvSpPr>
        <p:spPr>
          <a:xfrm>
            <a:off x="14792325" y="3409950"/>
            <a:ext cx="2362200" cy="68580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Graph traversal to root cause</a:t>
            </a:r>
            <a:endParaRPr lang="en-US" sz="2100" dirty="0"/>
          </a:p>
        </p:txBody>
      </p:sp>
      <p:sp>
        <p:nvSpPr>
          <p:cNvPr id="27" name="Text 25"/>
          <p:cNvSpPr/>
          <p:nvPr/>
        </p:nvSpPr>
        <p:spPr>
          <a:xfrm>
            <a:off x="14792325" y="4152900"/>
            <a:ext cx="2362200" cy="1333500"/>
          </a:xfrm>
          <a:prstGeom prst="rect">
            <a:avLst/>
          </a:prstGeom>
          <a:noFill/>
          <a:ln/>
        </p:spPr>
        <p:txBody>
          <a:bodyPr wrap="square" lIns="25400" tIns="25400" rIns="25400" bIns="25400" rtlCol="0" anchor="t">
            <a:normAutofit/>
          </a:bodyPr>
          <a:lstStyle/>
          <a:p>
            <a:pPr algn="l" indent="0" marL="0">
              <a:lnSpc>
                <a:spcPct val="105455"/>
              </a:lnSpc>
              <a:buNone/>
            </a:pPr>
            <a:r>
              <a:rPr lang="en-US" sz="1800" dirty="0">
                <a:solidFill>
                  <a:srgbClr val="5B6873"/>
                </a:solidFill>
                <a:latin typeface="Source Serif 4" pitchFamily="34" charset="0"/>
                <a:ea typeface="Source Serif 4" pitchFamily="34" charset="-122"/>
                <a:cs typeface="Source Serif 4" pitchFamily="34" charset="-120"/>
              </a:rPr>
              <a:t>Deployment → failure → signal → incident, with blast radius.</a:t>
            </a:r>
            <a:endParaRPr lang="en-US" sz="1800" dirty="0"/>
          </a:p>
        </p:txBody>
      </p:sp>
      <p:sp>
        <p:nvSpPr>
          <p:cNvPr id="28" name="Shape 26"/>
          <p:cNvSpPr/>
          <p:nvPr/>
        </p:nvSpPr>
        <p:spPr>
          <a:xfrm>
            <a:off x="952500" y="6410325"/>
            <a:ext cx="5308550" cy="1504950"/>
          </a:xfrm>
          <a:prstGeom prst="roundRect">
            <a:avLst>
              <a:gd name="adj" fmla="val 7595"/>
            </a:avLst>
          </a:prstGeom>
          <a:solidFill>
            <a:srgbClr val="E3EFEA"/>
          </a:solidFill>
          <a:ln/>
        </p:spPr>
      </p:sp>
      <p:sp>
        <p:nvSpPr>
          <p:cNvPr id="29" name="Text 27"/>
          <p:cNvSpPr/>
          <p:nvPr/>
        </p:nvSpPr>
        <p:spPr>
          <a:xfrm>
            <a:off x="1257300" y="6657975"/>
            <a:ext cx="971699" cy="542925"/>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s</a:t>
            </a:r>
            <a:endParaRPr lang="en-US" sz="3300" dirty="0"/>
          </a:p>
        </p:txBody>
      </p:sp>
      <p:sp>
        <p:nvSpPr>
          <p:cNvPr id="30" name="Text 28"/>
          <p:cNvSpPr/>
          <p:nvPr/>
        </p:nvSpPr>
        <p:spPr>
          <a:xfrm>
            <a:off x="2343299" y="6800850"/>
            <a:ext cx="3301067" cy="352425"/>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event → evidence, p99</a:t>
            </a:r>
            <a:endParaRPr lang="en-US" sz="1875" dirty="0"/>
          </a:p>
        </p:txBody>
      </p:sp>
      <p:sp>
        <p:nvSpPr>
          <p:cNvPr id="31" name="Shape 29"/>
          <p:cNvSpPr/>
          <p:nvPr/>
        </p:nvSpPr>
        <p:spPr>
          <a:xfrm>
            <a:off x="6489650" y="6410325"/>
            <a:ext cx="5308550" cy="1504950"/>
          </a:xfrm>
          <a:prstGeom prst="roundRect">
            <a:avLst>
              <a:gd name="adj" fmla="val 7595"/>
            </a:avLst>
          </a:prstGeom>
          <a:solidFill>
            <a:srgbClr val="E3EFEA"/>
          </a:solidFill>
          <a:ln/>
        </p:spPr>
      </p:sp>
      <p:sp>
        <p:nvSpPr>
          <p:cNvPr id="32" name="Text 30"/>
          <p:cNvSpPr/>
          <p:nvPr/>
        </p:nvSpPr>
        <p:spPr>
          <a:xfrm>
            <a:off x="6794450" y="6657975"/>
            <a:ext cx="1273969"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5 min</a:t>
            </a:r>
            <a:endParaRPr lang="en-US" sz="3300" dirty="0"/>
          </a:p>
        </p:txBody>
      </p:sp>
      <p:sp>
        <p:nvSpPr>
          <p:cNvPr id="33" name="Text 31"/>
          <p:cNvSpPr/>
          <p:nvPr/>
        </p:nvSpPr>
        <p:spPr>
          <a:xfrm>
            <a:off x="8182719" y="6800850"/>
            <a:ext cx="341000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evidence → actionable signal</a:t>
            </a:r>
            <a:endParaRPr lang="en-US" sz="1875" dirty="0"/>
          </a:p>
        </p:txBody>
      </p:sp>
      <p:sp>
        <p:nvSpPr>
          <p:cNvPr id="34" name="Shape 32"/>
          <p:cNvSpPr/>
          <p:nvPr/>
        </p:nvSpPr>
        <p:spPr>
          <a:xfrm>
            <a:off x="12026801" y="6410325"/>
            <a:ext cx="5308550" cy="1504950"/>
          </a:xfrm>
          <a:prstGeom prst="roundRect">
            <a:avLst>
              <a:gd name="adj" fmla="val 7595"/>
            </a:avLst>
          </a:prstGeom>
          <a:solidFill>
            <a:srgbClr val="E3EFEA"/>
          </a:solidFill>
          <a:ln/>
        </p:spPr>
      </p:sp>
      <p:sp>
        <p:nvSpPr>
          <p:cNvPr id="35" name="Text 33"/>
          <p:cNvSpPr/>
          <p:nvPr/>
        </p:nvSpPr>
        <p:spPr>
          <a:xfrm>
            <a:off x="12331601" y="6657975"/>
            <a:ext cx="1272183" cy="1047750"/>
          </a:xfrm>
          <a:prstGeom prst="rect">
            <a:avLst/>
          </a:prstGeom>
          <a:noFill/>
          <a:ln/>
        </p:spPr>
        <p:txBody>
          <a:bodyPr wrap="square" lIns="25400" tIns="25400" rIns="25400" bIns="25400" rtlCol="0" anchor="t">
            <a:normAutofit/>
          </a:bodyPr>
          <a:lstStyle/>
          <a:p>
            <a:pPr algn="l" indent="0" marL="0">
              <a:buNone/>
            </a:pPr>
            <a:r>
              <a:rPr lang="en-US" sz="3300" b="1" dirty="0">
                <a:solidFill>
                  <a:srgbClr val="0E7C6B"/>
                </a:solidFill>
                <a:latin typeface="Bricolage Grotesque" pitchFamily="34" charset="0"/>
                <a:ea typeface="Bricolage Grotesque" pitchFamily="34" charset="-122"/>
                <a:cs typeface="Bricolage Grotesque" pitchFamily="34" charset="-120"/>
              </a:rPr>
              <a:t>&lt; 2 min</a:t>
            </a:r>
            <a:endParaRPr lang="en-US" sz="3300" dirty="0"/>
          </a:p>
        </p:txBody>
      </p:sp>
      <p:sp>
        <p:nvSpPr>
          <p:cNvPr id="36" name="Text 34"/>
          <p:cNvSpPr/>
          <p:nvPr/>
        </p:nvSpPr>
        <p:spPr>
          <a:xfrm>
            <a:off x="13718084" y="6800850"/>
            <a:ext cx="3411842" cy="666750"/>
          </a:xfrm>
          <a:prstGeom prst="rect">
            <a:avLst/>
          </a:prstGeom>
          <a:noFill/>
          <a:ln/>
        </p:spPr>
        <p:txBody>
          <a:bodyPr wrap="square" lIns="25400" tIns="25400" rIns="25400" bIns="25400" rtlCol="0" anchor="t">
            <a:normAutofit/>
          </a:bodyPr>
          <a:lstStyle/>
          <a:p>
            <a:pPr algn="l" indent="0" marL="0">
              <a:buNone/>
            </a:pPr>
            <a:r>
              <a:rPr lang="en-US" sz="1875" dirty="0">
                <a:solidFill>
                  <a:srgbClr val="3D4A55"/>
                </a:solidFill>
                <a:latin typeface="IBM Plex Mono" pitchFamily="34" charset="0"/>
                <a:ea typeface="IBM Plex Mono" pitchFamily="34" charset="-122"/>
                <a:cs typeface="IBM Plex Mono" pitchFamily="34" charset="-120"/>
              </a:rPr>
              <a:t>incident → root cause answer</a:t>
            </a:r>
            <a:endParaRPr lang="en-US" sz="187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2095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CONVERGENCE, WORKED EXAMPLE</a:t>
            </a:r>
            <a:endParaRPr lang="en-US" sz="1800" dirty="0"/>
          </a:p>
        </p:txBody>
      </p:sp>
      <p:sp>
        <p:nvSpPr>
          <p:cNvPr id="3" name="Text 1"/>
          <p:cNvSpPr/>
          <p:nvPr/>
        </p:nvSpPr>
        <p:spPr>
          <a:xfrm>
            <a:off x="952500" y="590550"/>
            <a:ext cx="18021300" cy="533400"/>
          </a:xfrm>
          <a:prstGeom prst="rect">
            <a:avLst/>
          </a:prstGeom>
          <a:noFill/>
          <a:ln/>
        </p:spPr>
        <p:txBody>
          <a:bodyPr wrap="square" lIns="25400" tIns="25400" rIns="25400" bIns="25400" rtlCol="0" anchor="t">
            <a:normAutofit/>
          </a:bodyPr>
          <a:lstStyle/>
          <a:p>
            <a:pPr algn="l" indent="0" marL="0">
              <a:lnSpc>
                <a:spcPct val="87500"/>
              </a:lnSpc>
              <a:buNone/>
            </a:pPr>
            <a:r>
              <a:rPr lang="en-US" sz="3750" b="1" spc="-56" kern="0" dirty="0">
                <a:solidFill>
                  <a:srgbClr val="1B2530"/>
                </a:solidFill>
                <a:latin typeface="Bricolage Grotesque" pitchFamily="34" charset="0"/>
                <a:ea typeface="Bricolage Grotesque" pitchFamily="34" charset="-122"/>
                <a:cs typeface="Bricolage Grotesque" pitchFamily="34" charset="-120"/>
              </a:rPr>
              <a:t>Convergence, by example</a:t>
            </a:r>
            <a:endParaRPr lang="en-US" sz="3750" dirty="0"/>
          </a:p>
        </p:txBody>
      </p:sp>
      <p:sp>
        <p:nvSpPr>
          <p:cNvPr id="4" name="Shape 2"/>
          <p:cNvSpPr/>
          <p:nvPr/>
        </p:nvSpPr>
        <p:spPr>
          <a:xfrm>
            <a:off x="952500" y="1181100"/>
            <a:ext cx="16383000" cy="857250"/>
          </a:xfrm>
          <a:prstGeom prst="roundRect">
            <a:avLst>
              <a:gd name="adj" fmla="val 11111"/>
            </a:avLst>
          </a:prstGeom>
          <a:solidFill>
            <a:srgbClr val="FDFDFB"/>
          </a:solidFill>
          <a:ln w="9525">
            <a:solidFill>
              <a:srgbClr val="D9DED7"/>
            </a:solidFill>
            <a:prstDash val="solid"/>
          </a:ln>
        </p:spPr>
      </p:sp>
      <p:sp>
        <p:nvSpPr>
          <p:cNvPr id="5" name="Text 3"/>
          <p:cNvSpPr/>
          <p:nvPr/>
        </p:nvSpPr>
        <p:spPr>
          <a:xfrm>
            <a:off x="1171575" y="1457325"/>
            <a:ext cx="135798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A3442E"/>
                </a:solidFill>
                <a:latin typeface="IBM Plex Mono" pitchFamily="34" charset="0"/>
                <a:ea typeface="IBM Plex Mono" pitchFamily="34" charset="-122"/>
                <a:cs typeface="IBM Plex Mono" pitchFamily="34" charset="-120"/>
              </a:rPr>
              <a:t>THE EVENT</a:t>
            </a:r>
            <a:endParaRPr lang="en-US" sz="1800" dirty="0"/>
          </a:p>
        </p:txBody>
      </p:sp>
      <p:sp>
        <p:nvSpPr>
          <p:cNvPr id="6" name="Text 4"/>
          <p:cNvSpPr/>
          <p:nvPr/>
        </p:nvSpPr>
        <p:spPr>
          <a:xfrm>
            <a:off x="2558504" y="1276350"/>
            <a:ext cx="14994658" cy="704850"/>
          </a:xfrm>
          <a:prstGeom prst="rect">
            <a:avLst/>
          </a:prstGeom>
          <a:noFill/>
          <a:ln/>
        </p:spPr>
        <p:txBody>
          <a:bodyPr wrap="square" lIns="25400" tIns="25400" rIns="25400" bIns="25400" rtlCol="0" anchor="t">
            <a:normAutofit/>
          </a:bodyPr>
          <a:lstStyle/>
          <a:p>
            <a:pPr algn="l" indent="0" marL="0">
              <a:lnSpc>
                <a:spcPct val="97500"/>
              </a:lnSpc>
              <a:buNone/>
            </a:pPr>
            <a:r>
              <a:rPr lang="en-US" sz="1950" dirty="0">
                <a:solidFill>
                  <a:srgbClr val="3D4A55"/>
                </a:solidFill>
                <a:latin typeface="Source Serif 4" pitchFamily="34" charset="0"/>
                <a:ea typeface="Source Serif 4" pitchFamily="34" charset="-122"/>
                <a:cs typeface="Source Serif 4" pitchFamily="34" charset="-120"/>
              </a:rPr>
              <a:t>account-svc ships v3.17 at 09:58 — customer_id starts arriving NULL on the accounts.account_opened topic. Nothing blocks; data keeps flowing.</a:t>
            </a:r>
            <a:endParaRPr lang="en-US" sz="1950" dirty="0"/>
          </a:p>
        </p:txBody>
      </p:sp>
      <p:sp>
        <p:nvSpPr>
          <p:cNvPr id="7" name="Shape 5"/>
          <p:cNvSpPr/>
          <p:nvPr/>
        </p:nvSpPr>
        <p:spPr>
          <a:xfrm>
            <a:off x="952500" y="2114550"/>
            <a:ext cx="16383000" cy="495300"/>
          </a:xfrm>
          <a:prstGeom prst="roundRect">
            <a:avLst>
              <a:gd name="adj" fmla="val 19231"/>
            </a:avLst>
          </a:prstGeom>
          <a:solidFill>
            <a:srgbClr val="1B2530"/>
          </a:solidFill>
          <a:ln/>
        </p:spPr>
      </p:sp>
      <p:sp>
        <p:nvSpPr>
          <p:cNvPr id="8" name="Text 6"/>
          <p:cNvSpPr/>
          <p:nvPr/>
        </p:nvSpPr>
        <p:spPr>
          <a:xfrm>
            <a:off x="1162050" y="2209800"/>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ONE CONTEXT SCHEMA</a:t>
            </a:r>
            <a:endParaRPr lang="en-US" sz="1800" dirty="0"/>
          </a:p>
        </p:txBody>
      </p:sp>
      <p:sp>
        <p:nvSpPr>
          <p:cNvPr id="9" name="Text 7"/>
          <p:cNvSpPr/>
          <p:nvPr/>
        </p:nvSpPr>
        <p:spPr>
          <a:xfrm>
            <a:off x="4049316" y="2209800"/>
            <a:ext cx="8298344" cy="342900"/>
          </a:xfrm>
          <a:prstGeom prst="rect">
            <a:avLst/>
          </a:prstGeom>
          <a:noFill/>
          <a:ln/>
        </p:spPr>
        <p:txBody>
          <a:bodyPr wrap="square" lIns="25400" tIns="25400" rIns="25400" bIns="25400" rtlCol="0" anchor="t">
            <a:normAutofit/>
          </a:bodyPr>
          <a:lstStyle/>
          <a:p>
            <a:pPr algn="l" indent="0" marL="0">
              <a:buNone/>
            </a:pPr>
            <a:r>
              <a:rPr lang="en-US" sz="1800" dirty="0">
                <a:solidFill>
                  <a:srgbClr val="DCE3E8"/>
                </a:solidFill>
                <a:latin typeface="IBM Plex Mono" pitchFamily="34" charset="0"/>
                <a:ea typeface="IBM Plex Mono" pitchFamily="34" charset="-122"/>
                <a:cs typeface="IBM Plex Mono" pitchFamily="34" charset="-120"/>
              </a:rPr>
              <a:t>{ urn · PASS/FAIL · gate + reason · trace_id · offset }</a:t>
            </a:r>
            <a:endParaRPr lang="en-US" sz="1800" dirty="0"/>
          </a:p>
        </p:txBody>
      </p:sp>
      <p:sp>
        <p:nvSpPr>
          <p:cNvPr id="10" name="Text 8"/>
          <p:cNvSpPr/>
          <p:nvPr/>
        </p:nvSpPr>
        <p:spPr>
          <a:xfrm>
            <a:off x="12630299" y="2209800"/>
            <a:ext cx="4945216" cy="342900"/>
          </a:xfrm>
          <a:prstGeom prst="rect">
            <a:avLst/>
          </a:prstGeom>
          <a:noFill/>
          <a:ln/>
        </p:spPr>
        <p:txBody>
          <a:bodyPr wrap="none" lIns="25400" tIns="25400" rIns="25400" bIns="25400" rtlCol="0" anchor="t">
            <a:normAutofit/>
          </a:bodyPr>
          <a:lstStyle/>
          <a:p>
            <a:pPr algn="l" indent="0" marL="0">
              <a:lnSpc>
                <a:spcPct val="94545"/>
              </a:lnSpc>
              <a:buNone/>
            </a:pPr>
            <a:r>
              <a:rPr lang="en-US" sz="1800" dirty="0">
                <a:solidFill>
                  <a:srgbClr val="B9C4CC"/>
                </a:solidFill>
                <a:latin typeface="Source Serif 4" pitchFamily="34" charset="0"/>
                <a:ea typeface="Source Serif 4" pitchFamily="34" charset="-122"/>
                <a:cs typeface="Source Serif 4" pitchFamily="34" charset="-120"/>
              </a:rPr>
              <a:t>urn: </a:t>
            </a:r>
            <a:pPr algn="l" indent="0" marL="0">
              <a:lnSpc>
                <a:spcPct val="94545"/>
              </a:lnSpc>
              <a:buNone/>
            </a:pPr>
            <a:r>
              <a:rPr lang="en-US" sz="1800" dirty="0">
                <a:solidFill>
                  <a:srgbClr val="DCE3E8"/>
                </a:solidFill>
                <a:latin typeface="IBM Plex Mono" pitchFamily="34" charset="0"/>
                <a:ea typeface="IBM Plex Mono" pitchFamily="34" charset="-122"/>
                <a:cs typeface="IBM Plex Mono" pitchFamily="34" charset="-120"/>
              </a:rPr>
              <a:t>dp:accounts:account_opened:v1</a:t>
            </a:r>
            <a:endParaRPr lang="en-US" sz="1800" dirty="0"/>
          </a:p>
        </p:txBody>
      </p:sp>
      <p:sp>
        <p:nvSpPr>
          <p:cNvPr id="11" name="Shape 9"/>
          <p:cNvSpPr/>
          <p:nvPr/>
        </p:nvSpPr>
        <p:spPr>
          <a:xfrm>
            <a:off x="952500" y="2724150"/>
            <a:ext cx="5321201" cy="4705350"/>
          </a:xfrm>
          <a:prstGeom prst="roundRect">
            <a:avLst>
              <a:gd name="adj" fmla="val 2429"/>
            </a:avLst>
          </a:prstGeom>
          <a:solidFill>
            <a:srgbClr val="FDFDFB"/>
          </a:solidFill>
          <a:ln w="9525">
            <a:solidFill>
              <a:srgbClr val="D9DED7"/>
            </a:solidFill>
            <a:prstDash val="solid"/>
          </a:ln>
        </p:spPr>
      </p:sp>
      <p:sp>
        <p:nvSpPr>
          <p:cNvPr id="12" name="Text 10"/>
          <p:cNvSpPr/>
          <p:nvPr/>
        </p:nvSpPr>
        <p:spPr>
          <a:xfrm>
            <a:off x="1190625" y="286702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DATA QUALITY SEES IT</a:t>
            </a:r>
            <a:endParaRPr lang="en-US" sz="1800" dirty="0"/>
          </a:p>
        </p:txBody>
      </p:sp>
      <p:sp>
        <p:nvSpPr>
          <p:cNvPr id="13" name="Text 11"/>
          <p:cNvSpPr/>
          <p:nvPr/>
        </p:nvSpPr>
        <p:spPr>
          <a:xfrm>
            <a:off x="1190625" y="3267075"/>
            <a:ext cx="532944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check fires</a:t>
            </a:r>
            <a:endParaRPr lang="en-US" sz="2100" dirty="0"/>
          </a:p>
        </p:txBody>
      </p:sp>
      <p:sp>
        <p:nvSpPr>
          <p:cNvPr id="14" name="Text 12"/>
          <p:cNvSpPr/>
          <p:nvPr/>
        </p:nvSpPr>
        <p:spPr>
          <a:xfrm>
            <a:off x="1190625" y="3667125"/>
            <a:ext cx="4990299"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Streaming check on the topic spots the NULL spike at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 it.</a:t>
            </a:r>
            <a:endParaRPr lang="en-US" sz="1875" dirty="0"/>
          </a:p>
        </p:txBody>
      </p:sp>
      <p:sp>
        <p:nvSpPr>
          <p:cNvPr id="15" name="Text 13"/>
          <p:cNvSpPr/>
          <p:nvPr/>
        </p:nvSpPr>
        <p:spPr>
          <a:xfrm>
            <a:off x="1190625" y="574357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16" name="Shape 14"/>
          <p:cNvSpPr/>
          <p:nvPr/>
        </p:nvSpPr>
        <p:spPr>
          <a:xfrm>
            <a:off x="1190625" y="6105525"/>
            <a:ext cx="4844951" cy="1162050"/>
          </a:xfrm>
          <a:prstGeom prst="roundRect">
            <a:avLst>
              <a:gd name="adj" fmla="val 6557"/>
            </a:avLst>
          </a:prstGeom>
          <a:solidFill>
            <a:srgbClr val="F0F3EF"/>
          </a:solidFill>
          <a:ln w="9525">
            <a:solidFill>
              <a:srgbClr val="D9DED7"/>
            </a:solidFill>
            <a:prstDash val="solid"/>
          </a:ln>
        </p:spPr>
      </p:sp>
      <p:sp>
        <p:nvSpPr>
          <p:cNvPr id="17" name="Text 15"/>
          <p:cNvSpPr/>
          <p:nvPr/>
        </p:nvSpPr>
        <p:spPr>
          <a:xfrm>
            <a:off x="1333500" y="62103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…accounts:account_opened:v1</a:t>
            </a:r>
            <a:endParaRPr lang="en-US" sz="1800" dirty="0"/>
          </a:p>
        </p:txBody>
      </p:sp>
      <p:sp>
        <p:nvSpPr>
          <p:cNvPr id="18" name="Text 16"/>
          <p:cNvSpPr/>
          <p:nvPr/>
        </p:nvSpPr>
        <p:spPr>
          <a:xfrm>
            <a:off x="1333500" y="653415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FAIL G4 · MISSING_FIELD:cust_id</a:t>
            </a:r>
            <a:endParaRPr lang="en-US" sz="1800" dirty="0"/>
          </a:p>
        </p:txBody>
      </p:sp>
      <p:sp>
        <p:nvSpPr>
          <p:cNvPr id="19" name="Text 17"/>
          <p:cNvSpPr/>
          <p:nvPr/>
        </p:nvSpPr>
        <p:spPr>
          <a:xfrm>
            <a:off x="1333500" y="68580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 DQ_BREACH · 5-min window</a:t>
            </a:r>
            <a:endParaRPr lang="en-US" sz="1800" dirty="0"/>
          </a:p>
        </p:txBody>
      </p:sp>
      <p:sp>
        <p:nvSpPr>
          <p:cNvPr id="20" name="Shape 18"/>
          <p:cNvSpPr/>
          <p:nvPr/>
        </p:nvSpPr>
        <p:spPr>
          <a:xfrm>
            <a:off x="6483251" y="2724150"/>
            <a:ext cx="5321350" cy="4705350"/>
          </a:xfrm>
          <a:prstGeom prst="roundRect">
            <a:avLst>
              <a:gd name="adj" fmla="val 2429"/>
            </a:avLst>
          </a:prstGeom>
          <a:solidFill>
            <a:srgbClr val="FDFDFB"/>
          </a:solidFill>
          <a:ln w="9525">
            <a:solidFill>
              <a:srgbClr val="D9DED7"/>
            </a:solidFill>
            <a:prstDash val="solid"/>
          </a:ln>
        </p:spPr>
      </p:sp>
      <p:sp>
        <p:nvSpPr>
          <p:cNvPr id="21" name="Text 19"/>
          <p:cNvSpPr/>
          <p:nvPr/>
        </p:nvSpPr>
        <p:spPr>
          <a:xfrm>
            <a:off x="6721376" y="2867025"/>
            <a:ext cx="53296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LINEAGE EXPLAINS IT</a:t>
            </a:r>
            <a:endParaRPr lang="en-US" sz="1800" dirty="0"/>
          </a:p>
        </p:txBody>
      </p:sp>
      <p:sp>
        <p:nvSpPr>
          <p:cNvPr id="22" name="Text 20"/>
          <p:cNvSpPr/>
          <p:nvPr/>
        </p:nvSpPr>
        <p:spPr>
          <a:xfrm>
            <a:off x="6721376" y="3267075"/>
            <a:ext cx="532961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The map names the cause</a:t>
            </a:r>
            <a:endParaRPr lang="en-US" sz="2100" dirty="0"/>
          </a:p>
        </p:txBody>
      </p:sp>
      <p:sp>
        <p:nvSpPr>
          <p:cNvPr id="23" name="Text 21"/>
          <p:cNvSpPr/>
          <p:nvPr/>
        </p:nvSpPr>
        <p:spPr>
          <a:xfrm>
            <a:off x="6721376" y="3667125"/>
            <a:ext cx="4990453" cy="1066800"/>
          </a:xfrm>
          <a:prstGeom prst="rect">
            <a:avLst/>
          </a:prstGeom>
          <a:noFill/>
          <a:ln/>
        </p:spPr>
        <p:txBody>
          <a:bodyPr wrap="square" lIns="25400" tIns="25400" rIns="25400" bIns="25400" rtlCol="0" anchor="t">
            <a:normAutofit/>
          </a:bodyPr>
          <a:lstStyle/>
          <a:p>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joined map ties the failing check to the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09:58 deploy of v3.17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 and walks downstream: onboarding report exposed.</a:t>
            </a:r>
            <a:endParaRPr lang="en-US" sz="1875" dirty="0"/>
          </a:p>
        </p:txBody>
      </p:sp>
      <p:sp>
        <p:nvSpPr>
          <p:cNvPr id="24" name="Text 22"/>
          <p:cNvSpPr/>
          <p:nvPr/>
        </p:nvSpPr>
        <p:spPr>
          <a:xfrm>
            <a:off x="6721376" y="5743575"/>
            <a:ext cx="53296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PUBLISHES</a:t>
            </a:r>
            <a:endParaRPr lang="en-US" sz="1800" dirty="0"/>
          </a:p>
        </p:txBody>
      </p:sp>
      <p:sp>
        <p:nvSpPr>
          <p:cNvPr id="25" name="Shape 23"/>
          <p:cNvSpPr/>
          <p:nvPr/>
        </p:nvSpPr>
        <p:spPr>
          <a:xfrm>
            <a:off x="6721376" y="6105525"/>
            <a:ext cx="4845100" cy="1162050"/>
          </a:xfrm>
          <a:prstGeom prst="roundRect">
            <a:avLst>
              <a:gd name="adj" fmla="val 6557"/>
            </a:avLst>
          </a:prstGeom>
          <a:solidFill>
            <a:srgbClr val="F0F3EF"/>
          </a:solidFill>
          <a:ln w="9525">
            <a:solidFill>
              <a:srgbClr val="D9DED7"/>
            </a:solidFill>
            <a:prstDash val="solid"/>
          </a:ln>
        </p:spPr>
      </p:sp>
      <p:sp>
        <p:nvSpPr>
          <p:cNvPr id="26" name="Text 24"/>
          <p:cNvSpPr/>
          <p:nvPr/>
        </p:nvSpPr>
        <p:spPr>
          <a:xfrm>
            <a:off x="6864251" y="621030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same URN </a:t>
            </a:r>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 causal graph</a:t>
            </a:r>
            <a:endParaRPr lang="en-US" sz="1800" dirty="0"/>
          </a:p>
        </p:txBody>
      </p:sp>
      <p:sp>
        <p:nvSpPr>
          <p:cNvPr id="27" name="Text 25"/>
          <p:cNvSpPr/>
          <p:nvPr/>
        </p:nvSpPr>
        <p:spPr>
          <a:xfrm>
            <a:off x="6864251" y="653415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deploy —INTRODUCED→ failure</a:t>
            </a:r>
            <a:endParaRPr lang="en-US" sz="1800" dirty="0"/>
          </a:p>
        </p:txBody>
      </p:sp>
      <p:sp>
        <p:nvSpPr>
          <p:cNvPr id="28" name="Text 26"/>
          <p:cNvSpPr/>
          <p:nvPr/>
        </p:nvSpPr>
        <p:spPr>
          <a:xfrm>
            <a:off x="6864251" y="6858000"/>
            <a:ext cx="5015285"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lineage: v3.17 → 3 downstream</a:t>
            </a:r>
            <a:endParaRPr lang="en-US" sz="1800" dirty="0"/>
          </a:p>
        </p:txBody>
      </p:sp>
      <p:sp>
        <p:nvSpPr>
          <p:cNvPr id="29" name="Shape 27"/>
          <p:cNvSpPr/>
          <p:nvPr/>
        </p:nvSpPr>
        <p:spPr>
          <a:xfrm>
            <a:off x="12014150" y="2724150"/>
            <a:ext cx="5321201" cy="4705350"/>
          </a:xfrm>
          <a:prstGeom prst="roundRect">
            <a:avLst>
              <a:gd name="adj" fmla="val 2429"/>
            </a:avLst>
          </a:prstGeom>
          <a:solidFill>
            <a:srgbClr val="FDFDFB"/>
          </a:solidFill>
          <a:ln w="9525">
            <a:solidFill>
              <a:srgbClr val="D9DED7"/>
            </a:solidFill>
            <a:prstDash val="solid"/>
          </a:ln>
        </p:spPr>
      </p:sp>
      <p:sp>
        <p:nvSpPr>
          <p:cNvPr id="30" name="Text 28"/>
          <p:cNvSpPr/>
          <p:nvPr/>
        </p:nvSpPr>
        <p:spPr>
          <a:xfrm>
            <a:off x="12252275" y="286702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ONBOARDING ACTS ON IT</a:t>
            </a:r>
            <a:endParaRPr lang="en-US" sz="1800" dirty="0"/>
          </a:p>
        </p:txBody>
      </p:sp>
      <p:sp>
        <p:nvSpPr>
          <p:cNvPr id="31" name="Text 29"/>
          <p:cNvSpPr/>
          <p:nvPr/>
        </p:nvSpPr>
        <p:spPr>
          <a:xfrm>
            <a:off x="12252275" y="3267075"/>
            <a:ext cx="5329446"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Two functions, one save</a:t>
            </a:r>
            <a:endParaRPr lang="en-US" sz="2100" dirty="0"/>
          </a:p>
        </p:txBody>
      </p:sp>
      <p:sp>
        <p:nvSpPr>
          <p:cNvPr id="32" name="Text 30"/>
          <p:cNvSpPr/>
          <p:nvPr/>
        </p:nvSpPr>
        <p:spPr>
          <a:xfrm>
            <a:off x="12252275" y="3667125"/>
            <a:ext cx="4990299" cy="1752600"/>
          </a:xfrm>
          <a:prstGeom prst="rect">
            <a:avLst/>
          </a:prstGeom>
          <a:noFill/>
          <a:ln/>
        </p:spPr>
        <p:txBody>
          <a:bodyPr wrap="square" lIns="25400" tIns="25400" rIns="25400" bIns="25400" rtlCol="0" anchor="t">
            <a:normAutofit/>
          </a:bodyPr>
          <a:lstStyle/>
          <a:p>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Onboards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the thread onto the DQ + monitoring tooling — why the check existed. </a:t>
            </a:r>
            <a:pPr algn="l" indent="0" marL="0">
              <a:lnSpc>
                <a:spcPct val="106618"/>
              </a:lnSpc>
              <a:buNone/>
            </a:pPr>
            <a:r>
              <a:rPr lang="en-US" sz="1875" b="1" dirty="0">
                <a:solidFill>
                  <a:srgbClr val="3D4A55"/>
                </a:solidFill>
                <a:latin typeface="Source Serif 4" pitchFamily="34" charset="0"/>
                <a:ea typeface="Source Serif 4" pitchFamily="34" charset="-122"/>
                <a:cs typeface="Source Serif 4" pitchFamily="34" charset="-120"/>
              </a:rPr>
              <a:t>Health view </a:t>
            </a:r>
            <a:pPr algn="l" indent="0" marL="0">
              <a:lnSpc>
                <a:spcPct val="106618"/>
              </a:lnSpc>
              <a:buNone/>
            </a:pPr>
            <a:r>
              <a:rPr lang="en-US" sz="1875" dirty="0">
                <a:solidFill>
                  <a:srgbClr val="3D4A55"/>
                </a:solidFill>
                <a:latin typeface="Source Serif 4" pitchFamily="34" charset="0"/>
                <a:ea typeface="Source Serif 4" pitchFamily="34" charset="-122"/>
                <a:cs typeface="Source Serif 4" pitchFamily="34" charset="-120"/>
              </a:rPr>
              <a:t>renders incident #1042, drives the action, then verifies the fix and flips the asset green.</a:t>
            </a:r>
            <a:endParaRPr lang="en-US" sz="1875" dirty="0"/>
          </a:p>
        </p:txBody>
      </p:sp>
      <p:sp>
        <p:nvSpPr>
          <p:cNvPr id="33" name="Text 31"/>
          <p:cNvSpPr/>
          <p:nvPr/>
        </p:nvSpPr>
        <p:spPr>
          <a:xfrm>
            <a:off x="12252275" y="5743575"/>
            <a:ext cx="53294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SIGNAL ENGINES + ALERTING JOIN</a:t>
            </a:r>
            <a:endParaRPr lang="en-US" sz="1800" dirty="0"/>
          </a:p>
        </p:txBody>
      </p:sp>
      <p:sp>
        <p:nvSpPr>
          <p:cNvPr id="34" name="Shape 32"/>
          <p:cNvSpPr/>
          <p:nvPr/>
        </p:nvSpPr>
        <p:spPr>
          <a:xfrm>
            <a:off x="12252275" y="6105525"/>
            <a:ext cx="4844951" cy="1162050"/>
          </a:xfrm>
          <a:prstGeom prst="roundRect">
            <a:avLst>
              <a:gd name="adj" fmla="val 6557"/>
            </a:avLst>
          </a:prstGeom>
          <a:solidFill>
            <a:srgbClr val="F0F3EF"/>
          </a:solidFill>
          <a:ln w="9525">
            <a:solidFill>
              <a:srgbClr val="D9DED7"/>
            </a:solidFill>
            <a:prstDash val="solid"/>
          </a:ln>
        </p:spPr>
      </p:sp>
      <p:sp>
        <p:nvSpPr>
          <p:cNvPr id="35" name="Text 33"/>
          <p:cNvSpPr/>
          <p:nvPr/>
        </p:nvSpPr>
        <p:spPr>
          <a:xfrm>
            <a:off x="12395150" y="62103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join: urn + trace_id → </a:t>
            </a:r>
            <a:pPr algn="l" indent="0" marL="0">
              <a:lnSpc>
                <a:spcPct val="101250"/>
              </a:lnSpc>
              <a:buNone/>
            </a:pPr>
            <a:r>
              <a:rPr lang="en-US" sz="1800" dirty="0">
                <a:solidFill>
                  <a:srgbClr val="0E7C6B"/>
                </a:solidFill>
                <a:latin typeface="IBM Plex Mono" pitchFamily="34" charset="0"/>
                <a:ea typeface="IBM Plex Mono" pitchFamily="34" charset="-122"/>
                <a:cs typeface="IBM Plex Mono" pitchFamily="34" charset="-120"/>
              </a:rPr>
              <a:t>#1042</a:t>
            </a:r>
            <a:endParaRPr lang="en-US" sz="1800" dirty="0"/>
          </a:p>
        </p:txBody>
      </p:sp>
      <p:sp>
        <p:nvSpPr>
          <p:cNvPr id="36" name="Text 34"/>
          <p:cNvSpPr/>
          <p:nvPr/>
        </p:nvSpPr>
        <p:spPr>
          <a:xfrm>
            <a:off x="12395150" y="653415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cause: INTRODUCED → TRIGGERED</a:t>
            </a:r>
            <a:endParaRPr lang="en-US" sz="1800" dirty="0"/>
          </a:p>
        </p:txBody>
      </p:sp>
      <p:sp>
        <p:nvSpPr>
          <p:cNvPr id="37" name="Text 35"/>
          <p:cNvSpPr/>
          <p:nvPr/>
        </p:nvSpPr>
        <p:spPr>
          <a:xfrm>
            <a:off x="12395150" y="6858000"/>
            <a:ext cx="5015121" cy="3429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act → verify → re-present green</a:t>
            </a:r>
            <a:endParaRPr lang="en-US" sz="1800" dirty="0"/>
          </a:p>
        </p:txBody>
      </p:sp>
      <p:sp>
        <p:nvSpPr>
          <p:cNvPr id="38" name="Text 36"/>
          <p:cNvSpPr/>
          <p:nvPr/>
        </p:nvSpPr>
        <p:spPr>
          <a:xfrm>
            <a:off x="6290965"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39" name="Text 37"/>
          <p:cNvSpPr/>
          <p:nvPr/>
        </p:nvSpPr>
        <p:spPr>
          <a:xfrm>
            <a:off x="9081939"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0" name="Text 38"/>
          <p:cNvSpPr/>
          <p:nvPr/>
        </p:nvSpPr>
        <p:spPr>
          <a:xfrm>
            <a:off x="11872913" y="7448550"/>
            <a:ext cx="200174" cy="285750"/>
          </a:xfrm>
          <a:prstGeom prst="rect">
            <a:avLst/>
          </a:prstGeom>
          <a:noFill/>
          <a:ln/>
        </p:spPr>
        <p:txBody>
          <a:bodyPr wrap="square" lIns="25400" tIns="25400" rIns="25400" bIns="25400" rtlCol="0" anchor="t">
            <a:normAutofit/>
          </a:bodyPr>
          <a:lstStyle/>
          <a:p>
            <a:pPr algn="l" indent="0" marL="0">
              <a:lnSpc>
                <a:spcPct val="83871"/>
              </a:lnSpc>
              <a:buNone/>
            </a:pPr>
            <a:r>
              <a:rPr lang="en-US" sz="1950" b="1" dirty="0">
                <a:solidFill>
                  <a:srgbClr val="0E7C6B"/>
                </a:solidFill>
                <a:latin typeface="Bricolage Grotesque" pitchFamily="34" charset="0"/>
                <a:ea typeface="Bricolage Grotesque" pitchFamily="34" charset="-122"/>
                <a:cs typeface="Bricolage Grotesque" pitchFamily="34" charset="-120"/>
              </a:rPr>
              <a:t>↓</a:t>
            </a:r>
            <a:endParaRPr lang="en-US" sz="1950" dirty="0"/>
          </a:p>
        </p:txBody>
      </p:sp>
      <p:sp>
        <p:nvSpPr>
          <p:cNvPr id="41" name="Shape 39"/>
          <p:cNvSpPr/>
          <p:nvPr/>
        </p:nvSpPr>
        <p:spPr>
          <a:xfrm>
            <a:off x="952500" y="7715250"/>
            <a:ext cx="16383000" cy="2438400"/>
          </a:xfrm>
          <a:prstGeom prst="roundRect">
            <a:avLst>
              <a:gd name="adj" fmla="val 5469"/>
            </a:avLst>
          </a:prstGeom>
          <a:solidFill>
            <a:srgbClr val="1B2530"/>
          </a:solidFill>
          <a:ln/>
        </p:spPr>
      </p:sp>
      <p:sp>
        <p:nvSpPr>
          <p:cNvPr id="42" name="Shape 40"/>
          <p:cNvSpPr/>
          <p:nvPr/>
        </p:nvSpPr>
        <p:spPr>
          <a:xfrm>
            <a:off x="1238250" y="7848600"/>
            <a:ext cx="2148929" cy="381000"/>
          </a:xfrm>
          <a:prstGeom prst="roundRect">
            <a:avLst>
              <a:gd name="adj" fmla="val 12500"/>
            </a:avLst>
          </a:prstGeom>
          <a:solidFill>
            <a:srgbClr val="3A2A28"/>
          </a:solidFill>
          <a:ln/>
        </p:spPr>
      </p:sp>
      <p:sp>
        <p:nvSpPr>
          <p:cNvPr id="43" name="Text 41"/>
          <p:cNvSpPr/>
          <p:nvPr/>
        </p:nvSpPr>
        <p:spPr>
          <a:xfrm>
            <a:off x="1352550" y="7886700"/>
            <a:ext cx="199652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INCIDENT #1042</a:t>
            </a:r>
            <a:endParaRPr lang="en-US" sz="1800" dirty="0"/>
          </a:p>
        </p:txBody>
      </p:sp>
      <p:sp>
        <p:nvSpPr>
          <p:cNvPr id="44" name="Text 42"/>
          <p:cNvSpPr/>
          <p:nvPr/>
        </p:nvSpPr>
        <p:spPr>
          <a:xfrm>
            <a:off x="3520529" y="7881937"/>
            <a:ext cx="361473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accounts.account_opened</a:t>
            </a:r>
            <a:endParaRPr lang="en-US" sz="1875" dirty="0"/>
          </a:p>
        </p:txBody>
      </p:sp>
      <p:sp>
        <p:nvSpPr>
          <p:cNvPr id="45" name="Text 43"/>
          <p:cNvSpPr/>
          <p:nvPr/>
        </p:nvSpPr>
        <p:spPr>
          <a:xfrm>
            <a:off x="12111930" y="7886700"/>
            <a:ext cx="543160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one record — three missions wrote it</a:t>
            </a:r>
            <a:endParaRPr lang="en-US" sz="1800" dirty="0"/>
          </a:p>
        </p:txBody>
      </p:sp>
      <p:sp>
        <p:nvSpPr>
          <p:cNvPr id="46" name="Text 44"/>
          <p:cNvSpPr/>
          <p:nvPr/>
        </p:nvSpPr>
        <p:spPr>
          <a:xfrm>
            <a:off x="1238250"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WHAT BROKE</a:t>
            </a:r>
            <a:endParaRPr lang="en-US" sz="1800" dirty="0"/>
          </a:p>
        </p:txBody>
      </p:sp>
      <p:sp>
        <p:nvSpPr>
          <p:cNvPr id="47" name="Text 45"/>
          <p:cNvSpPr/>
          <p:nvPr/>
        </p:nvSpPr>
        <p:spPr>
          <a:xfrm>
            <a:off x="1238250"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NULL spike, caught +2 min</a:t>
            </a:r>
            <a:endParaRPr lang="en-US" sz="1875" dirty="0"/>
          </a:p>
        </p:txBody>
      </p:sp>
      <p:sp>
        <p:nvSpPr>
          <p:cNvPr id="48" name="Text 46"/>
          <p:cNvSpPr/>
          <p:nvPr/>
        </p:nvSpPr>
        <p:spPr>
          <a:xfrm>
            <a:off x="1238250"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DQ_BREACH signal</a:t>
            </a:r>
            <a:endParaRPr lang="en-US" sz="1800" dirty="0"/>
          </a:p>
        </p:txBody>
      </p:sp>
      <p:sp>
        <p:nvSpPr>
          <p:cNvPr id="49" name="Text 47"/>
          <p:cNvSpPr/>
          <p:nvPr/>
        </p:nvSpPr>
        <p:spPr>
          <a:xfrm>
            <a:off x="5233988"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WHY</a:t>
            </a:r>
            <a:endParaRPr lang="en-US" sz="1800" dirty="0"/>
          </a:p>
        </p:txBody>
      </p:sp>
      <p:sp>
        <p:nvSpPr>
          <p:cNvPr id="50" name="Text 48"/>
          <p:cNvSpPr/>
          <p:nvPr/>
        </p:nvSpPr>
        <p:spPr>
          <a:xfrm>
            <a:off x="5233988"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account-svc v3.17, 09:58</a:t>
            </a:r>
            <a:endParaRPr lang="en-US" sz="1875" dirty="0"/>
          </a:p>
        </p:txBody>
      </p:sp>
      <p:sp>
        <p:nvSpPr>
          <p:cNvPr id="51" name="Text 49"/>
          <p:cNvSpPr/>
          <p:nvPr/>
        </p:nvSpPr>
        <p:spPr>
          <a:xfrm>
            <a:off x="5233988"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deploy node</a:t>
            </a:r>
            <a:endParaRPr lang="en-US" sz="1800" dirty="0"/>
          </a:p>
        </p:txBody>
      </p:sp>
      <p:sp>
        <p:nvSpPr>
          <p:cNvPr id="52" name="Text 50"/>
          <p:cNvSpPr/>
          <p:nvPr/>
        </p:nvSpPr>
        <p:spPr>
          <a:xfrm>
            <a:off x="9229725"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WHO IS EXPOSED</a:t>
            </a:r>
            <a:endParaRPr lang="en-US" sz="1800" dirty="0"/>
          </a:p>
        </p:txBody>
      </p:sp>
      <p:sp>
        <p:nvSpPr>
          <p:cNvPr id="53" name="Text 51"/>
          <p:cNvSpPr/>
          <p:nvPr/>
        </p:nvSpPr>
        <p:spPr>
          <a:xfrm>
            <a:off x="9229725" y="8667750"/>
            <a:ext cx="4206716" cy="352425"/>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onboarding report + 2 tables</a:t>
            </a:r>
            <a:endParaRPr lang="en-US" sz="1875" dirty="0"/>
          </a:p>
        </p:txBody>
      </p:sp>
      <p:sp>
        <p:nvSpPr>
          <p:cNvPr id="54" name="Text 52"/>
          <p:cNvSpPr/>
          <p:nvPr/>
        </p:nvSpPr>
        <p:spPr>
          <a:xfrm>
            <a:off x="9229725" y="9020175"/>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graph: lineage edges</a:t>
            </a:r>
            <a:endParaRPr lang="en-US" sz="1800" dirty="0"/>
          </a:p>
        </p:txBody>
      </p:sp>
      <p:sp>
        <p:nvSpPr>
          <p:cNvPr id="55" name="Text 53"/>
          <p:cNvSpPr/>
          <p:nvPr/>
        </p:nvSpPr>
        <p:spPr>
          <a:xfrm>
            <a:off x="13225463" y="8324850"/>
            <a:ext cx="420671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8B99A4"/>
                </a:solidFill>
                <a:latin typeface="IBM Plex Mono" pitchFamily="34" charset="0"/>
                <a:ea typeface="IBM Plex Mono" pitchFamily="34" charset="-122"/>
                <a:cs typeface="IBM Plex Mono" pitchFamily="34" charset="-120"/>
              </a:rPr>
              <a:t>ACTION</a:t>
            </a:r>
            <a:endParaRPr lang="en-US" sz="1800" dirty="0"/>
          </a:p>
        </p:txBody>
      </p:sp>
      <p:sp>
        <p:nvSpPr>
          <p:cNvPr id="56" name="Text 54"/>
          <p:cNvSpPr/>
          <p:nvPr/>
        </p:nvSpPr>
        <p:spPr>
          <a:xfrm>
            <a:off x="13225463" y="8667750"/>
            <a:ext cx="3939016"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dirty="0">
                <a:solidFill>
                  <a:srgbClr val="F6F7F4"/>
                </a:solidFill>
                <a:latin typeface="Source Serif 4" pitchFamily="34" charset="0"/>
                <a:ea typeface="Source Serif 4" pitchFamily="34" charset="-122"/>
                <a:cs typeface="Source Serif 4" pitchFamily="34" charset="-120"/>
              </a:rPr>
              <a:t>1 team paged · gate holds the batch</a:t>
            </a:r>
            <a:endParaRPr lang="en-US" sz="1875" dirty="0"/>
          </a:p>
        </p:txBody>
      </p:sp>
      <p:sp>
        <p:nvSpPr>
          <p:cNvPr id="57" name="Text 55"/>
          <p:cNvSpPr/>
          <p:nvPr/>
        </p:nvSpPr>
        <p:spPr>
          <a:xfrm>
            <a:off x="13225463" y="9334500"/>
            <a:ext cx="4206716"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4B39B"/>
                </a:solidFill>
                <a:latin typeface="IBM Plex Mono" pitchFamily="34" charset="0"/>
                <a:ea typeface="IBM Plex Mono" pitchFamily="34" charset="-122"/>
                <a:cs typeface="IBM Plex Mono" pitchFamily="34" charset="-120"/>
              </a:rPr>
              <a:t>← alerting engine</a:t>
            </a:r>
            <a:endParaRPr lang="en-US" sz="1800" dirty="0"/>
          </a:p>
        </p:txBody>
      </p:sp>
      <p:sp>
        <p:nvSpPr>
          <p:cNvPr id="58" name="Text 56"/>
          <p:cNvSpPr/>
          <p:nvPr/>
        </p:nvSpPr>
        <p:spPr>
          <a:xfrm>
            <a:off x="1238250" y="9715500"/>
            <a:ext cx="17392650" cy="342900"/>
          </a:xfrm>
          <a:prstGeom prst="rect">
            <a:avLst/>
          </a:prstGeom>
          <a:noFill/>
          <a:ln/>
        </p:spPr>
        <p:txBody>
          <a:bodyPr wrap="square" lIns="25400" tIns="25400" rIns="25400" bIns="25400" rtlCol="0" anchor="t">
            <a:normAutofit/>
          </a:bodyPr>
          <a:lstStyle/>
          <a:p>
            <a:pPr algn="l" indent="0" marL="0">
              <a:lnSpc>
                <a:spcPct val="98182"/>
              </a:lnSpc>
              <a:buNone/>
            </a:pPr>
            <a:r>
              <a:rPr lang="en-US" sz="1800" dirty="0">
                <a:solidFill>
                  <a:srgbClr val="B9C4CC"/>
                </a:solidFill>
                <a:latin typeface="Source Serif 4" pitchFamily="34" charset="0"/>
                <a:ea typeface="Source Serif 4" pitchFamily="34" charset="-122"/>
                <a:cs typeface="Source Serif 4" pitchFamily="34" charset="-120"/>
              </a:rPr>
              <a:t>Four fields, three writers, </a:t>
            </a:r>
            <a:pPr algn="l" indent="0" marL="0">
              <a:lnSpc>
                <a:spcPct val="98182"/>
              </a:lnSpc>
              <a:buNone/>
            </a:pPr>
            <a:r>
              <a:rPr lang="en-US" sz="1800" b="1" dirty="0">
                <a:solidFill>
                  <a:srgbClr val="F6F7F4"/>
                </a:solidFill>
                <a:latin typeface="Source Serif 4" pitchFamily="34" charset="0"/>
                <a:ea typeface="Source Serif 4" pitchFamily="34" charset="-122"/>
                <a:cs typeface="Source Serif 4" pitchFamily="34" charset="-120"/>
              </a:rPr>
              <a:t>one evidence envelope </a:t>
            </a:r>
            <a:pPr algn="l" indent="0" marL="0">
              <a:lnSpc>
                <a:spcPct val="98182"/>
              </a:lnSpc>
              <a:buNone/>
            </a:pPr>
            <a:r>
              <a:rPr lang="en-US" sz="1800" dirty="0">
                <a:solidFill>
                  <a:srgbClr val="B9C4CC"/>
                </a:solidFill>
                <a:latin typeface="Source Serif 4" pitchFamily="34" charset="0"/>
                <a:ea typeface="Source Serif 4" pitchFamily="34" charset="-122"/>
                <a:cs typeface="Source Serif 4" pitchFamily="34" charset="-120"/>
              </a:rPr>
              <a:t>— the join is free because every record shares the same URN and trace. That is the convergence.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CHECKPOINTS AT 9 / 15 / 24</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is live at months 9, 15, and 24</a:t>
            </a:r>
            <a:endParaRPr lang="en-US" sz="4800" dirty="0"/>
          </a:p>
        </p:txBody>
      </p:sp>
      <p:sp>
        <p:nvSpPr>
          <p:cNvPr id="4" name="Shape 2"/>
          <p:cNvSpPr/>
          <p:nvPr/>
        </p:nvSpPr>
        <p:spPr>
          <a:xfrm>
            <a:off x="952500" y="2486025"/>
            <a:ext cx="5295900" cy="5848350"/>
          </a:xfrm>
          <a:prstGeom prst="roundRect">
            <a:avLst>
              <a:gd name="adj" fmla="val 2518"/>
            </a:avLst>
          </a:prstGeom>
          <a:solidFill>
            <a:srgbClr val="FDFDFB"/>
          </a:solidFill>
          <a:ln w="9525">
            <a:solidFill>
              <a:srgbClr val="D9DED7"/>
            </a:solidFill>
            <a:prstDash val="solid"/>
          </a:ln>
        </p:spPr>
      </p:sp>
      <p:sp>
        <p:nvSpPr>
          <p:cNvPr id="5" name="Text 3"/>
          <p:cNvSpPr/>
          <p:nvPr/>
        </p:nvSpPr>
        <p:spPr>
          <a:xfrm>
            <a:off x="13049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9</a:t>
            </a:r>
            <a:endParaRPr lang="en-US" sz="4050" dirty="0"/>
          </a:p>
        </p:txBody>
      </p:sp>
      <p:sp>
        <p:nvSpPr>
          <p:cNvPr id="6" name="Text 4"/>
          <p:cNvSpPr/>
          <p:nvPr/>
        </p:nvSpPr>
        <p:spPr>
          <a:xfrm>
            <a:off x="13049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PROVEN</a:t>
            </a:r>
            <a:endParaRPr lang="en-US" sz="1950" dirty="0"/>
          </a:p>
        </p:txBody>
      </p:sp>
      <p:sp>
        <p:nvSpPr>
          <p:cNvPr id="7" name="Text 5"/>
          <p:cNvSpPr/>
          <p:nvPr/>
        </p:nvSpPr>
        <p:spPr>
          <a:xfrm>
            <a:off x="130492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Four foundations live and joined on use case 1 — health, cause, blast radius. Go/no-go gate.</a:t>
            </a:r>
            <a:endParaRPr lang="en-US" sz="2025" dirty="0"/>
          </a:p>
        </p:txBody>
      </p:sp>
      <p:sp>
        <p:nvSpPr>
          <p:cNvPr id="8" name="Shape 6"/>
          <p:cNvSpPr/>
          <p:nvPr/>
        </p:nvSpPr>
        <p:spPr>
          <a:xfrm>
            <a:off x="6496050" y="2486025"/>
            <a:ext cx="5295900" cy="5848350"/>
          </a:xfrm>
          <a:prstGeom prst="roundRect">
            <a:avLst>
              <a:gd name="adj" fmla="val 2518"/>
            </a:avLst>
          </a:prstGeom>
          <a:solidFill>
            <a:srgbClr val="FDFDFB"/>
          </a:solidFill>
          <a:ln w="9525">
            <a:solidFill>
              <a:srgbClr val="D9DED7"/>
            </a:solidFill>
            <a:prstDash val="solid"/>
          </a:ln>
        </p:spPr>
      </p:sp>
      <p:sp>
        <p:nvSpPr>
          <p:cNvPr id="9" name="Text 7"/>
          <p:cNvSpPr/>
          <p:nvPr/>
        </p:nvSpPr>
        <p:spPr>
          <a:xfrm>
            <a:off x="684847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15</a:t>
            </a:r>
            <a:endParaRPr lang="en-US" sz="4050" dirty="0"/>
          </a:p>
        </p:txBody>
      </p:sp>
      <p:sp>
        <p:nvSpPr>
          <p:cNvPr id="10" name="Text 8"/>
          <p:cNvSpPr/>
          <p:nvPr/>
        </p:nvSpPr>
        <p:spPr>
          <a:xfrm>
            <a:off x="684847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ENFORCING</a:t>
            </a:r>
            <a:endParaRPr lang="en-US" sz="1950" dirty="0"/>
          </a:p>
        </p:txBody>
      </p:sp>
      <p:sp>
        <p:nvSpPr>
          <p:cNvPr id="11" name="Text 9"/>
          <p:cNvSpPr/>
          <p:nvPr/>
        </p:nvSpPr>
        <p:spPr>
          <a:xfrm>
            <a:off x="6848475" y="4048125"/>
            <a:ext cx="4728782" cy="1209675"/>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Full platform live — gating on, edges confidence-scored, multiple use cases on the paved road.</a:t>
            </a:r>
            <a:endParaRPr lang="en-US" sz="2025" dirty="0"/>
          </a:p>
        </p:txBody>
      </p:sp>
      <p:sp>
        <p:nvSpPr>
          <p:cNvPr id="12" name="Shape 10"/>
          <p:cNvSpPr/>
          <p:nvPr/>
        </p:nvSpPr>
        <p:spPr>
          <a:xfrm>
            <a:off x="12039600" y="2486025"/>
            <a:ext cx="5295900" cy="5848350"/>
          </a:xfrm>
          <a:prstGeom prst="roundRect">
            <a:avLst>
              <a:gd name="adj" fmla="val 2518"/>
            </a:avLst>
          </a:prstGeom>
          <a:solidFill>
            <a:srgbClr val="FDFDFB"/>
          </a:solidFill>
          <a:ln w="9525">
            <a:solidFill>
              <a:srgbClr val="D9DED7"/>
            </a:solidFill>
            <a:prstDash val="solid"/>
          </a:ln>
        </p:spPr>
      </p:sp>
      <p:sp>
        <p:nvSpPr>
          <p:cNvPr id="13" name="Text 11"/>
          <p:cNvSpPr/>
          <p:nvPr/>
        </p:nvSpPr>
        <p:spPr>
          <a:xfrm>
            <a:off x="12392025" y="2838450"/>
            <a:ext cx="5050155" cy="657225"/>
          </a:xfrm>
          <a:prstGeom prst="rect">
            <a:avLst/>
          </a:prstGeom>
          <a:noFill/>
          <a:ln/>
        </p:spPr>
        <p:txBody>
          <a:bodyPr wrap="square" lIns="25400" tIns="25400" rIns="25400" bIns="25400" rtlCol="0" anchor="t">
            <a:normAutofit/>
          </a:bodyPr>
          <a:lstStyle/>
          <a:p>
            <a:pPr algn="l" indent="0" marL="0">
              <a:buNone/>
            </a:pPr>
            <a:r>
              <a:rPr lang="en-US" sz="4050" b="1" dirty="0">
                <a:solidFill>
                  <a:srgbClr val="0E7C6B"/>
                </a:solidFill>
                <a:latin typeface="Bricolage Grotesque" pitchFamily="34" charset="0"/>
                <a:ea typeface="Bricolage Grotesque" pitchFamily="34" charset="-122"/>
                <a:cs typeface="Bricolage Grotesque" pitchFamily="34" charset="-120"/>
              </a:rPr>
              <a:t>Month 24</a:t>
            </a:r>
            <a:endParaRPr lang="en-US" sz="4050" dirty="0"/>
          </a:p>
        </p:txBody>
      </p:sp>
      <p:sp>
        <p:nvSpPr>
          <p:cNvPr id="14" name="Text 12"/>
          <p:cNvSpPr/>
          <p:nvPr/>
        </p:nvSpPr>
        <p:spPr>
          <a:xfrm>
            <a:off x="12392025" y="3533775"/>
            <a:ext cx="5050155" cy="361950"/>
          </a:xfrm>
          <a:prstGeom prst="rect">
            <a:avLst/>
          </a:prstGeom>
          <a:noFill/>
          <a:ln/>
        </p:spPr>
        <p:txBody>
          <a:bodyPr wrap="square" lIns="25400" tIns="25400" rIns="25400" bIns="25400" rtlCol="0" anchor="t">
            <a:normAutofit/>
          </a:bodyPr>
          <a:lstStyle/>
          <a:p>
            <a:pPr algn="l" indent="0" marL="0">
              <a:buNone/>
            </a:pPr>
            <a:r>
              <a:rPr lang="en-US" sz="1950" b="1" spc="117" kern="0" dirty="0">
                <a:solidFill>
                  <a:srgbClr val="B97417"/>
                </a:solidFill>
                <a:latin typeface="IBM Plex Mono" pitchFamily="34" charset="0"/>
                <a:ea typeface="IBM Plex Mono" pitchFamily="34" charset="-122"/>
                <a:cs typeface="IBM Plex Mono" pitchFamily="34" charset="-120"/>
              </a:rPr>
              <a:t>SCALED</a:t>
            </a:r>
            <a:endParaRPr lang="en-US" sz="1950" dirty="0"/>
          </a:p>
        </p:txBody>
      </p:sp>
      <p:sp>
        <p:nvSpPr>
          <p:cNvPr id="15" name="Text 13"/>
          <p:cNvSpPr/>
          <p:nvPr/>
        </p:nvSpPr>
        <p:spPr>
          <a:xfrm>
            <a:off x="12392025" y="4048125"/>
            <a:ext cx="4728782" cy="1600200"/>
          </a:xfrm>
          <a:prstGeom prst="rect">
            <a:avLst/>
          </a:prstGeom>
          <a:noFill/>
          <a:ln/>
        </p:spPr>
        <p:txBody>
          <a:bodyPr wrap="square" lIns="25400" tIns="25400" rIns="25400" bIns="25400" rtlCol="0" anchor="t">
            <a:normAutofit/>
          </a:bodyPr>
          <a:lstStyle/>
          <a:p>
            <a:pPr algn="l" indent="0" marL="0">
              <a:lnSpc>
                <a:spcPct val="113108"/>
              </a:lnSpc>
              <a:buNone/>
            </a:pPr>
            <a:r>
              <a:rPr lang="en-US" sz="2025" dirty="0">
                <a:solidFill>
                  <a:srgbClr val="3D4A55"/>
                </a:solidFill>
                <a:latin typeface="Source Serif 4" pitchFamily="34" charset="0"/>
                <a:ea typeface="Source Serif 4" pitchFamily="34" charset="-122"/>
                <a:cs typeface="Source Serif 4" pitchFamily="34" charset="-120"/>
              </a:rPr>
              <a:t>Critical use cases operating; impact simulation on Tier-1; onboarding ≤ 2 weeks; expansion priced from measured cost per use case.</a:t>
            </a:r>
            <a:endParaRPr lang="en-US" sz="2025" dirty="0"/>
          </a:p>
        </p:txBody>
      </p:sp>
      <p:sp>
        <p:nvSpPr>
          <p:cNvPr id="16" name="Shape 14"/>
          <p:cNvSpPr/>
          <p:nvPr/>
        </p:nvSpPr>
        <p:spPr>
          <a:xfrm>
            <a:off x="952500" y="8715375"/>
            <a:ext cx="16383000" cy="809625"/>
          </a:xfrm>
          <a:prstGeom prst="roundRect">
            <a:avLst>
              <a:gd name="adj" fmla="val 14118"/>
            </a:avLst>
          </a:prstGeom>
          <a:solidFill>
            <a:srgbClr val="1B2530"/>
          </a:solidFill>
          <a:ln/>
        </p:spPr>
      </p:sp>
      <p:sp>
        <p:nvSpPr>
          <p:cNvPr id="17" name="Text 15"/>
          <p:cNvSpPr/>
          <p:nvPr/>
        </p:nvSpPr>
        <p:spPr>
          <a:xfrm>
            <a:off x="1295400" y="8972550"/>
            <a:ext cx="205195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ONE PLATFORM</a:t>
            </a:r>
            <a:endParaRPr lang="en-US" sz="1800" dirty="0"/>
          </a:p>
        </p:txBody>
      </p:sp>
      <p:sp>
        <p:nvSpPr>
          <p:cNvPr id="18" name="Text 16"/>
          <p:cNvSpPr/>
          <p:nvPr/>
        </p:nvSpPr>
        <p:spPr>
          <a:xfrm>
            <a:off x="3389412" y="8943975"/>
            <a:ext cx="14010873" cy="390525"/>
          </a:xfrm>
          <a:prstGeom prst="rect">
            <a:avLst/>
          </a:prstGeom>
          <a:noFill/>
          <a:ln/>
        </p:spPr>
        <p:txBody>
          <a:bodyPr wrap="square" lIns="25400" tIns="25400" rIns="25400" bIns="25400" rtlCol="0" anchor="t">
            <a:normAutofit/>
          </a:bodyPr>
          <a:lstStyle/>
          <a:p>
            <a:pPr algn="l" indent="0" marL="0">
              <a:lnSpc>
                <a:spcPct val="102162"/>
              </a:lnSpc>
              <a:buNone/>
            </a:pPr>
            <a:r>
              <a:rPr lang="en-US" sz="2025" dirty="0">
                <a:solidFill>
                  <a:srgbClr val="DCE3E8"/>
                </a:solidFill>
                <a:latin typeface="Source Serif 4" pitchFamily="34" charset="0"/>
                <a:ea typeface="Source Serif 4" pitchFamily="34" charset="-122"/>
                <a:cs typeface="Source Serif 4" pitchFamily="34" charset="-120"/>
              </a:rPr>
              <a:t>Three missions, one evidence stream, one pilot thread, one scorecard — one platform, not three projects.</a:t>
            </a:r>
            <a:endParaRPr lang="en-US" sz="20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57250" y="381000"/>
            <a:ext cx="1823085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MENTAL MODEL, STAGE BY STAGE</a:t>
            </a:r>
            <a:endParaRPr lang="en-US" sz="1800" dirty="0"/>
          </a:p>
        </p:txBody>
      </p:sp>
      <p:sp>
        <p:nvSpPr>
          <p:cNvPr id="3" name="Text 1"/>
          <p:cNvSpPr/>
          <p:nvPr/>
        </p:nvSpPr>
        <p:spPr>
          <a:xfrm>
            <a:off x="857250" y="781050"/>
            <a:ext cx="18230850" cy="571500"/>
          </a:xfrm>
          <a:prstGeom prst="rect">
            <a:avLst/>
          </a:prstGeom>
          <a:noFill/>
          <a:ln/>
        </p:spPr>
        <p:txBody>
          <a:bodyPr wrap="square" lIns="25400" tIns="25400" rIns="25400" bIns="25400" rtlCol="0" anchor="t">
            <a:normAutofit/>
          </a:bodyPr>
          <a:lstStyle/>
          <a:p>
            <a:pPr algn="l" indent="0" marL="0">
              <a:lnSpc>
                <a:spcPct val="87231"/>
              </a:lnSpc>
              <a:buNone/>
            </a:pPr>
            <a:r>
              <a:rPr lang="en-US" sz="4050" b="1" spc="-61" kern="0" dirty="0">
                <a:solidFill>
                  <a:srgbClr val="1B2530"/>
                </a:solidFill>
                <a:latin typeface="Bricolage Grotesque" pitchFamily="34" charset="0"/>
                <a:ea typeface="Bricolage Grotesque" pitchFamily="34" charset="-122"/>
                <a:cs typeface="Bricolage Grotesque" pitchFamily="34" charset="-120"/>
              </a:rPr>
              <a:t>Five stages, one-to-one</a:t>
            </a:r>
            <a:endParaRPr lang="en-US" sz="4050" dirty="0"/>
          </a:p>
        </p:txBody>
      </p:sp>
      <p:sp>
        <p:nvSpPr>
          <p:cNvPr id="4" name="Shape 2"/>
          <p:cNvSpPr/>
          <p:nvPr/>
        </p:nvSpPr>
        <p:spPr>
          <a:xfrm>
            <a:off x="857250" y="1490663"/>
            <a:ext cx="142875" cy="142875"/>
          </a:xfrm>
          <a:prstGeom prst="roundRect">
            <a:avLst>
              <a:gd name="adj" fmla="val 26667"/>
            </a:avLst>
          </a:prstGeom>
          <a:solidFill>
            <a:srgbClr val="8B99A4"/>
          </a:solidFill>
          <a:ln/>
        </p:spPr>
      </p:sp>
      <p:sp>
        <p:nvSpPr>
          <p:cNvPr id="5" name="Text 3"/>
          <p:cNvSpPr/>
          <p:nvPr/>
        </p:nvSpPr>
        <p:spPr>
          <a:xfrm>
            <a:off x="1095375" y="1409700"/>
            <a:ext cx="28667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what New Relic does</a:t>
            </a:r>
            <a:endParaRPr lang="en-US" sz="1800" dirty="0"/>
          </a:p>
        </p:txBody>
      </p:sp>
      <p:sp>
        <p:nvSpPr>
          <p:cNvPr id="6" name="Shape 4"/>
          <p:cNvSpPr/>
          <p:nvPr/>
        </p:nvSpPr>
        <p:spPr>
          <a:xfrm>
            <a:off x="3949154" y="1490663"/>
            <a:ext cx="142875" cy="142875"/>
          </a:xfrm>
          <a:prstGeom prst="roundRect">
            <a:avLst>
              <a:gd name="adj" fmla="val 26667"/>
            </a:avLst>
          </a:prstGeom>
          <a:solidFill>
            <a:srgbClr val="0E7C6B"/>
          </a:solidFill>
          <a:ln/>
        </p:spPr>
      </p:sp>
      <p:sp>
        <p:nvSpPr>
          <p:cNvPr id="7" name="Text 5"/>
          <p:cNvSpPr/>
          <p:nvPr/>
        </p:nvSpPr>
        <p:spPr>
          <a:xfrm>
            <a:off x="4187279" y="1409700"/>
            <a:ext cx="34701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what this platform does</a:t>
            </a:r>
            <a:endParaRPr lang="en-US" sz="1800" dirty="0"/>
          </a:p>
        </p:txBody>
      </p:sp>
      <p:sp>
        <p:nvSpPr>
          <p:cNvPr id="8" name="Text 6"/>
          <p:cNvSpPr/>
          <p:nvPr/>
        </p:nvSpPr>
        <p:spPr>
          <a:xfrm>
            <a:off x="708280"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1 · INSTRUMENT</a:t>
            </a:r>
            <a:endParaRPr lang="en-US" sz="1800" dirty="0"/>
          </a:p>
        </p:txBody>
      </p:sp>
      <p:sp>
        <p:nvSpPr>
          <p:cNvPr id="9" name="Shape 7"/>
          <p:cNvSpPr/>
          <p:nvPr/>
        </p:nvSpPr>
        <p:spPr>
          <a:xfrm>
            <a:off x="857250" y="2305050"/>
            <a:ext cx="2979390" cy="1701552"/>
          </a:xfrm>
          <a:prstGeom prst="roundRect">
            <a:avLst>
              <a:gd name="adj" fmla="val 6717"/>
            </a:avLst>
          </a:prstGeom>
          <a:solidFill>
            <a:srgbClr val="F0F1EE"/>
          </a:solidFill>
          <a:ln w="9525">
            <a:solidFill>
              <a:srgbClr val="D9DED7"/>
            </a:solidFill>
            <a:prstDash val="solid"/>
          </a:ln>
        </p:spPr>
      </p:sp>
      <p:sp>
        <p:nvSpPr>
          <p:cNvPr id="10" name="Text 8"/>
          <p:cNvSpPr/>
          <p:nvPr/>
        </p:nvSpPr>
        <p:spPr>
          <a:xfrm>
            <a:off x="103822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Agent</a:t>
            </a:r>
            <a:endParaRPr lang="en-US" sz="2025" dirty="0"/>
          </a:p>
        </p:txBody>
      </p:sp>
      <p:sp>
        <p:nvSpPr>
          <p:cNvPr id="11" name="Text 9"/>
          <p:cNvSpPr/>
          <p:nvPr/>
        </p:nvSpPr>
        <p:spPr>
          <a:xfrm>
            <a:off x="1038225" y="2790825"/>
            <a:ext cx="2695963"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in-process, sees every request, never blocks it</a:t>
            </a:r>
            <a:endParaRPr lang="en-US" sz="1800" dirty="0"/>
          </a:p>
        </p:txBody>
      </p:sp>
      <p:sp>
        <p:nvSpPr>
          <p:cNvPr id="12" name="Text 10"/>
          <p:cNvSpPr/>
          <p:nvPr/>
        </p:nvSpPr>
        <p:spPr>
          <a:xfrm>
            <a:off x="708280"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3" name="Shape 11"/>
          <p:cNvSpPr/>
          <p:nvPr/>
        </p:nvSpPr>
        <p:spPr>
          <a:xfrm>
            <a:off x="857250" y="4482852"/>
            <a:ext cx="2979390" cy="2003673"/>
          </a:xfrm>
          <a:prstGeom prst="roundRect">
            <a:avLst>
              <a:gd name="adj" fmla="val 5705"/>
            </a:avLst>
          </a:prstGeom>
          <a:solidFill>
            <a:srgbClr val="FDFDFB"/>
          </a:solidFill>
          <a:ln w="19050">
            <a:solidFill>
              <a:srgbClr val="0E7C6B"/>
            </a:solidFill>
            <a:prstDash val="solid"/>
          </a:ln>
        </p:spPr>
      </p:sp>
      <p:sp>
        <p:nvSpPr>
          <p:cNvPr id="14" name="Text 12"/>
          <p:cNvSpPr/>
          <p:nvPr/>
        </p:nvSpPr>
        <p:spPr>
          <a:xfrm>
            <a:off x="104775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Policy Enforcer</a:t>
            </a:r>
            <a:endParaRPr lang="en-US" sz="2025" dirty="0"/>
          </a:p>
        </p:txBody>
      </p:sp>
      <p:sp>
        <p:nvSpPr>
          <p:cNvPr id="15" name="Text 13"/>
          <p:cNvSpPr/>
          <p:nvPr/>
        </p:nvSpPr>
        <p:spPr>
          <a:xfrm>
            <a:off x="1047750" y="4978152"/>
            <a:ext cx="2676342"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sidecar consumer, grades every record through 5 gates, never blocks data</a:t>
            </a:r>
            <a:endParaRPr lang="en-US" sz="1800" dirty="0"/>
          </a:p>
        </p:txBody>
      </p:sp>
      <p:sp>
        <p:nvSpPr>
          <p:cNvPr id="16" name="Text 14"/>
          <p:cNvSpPr/>
          <p:nvPr/>
        </p:nvSpPr>
        <p:spPr>
          <a:xfrm>
            <a:off x="3798540"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17" name="Text 15"/>
          <p:cNvSpPr/>
          <p:nvPr/>
        </p:nvSpPr>
        <p:spPr>
          <a:xfrm>
            <a:off x="410677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2 · EMIT</a:t>
            </a:r>
            <a:endParaRPr lang="en-US" sz="1800" dirty="0"/>
          </a:p>
        </p:txBody>
      </p:sp>
      <p:sp>
        <p:nvSpPr>
          <p:cNvPr id="18" name="Shape 16"/>
          <p:cNvSpPr/>
          <p:nvPr/>
        </p:nvSpPr>
        <p:spPr>
          <a:xfrm>
            <a:off x="4255740" y="2305050"/>
            <a:ext cx="2979390" cy="1701552"/>
          </a:xfrm>
          <a:prstGeom prst="roundRect">
            <a:avLst>
              <a:gd name="adj" fmla="val 6717"/>
            </a:avLst>
          </a:prstGeom>
          <a:solidFill>
            <a:srgbClr val="F0F1EE"/>
          </a:solidFill>
          <a:ln w="9525">
            <a:solidFill>
              <a:srgbClr val="D9DED7"/>
            </a:solidFill>
            <a:prstDash val="solid"/>
          </a:ln>
        </p:spPr>
      </p:sp>
      <p:sp>
        <p:nvSpPr>
          <p:cNvPr id="19" name="Text 17"/>
          <p:cNvSpPr/>
          <p:nvPr/>
        </p:nvSpPr>
        <p:spPr>
          <a:xfrm>
            <a:off x="443671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Span</a:t>
            </a:r>
            <a:endParaRPr lang="en-US" sz="2025" dirty="0"/>
          </a:p>
        </p:txBody>
      </p:sp>
      <p:sp>
        <p:nvSpPr>
          <p:cNvPr id="20" name="Text 18"/>
          <p:cNvSpPr/>
          <p:nvPr/>
        </p:nvSpPr>
        <p:spPr>
          <a:xfrm>
            <a:off x="4436715" y="2790825"/>
            <a:ext cx="2695963"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timing per hop, keyed by trace_id</a:t>
            </a:r>
            <a:endParaRPr lang="en-US" sz="1800" dirty="0"/>
          </a:p>
        </p:txBody>
      </p:sp>
      <p:sp>
        <p:nvSpPr>
          <p:cNvPr id="21" name="Text 19"/>
          <p:cNvSpPr/>
          <p:nvPr/>
        </p:nvSpPr>
        <p:spPr>
          <a:xfrm>
            <a:off x="4106771"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2" name="Shape 20"/>
          <p:cNvSpPr/>
          <p:nvPr/>
        </p:nvSpPr>
        <p:spPr>
          <a:xfrm>
            <a:off x="4255740" y="4482852"/>
            <a:ext cx="2979390" cy="2003673"/>
          </a:xfrm>
          <a:prstGeom prst="roundRect">
            <a:avLst>
              <a:gd name="adj" fmla="val 5705"/>
            </a:avLst>
          </a:prstGeom>
          <a:solidFill>
            <a:srgbClr val="FDFDFB"/>
          </a:solidFill>
          <a:ln w="19050">
            <a:solidFill>
              <a:srgbClr val="0E7C6B"/>
            </a:solidFill>
            <a:prstDash val="solid"/>
          </a:ln>
        </p:spPr>
      </p:sp>
      <p:sp>
        <p:nvSpPr>
          <p:cNvPr id="23" name="Text 21"/>
          <p:cNvSpPr/>
          <p:nvPr/>
        </p:nvSpPr>
        <p:spPr>
          <a:xfrm>
            <a:off x="444624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Evidence event</a:t>
            </a:r>
            <a:endParaRPr lang="en-US" sz="2025" dirty="0"/>
          </a:p>
        </p:txBody>
      </p:sp>
      <p:sp>
        <p:nvSpPr>
          <p:cNvPr id="24" name="Text 22"/>
          <p:cNvSpPr/>
          <p:nvPr/>
        </p:nvSpPr>
        <p:spPr>
          <a:xfrm>
            <a:off x="4446240" y="4978152"/>
            <a:ext cx="2676342" cy="952500"/>
          </a:xfrm>
          <a:prstGeom prst="rect">
            <a:avLst/>
          </a:prstGeom>
          <a:noFill/>
          <a:ln/>
        </p:spPr>
        <p:txBody>
          <a:bodyPr wrap="square" lIns="25400" tIns="25400" rIns="25400" bIns="25400" rtlCol="0" anchor="t">
            <a:normAutofit/>
          </a:bodyPr>
          <a:lstStyle/>
          <a:p>
            <a:pPr algn="l" indent="0" marL="0">
              <a:lnSpc>
                <a:spcPct val="101250"/>
              </a:lnSpc>
              <a:buNone/>
            </a:pPr>
            <a:r>
              <a:rPr lang="en-US" sz="1800" dirty="0">
                <a:solidFill>
                  <a:srgbClr val="3D4A55"/>
                </a:solidFill>
                <a:latin typeface="IBM Plex Mono" pitchFamily="34" charset="0"/>
                <a:ea typeface="IBM Plex Mono" pitchFamily="34" charset="-122"/>
                <a:cs typeface="IBM Plex Mono" pitchFamily="34" charset="-120"/>
              </a:rPr>
              <a:t>urn · PASS/FAIL · gate + reason · trace_id · offset</a:t>
            </a:r>
            <a:endParaRPr lang="en-US" sz="1800" dirty="0"/>
          </a:p>
        </p:txBody>
      </p:sp>
      <p:sp>
        <p:nvSpPr>
          <p:cNvPr id="25" name="Text 23"/>
          <p:cNvSpPr/>
          <p:nvPr/>
        </p:nvSpPr>
        <p:spPr>
          <a:xfrm>
            <a:off x="7197030"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26" name="Text 24"/>
          <p:cNvSpPr/>
          <p:nvPr/>
        </p:nvSpPr>
        <p:spPr>
          <a:xfrm>
            <a:off x="750526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3 · AGGREGATE</a:t>
            </a:r>
            <a:endParaRPr lang="en-US" sz="1800" dirty="0"/>
          </a:p>
        </p:txBody>
      </p:sp>
      <p:sp>
        <p:nvSpPr>
          <p:cNvPr id="27" name="Shape 25"/>
          <p:cNvSpPr/>
          <p:nvPr/>
        </p:nvSpPr>
        <p:spPr>
          <a:xfrm>
            <a:off x="7654230" y="2305050"/>
            <a:ext cx="2979390" cy="1701552"/>
          </a:xfrm>
          <a:prstGeom prst="roundRect">
            <a:avLst>
              <a:gd name="adj" fmla="val 6717"/>
            </a:avLst>
          </a:prstGeom>
          <a:solidFill>
            <a:srgbClr val="F0F1EE"/>
          </a:solidFill>
          <a:ln w="9525">
            <a:solidFill>
              <a:srgbClr val="D9DED7"/>
            </a:solidFill>
            <a:prstDash val="solid"/>
          </a:ln>
        </p:spPr>
      </p:sp>
      <p:sp>
        <p:nvSpPr>
          <p:cNvPr id="28" name="Text 26"/>
          <p:cNvSpPr/>
          <p:nvPr/>
        </p:nvSpPr>
        <p:spPr>
          <a:xfrm>
            <a:off x="7835205"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Rollups &amp; baselines</a:t>
            </a:r>
            <a:endParaRPr lang="en-US" sz="2025" dirty="0"/>
          </a:p>
        </p:txBody>
      </p:sp>
      <p:sp>
        <p:nvSpPr>
          <p:cNvPr id="29" name="Text 27"/>
          <p:cNvSpPr/>
          <p:nvPr/>
        </p:nvSpPr>
        <p:spPr>
          <a:xfrm>
            <a:off x="7835205" y="2790825"/>
            <a:ext cx="2695963"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golden signals per service, learned normals</a:t>
            </a:r>
            <a:endParaRPr lang="en-US" sz="1800" dirty="0"/>
          </a:p>
        </p:txBody>
      </p:sp>
      <p:sp>
        <p:nvSpPr>
          <p:cNvPr id="30" name="Text 28"/>
          <p:cNvSpPr/>
          <p:nvPr/>
        </p:nvSpPr>
        <p:spPr>
          <a:xfrm>
            <a:off x="7505261" y="4101852"/>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31" name="Shape 29"/>
          <p:cNvSpPr/>
          <p:nvPr/>
        </p:nvSpPr>
        <p:spPr>
          <a:xfrm>
            <a:off x="7654230" y="4482852"/>
            <a:ext cx="2979390" cy="2003673"/>
          </a:xfrm>
          <a:prstGeom prst="roundRect">
            <a:avLst>
              <a:gd name="adj" fmla="val 5705"/>
            </a:avLst>
          </a:prstGeom>
          <a:solidFill>
            <a:srgbClr val="FDFDFB"/>
          </a:solidFill>
          <a:ln w="19050">
            <a:solidFill>
              <a:srgbClr val="0E7C6B"/>
            </a:solidFill>
            <a:prstDash val="solid"/>
          </a:ln>
        </p:spPr>
      </p:sp>
      <p:sp>
        <p:nvSpPr>
          <p:cNvPr id="32" name="Text 30"/>
          <p:cNvSpPr/>
          <p:nvPr/>
        </p:nvSpPr>
        <p:spPr>
          <a:xfrm>
            <a:off x="7844730" y="4635252"/>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5 signal engines</a:t>
            </a:r>
            <a:endParaRPr lang="en-US" sz="2025" dirty="0"/>
          </a:p>
        </p:txBody>
      </p:sp>
      <p:sp>
        <p:nvSpPr>
          <p:cNvPr id="33" name="Text 31"/>
          <p:cNvSpPr/>
          <p:nvPr/>
        </p:nvSpPr>
        <p:spPr>
          <a:xfrm>
            <a:off x="7844730" y="4978152"/>
            <a:ext cx="2676342"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5-min windows over evidence → freshness · volume · contract · quality · anomaly</a:t>
            </a:r>
            <a:endParaRPr lang="en-US" sz="1800" dirty="0"/>
          </a:p>
        </p:txBody>
      </p:sp>
      <p:sp>
        <p:nvSpPr>
          <p:cNvPr id="34" name="Text 32"/>
          <p:cNvSpPr/>
          <p:nvPr/>
        </p:nvSpPr>
        <p:spPr>
          <a:xfrm>
            <a:off x="10595521"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35" name="Text 33"/>
          <p:cNvSpPr/>
          <p:nvPr/>
        </p:nvSpPr>
        <p:spPr>
          <a:xfrm>
            <a:off x="10903751" y="1905000"/>
            <a:ext cx="3277329"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4 · EXPLAIN</a:t>
            </a:r>
            <a:endParaRPr lang="en-US" sz="1800" dirty="0"/>
          </a:p>
        </p:txBody>
      </p:sp>
      <p:sp>
        <p:nvSpPr>
          <p:cNvPr id="36" name="Shape 34"/>
          <p:cNvSpPr/>
          <p:nvPr/>
        </p:nvSpPr>
        <p:spPr>
          <a:xfrm>
            <a:off x="11052721" y="2305050"/>
            <a:ext cx="2979390" cy="1581150"/>
          </a:xfrm>
          <a:prstGeom prst="roundRect">
            <a:avLst>
              <a:gd name="adj" fmla="val 7229"/>
            </a:avLst>
          </a:prstGeom>
          <a:solidFill>
            <a:srgbClr val="F0F1EE"/>
          </a:solidFill>
          <a:ln w="9525">
            <a:solidFill>
              <a:srgbClr val="D9DED7"/>
            </a:solidFill>
            <a:prstDash val="solid"/>
          </a:ln>
        </p:spPr>
      </p:sp>
      <p:sp>
        <p:nvSpPr>
          <p:cNvPr id="37" name="Text 35"/>
          <p:cNvSpPr/>
          <p:nvPr/>
        </p:nvSpPr>
        <p:spPr>
          <a:xfrm>
            <a:off x="11233696" y="2447925"/>
            <a:ext cx="2879184"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Service map</a:t>
            </a:r>
            <a:endParaRPr lang="en-US" sz="2025" dirty="0"/>
          </a:p>
        </p:txBody>
      </p:sp>
      <p:sp>
        <p:nvSpPr>
          <p:cNvPr id="38" name="Text 36"/>
          <p:cNvSpPr/>
          <p:nvPr/>
        </p:nvSpPr>
        <p:spPr>
          <a:xfrm>
            <a:off x="11233696" y="2790825"/>
            <a:ext cx="2695963"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who calls whom, deploy markers on the timeline</a:t>
            </a:r>
            <a:endParaRPr lang="en-US" sz="1800" dirty="0"/>
          </a:p>
        </p:txBody>
      </p:sp>
      <p:sp>
        <p:nvSpPr>
          <p:cNvPr id="39" name="Text 37"/>
          <p:cNvSpPr/>
          <p:nvPr/>
        </p:nvSpPr>
        <p:spPr>
          <a:xfrm>
            <a:off x="10903751" y="3981450"/>
            <a:ext cx="3277329"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40" name="Shape 38"/>
          <p:cNvSpPr/>
          <p:nvPr/>
        </p:nvSpPr>
        <p:spPr>
          <a:xfrm>
            <a:off x="11052721" y="4362450"/>
            <a:ext cx="2979390" cy="2124075"/>
          </a:xfrm>
          <a:prstGeom prst="roundRect">
            <a:avLst>
              <a:gd name="adj" fmla="val 5381"/>
            </a:avLst>
          </a:prstGeom>
          <a:solidFill>
            <a:srgbClr val="FDFDFB"/>
          </a:solidFill>
          <a:ln w="19050">
            <a:solidFill>
              <a:srgbClr val="0E7C6B"/>
            </a:solidFill>
            <a:prstDash val="solid"/>
          </a:ln>
        </p:spPr>
      </p:sp>
      <p:sp>
        <p:nvSpPr>
          <p:cNvPr id="41" name="Text 39"/>
          <p:cNvSpPr/>
          <p:nvPr/>
        </p:nvSpPr>
        <p:spPr>
          <a:xfrm>
            <a:off x="11243221" y="4514850"/>
            <a:ext cx="2858229"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Causal graph</a:t>
            </a:r>
            <a:endParaRPr lang="en-US" sz="2025" dirty="0"/>
          </a:p>
        </p:txBody>
      </p:sp>
      <p:sp>
        <p:nvSpPr>
          <p:cNvPr id="42" name="Text 40"/>
          <p:cNvSpPr/>
          <p:nvPr/>
        </p:nvSpPr>
        <p:spPr>
          <a:xfrm>
            <a:off x="11243221" y="4857750"/>
            <a:ext cx="2676342"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who feeds whom + deploy —INTRODUCED→ failure; cause backward, blast radius forward</a:t>
            </a:r>
            <a:endParaRPr lang="en-US" sz="1800" dirty="0"/>
          </a:p>
        </p:txBody>
      </p:sp>
      <p:sp>
        <p:nvSpPr>
          <p:cNvPr id="43" name="Text 41"/>
          <p:cNvSpPr/>
          <p:nvPr/>
        </p:nvSpPr>
        <p:spPr>
          <a:xfrm>
            <a:off x="13994011" y="1905000"/>
            <a:ext cx="495300" cy="4619625"/>
          </a:xfrm>
          <a:prstGeom prst="rect">
            <a:avLst/>
          </a:prstGeom>
          <a:noFill/>
          <a:ln/>
        </p:spPr>
        <p:txBody>
          <a:bodyPr wrap="square" lIns="25400" tIns="25400" rIns="25400" bIns="25400" rtlCol="0" anchor="ctr">
            <a:normAutofit/>
          </a:bodyPr>
          <a:lstStyle/>
          <a:p>
            <a:pPr algn="ctr" indent="0" marL="0">
              <a:buNone/>
            </a:pPr>
            <a:r>
              <a:rPr lang="en-US" sz="2250" b="1" dirty="0">
                <a:solidFill>
                  <a:srgbClr val="8B99A4"/>
                </a:solidFill>
                <a:latin typeface="Bricolage Grotesque" pitchFamily="34" charset="0"/>
                <a:ea typeface="Bricolage Grotesque" pitchFamily="34" charset="-122"/>
                <a:cs typeface="Bricolage Grotesque" pitchFamily="34" charset="-120"/>
              </a:rPr>
              <a:t>→</a:t>
            </a:r>
            <a:endParaRPr lang="en-US" sz="2250" dirty="0"/>
          </a:p>
        </p:txBody>
      </p:sp>
      <p:sp>
        <p:nvSpPr>
          <p:cNvPr id="44" name="Text 42"/>
          <p:cNvSpPr/>
          <p:nvPr/>
        </p:nvSpPr>
        <p:spPr>
          <a:xfrm>
            <a:off x="14302234" y="1905000"/>
            <a:ext cx="3277493" cy="342900"/>
          </a:xfrm>
          <a:prstGeom prst="rect">
            <a:avLst/>
          </a:prstGeom>
          <a:noFill/>
          <a:ln/>
        </p:spPr>
        <p:txBody>
          <a:bodyPr wrap="square" lIns="25400" tIns="25400" rIns="25400" bIns="25400" rtlCol="0" anchor="t">
            <a:normAutofit/>
          </a:bodyPr>
          <a:lstStyle/>
          <a:p>
            <a:pPr algn="ctr" indent="0" marL="0">
              <a:buNone/>
            </a:pPr>
            <a:r>
              <a:rPr lang="en-US" sz="1800" b="1" spc="144" kern="0" dirty="0">
                <a:solidFill>
                  <a:srgbClr val="5B6873"/>
                </a:solidFill>
                <a:latin typeface="IBM Plex Mono" pitchFamily="34" charset="0"/>
                <a:ea typeface="IBM Plex Mono" pitchFamily="34" charset="-122"/>
                <a:cs typeface="IBM Plex Mono" pitchFamily="34" charset="-120"/>
              </a:rPr>
              <a:t>5 · ACT</a:t>
            </a:r>
            <a:endParaRPr lang="en-US" sz="1800" dirty="0"/>
          </a:p>
        </p:txBody>
      </p:sp>
      <p:sp>
        <p:nvSpPr>
          <p:cNvPr id="45" name="Shape 43"/>
          <p:cNvSpPr/>
          <p:nvPr/>
        </p:nvSpPr>
        <p:spPr>
          <a:xfrm>
            <a:off x="14451211" y="2305050"/>
            <a:ext cx="2979539" cy="1701552"/>
          </a:xfrm>
          <a:prstGeom prst="roundRect">
            <a:avLst>
              <a:gd name="adj" fmla="val 6717"/>
            </a:avLst>
          </a:prstGeom>
          <a:solidFill>
            <a:srgbClr val="F0F1EE"/>
          </a:solidFill>
          <a:ln w="9525">
            <a:solidFill>
              <a:srgbClr val="D9DED7"/>
            </a:solidFill>
            <a:prstDash val="solid"/>
          </a:ln>
        </p:spPr>
      </p:sp>
      <p:sp>
        <p:nvSpPr>
          <p:cNvPr id="46" name="Text 44"/>
          <p:cNvSpPr/>
          <p:nvPr/>
        </p:nvSpPr>
        <p:spPr>
          <a:xfrm>
            <a:off x="14632186" y="2447925"/>
            <a:ext cx="2879348"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3D4A55"/>
                </a:solidFill>
                <a:latin typeface="Bricolage Grotesque" pitchFamily="34" charset="0"/>
                <a:ea typeface="Bricolage Grotesque" pitchFamily="34" charset="-122"/>
                <a:cs typeface="Bricolage Grotesque" pitchFamily="34" charset="-120"/>
              </a:rPr>
              <a:t>One alert</a:t>
            </a:r>
            <a:endParaRPr lang="en-US" sz="2025" dirty="0"/>
          </a:p>
        </p:txBody>
      </p:sp>
      <p:sp>
        <p:nvSpPr>
          <p:cNvPr id="47" name="Text 45"/>
          <p:cNvSpPr/>
          <p:nvPr/>
        </p:nvSpPr>
        <p:spPr>
          <a:xfrm>
            <a:off x="14632186" y="2790825"/>
            <a:ext cx="269611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grouped by cause, routed to the right team</a:t>
            </a:r>
            <a:endParaRPr lang="en-US" sz="1800" dirty="0"/>
          </a:p>
        </p:txBody>
      </p:sp>
      <p:sp>
        <p:nvSpPr>
          <p:cNvPr id="48" name="Text 46"/>
          <p:cNvSpPr/>
          <p:nvPr/>
        </p:nvSpPr>
        <p:spPr>
          <a:xfrm>
            <a:off x="14302234" y="4101852"/>
            <a:ext cx="3277493" cy="323850"/>
          </a:xfrm>
          <a:prstGeom prst="rect">
            <a:avLst/>
          </a:prstGeom>
          <a:noFill/>
          <a:ln/>
        </p:spPr>
        <p:txBody>
          <a:bodyPr wrap="square" lIns="25400" tIns="25400" rIns="25400" bIns="25400" rtlCol="0" anchor="t">
            <a:normAutofit/>
          </a:bodyPr>
          <a:lstStyle/>
          <a:p>
            <a:pPr algn="ctr" indent="0" marL="0">
              <a:lnSpc>
                <a:spcPct val="83333"/>
              </a:lnSpc>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49" name="Shape 47"/>
          <p:cNvSpPr/>
          <p:nvPr/>
        </p:nvSpPr>
        <p:spPr>
          <a:xfrm>
            <a:off x="14451211" y="4482852"/>
            <a:ext cx="2979539" cy="2003673"/>
          </a:xfrm>
          <a:prstGeom prst="roundRect">
            <a:avLst>
              <a:gd name="adj" fmla="val 5705"/>
            </a:avLst>
          </a:prstGeom>
          <a:solidFill>
            <a:srgbClr val="FDFDFB"/>
          </a:solidFill>
          <a:ln w="19050">
            <a:solidFill>
              <a:srgbClr val="0E7C6B"/>
            </a:solidFill>
            <a:prstDash val="solid"/>
          </a:ln>
        </p:spPr>
      </p:sp>
      <p:sp>
        <p:nvSpPr>
          <p:cNvPr id="50" name="Text 48"/>
          <p:cNvSpPr/>
          <p:nvPr/>
        </p:nvSpPr>
        <p:spPr>
          <a:xfrm>
            <a:off x="14641711" y="4635252"/>
            <a:ext cx="2858393"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One incident</a:t>
            </a:r>
            <a:endParaRPr lang="en-US" sz="2025" dirty="0"/>
          </a:p>
        </p:txBody>
      </p:sp>
      <p:sp>
        <p:nvSpPr>
          <p:cNvPr id="51" name="Text 49"/>
          <p:cNvSpPr/>
          <p:nvPr/>
        </p:nvSpPr>
        <p:spPr>
          <a:xfrm>
            <a:off x="14641711" y="4978152"/>
            <a:ext cx="2676495"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cause + blast radius + action; ten signals → one page</a:t>
            </a:r>
            <a:endParaRPr lang="en-US" sz="1800" dirty="0"/>
          </a:p>
        </p:txBody>
      </p:sp>
      <p:sp>
        <p:nvSpPr>
          <p:cNvPr id="52" name="Shape 50"/>
          <p:cNvSpPr/>
          <p:nvPr/>
        </p:nvSpPr>
        <p:spPr>
          <a:xfrm>
            <a:off x="857250" y="6619875"/>
            <a:ext cx="8201025" cy="2581275"/>
          </a:xfrm>
          <a:prstGeom prst="roundRect">
            <a:avLst>
              <a:gd name="adj" fmla="val 4428"/>
            </a:avLst>
          </a:prstGeom>
          <a:solidFill>
            <a:srgbClr val="1B2530"/>
          </a:solidFill>
          <a:ln/>
        </p:spPr>
      </p:sp>
      <p:sp>
        <p:nvSpPr>
          <p:cNvPr id="53" name="Text 51"/>
          <p:cNvSpPr/>
          <p:nvPr/>
        </p:nvSpPr>
        <p:spPr>
          <a:xfrm>
            <a:off x="1085850" y="6753225"/>
            <a:ext cx="44810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34B39B"/>
                </a:solidFill>
                <a:latin typeface="IBM Plex Mono" pitchFamily="34" charset="0"/>
                <a:ea typeface="IBM Plex Mono" pitchFamily="34" charset="-122"/>
                <a:cs typeface="IBM Plex Mono" pitchFamily="34" charset="-120"/>
              </a:rPr>
              <a:t>UNDER STAGE 1 · THE 5 GATES</a:t>
            </a:r>
            <a:endParaRPr lang="en-US" sz="1800" dirty="0"/>
          </a:p>
        </p:txBody>
      </p:sp>
      <p:sp>
        <p:nvSpPr>
          <p:cNvPr id="54" name="Text 52"/>
          <p:cNvSpPr/>
          <p:nvPr/>
        </p:nvSpPr>
        <p:spPr>
          <a:xfrm>
            <a:off x="5292923" y="6753225"/>
            <a:ext cx="3032254"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8B99A4"/>
                </a:solidFill>
                <a:latin typeface="Source Serif 4" pitchFamily="34" charset="0"/>
                <a:ea typeface="Source Serif 4" pitchFamily="34" charset="-122"/>
                <a:cs typeface="Source Serif 4" pitchFamily="34" charset="-120"/>
              </a:rPr>
              <a:t>grade every single record</a:t>
            </a:r>
            <a:endParaRPr lang="en-US" sz="1800" dirty="0"/>
          </a:p>
        </p:txBody>
      </p:sp>
      <p:sp>
        <p:nvSpPr>
          <p:cNvPr id="55" name="Text 53"/>
          <p:cNvSpPr/>
          <p:nvPr/>
        </p:nvSpPr>
        <p:spPr>
          <a:xfrm>
            <a:off x="1085850" y="7143750"/>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G1</a:t>
            </a:r>
            <a:endParaRPr lang="en-US" sz="1800" dirty="0"/>
          </a:p>
        </p:txBody>
      </p:sp>
      <p:sp>
        <p:nvSpPr>
          <p:cNvPr id="56" name="Text 54"/>
          <p:cNvSpPr/>
          <p:nvPr/>
        </p:nvSpPr>
        <p:spPr>
          <a:xfrm>
            <a:off x="1695450" y="7143750"/>
            <a:ext cx="5320769"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name — topic → registry URN</a:t>
            </a:r>
            <a:endParaRPr lang="en-US" sz="1800" dirty="0"/>
          </a:p>
        </p:txBody>
      </p:sp>
      <p:sp>
        <p:nvSpPr>
          <p:cNvPr id="57" name="Text 55"/>
          <p:cNvSpPr/>
          <p:nvPr/>
        </p:nvSpPr>
        <p:spPr>
          <a:xfrm>
            <a:off x="6646813" y="7143750"/>
            <a:ext cx="240114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entity mapping</a:t>
            </a:r>
            <a:endParaRPr lang="en-US" sz="1800" dirty="0"/>
          </a:p>
        </p:txBody>
      </p:sp>
      <p:sp>
        <p:nvSpPr>
          <p:cNvPr id="58" name="Text 56"/>
          <p:cNvSpPr/>
          <p:nvPr/>
        </p:nvSpPr>
        <p:spPr>
          <a:xfrm>
            <a:off x="1085850" y="7477125"/>
            <a:ext cx="571500"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G2</a:t>
            </a:r>
            <a:endParaRPr lang="en-US" sz="1800" dirty="0"/>
          </a:p>
        </p:txBody>
      </p:sp>
      <p:sp>
        <p:nvSpPr>
          <p:cNvPr id="59" name="Text 57"/>
          <p:cNvSpPr/>
          <p:nvPr/>
        </p:nvSpPr>
        <p:spPr>
          <a:xfrm>
            <a:off x="1695450" y="7477125"/>
            <a:ext cx="4416984"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identity — producer + confidence</a:t>
            </a:r>
            <a:endParaRPr lang="en-US" sz="1800" dirty="0"/>
          </a:p>
        </p:txBody>
      </p:sp>
      <p:sp>
        <p:nvSpPr>
          <p:cNvPr id="60" name="Text 58"/>
          <p:cNvSpPr/>
          <p:nvPr/>
        </p:nvSpPr>
        <p:spPr>
          <a:xfrm>
            <a:off x="6098084" y="7477125"/>
            <a:ext cx="2813539" cy="628650"/>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agent's service id</a:t>
            </a:r>
            <a:endParaRPr lang="en-US" sz="1800" dirty="0"/>
          </a:p>
        </p:txBody>
      </p:sp>
      <p:sp>
        <p:nvSpPr>
          <p:cNvPr id="61" name="Text 59"/>
          <p:cNvSpPr/>
          <p:nvPr/>
        </p:nvSpPr>
        <p:spPr>
          <a:xfrm>
            <a:off x="1085850" y="8105775"/>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G3</a:t>
            </a:r>
            <a:endParaRPr lang="en-US" sz="1800" dirty="0"/>
          </a:p>
        </p:txBody>
      </p:sp>
      <p:sp>
        <p:nvSpPr>
          <p:cNvPr id="62" name="Text 60"/>
          <p:cNvSpPr/>
          <p:nvPr/>
        </p:nvSpPr>
        <p:spPr>
          <a:xfrm>
            <a:off x="1695450" y="8105775"/>
            <a:ext cx="516982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schema — SHA-256 fingerprint</a:t>
            </a:r>
            <a:endParaRPr lang="en-US" sz="1800" dirty="0"/>
          </a:p>
        </p:txBody>
      </p:sp>
      <p:sp>
        <p:nvSpPr>
          <p:cNvPr id="63" name="Text 61"/>
          <p:cNvSpPr/>
          <p:nvPr/>
        </p:nvSpPr>
        <p:spPr>
          <a:xfrm>
            <a:off x="6509593" y="8105775"/>
            <a:ext cx="255209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deploy boundary</a:t>
            </a:r>
            <a:endParaRPr lang="en-US" sz="1800" dirty="0"/>
          </a:p>
        </p:txBody>
      </p:sp>
      <p:sp>
        <p:nvSpPr>
          <p:cNvPr id="64" name="Text 62"/>
          <p:cNvSpPr/>
          <p:nvPr/>
        </p:nvSpPr>
        <p:spPr>
          <a:xfrm>
            <a:off x="1085850" y="8439150"/>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G4</a:t>
            </a:r>
            <a:endParaRPr lang="en-US" sz="1800" dirty="0"/>
          </a:p>
        </p:txBody>
      </p:sp>
      <p:sp>
        <p:nvSpPr>
          <p:cNvPr id="65" name="Text 63"/>
          <p:cNvSpPr/>
          <p:nvPr/>
        </p:nvSpPr>
        <p:spPr>
          <a:xfrm>
            <a:off x="1695450" y="8439150"/>
            <a:ext cx="4415448"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CE3E8"/>
                </a:solidFill>
                <a:latin typeface="IBM Plex Mono" pitchFamily="34" charset="0"/>
                <a:ea typeface="IBM Plex Mono" pitchFamily="34" charset="-122"/>
                <a:cs typeface="IBM Plex Mono" pitchFamily="34" charset="-120"/>
              </a:rPr>
              <a:t>contract — ODCS field rules</a:t>
            </a:r>
            <a:endParaRPr lang="en-US" sz="1800" dirty="0"/>
          </a:p>
        </p:txBody>
      </p:sp>
      <p:sp>
        <p:nvSpPr>
          <p:cNvPr id="66" name="Text 64"/>
          <p:cNvSpPr/>
          <p:nvPr/>
        </p:nvSpPr>
        <p:spPr>
          <a:xfrm>
            <a:off x="5823793" y="8439150"/>
            <a:ext cx="330647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8B99A4"/>
                </a:solidFill>
                <a:latin typeface="IBM Plex Mono" pitchFamily="34" charset="0"/>
                <a:ea typeface="IBM Plex Mono" pitchFamily="34" charset="-122"/>
                <a:cs typeface="IBM Plex Mono" pitchFamily="34" charset="-120"/>
              </a:rPr>
              <a:t>≈ error / status check</a:t>
            </a:r>
            <a:endParaRPr lang="en-US" sz="1800" dirty="0"/>
          </a:p>
        </p:txBody>
      </p:sp>
      <p:sp>
        <p:nvSpPr>
          <p:cNvPr id="67" name="Text 65"/>
          <p:cNvSpPr/>
          <p:nvPr/>
        </p:nvSpPr>
        <p:spPr>
          <a:xfrm>
            <a:off x="1085850" y="8772525"/>
            <a:ext cx="57150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34B39B"/>
                </a:solidFill>
                <a:latin typeface="IBM Plex Mono" pitchFamily="34" charset="0"/>
                <a:ea typeface="IBM Plex Mono" pitchFamily="34" charset="-122"/>
                <a:cs typeface="IBM Plex Mono" pitchFamily="34" charset="-120"/>
              </a:rPr>
              <a:t>G5</a:t>
            </a:r>
            <a:endParaRPr lang="en-US" sz="1800" dirty="0"/>
          </a:p>
        </p:txBody>
      </p:sp>
      <p:sp>
        <p:nvSpPr>
          <p:cNvPr id="68" name="Text 66"/>
          <p:cNvSpPr/>
          <p:nvPr/>
        </p:nvSpPr>
        <p:spPr>
          <a:xfrm>
            <a:off x="1695450" y="8772525"/>
            <a:ext cx="6062216"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PII — pattern scan</a:t>
            </a:r>
            <a:endParaRPr lang="en-US" sz="1800" dirty="0"/>
          </a:p>
        </p:txBody>
      </p:sp>
      <p:sp>
        <p:nvSpPr>
          <p:cNvPr id="69" name="Text 67"/>
          <p:cNvSpPr/>
          <p:nvPr/>
        </p:nvSpPr>
        <p:spPr>
          <a:xfrm>
            <a:off x="7320855" y="8772525"/>
            <a:ext cx="165970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70" name="Shape 68"/>
          <p:cNvSpPr/>
          <p:nvPr/>
        </p:nvSpPr>
        <p:spPr>
          <a:xfrm>
            <a:off x="9229725" y="6619875"/>
            <a:ext cx="8201025" cy="2581275"/>
          </a:xfrm>
          <a:prstGeom prst="roundRect">
            <a:avLst>
              <a:gd name="adj" fmla="val 4428"/>
            </a:avLst>
          </a:prstGeom>
          <a:solidFill>
            <a:srgbClr val="0E7C6B"/>
          </a:solidFill>
          <a:ln/>
        </p:spPr>
      </p:sp>
      <p:sp>
        <p:nvSpPr>
          <p:cNvPr id="71" name="Text 69"/>
          <p:cNvSpPr/>
          <p:nvPr/>
        </p:nvSpPr>
        <p:spPr>
          <a:xfrm>
            <a:off x="9458325" y="6753225"/>
            <a:ext cx="4813102"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FE3DA"/>
                </a:solidFill>
                <a:latin typeface="IBM Plex Mono" pitchFamily="34" charset="0"/>
                <a:ea typeface="IBM Plex Mono" pitchFamily="34" charset="-122"/>
                <a:cs typeface="IBM Plex Mono" pitchFamily="34" charset="-120"/>
              </a:rPr>
              <a:t>UNDER STAGE 3 · THE 5 ENGINES</a:t>
            </a:r>
            <a:endParaRPr lang="en-US" sz="1800" dirty="0"/>
          </a:p>
        </p:txBody>
      </p:sp>
      <p:sp>
        <p:nvSpPr>
          <p:cNvPr id="72" name="Text 70"/>
          <p:cNvSpPr/>
          <p:nvPr/>
        </p:nvSpPr>
        <p:spPr>
          <a:xfrm>
            <a:off x="13967222" y="6753225"/>
            <a:ext cx="3549744"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BFE3DA"/>
                </a:solidFill>
                <a:latin typeface="Source Serif 4" pitchFamily="34" charset="0"/>
                <a:ea typeface="Source Serif 4" pitchFamily="34" charset="-122"/>
                <a:cs typeface="Source Serif 4" pitchFamily="34" charset="-120"/>
              </a:rPr>
              <a:t>judge every 5-minute window</a:t>
            </a:r>
            <a:endParaRPr lang="en-US" sz="1800" dirty="0"/>
          </a:p>
        </p:txBody>
      </p:sp>
      <p:sp>
        <p:nvSpPr>
          <p:cNvPr id="73" name="Text 71"/>
          <p:cNvSpPr/>
          <p:nvPr/>
        </p:nvSpPr>
        <p:spPr>
          <a:xfrm>
            <a:off x="9458325" y="714375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freshness</a:t>
            </a:r>
            <a:endParaRPr lang="en-US" sz="1800" dirty="0"/>
          </a:p>
        </p:txBody>
      </p:sp>
      <p:sp>
        <p:nvSpPr>
          <p:cNvPr id="74" name="Text 72"/>
          <p:cNvSpPr/>
          <p:nvPr/>
        </p:nvSpPr>
        <p:spPr>
          <a:xfrm>
            <a:off x="11382375" y="7143750"/>
            <a:ext cx="386194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latency</a:t>
            </a:r>
            <a:endParaRPr lang="en-US" sz="1800" dirty="0"/>
          </a:p>
        </p:txBody>
      </p:sp>
      <p:sp>
        <p:nvSpPr>
          <p:cNvPr id="75" name="Text 73"/>
          <p:cNvSpPr/>
          <p:nvPr/>
        </p:nvSpPr>
        <p:spPr>
          <a:xfrm>
            <a:off x="15007530" y="7143750"/>
            <a:ext cx="241408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FRESHNESS_BREACH</a:t>
            </a:r>
            <a:endParaRPr lang="en-US" sz="1800" dirty="0"/>
          </a:p>
        </p:txBody>
      </p:sp>
      <p:sp>
        <p:nvSpPr>
          <p:cNvPr id="76" name="Text 74"/>
          <p:cNvSpPr/>
          <p:nvPr/>
        </p:nvSpPr>
        <p:spPr>
          <a:xfrm>
            <a:off x="9458325" y="7477125"/>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volume</a:t>
            </a:r>
            <a:endParaRPr lang="en-US" sz="1800" dirty="0"/>
          </a:p>
        </p:txBody>
      </p:sp>
      <p:sp>
        <p:nvSpPr>
          <p:cNvPr id="77" name="Text 75"/>
          <p:cNvSpPr/>
          <p:nvPr/>
        </p:nvSpPr>
        <p:spPr>
          <a:xfrm>
            <a:off x="11382375" y="7477125"/>
            <a:ext cx="416366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throughput</a:t>
            </a:r>
            <a:endParaRPr lang="en-US" sz="1800" dirty="0"/>
          </a:p>
        </p:txBody>
      </p:sp>
      <p:sp>
        <p:nvSpPr>
          <p:cNvPr id="78" name="Text 76"/>
          <p:cNvSpPr/>
          <p:nvPr/>
        </p:nvSpPr>
        <p:spPr>
          <a:xfrm>
            <a:off x="15281821" y="7477125"/>
            <a:ext cx="2112362"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VOLUME_ANOMALY</a:t>
            </a:r>
            <a:endParaRPr lang="en-US" sz="1800" dirty="0"/>
          </a:p>
        </p:txBody>
      </p:sp>
      <p:sp>
        <p:nvSpPr>
          <p:cNvPr id="79" name="Text 77"/>
          <p:cNvSpPr/>
          <p:nvPr/>
        </p:nvSpPr>
        <p:spPr>
          <a:xfrm>
            <a:off x="9458325" y="781050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contract</a:t>
            </a:r>
            <a:endParaRPr lang="en-US" sz="1800" dirty="0"/>
          </a:p>
        </p:txBody>
      </p:sp>
      <p:sp>
        <p:nvSpPr>
          <p:cNvPr id="80" name="Text 78"/>
          <p:cNvSpPr/>
          <p:nvPr/>
        </p:nvSpPr>
        <p:spPr>
          <a:xfrm>
            <a:off x="11382375" y="7810500"/>
            <a:ext cx="4012883"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error rate</a:t>
            </a:r>
            <a:endParaRPr lang="en-US" sz="1800" dirty="0"/>
          </a:p>
        </p:txBody>
      </p:sp>
      <p:sp>
        <p:nvSpPr>
          <p:cNvPr id="81" name="Text 79"/>
          <p:cNvSpPr/>
          <p:nvPr/>
        </p:nvSpPr>
        <p:spPr>
          <a:xfrm>
            <a:off x="15144750" y="7810500"/>
            <a:ext cx="226314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CONTRACT_BREACH</a:t>
            </a:r>
            <a:endParaRPr lang="en-US" sz="1800" dirty="0"/>
          </a:p>
        </p:txBody>
      </p:sp>
      <p:sp>
        <p:nvSpPr>
          <p:cNvPr id="82" name="Text 80"/>
          <p:cNvSpPr/>
          <p:nvPr/>
        </p:nvSpPr>
        <p:spPr>
          <a:xfrm>
            <a:off x="9458325" y="8143875"/>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quality</a:t>
            </a:r>
            <a:endParaRPr lang="en-US" sz="1800" dirty="0"/>
          </a:p>
        </p:txBody>
      </p:sp>
      <p:sp>
        <p:nvSpPr>
          <p:cNvPr id="83" name="Text 81"/>
          <p:cNvSpPr/>
          <p:nvPr/>
        </p:nvSpPr>
        <p:spPr>
          <a:xfrm>
            <a:off x="11382375" y="8143875"/>
            <a:ext cx="4918040"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E8B04B"/>
                </a:solidFill>
                <a:latin typeface="IBM Plex Mono" pitchFamily="34" charset="0"/>
                <a:ea typeface="IBM Plex Mono" pitchFamily="34" charset="-122"/>
                <a:cs typeface="IBM Plex Mono" pitchFamily="34" charset="-120"/>
              </a:rPr>
              <a:t>no APM peer</a:t>
            </a:r>
            <a:endParaRPr lang="en-US" sz="1800" dirty="0"/>
          </a:p>
        </p:txBody>
      </p:sp>
      <p:sp>
        <p:nvSpPr>
          <p:cNvPr id="84" name="Text 82"/>
          <p:cNvSpPr/>
          <p:nvPr/>
        </p:nvSpPr>
        <p:spPr>
          <a:xfrm>
            <a:off x="15967621" y="8143875"/>
            <a:ext cx="1357982"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DQ_BREACH</a:t>
            </a:r>
            <a:endParaRPr lang="en-US" sz="1800" dirty="0"/>
          </a:p>
        </p:txBody>
      </p:sp>
      <p:sp>
        <p:nvSpPr>
          <p:cNvPr id="85" name="Text 83"/>
          <p:cNvSpPr/>
          <p:nvPr/>
        </p:nvSpPr>
        <p:spPr>
          <a:xfrm>
            <a:off x="9458325" y="8477250"/>
            <a:ext cx="1990725"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F6F7F4"/>
                </a:solidFill>
                <a:latin typeface="IBM Plex Mono" pitchFamily="34" charset="0"/>
                <a:ea typeface="IBM Plex Mono" pitchFamily="34" charset="-122"/>
                <a:cs typeface="IBM Plex Mono" pitchFamily="34" charset="-120"/>
              </a:rPr>
              <a:t>anomaly</a:t>
            </a:r>
            <a:endParaRPr lang="en-US" sz="1800" dirty="0"/>
          </a:p>
        </p:txBody>
      </p:sp>
      <p:sp>
        <p:nvSpPr>
          <p:cNvPr id="86" name="Text 84"/>
          <p:cNvSpPr/>
          <p:nvPr/>
        </p:nvSpPr>
        <p:spPr>
          <a:xfrm>
            <a:off x="11382375" y="8477250"/>
            <a:ext cx="386194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BFE3DA"/>
                </a:solidFill>
                <a:latin typeface="IBM Plex Mono" pitchFamily="34" charset="0"/>
                <a:ea typeface="IBM Plex Mono" pitchFamily="34" charset="-122"/>
                <a:cs typeface="IBM Plex Mono" pitchFamily="34" charset="-120"/>
              </a:rPr>
              <a:t>≈ dynamic baselines</a:t>
            </a:r>
            <a:endParaRPr lang="en-US" sz="1800" dirty="0"/>
          </a:p>
        </p:txBody>
      </p:sp>
      <p:sp>
        <p:nvSpPr>
          <p:cNvPr id="87" name="Text 85"/>
          <p:cNvSpPr/>
          <p:nvPr/>
        </p:nvSpPr>
        <p:spPr>
          <a:xfrm>
            <a:off x="15007530" y="8477250"/>
            <a:ext cx="2414081" cy="333375"/>
          </a:xfrm>
          <a:prstGeom prst="rect">
            <a:avLst/>
          </a:prstGeom>
          <a:noFill/>
          <a:ln/>
        </p:spPr>
        <p:txBody>
          <a:bodyPr wrap="square" lIns="25400" tIns="25400" rIns="25400" bIns="25400" rtlCol="0" anchor="t">
            <a:normAutofit/>
          </a:bodyPr>
          <a:lstStyle/>
          <a:p>
            <a:pPr algn="l" indent="0" marL="0">
              <a:lnSpc>
                <a:spcPct val="97500"/>
              </a:lnSpc>
              <a:buNone/>
            </a:pPr>
            <a:r>
              <a:rPr lang="en-US" sz="1800" dirty="0">
                <a:solidFill>
                  <a:srgbClr val="DFF0EB"/>
                </a:solidFill>
                <a:latin typeface="IBM Plex Mono" pitchFamily="34" charset="0"/>
                <a:ea typeface="IBM Plex Mono" pitchFamily="34" charset="-122"/>
                <a:cs typeface="IBM Plex Mono" pitchFamily="34" charset="-120"/>
              </a:rPr>
              <a:t>ANOMALY_DETECTED</a:t>
            </a:r>
            <a:endParaRPr lang="en-US" sz="1800" dirty="0"/>
          </a:p>
        </p:txBody>
      </p:sp>
      <p:sp>
        <p:nvSpPr>
          <p:cNvPr id="88" name="Text 86"/>
          <p:cNvSpPr/>
          <p:nvPr/>
        </p:nvSpPr>
        <p:spPr>
          <a:xfrm>
            <a:off x="608648" y="9315450"/>
            <a:ext cx="17070705" cy="666750"/>
          </a:xfrm>
          <a:prstGeom prst="rect">
            <a:avLst/>
          </a:prstGeom>
          <a:noFill/>
          <a:ln/>
        </p:spPr>
        <p:txBody>
          <a:bodyPr wrap="square" lIns="25400" tIns="25400" rIns="25400" bIns="25400" rtlCol="0" anchor="t">
            <a:normAutofit/>
          </a:bodyPr>
          <a:lstStyle/>
          <a:p>
            <a:pPr algn="ctr" indent="0" marL="0">
              <a:lnSpc>
                <a:spcPct val="99265"/>
              </a:lnSpc>
              <a:buNone/>
            </a:pPr>
            <a:r>
              <a:rPr lang="en-US" sz="1875" b="1" dirty="0">
                <a:solidFill>
                  <a:srgbClr val="3D4A55"/>
                </a:solidFill>
                <a:latin typeface="Source Serif 4" pitchFamily="34" charset="0"/>
                <a:ea typeface="Source Serif 4" pitchFamily="34" charset="-122"/>
                <a:cs typeface="Source Serif 4" pitchFamily="34" charset="-120"/>
              </a:rPr>
              <a:t>Gates grade one record; engines judge the window. </a:t>
            </a:r>
            <a:pPr algn="ctr" indent="0" marL="0">
              <a:lnSpc>
                <a:spcPct val="99265"/>
              </a:lnSpc>
              <a:buNone/>
            </a:pPr>
            <a:r>
              <a:rPr lang="en-US" sz="1875" dirty="0">
                <a:solidFill>
                  <a:srgbClr val="3D4A55"/>
                </a:solidFill>
                <a:latin typeface="Source Serif 4" pitchFamily="34" charset="0"/>
                <a:ea typeface="Source Serif 4" pitchFamily="34" charset="-122"/>
                <a:cs typeface="Source Serif 4" pitchFamily="34" charset="-120"/>
              </a:rPr>
              <a:t>FAIL G4 on one message becomes DQ_BREACH on the asset — APM has the same split (span attributes vs alert conditions), the agent just hides it.</a:t>
            </a:r>
            <a:endParaRPr lang="en-US" sz="18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EXPERIENCE, QUANTIFIED</a:t>
            </a:r>
            <a:endParaRPr lang="en-US" sz="1800" dirty="0"/>
          </a:p>
        </p:txBody>
      </p:sp>
      <p:sp>
        <p:nvSpPr>
          <p:cNvPr id="3" name="Text 1"/>
          <p:cNvSpPr/>
          <p:nvPr/>
        </p:nvSpPr>
        <p:spPr>
          <a:xfrm>
            <a:off x="952500" y="1352550"/>
            <a:ext cx="18021300" cy="676275"/>
          </a:xfrm>
          <a:prstGeom prst="rect">
            <a:avLst/>
          </a:prstGeom>
          <a:noFill/>
          <a:ln/>
        </p:spPr>
        <p:txBody>
          <a:bodyPr wrap="square" lIns="25400" tIns="25400" rIns="25400" bIns="25400" rtlCol="0" anchor="t">
            <a:normAutofit/>
          </a:bodyPr>
          <a:lstStyle/>
          <a:p>
            <a:pPr algn="l" indent="0" marL="0">
              <a:lnSpc>
                <a:spcPct val="87273"/>
              </a:lnSpc>
              <a:buNone/>
            </a:pPr>
            <a:r>
              <a:rPr lang="en-US" sz="4800" b="1" spc="-72" kern="0" dirty="0">
                <a:solidFill>
                  <a:srgbClr val="1B2530"/>
                </a:solidFill>
                <a:latin typeface="Bricolage Grotesque" pitchFamily="34" charset="0"/>
                <a:ea typeface="Bricolage Grotesque" pitchFamily="34" charset="-122"/>
                <a:cs typeface="Bricolage Grotesque" pitchFamily="34" charset="-120"/>
              </a:rPr>
              <a:t>What the experience is worth</a:t>
            </a:r>
            <a:endParaRPr lang="en-US" sz="4800" dirty="0"/>
          </a:p>
        </p:txBody>
      </p:sp>
      <p:sp>
        <p:nvSpPr>
          <p:cNvPr id="4" name="Shape 2"/>
          <p:cNvSpPr/>
          <p:nvPr/>
        </p:nvSpPr>
        <p:spPr>
          <a:xfrm>
            <a:off x="952500" y="2486025"/>
            <a:ext cx="16383000" cy="5457825"/>
          </a:xfrm>
          <a:prstGeom prst="roundRect">
            <a:avLst>
              <a:gd name="adj" fmla="val 2443"/>
            </a:avLst>
          </a:prstGeom>
          <a:solidFill>
            <a:srgbClr val="FDFDFB"/>
          </a:solidFill>
          <a:ln w="9525">
            <a:solidFill>
              <a:srgbClr val="D9DED7"/>
            </a:solidFill>
            <a:prstDash val="solid"/>
          </a:ln>
        </p:spPr>
      </p:sp>
      <p:sp>
        <p:nvSpPr>
          <p:cNvPr id="5" name="Shape 3"/>
          <p:cNvSpPr/>
          <p:nvPr/>
        </p:nvSpPr>
        <p:spPr>
          <a:xfrm>
            <a:off x="962025" y="3257550"/>
            <a:ext cx="16363950" cy="19050"/>
          </a:xfrm>
          <a:prstGeom prst="rect">
            <a:avLst/>
          </a:prstGeom>
          <a:solidFill>
            <a:srgbClr val="1B2530"/>
          </a:solidFill>
          <a:ln/>
        </p:spPr>
      </p:sp>
      <p:sp>
        <p:nvSpPr>
          <p:cNvPr id="6" name="Text 4"/>
          <p:cNvSpPr/>
          <p:nvPr/>
        </p:nvSpPr>
        <p:spPr>
          <a:xfrm>
            <a:off x="1381125" y="2724150"/>
            <a:ext cx="7590294"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METRIC</a:t>
            </a:r>
            <a:endParaRPr lang="en-US" sz="1800" dirty="0"/>
          </a:p>
        </p:txBody>
      </p:sp>
      <p:sp>
        <p:nvSpPr>
          <p:cNvPr id="7" name="Text 5"/>
          <p:cNvSpPr/>
          <p:nvPr/>
        </p:nvSpPr>
        <p:spPr>
          <a:xfrm>
            <a:off x="8281392"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CURRENT</a:t>
            </a:r>
            <a:endParaRPr lang="en-US" sz="1800" dirty="0"/>
          </a:p>
        </p:txBody>
      </p:sp>
      <p:sp>
        <p:nvSpPr>
          <p:cNvPr id="8" name="Text 6"/>
          <p:cNvSpPr/>
          <p:nvPr/>
        </p:nvSpPr>
        <p:spPr>
          <a:xfrm>
            <a:off x="12594134" y="2724150"/>
            <a:ext cx="4744016"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E7C6B"/>
                </a:solidFill>
                <a:latin typeface="IBM Plex Mono" pitchFamily="34" charset="0"/>
                <a:ea typeface="IBM Plex Mono" pitchFamily="34" charset="-122"/>
                <a:cs typeface="IBM Plex Mono" pitchFamily="34" charset="-120"/>
              </a:rPr>
              <a:t>TARGET</a:t>
            </a:r>
            <a:endParaRPr lang="en-US" sz="1800" dirty="0"/>
          </a:p>
        </p:txBody>
      </p:sp>
      <p:sp>
        <p:nvSpPr>
          <p:cNvPr id="9" name="Shape 7"/>
          <p:cNvSpPr/>
          <p:nvPr/>
        </p:nvSpPr>
        <p:spPr>
          <a:xfrm>
            <a:off x="962025" y="4200525"/>
            <a:ext cx="16363950" cy="9525"/>
          </a:xfrm>
          <a:prstGeom prst="rect">
            <a:avLst/>
          </a:prstGeom>
          <a:solidFill>
            <a:srgbClr val="D9DED7"/>
          </a:solidFill>
          <a:ln/>
        </p:spPr>
      </p:sp>
      <p:sp>
        <p:nvSpPr>
          <p:cNvPr id="10" name="Text 8"/>
          <p:cNvSpPr/>
          <p:nvPr/>
        </p:nvSpPr>
        <p:spPr>
          <a:xfrm>
            <a:off x="1381125" y="35623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RCA query latency</a:t>
            </a:r>
            <a:endParaRPr lang="en-US" sz="2250" dirty="0"/>
          </a:p>
        </p:txBody>
      </p:sp>
      <p:sp>
        <p:nvSpPr>
          <p:cNvPr id="11" name="Text 9"/>
          <p:cNvSpPr/>
          <p:nvPr/>
        </p:nvSpPr>
        <p:spPr>
          <a:xfrm>
            <a:off x="8281392" y="35623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30–60 min</a:t>
            </a:r>
            <a:endParaRPr lang="en-US" sz="2250" dirty="0"/>
          </a:p>
        </p:txBody>
      </p:sp>
      <p:sp>
        <p:nvSpPr>
          <p:cNvPr id="12" name="Text 10"/>
          <p:cNvSpPr/>
          <p:nvPr/>
        </p:nvSpPr>
        <p:spPr>
          <a:xfrm>
            <a:off x="12594134" y="35242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min</a:t>
            </a:r>
            <a:endParaRPr lang="en-US" sz="2550" dirty="0"/>
          </a:p>
        </p:txBody>
      </p:sp>
      <p:sp>
        <p:nvSpPr>
          <p:cNvPr id="13" name="Shape 11"/>
          <p:cNvSpPr/>
          <p:nvPr/>
        </p:nvSpPr>
        <p:spPr>
          <a:xfrm>
            <a:off x="962025" y="5133975"/>
            <a:ext cx="16363950" cy="9525"/>
          </a:xfrm>
          <a:prstGeom prst="rect">
            <a:avLst/>
          </a:prstGeom>
          <a:solidFill>
            <a:srgbClr val="D9DED7"/>
          </a:solidFill>
          <a:ln/>
        </p:spPr>
      </p:sp>
      <p:sp>
        <p:nvSpPr>
          <p:cNvPr id="14" name="Text 12"/>
          <p:cNvSpPr/>
          <p:nvPr/>
        </p:nvSpPr>
        <p:spPr>
          <a:xfrm>
            <a:off x="1381125" y="44958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detect</a:t>
            </a:r>
            <a:endParaRPr lang="en-US" sz="2250" dirty="0"/>
          </a:p>
        </p:txBody>
      </p:sp>
      <p:sp>
        <p:nvSpPr>
          <p:cNvPr id="15" name="Text 13"/>
          <p:cNvSpPr/>
          <p:nvPr/>
        </p:nvSpPr>
        <p:spPr>
          <a:xfrm>
            <a:off x="8281392" y="44958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4–6 hours</a:t>
            </a:r>
            <a:endParaRPr lang="en-US" sz="2250" dirty="0"/>
          </a:p>
        </p:txBody>
      </p:sp>
      <p:sp>
        <p:nvSpPr>
          <p:cNvPr id="16" name="Text 14"/>
          <p:cNvSpPr/>
          <p:nvPr/>
        </p:nvSpPr>
        <p:spPr>
          <a:xfrm>
            <a:off x="12594134" y="44577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15 min</a:t>
            </a:r>
            <a:endParaRPr lang="en-US" sz="2550" dirty="0"/>
          </a:p>
        </p:txBody>
      </p:sp>
      <p:sp>
        <p:nvSpPr>
          <p:cNvPr id="17" name="Shape 15"/>
          <p:cNvSpPr/>
          <p:nvPr/>
        </p:nvSpPr>
        <p:spPr>
          <a:xfrm>
            <a:off x="962025" y="6067425"/>
            <a:ext cx="16363950" cy="9525"/>
          </a:xfrm>
          <a:prstGeom prst="rect">
            <a:avLst/>
          </a:prstGeom>
          <a:solidFill>
            <a:srgbClr val="D9DED7"/>
          </a:solidFill>
          <a:ln/>
        </p:spPr>
      </p:sp>
      <p:sp>
        <p:nvSpPr>
          <p:cNvPr id="18" name="Text 16"/>
          <p:cNvSpPr/>
          <p:nvPr/>
        </p:nvSpPr>
        <p:spPr>
          <a:xfrm>
            <a:off x="1381125" y="54292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Mean time to resolve</a:t>
            </a:r>
            <a:endParaRPr lang="en-US" sz="2250" dirty="0"/>
          </a:p>
        </p:txBody>
      </p:sp>
      <p:sp>
        <p:nvSpPr>
          <p:cNvPr id="19" name="Text 17"/>
          <p:cNvSpPr/>
          <p:nvPr/>
        </p:nvSpPr>
        <p:spPr>
          <a:xfrm>
            <a:off x="8281392" y="54292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12+ hours</a:t>
            </a:r>
            <a:endParaRPr lang="en-US" sz="2250" dirty="0"/>
          </a:p>
        </p:txBody>
      </p:sp>
      <p:sp>
        <p:nvSpPr>
          <p:cNvPr id="20" name="Text 18"/>
          <p:cNvSpPr/>
          <p:nvPr/>
        </p:nvSpPr>
        <p:spPr>
          <a:xfrm>
            <a:off x="12594134" y="53911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 hours</a:t>
            </a:r>
            <a:endParaRPr lang="en-US" sz="2550" dirty="0"/>
          </a:p>
        </p:txBody>
      </p:sp>
      <p:sp>
        <p:nvSpPr>
          <p:cNvPr id="21" name="Shape 19"/>
          <p:cNvSpPr/>
          <p:nvPr/>
        </p:nvSpPr>
        <p:spPr>
          <a:xfrm>
            <a:off x="962025" y="7000875"/>
            <a:ext cx="16363950" cy="9525"/>
          </a:xfrm>
          <a:prstGeom prst="rect">
            <a:avLst/>
          </a:prstGeom>
          <a:solidFill>
            <a:srgbClr val="D9DED7"/>
          </a:solidFill>
          <a:ln/>
        </p:spPr>
      </p:sp>
      <p:sp>
        <p:nvSpPr>
          <p:cNvPr id="22" name="Text 20"/>
          <p:cNvSpPr/>
          <p:nvPr/>
        </p:nvSpPr>
        <p:spPr>
          <a:xfrm>
            <a:off x="1381125" y="636270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False-positive alert rate</a:t>
            </a:r>
            <a:endParaRPr lang="en-US" sz="2250" dirty="0"/>
          </a:p>
        </p:txBody>
      </p:sp>
      <p:sp>
        <p:nvSpPr>
          <p:cNvPr id="23" name="Text 21"/>
          <p:cNvSpPr/>
          <p:nvPr/>
        </p:nvSpPr>
        <p:spPr>
          <a:xfrm>
            <a:off x="8281392" y="636270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60–80%</a:t>
            </a:r>
            <a:endParaRPr lang="en-US" sz="2250" dirty="0"/>
          </a:p>
        </p:txBody>
      </p:sp>
      <p:sp>
        <p:nvSpPr>
          <p:cNvPr id="24" name="Text 22"/>
          <p:cNvSpPr/>
          <p:nvPr/>
        </p:nvSpPr>
        <p:spPr>
          <a:xfrm>
            <a:off x="12594134" y="632460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20%</a:t>
            </a:r>
            <a:endParaRPr lang="en-US" sz="2550" dirty="0"/>
          </a:p>
        </p:txBody>
      </p:sp>
      <p:sp>
        <p:nvSpPr>
          <p:cNvPr id="25" name="Text 23"/>
          <p:cNvSpPr/>
          <p:nvPr/>
        </p:nvSpPr>
        <p:spPr>
          <a:xfrm>
            <a:off x="1381125" y="7296150"/>
            <a:ext cx="7590294" cy="428625"/>
          </a:xfrm>
          <a:prstGeom prst="rect">
            <a:avLst/>
          </a:prstGeom>
          <a:noFill/>
          <a:ln/>
        </p:spPr>
        <p:txBody>
          <a:bodyPr wrap="square" lIns="25400" tIns="25400" rIns="25400" bIns="25400" rtlCol="0" anchor="t">
            <a:normAutofit/>
          </a:bodyPr>
          <a:lstStyle/>
          <a:p>
            <a:pPr algn="l" indent="0" marL="0">
              <a:buNone/>
            </a:pPr>
            <a:r>
              <a:rPr lang="en-US" sz="2250" b="1" dirty="0">
                <a:solidFill>
                  <a:srgbClr val="1B2530"/>
                </a:solidFill>
                <a:latin typeface="Source Serif 4" pitchFamily="34" charset="0"/>
                <a:ea typeface="Source Serif 4" pitchFamily="34" charset="-122"/>
                <a:cs typeface="Source Serif 4" pitchFamily="34" charset="-120"/>
              </a:rPr>
              <a:t>Developer toil</a:t>
            </a:r>
            <a:endParaRPr lang="en-US" sz="2250" dirty="0"/>
          </a:p>
        </p:txBody>
      </p:sp>
      <p:sp>
        <p:nvSpPr>
          <p:cNvPr id="26" name="Text 24"/>
          <p:cNvSpPr/>
          <p:nvPr/>
        </p:nvSpPr>
        <p:spPr>
          <a:xfrm>
            <a:off x="8281392" y="7296150"/>
            <a:ext cx="4744016" cy="409575"/>
          </a:xfrm>
          <a:prstGeom prst="rect">
            <a:avLst/>
          </a:prstGeom>
          <a:noFill/>
          <a:ln/>
        </p:spPr>
        <p:txBody>
          <a:bodyPr wrap="square" lIns="25400" tIns="25400" rIns="25400" bIns="25400" rtlCol="0" anchor="t">
            <a:normAutofit/>
          </a:bodyPr>
          <a:lstStyle/>
          <a:p>
            <a:pPr algn="l" indent="0" marL="0">
              <a:buNone/>
            </a:pPr>
            <a:r>
              <a:rPr lang="en-US" sz="2250" dirty="0">
                <a:solidFill>
                  <a:srgbClr val="5B6873"/>
                </a:solidFill>
                <a:latin typeface="IBM Plex Mono" pitchFamily="34" charset="0"/>
                <a:ea typeface="IBM Plex Mono" pitchFamily="34" charset="-122"/>
                <a:cs typeface="IBM Plex Mono" pitchFamily="34" charset="-120"/>
              </a:rPr>
              <a:t>~20% of sprint</a:t>
            </a:r>
            <a:endParaRPr lang="en-US" sz="2250" dirty="0"/>
          </a:p>
        </p:txBody>
      </p:sp>
      <p:sp>
        <p:nvSpPr>
          <p:cNvPr id="27" name="Text 25"/>
          <p:cNvSpPr/>
          <p:nvPr/>
        </p:nvSpPr>
        <p:spPr>
          <a:xfrm>
            <a:off x="12594134" y="7258050"/>
            <a:ext cx="4744016" cy="457200"/>
          </a:xfrm>
          <a:prstGeom prst="rect">
            <a:avLst/>
          </a:prstGeom>
          <a:noFill/>
          <a:ln/>
        </p:spPr>
        <p:txBody>
          <a:bodyPr wrap="square" lIns="25400" tIns="25400" rIns="25400" bIns="25400" rtlCol="0" anchor="t">
            <a:normAutofit/>
          </a:bodyPr>
          <a:lstStyle/>
          <a:p>
            <a:pPr algn="l" indent="0" marL="0">
              <a:buNone/>
            </a:pPr>
            <a:r>
              <a:rPr lang="en-US" sz="2550" b="1" dirty="0">
                <a:solidFill>
                  <a:srgbClr val="0E7C6B"/>
                </a:solidFill>
                <a:latin typeface="IBM Plex Mono" pitchFamily="34" charset="0"/>
                <a:ea typeface="IBM Plex Mono" pitchFamily="34" charset="-122"/>
                <a:cs typeface="IBM Plex Mono" pitchFamily="34" charset="-120"/>
              </a:rPr>
              <a:t>&lt; 5%</a:t>
            </a:r>
            <a:endParaRPr lang="en-US" sz="2550" dirty="0"/>
          </a:p>
        </p:txBody>
      </p:sp>
      <p:sp>
        <p:nvSpPr>
          <p:cNvPr id="28" name="Text 26"/>
          <p:cNvSpPr/>
          <p:nvPr/>
        </p:nvSpPr>
        <p:spPr>
          <a:xfrm>
            <a:off x="952500" y="8362950"/>
            <a:ext cx="12263438" cy="800100"/>
          </a:xfrm>
          <a:prstGeom prst="rect">
            <a:avLst/>
          </a:prstGeom>
          <a:noFill/>
          <a:ln/>
        </p:spPr>
        <p:txBody>
          <a:bodyPr wrap="square" lIns="25400" tIns="25400" rIns="25400" bIns="25400" rtlCol="0" anchor="t">
            <a:normAutofit/>
          </a:bodyPr>
          <a:lstStyle/>
          <a:p>
            <a:pPr algn="l" indent="0" marL="0">
              <a:lnSpc>
                <a:spcPct val="109459"/>
              </a:lnSpc>
              <a:buNone/>
            </a:pPr>
            <a:r>
              <a:rPr lang="en-US" sz="2025" dirty="0">
                <a:solidFill>
                  <a:srgbClr val="5B6873"/>
                </a:solidFill>
                <a:latin typeface="Source Serif 4" pitchFamily="34" charset="0"/>
                <a:ea typeface="Source Serif 4" pitchFamily="34" charset="-122"/>
                <a:cs typeface="Source Serif 4" pitchFamily="34" charset="-120"/>
              </a:rPr>
              <a:t>Judged on time-to-detect, time-to-resolve, deterministic RCA rate, and prevented downstream impact — not PR counts, dashboards, or onboarding totals.</a:t>
            </a:r>
            <a:endParaRPr lang="en-US" sz="20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4953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THE APPROACH</a:t>
            </a:r>
            <a:endParaRPr lang="en-US" sz="1800" dirty="0"/>
          </a:p>
        </p:txBody>
      </p:sp>
      <p:sp>
        <p:nvSpPr>
          <p:cNvPr id="3" name="Text 1"/>
          <p:cNvSpPr/>
          <p:nvPr/>
        </p:nvSpPr>
        <p:spPr>
          <a:xfrm>
            <a:off x="952500" y="9144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Three foundations, one roadmap, one convergence point</a:t>
            </a:r>
            <a:endParaRPr lang="en-US" sz="4200" dirty="0"/>
          </a:p>
        </p:txBody>
      </p:sp>
      <p:sp>
        <p:nvSpPr>
          <p:cNvPr id="4" name="Text 2"/>
          <p:cNvSpPr/>
          <p:nvPr/>
        </p:nvSpPr>
        <p:spPr>
          <a:xfrm>
            <a:off x="952500" y="1562100"/>
            <a:ext cx="448109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5B6873"/>
                </a:solidFill>
                <a:latin typeface="IBM Plex Mono" pitchFamily="34" charset="0"/>
                <a:ea typeface="IBM Plex Mono" pitchFamily="34" charset="-122"/>
                <a:cs typeface="IBM Plex Mono" pitchFamily="34" charset="-120"/>
              </a:rPr>
              <a:t>PROVEN ON ONE PILOT THREAD:</a:t>
            </a:r>
            <a:endParaRPr lang="en-US" sz="1800" dirty="0"/>
          </a:p>
        </p:txBody>
      </p:sp>
      <p:sp>
        <p:nvSpPr>
          <p:cNvPr id="5" name="Text 3"/>
          <p:cNvSpPr/>
          <p:nvPr/>
        </p:nvSpPr>
        <p:spPr>
          <a:xfrm>
            <a:off x="5159573" y="1562100"/>
            <a:ext cx="1192143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3D4A55"/>
                </a:solidFill>
                <a:latin typeface="IBM Plex Mono" pitchFamily="34" charset="0"/>
                <a:ea typeface="IBM Plex Mono" pitchFamily="34" charset="-122"/>
                <a:cs typeface="IBM Plex Mono" pitchFamily="34" charset="-120"/>
              </a:rPr>
              <a:t>payments-svc → orders topic → enrichment job → gold.orders_enr → finance report</a:t>
            </a:r>
            <a:endParaRPr lang="en-US" sz="1800" dirty="0"/>
          </a:p>
        </p:txBody>
      </p:sp>
      <p:sp>
        <p:nvSpPr>
          <p:cNvPr id="6" name="Shape 4"/>
          <p:cNvSpPr/>
          <p:nvPr/>
        </p:nvSpPr>
        <p:spPr>
          <a:xfrm>
            <a:off x="952500" y="3009900"/>
            <a:ext cx="3810000" cy="28575"/>
          </a:xfrm>
          <a:prstGeom prst="rect">
            <a:avLst/>
          </a:prstGeom>
          <a:solidFill>
            <a:srgbClr val="1B2530"/>
          </a:solidFill>
          <a:ln/>
        </p:spPr>
      </p:sp>
      <p:sp>
        <p:nvSpPr>
          <p:cNvPr id="7" name="Text 5"/>
          <p:cNvSpPr/>
          <p:nvPr/>
        </p:nvSpPr>
        <p:spPr>
          <a:xfrm>
            <a:off x="952500" y="2647950"/>
            <a:ext cx="324900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FOUNDATION MISSIONS</a:t>
            </a:r>
            <a:endParaRPr lang="en-US" sz="1800" dirty="0"/>
          </a:p>
        </p:txBody>
      </p:sp>
      <p:sp>
        <p:nvSpPr>
          <p:cNvPr id="8" name="Shape 6"/>
          <p:cNvSpPr/>
          <p:nvPr/>
        </p:nvSpPr>
        <p:spPr>
          <a:xfrm>
            <a:off x="4762500" y="3009900"/>
            <a:ext cx="1529804" cy="28575"/>
          </a:xfrm>
          <a:prstGeom prst="rect">
            <a:avLst/>
          </a:prstGeom>
          <a:solidFill>
            <a:srgbClr val="1B2530"/>
          </a:solidFill>
          <a:ln/>
        </p:spPr>
      </p:sp>
      <p:sp>
        <p:nvSpPr>
          <p:cNvPr id="9" name="Shape 7"/>
          <p:cNvSpPr/>
          <p:nvPr/>
        </p:nvSpPr>
        <p:spPr>
          <a:xfrm>
            <a:off x="4762500" y="2057400"/>
            <a:ext cx="9525" cy="981075"/>
          </a:xfrm>
          <a:prstGeom prst="rect">
            <a:avLst/>
          </a:prstGeom>
          <a:solidFill>
            <a:srgbClr val="E3E7E1"/>
          </a:solidFill>
          <a:ln/>
        </p:spPr>
      </p:sp>
      <p:sp>
        <p:nvSpPr>
          <p:cNvPr id="10" name="Text 8"/>
          <p:cNvSpPr/>
          <p:nvPr/>
        </p:nvSpPr>
        <p:spPr>
          <a:xfrm>
            <a:off x="53892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M1</a:t>
            </a:r>
            <a:endParaRPr lang="en-US" sz="1875" dirty="0"/>
          </a:p>
        </p:txBody>
      </p:sp>
      <p:sp>
        <p:nvSpPr>
          <p:cNvPr id="11" name="Text 9"/>
          <p:cNvSpPr/>
          <p:nvPr/>
        </p:nvSpPr>
        <p:spPr>
          <a:xfrm>
            <a:off x="53948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m3</a:t>
            </a:r>
            <a:endParaRPr lang="en-US" sz="1800" dirty="0"/>
          </a:p>
        </p:txBody>
      </p:sp>
      <p:sp>
        <p:nvSpPr>
          <p:cNvPr id="12" name="Shape 10"/>
          <p:cNvSpPr/>
          <p:nvPr/>
        </p:nvSpPr>
        <p:spPr>
          <a:xfrm>
            <a:off x="6292304" y="3009900"/>
            <a:ext cx="1441996" cy="28575"/>
          </a:xfrm>
          <a:prstGeom prst="rect">
            <a:avLst/>
          </a:prstGeom>
          <a:solidFill>
            <a:srgbClr val="1B2530"/>
          </a:solidFill>
          <a:ln/>
        </p:spPr>
      </p:sp>
      <p:sp>
        <p:nvSpPr>
          <p:cNvPr id="13" name="Shape 11"/>
          <p:cNvSpPr/>
          <p:nvPr/>
        </p:nvSpPr>
        <p:spPr>
          <a:xfrm>
            <a:off x="6292304" y="2057400"/>
            <a:ext cx="9525" cy="981075"/>
          </a:xfrm>
          <a:prstGeom prst="rect">
            <a:avLst/>
          </a:prstGeom>
          <a:solidFill>
            <a:srgbClr val="E3E7E1"/>
          </a:solidFill>
          <a:ln/>
        </p:spPr>
      </p:sp>
      <p:sp>
        <p:nvSpPr>
          <p:cNvPr id="14" name="Text 12"/>
          <p:cNvSpPr/>
          <p:nvPr/>
        </p:nvSpPr>
        <p:spPr>
          <a:xfrm>
            <a:off x="687511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M2</a:t>
            </a:r>
            <a:endParaRPr lang="en-US" sz="1875" dirty="0"/>
          </a:p>
        </p:txBody>
      </p:sp>
      <p:sp>
        <p:nvSpPr>
          <p:cNvPr id="15" name="Text 13"/>
          <p:cNvSpPr/>
          <p:nvPr/>
        </p:nvSpPr>
        <p:spPr>
          <a:xfrm>
            <a:off x="6880771"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m4</a:t>
            </a:r>
            <a:endParaRPr lang="en-US" sz="1800" dirty="0"/>
          </a:p>
        </p:txBody>
      </p:sp>
      <p:sp>
        <p:nvSpPr>
          <p:cNvPr id="16" name="Shape 14"/>
          <p:cNvSpPr/>
          <p:nvPr/>
        </p:nvSpPr>
        <p:spPr>
          <a:xfrm>
            <a:off x="7734300" y="3009900"/>
            <a:ext cx="1804095" cy="28575"/>
          </a:xfrm>
          <a:prstGeom prst="rect">
            <a:avLst/>
          </a:prstGeom>
          <a:solidFill>
            <a:srgbClr val="1B2530"/>
          </a:solidFill>
          <a:ln/>
        </p:spPr>
      </p:sp>
      <p:sp>
        <p:nvSpPr>
          <p:cNvPr id="17" name="Shape 15"/>
          <p:cNvSpPr/>
          <p:nvPr/>
        </p:nvSpPr>
        <p:spPr>
          <a:xfrm>
            <a:off x="7734300" y="2057400"/>
            <a:ext cx="9525" cy="981075"/>
          </a:xfrm>
          <a:prstGeom prst="rect">
            <a:avLst/>
          </a:prstGeom>
          <a:solidFill>
            <a:srgbClr val="E3E7E1"/>
          </a:solidFill>
          <a:ln/>
        </p:spPr>
      </p:sp>
      <p:sp>
        <p:nvSpPr>
          <p:cNvPr id="18" name="Text 16"/>
          <p:cNvSpPr/>
          <p:nvPr/>
        </p:nvSpPr>
        <p:spPr>
          <a:xfrm>
            <a:off x="8498235"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M3</a:t>
            </a:r>
            <a:endParaRPr lang="en-US" sz="1875" dirty="0"/>
          </a:p>
        </p:txBody>
      </p:sp>
      <p:sp>
        <p:nvSpPr>
          <p:cNvPr id="19" name="Text 17"/>
          <p:cNvSpPr/>
          <p:nvPr/>
        </p:nvSpPr>
        <p:spPr>
          <a:xfrm>
            <a:off x="8503890" y="2438400"/>
            <a:ext cx="3506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a:t>
            </a:r>
            <a:endParaRPr lang="en-US" sz="1800" dirty="0"/>
          </a:p>
        </p:txBody>
      </p:sp>
      <p:sp>
        <p:nvSpPr>
          <p:cNvPr id="20" name="Shape 18"/>
          <p:cNvSpPr/>
          <p:nvPr/>
        </p:nvSpPr>
        <p:spPr>
          <a:xfrm>
            <a:off x="9538395" y="3009900"/>
            <a:ext cx="1442145" cy="28575"/>
          </a:xfrm>
          <a:prstGeom prst="rect">
            <a:avLst/>
          </a:prstGeom>
          <a:solidFill>
            <a:srgbClr val="1B2530"/>
          </a:solidFill>
          <a:ln/>
        </p:spPr>
      </p:sp>
      <p:sp>
        <p:nvSpPr>
          <p:cNvPr id="21" name="Shape 19"/>
          <p:cNvSpPr/>
          <p:nvPr/>
        </p:nvSpPr>
        <p:spPr>
          <a:xfrm>
            <a:off x="9538395" y="2057400"/>
            <a:ext cx="9525" cy="981075"/>
          </a:xfrm>
          <a:prstGeom prst="rect">
            <a:avLst/>
          </a:prstGeom>
          <a:solidFill>
            <a:srgbClr val="E3E7E1"/>
          </a:solidFill>
          <a:ln/>
        </p:spPr>
      </p:sp>
      <p:sp>
        <p:nvSpPr>
          <p:cNvPr id="22" name="Text 20"/>
          <p:cNvSpPr/>
          <p:nvPr/>
        </p:nvSpPr>
        <p:spPr>
          <a:xfrm>
            <a:off x="10121354"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M4</a:t>
            </a:r>
            <a:endParaRPr lang="en-US" sz="1875" dirty="0"/>
          </a:p>
        </p:txBody>
      </p:sp>
      <p:sp>
        <p:nvSpPr>
          <p:cNvPr id="23" name="Text 21"/>
          <p:cNvSpPr/>
          <p:nvPr/>
        </p:nvSpPr>
        <p:spPr>
          <a:xfrm>
            <a:off x="9989790"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m6–7</a:t>
            </a:r>
            <a:endParaRPr lang="en-US" sz="1800" dirty="0"/>
          </a:p>
        </p:txBody>
      </p:sp>
      <p:sp>
        <p:nvSpPr>
          <p:cNvPr id="24" name="Shape 22"/>
          <p:cNvSpPr/>
          <p:nvPr/>
        </p:nvSpPr>
        <p:spPr>
          <a:xfrm>
            <a:off x="10980539" y="2057400"/>
            <a:ext cx="1441996" cy="981075"/>
          </a:xfrm>
          <a:prstGeom prst="rect">
            <a:avLst/>
          </a:prstGeom>
          <a:solidFill>
            <a:srgbClr val="FBF3E4"/>
          </a:solidFill>
          <a:ln/>
        </p:spPr>
      </p:sp>
      <p:sp>
        <p:nvSpPr>
          <p:cNvPr id="25" name="Shape 23"/>
          <p:cNvSpPr/>
          <p:nvPr/>
        </p:nvSpPr>
        <p:spPr>
          <a:xfrm>
            <a:off x="10980539" y="3009900"/>
            <a:ext cx="1441996" cy="28575"/>
          </a:xfrm>
          <a:prstGeom prst="rect">
            <a:avLst/>
          </a:prstGeom>
          <a:solidFill>
            <a:srgbClr val="B97417"/>
          </a:solidFill>
          <a:ln/>
        </p:spPr>
      </p:sp>
      <p:sp>
        <p:nvSpPr>
          <p:cNvPr id="26" name="Shape 24"/>
          <p:cNvSpPr/>
          <p:nvPr/>
        </p:nvSpPr>
        <p:spPr>
          <a:xfrm>
            <a:off x="10980539" y="2057400"/>
            <a:ext cx="9525" cy="981075"/>
          </a:xfrm>
          <a:prstGeom prst="rect">
            <a:avLst/>
          </a:prstGeom>
          <a:solidFill>
            <a:srgbClr val="E3E7E1"/>
          </a:solidFill>
          <a:ln/>
        </p:spPr>
      </p:sp>
      <p:sp>
        <p:nvSpPr>
          <p:cNvPr id="27" name="Text 25"/>
          <p:cNvSpPr/>
          <p:nvPr/>
        </p:nvSpPr>
        <p:spPr>
          <a:xfrm>
            <a:off x="11206163" y="2114550"/>
            <a:ext cx="1076325"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B97417"/>
                </a:solidFill>
                <a:latin typeface="IBM Plex Mono" pitchFamily="34" charset="0"/>
                <a:ea typeface="IBM Plex Mono" pitchFamily="34" charset="-122"/>
                <a:cs typeface="IBM Plex Mono" pitchFamily="34" charset="-120"/>
              </a:rPr>
              <a:t>M5·GATE</a:t>
            </a:r>
            <a:endParaRPr lang="en-US" sz="1875" dirty="0"/>
          </a:p>
        </p:txBody>
      </p:sp>
      <p:sp>
        <p:nvSpPr>
          <p:cNvPr id="28" name="Text 26"/>
          <p:cNvSpPr/>
          <p:nvPr/>
        </p:nvSpPr>
        <p:spPr>
          <a:xfrm>
            <a:off x="11431935" y="2438400"/>
            <a:ext cx="62492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B97417"/>
                </a:solidFill>
                <a:latin typeface="IBM Plex Mono" pitchFamily="34" charset="0"/>
                <a:ea typeface="IBM Plex Mono" pitchFamily="34" charset="-122"/>
                <a:cs typeface="IBM Plex Mono" pitchFamily="34" charset="-120"/>
              </a:rPr>
              <a:t>m8–9</a:t>
            </a:r>
            <a:endParaRPr lang="en-US" sz="1800" dirty="0"/>
          </a:p>
        </p:txBody>
      </p:sp>
      <p:sp>
        <p:nvSpPr>
          <p:cNvPr id="29" name="Shape 27"/>
          <p:cNvSpPr/>
          <p:nvPr/>
        </p:nvSpPr>
        <p:spPr>
          <a:xfrm>
            <a:off x="12422535" y="3009900"/>
            <a:ext cx="1666875" cy="28575"/>
          </a:xfrm>
          <a:prstGeom prst="rect">
            <a:avLst/>
          </a:prstGeom>
          <a:solidFill>
            <a:srgbClr val="1B2530"/>
          </a:solidFill>
          <a:ln/>
        </p:spPr>
      </p:sp>
      <p:sp>
        <p:nvSpPr>
          <p:cNvPr id="30" name="Shape 28"/>
          <p:cNvSpPr/>
          <p:nvPr/>
        </p:nvSpPr>
        <p:spPr>
          <a:xfrm>
            <a:off x="12422535" y="2057400"/>
            <a:ext cx="9525" cy="981075"/>
          </a:xfrm>
          <a:prstGeom prst="rect">
            <a:avLst/>
          </a:prstGeom>
          <a:solidFill>
            <a:srgbClr val="E3E7E1"/>
          </a:solidFill>
          <a:ln/>
        </p:spPr>
      </p:sp>
      <p:sp>
        <p:nvSpPr>
          <p:cNvPr id="31" name="Text 29"/>
          <p:cNvSpPr/>
          <p:nvPr/>
        </p:nvSpPr>
        <p:spPr>
          <a:xfrm>
            <a:off x="1311786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M6</a:t>
            </a:r>
            <a:endParaRPr lang="en-US" sz="1875" dirty="0"/>
          </a:p>
        </p:txBody>
      </p:sp>
      <p:sp>
        <p:nvSpPr>
          <p:cNvPr id="32" name="Text 30"/>
          <p:cNvSpPr/>
          <p:nvPr/>
        </p:nvSpPr>
        <p:spPr>
          <a:xfrm>
            <a:off x="1284922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m10–11</a:t>
            </a:r>
            <a:endParaRPr lang="en-US" sz="1800" dirty="0"/>
          </a:p>
        </p:txBody>
      </p:sp>
      <p:sp>
        <p:nvSpPr>
          <p:cNvPr id="33" name="Shape 31"/>
          <p:cNvSpPr/>
          <p:nvPr/>
        </p:nvSpPr>
        <p:spPr>
          <a:xfrm>
            <a:off x="14089410" y="3009900"/>
            <a:ext cx="1441996" cy="28575"/>
          </a:xfrm>
          <a:prstGeom prst="rect">
            <a:avLst/>
          </a:prstGeom>
          <a:solidFill>
            <a:srgbClr val="1B2530"/>
          </a:solidFill>
          <a:ln/>
        </p:spPr>
      </p:sp>
      <p:sp>
        <p:nvSpPr>
          <p:cNvPr id="34" name="Shape 32"/>
          <p:cNvSpPr/>
          <p:nvPr/>
        </p:nvSpPr>
        <p:spPr>
          <a:xfrm>
            <a:off x="14089410" y="2057400"/>
            <a:ext cx="9525" cy="981075"/>
          </a:xfrm>
          <a:prstGeom prst="rect">
            <a:avLst/>
          </a:prstGeom>
          <a:solidFill>
            <a:srgbClr val="E3E7E1"/>
          </a:solidFill>
          <a:ln/>
        </p:spPr>
      </p:sp>
      <p:sp>
        <p:nvSpPr>
          <p:cNvPr id="35" name="Text 33"/>
          <p:cNvSpPr/>
          <p:nvPr/>
        </p:nvSpPr>
        <p:spPr>
          <a:xfrm>
            <a:off x="14672221"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M7</a:t>
            </a:r>
            <a:endParaRPr lang="en-US" sz="1875" dirty="0"/>
          </a:p>
        </p:txBody>
      </p:sp>
      <p:sp>
        <p:nvSpPr>
          <p:cNvPr id="36" name="Text 34"/>
          <p:cNvSpPr/>
          <p:nvPr/>
        </p:nvSpPr>
        <p:spPr>
          <a:xfrm>
            <a:off x="14403586"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m11–12</a:t>
            </a:r>
            <a:endParaRPr lang="en-US" sz="1800" dirty="0"/>
          </a:p>
        </p:txBody>
      </p:sp>
      <p:sp>
        <p:nvSpPr>
          <p:cNvPr id="37" name="Shape 35"/>
          <p:cNvSpPr/>
          <p:nvPr/>
        </p:nvSpPr>
        <p:spPr>
          <a:xfrm>
            <a:off x="15531405" y="3009900"/>
            <a:ext cx="1804095" cy="28575"/>
          </a:xfrm>
          <a:prstGeom prst="rect">
            <a:avLst/>
          </a:prstGeom>
          <a:solidFill>
            <a:srgbClr val="1B2530"/>
          </a:solidFill>
          <a:ln/>
        </p:spPr>
      </p:sp>
      <p:sp>
        <p:nvSpPr>
          <p:cNvPr id="38" name="Shape 36"/>
          <p:cNvSpPr/>
          <p:nvPr/>
        </p:nvSpPr>
        <p:spPr>
          <a:xfrm>
            <a:off x="15531405" y="2057400"/>
            <a:ext cx="9525" cy="981075"/>
          </a:xfrm>
          <a:prstGeom prst="rect">
            <a:avLst/>
          </a:prstGeom>
          <a:solidFill>
            <a:srgbClr val="E3E7E1"/>
          </a:solidFill>
          <a:ln/>
        </p:spPr>
      </p:sp>
      <p:sp>
        <p:nvSpPr>
          <p:cNvPr id="39" name="Text 37"/>
          <p:cNvSpPr/>
          <p:nvPr/>
        </p:nvSpPr>
        <p:spPr>
          <a:xfrm>
            <a:off x="16295340" y="2114550"/>
            <a:ext cx="361950"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M8</a:t>
            </a:r>
            <a:endParaRPr lang="en-US" sz="1875" dirty="0"/>
          </a:p>
        </p:txBody>
      </p:sp>
      <p:sp>
        <p:nvSpPr>
          <p:cNvPr id="40" name="Text 38"/>
          <p:cNvSpPr/>
          <p:nvPr/>
        </p:nvSpPr>
        <p:spPr>
          <a:xfrm>
            <a:off x="16026705" y="2438400"/>
            <a:ext cx="89922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m12–13</a:t>
            </a:r>
            <a:endParaRPr lang="en-US" sz="1800" dirty="0"/>
          </a:p>
        </p:txBody>
      </p:sp>
      <p:sp>
        <p:nvSpPr>
          <p:cNvPr id="41" name="Shape 39"/>
          <p:cNvSpPr/>
          <p:nvPr/>
        </p:nvSpPr>
        <p:spPr>
          <a:xfrm>
            <a:off x="4743450" y="3038475"/>
            <a:ext cx="19050" cy="1390650"/>
          </a:xfrm>
          <a:prstGeom prst="rect">
            <a:avLst/>
          </a:prstGeom>
          <a:solidFill>
            <a:srgbClr val="1B2530"/>
          </a:solidFill>
          <a:ln/>
        </p:spPr>
      </p:sp>
      <p:sp>
        <p:nvSpPr>
          <p:cNvPr id="42" name="Text 40"/>
          <p:cNvSpPr/>
          <p:nvPr/>
        </p:nvSpPr>
        <p:spPr>
          <a:xfrm>
            <a:off x="952500" y="3267075"/>
            <a:ext cx="2989362"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Lineage &amp; Confidence</a:t>
            </a:r>
            <a:endParaRPr lang="en-US" sz="2025" dirty="0"/>
          </a:p>
        </p:txBody>
      </p:sp>
      <p:sp>
        <p:nvSpPr>
          <p:cNvPr id="43" name="Text 41"/>
          <p:cNvSpPr/>
          <p:nvPr/>
        </p:nvSpPr>
        <p:spPr>
          <a:xfrm>
            <a:off x="3765352" y="326707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44" name="Text 42"/>
          <p:cNvSpPr/>
          <p:nvPr/>
        </p:nvSpPr>
        <p:spPr>
          <a:xfrm>
            <a:off x="952500" y="360997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every layer: services, topics, jobs, tables, reports</a:t>
            </a:r>
            <a:endParaRPr lang="en-US" sz="1800" dirty="0"/>
          </a:p>
        </p:txBody>
      </p:sp>
      <p:sp>
        <p:nvSpPr>
          <p:cNvPr id="45" name="Shape 43"/>
          <p:cNvSpPr/>
          <p:nvPr/>
        </p:nvSpPr>
        <p:spPr>
          <a:xfrm>
            <a:off x="4762500" y="3038475"/>
            <a:ext cx="9525" cy="1390650"/>
          </a:xfrm>
          <a:prstGeom prst="rect">
            <a:avLst/>
          </a:prstGeom>
          <a:solidFill>
            <a:srgbClr val="E3E7E1"/>
          </a:solidFill>
          <a:ln/>
        </p:spPr>
      </p:sp>
      <p:sp>
        <p:nvSpPr>
          <p:cNvPr id="46" name="Shape 44"/>
          <p:cNvSpPr/>
          <p:nvPr/>
        </p:nvSpPr>
        <p:spPr>
          <a:xfrm>
            <a:off x="4819650" y="3095625"/>
            <a:ext cx="1425029" cy="1276350"/>
          </a:xfrm>
          <a:prstGeom prst="roundRect">
            <a:avLst>
              <a:gd name="adj" fmla="val 5224"/>
            </a:avLst>
          </a:prstGeom>
          <a:solidFill>
            <a:srgbClr val="E3EFEA"/>
          </a:solidFill>
          <a:ln w="9525">
            <a:solidFill>
              <a:srgbClr val="BFD9D0"/>
            </a:solidFill>
            <a:prstDash val="solid"/>
          </a:ln>
        </p:spPr>
      </p:sp>
      <p:sp>
        <p:nvSpPr>
          <p:cNvPr id="47" name="Text 45"/>
          <p:cNvSpPr/>
          <p:nvPr/>
        </p:nvSpPr>
        <p:spPr>
          <a:xfrm>
            <a:off x="4876800" y="3162300"/>
            <a:ext cx="1310729"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baseline lineage, all layers</a:t>
            </a:r>
            <a:endParaRPr lang="en-US" sz="1800" dirty="0"/>
          </a:p>
        </p:txBody>
      </p:sp>
      <p:sp>
        <p:nvSpPr>
          <p:cNvPr id="48" name="Shape 46"/>
          <p:cNvSpPr/>
          <p:nvPr/>
        </p:nvSpPr>
        <p:spPr>
          <a:xfrm>
            <a:off x="6292304" y="3038475"/>
            <a:ext cx="9525" cy="1390650"/>
          </a:xfrm>
          <a:prstGeom prst="rect">
            <a:avLst/>
          </a:prstGeom>
          <a:solidFill>
            <a:srgbClr val="E3E7E1"/>
          </a:solidFill>
          <a:ln/>
        </p:spPr>
      </p:sp>
      <p:sp>
        <p:nvSpPr>
          <p:cNvPr id="49" name="Shape 47"/>
          <p:cNvSpPr/>
          <p:nvPr/>
        </p:nvSpPr>
        <p:spPr>
          <a:xfrm>
            <a:off x="7734300" y="3038475"/>
            <a:ext cx="9525" cy="1390650"/>
          </a:xfrm>
          <a:prstGeom prst="rect">
            <a:avLst/>
          </a:prstGeom>
          <a:solidFill>
            <a:srgbClr val="E3E7E1"/>
          </a:solidFill>
          <a:ln/>
        </p:spPr>
      </p:sp>
      <p:sp>
        <p:nvSpPr>
          <p:cNvPr id="50" name="Shape 48"/>
          <p:cNvSpPr/>
          <p:nvPr/>
        </p:nvSpPr>
        <p:spPr>
          <a:xfrm>
            <a:off x="7791450" y="3238500"/>
            <a:ext cx="1699320" cy="990600"/>
          </a:xfrm>
          <a:prstGeom prst="roundRect">
            <a:avLst>
              <a:gd name="adj" fmla="val 6731"/>
            </a:avLst>
          </a:prstGeom>
          <a:solidFill>
            <a:srgbClr val="E3EFEA"/>
          </a:solidFill>
          <a:ln w="9525">
            <a:solidFill>
              <a:srgbClr val="BFD9D0"/>
            </a:solidFill>
            <a:prstDash val="solid"/>
          </a:ln>
        </p:spPr>
      </p:sp>
      <p:sp>
        <p:nvSpPr>
          <p:cNvPr id="51" name="Text 49"/>
          <p:cNvSpPr/>
          <p:nvPr/>
        </p:nvSpPr>
        <p:spPr>
          <a:xfrm>
            <a:off x="7848600" y="330517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incremental on every change</a:t>
            </a:r>
            <a:endParaRPr lang="en-US" sz="1800" dirty="0"/>
          </a:p>
        </p:txBody>
      </p:sp>
      <p:sp>
        <p:nvSpPr>
          <p:cNvPr id="52" name="Shape 50"/>
          <p:cNvSpPr/>
          <p:nvPr/>
        </p:nvSpPr>
        <p:spPr>
          <a:xfrm>
            <a:off x="9538395" y="3038475"/>
            <a:ext cx="9525" cy="1390650"/>
          </a:xfrm>
          <a:prstGeom prst="rect">
            <a:avLst/>
          </a:prstGeom>
          <a:solidFill>
            <a:srgbClr val="E3E7E1"/>
          </a:solidFill>
          <a:ln/>
        </p:spPr>
      </p:sp>
      <p:sp>
        <p:nvSpPr>
          <p:cNvPr id="53" name="Shape 51"/>
          <p:cNvSpPr/>
          <p:nvPr/>
        </p:nvSpPr>
        <p:spPr>
          <a:xfrm>
            <a:off x="9595545" y="3095625"/>
            <a:ext cx="1337370" cy="1276350"/>
          </a:xfrm>
          <a:prstGeom prst="roundRect">
            <a:avLst>
              <a:gd name="adj" fmla="val 5224"/>
            </a:avLst>
          </a:prstGeom>
          <a:solidFill>
            <a:srgbClr val="E3EFEA"/>
          </a:solidFill>
          <a:ln w="9525">
            <a:solidFill>
              <a:srgbClr val="BFD9D0"/>
            </a:solidFill>
            <a:prstDash val="solid"/>
          </a:ln>
        </p:spPr>
      </p:sp>
      <p:sp>
        <p:nvSpPr>
          <p:cNvPr id="54" name="Text 52"/>
          <p:cNvSpPr/>
          <p:nvPr/>
        </p:nvSpPr>
        <p:spPr>
          <a:xfrm>
            <a:off x="9652695" y="3162300"/>
            <a:ext cx="1223070"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impact analysis + blast radius</a:t>
            </a:r>
            <a:endParaRPr lang="en-US" sz="1800" dirty="0"/>
          </a:p>
        </p:txBody>
      </p:sp>
      <p:sp>
        <p:nvSpPr>
          <p:cNvPr id="55" name="Shape 53"/>
          <p:cNvSpPr/>
          <p:nvPr/>
        </p:nvSpPr>
        <p:spPr>
          <a:xfrm>
            <a:off x="10980539" y="3038475"/>
            <a:ext cx="1441996" cy="1390650"/>
          </a:xfrm>
          <a:prstGeom prst="rect">
            <a:avLst/>
          </a:prstGeom>
          <a:solidFill>
            <a:srgbClr val="FBF3E4"/>
          </a:solidFill>
          <a:ln/>
        </p:spPr>
      </p:sp>
      <p:sp>
        <p:nvSpPr>
          <p:cNvPr id="56" name="Shape 54"/>
          <p:cNvSpPr/>
          <p:nvPr/>
        </p:nvSpPr>
        <p:spPr>
          <a:xfrm>
            <a:off x="10980539" y="3038475"/>
            <a:ext cx="9525" cy="1390650"/>
          </a:xfrm>
          <a:prstGeom prst="rect">
            <a:avLst/>
          </a:prstGeom>
          <a:solidFill>
            <a:srgbClr val="E3E7E1"/>
          </a:solidFill>
          <a:ln/>
        </p:spPr>
      </p:sp>
      <p:sp>
        <p:nvSpPr>
          <p:cNvPr id="57" name="Shape 55"/>
          <p:cNvSpPr/>
          <p:nvPr/>
        </p:nvSpPr>
        <p:spPr>
          <a:xfrm>
            <a:off x="12422535" y="3038475"/>
            <a:ext cx="9525" cy="1390650"/>
          </a:xfrm>
          <a:prstGeom prst="rect">
            <a:avLst/>
          </a:prstGeom>
          <a:solidFill>
            <a:srgbClr val="E3E7E1"/>
          </a:solidFill>
          <a:ln/>
        </p:spPr>
      </p:sp>
      <p:sp>
        <p:nvSpPr>
          <p:cNvPr id="58" name="Shape 56"/>
          <p:cNvSpPr/>
          <p:nvPr/>
        </p:nvSpPr>
        <p:spPr>
          <a:xfrm>
            <a:off x="12479685" y="3381375"/>
            <a:ext cx="1562100" cy="704850"/>
          </a:xfrm>
          <a:prstGeom prst="roundRect">
            <a:avLst>
              <a:gd name="adj" fmla="val 9459"/>
            </a:avLst>
          </a:prstGeom>
          <a:solidFill>
            <a:srgbClr val="E3EFEA"/>
          </a:solidFill>
          <a:ln w="9525">
            <a:solidFill>
              <a:srgbClr val="BFD9D0"/>
            </a:solidFill>
            <a:prstDash val="solid"/>
          </a:ln>
        </p:spPr>
      </p:sp>
      <p:sp>
        <p:nvSpPr>
          <p:cNvPr id="59" name="Text 57"/>
          <p:cNvSpPr/>
          <p:nvPr/>
        </p:nvSpPr>
        <p:spPr>
          <a:xfrm>
            <a:off x="12536835" y="3448050"/>
            <a:ext cx="1447800"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confidence scoring GA</a:t>
            </a:r>
            <a:endParaRPr lang="en-US" sz="1800" dirty="0"/>
          </a:p>
        </p:txBody>
      </p:sp>
      <p:sp>
        <p:nvSpPr>
          <p:cNvPr id="60" name="Shape 58"/>
          <p:cNvSpPr/>
          <p:nvPr/>
        </p:nvSpPr>
        <p:spPr>
          <a:xfrm>
            <a:off x="14089410" y="3038475"/>
            <a:ext cx="9525" cy="1390650"/>
          </a:xfrm>
          <a:prstGeom prst="rect">
            <a:avLst/>
          </a:prstGeom>
          <a:solidFill>
            <a:srgbClr val="E3E7E1"/>
          </a:solidFill>
          <a:ln/>
        </p:spPr>
      </p:sp>
      <p:sp>
        <p:nvSpPr>
          <p:cNvPr id="61" name="Shape 59"/>
          <p:cNvSpPr/>
          <p:nvPr/>
        </p:nvSpPr>
        <p:spPr>
          <a:xfrm>
            <a:off x="15531405" y="3038475"/>
            <a:ext cx="9525" cy="1390650"/>
          </a:xfrm>
          <a:prstGeom prst="rect">
            <a:avLst/>
          </a:prstGeom>
          <a:solidFill>
            <a:srgbClr val="E3E7E1"/>
          </a:solidFill>
          <a:ln/>
        </p:spPr>
      </p:sp>
      <p:sp>
        <p:nvSpPr>
          <p:cNvPr id="62" name="Shape 60"/>
          <p:cNvSpPr/>
          <p:nvPr/>
        </p:nvSpPr>
        <p:spPr>
          <a:xfrm>
            <a:off x="4743450" y="4429125"/>
            <a:ext cx="19050" cy="1390650"/>
          </a:xfrm>
          <a:prstGeom prst="rect">
            <a:avLst/>
          </a:prstGeom>
          <a:solidFill>
            <a:srgbClr val="1B2530"/>
          </a:solidFill>
          <a:ln/>
        </p:spPr>
      </p:sp>
      <p:sp>
        <p:nvSpPr>
          <p:cNvPr id="63" name="Text 61"/>
          <p:cNvSpPr/>
          <p:nvPr/>
        </p:nvSpPr>
        <p:spPr>
          <a:xfrm>
            <a:off x="952500" y="4657725"/>
            <a:ext cx="16921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Data Quality</a:t>
            </a:r>
            <a:endParaRPr lang="en-US" sz="2025" dirty="0"/>
          </a:p>
        </p:txBody>
      </p:sp>
      <p:sp>
        <p:nvSpPr>
          <p:cNvPr id="64" name="Text 62"/>
          <p:cNvSpPr/>
          <p:nvPr/>
        </p:nvSpPr>
        <p:spPr>
          <a:xfrm>
            <a:off x="2586038" y="4657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65" name="Text 63"/>
          <p:cNvSpPr/>
          <p:nvPr/>
        </p:nvSpPr>
        <p:spPr>
          <a:xfrm>
            <a:off x="952500" y="50006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streaming + real-time at service &amp; Kafka; batch at rest</a:t>
            </a:r>
            <a:endParaRPr lang="en-US" sz="1800" dirty="0"/>
          </a:p>
        </p:txBody>
      </p:sp>
      <p:sp>
        <p:nvSpPr>
          <p:cNvPr id="66" name="Shape 64"/>
          <p:cNvSpPr/>
          <p:nvPr/>
        </p:nvSpPr>
        <p:spPr>
          <a:xfrm>
            <a:off x="4762500" y="4429125"/>
            <a:ext cx="9525" cy="1390650"/>
          </a:xfrm>
          <a:prstGeom prst="rect">
            <a:avLst/>
          </a:prstGeom>
          <a:solidFill>
            <a:srgbClr val="E3E7E1"/>
          </a:solidFill>
          <a:ln/>
        </p:spPr>
      </p:sp>
      <p:sp>
        <p:nvSpPr>
          <p:cNvPr id="67" name="Shape 65"/>
          <p:cNvSpPr/>
          <p:nvPr/>
        </p:nvSpPr>
        <p:spPr>
          <a:xfrm>
            <a:off x="4819650" y="4772025"/>
            <a:ext cx="1425029" cy="704850"/>
          </a:xfrm>
          <a:prstGeom prst="roundRect">
            <a:avLst>
              <a:gd name="adj" fmla="val 9459"/>
            </a:avLst>
          </a:prstGeom>
          <a:solidFill>
            <a:srgbClr val="E3EFEA"/>
          </a:solidFill>
          <a:ln w="9525">
            <a:solidFill>
              <a:srgbClr val="BFD9D0"/>
            </a:solidFill>
            <a:prstDash val="solid"/>
          </a:ln>
        </p:spPr>
      </p:sp>
      <p:sp>
        <p:nvSpPr>
          <p:cNvPr id="68" name="Text 66"/>
          <p:cNvSpPr/>
          <p:nvPr/>
        </p:nvSpPr>
        <p:spPr>
          <a:xfrm>
            <a:off x="4876800" y="4838700"/>
            <a:ext cx="1310729"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batch DQ federated</a:t>
            </a:r>
            <a:endParaRPr lang="en-US" sz="1800" dirty="0"/>
          </a:p>
        </p:txBody>
      </p:sp>
      <p:sp>
        <p:nvSpPr>
          <p:cNvPr id="69" name="Shape 67"/>
          <p:cNvSpPr/>
          <p:nvPr/>
        </p:nvSpPr>
        <p:spPr>
          <a:xfrm>
            <a:off x="6292304" y="4429125"/>
            <a:ext cx="9525" cy="1390650"/>
          </a:xfrm>
          <a:prstGeom prst="rect">
            <a:avLst/>
          </a:prstGeom>
          <a:solidFill>
            <a:srgbClr val="E3E7E1"/>
          </a:solidFill>
          <a:ln/>
        </p:spPr>
      </p:sp>
      <p:sp>
        <p:nvSpPr>
          <p:cNvPr id="70" name="Shape 68"/>
          <p:cNvSpPr/>
          <p:nvPr/>
        </p:nvSpPr>
        <p:spPr>
          <a:xfrm>
            <a:off x="6349454" y="4486275"/>
            <a:ext cx="1337221" cy="1276350"/>
          </a:xfrm>
          <a:prstGeom prst="roundRect">
            <a:avLst>
              <a:gd name="adj" fmla="val 5224"/>
            </a:avLst>
          </a:prstGeom>
          <a:solidFill>
            <a:srgbClr val="E3EFEA"/>
          </a:solidFill>
          <a:ln w="9525">
            <a:solidFill>
              <a:srgbClr val="BFD9D0"/>
            </a:solidFill>
            <a:prstDash val="solid"/>
          </a:ln>
        </p:spPr>
      </p:sp>
      <p:sp>
        <p:nvSpPr>
          <p:cNvPr id="71" name="Text 69"/>
          <p:cNvSpPr/>
          <p:nvPr/>
        </p:nvSpPr>
        <p:spPr>
          <a:xfrm>
            <a:off x="6406604"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at-rest checks learn normal</a:t>
            </a:r>
            <a:endParaRPr lang="en-US" sz="1800" dirty="0"/>
          </a:p>
        </p:txBody>
      </p:sp>
      <p:sp>
        <p:nvSpPr>
          <p:cNvPr id="72" name="Shape 70"/>
          <p:cNvSpPr/>
          <p:nvPr/>
        </p:nvSpPr>
        <p:spPr>
          <a:xfrm>
            <a:off x="7734300" y="4429125"/>
            <a:ext cx="9525" cy="1390650"/>
          </a:xfrm>
          <a:prstGeom prst="rect">
            <a:avLst/>
          </a:prstGeom>
          <a:solidFill>
            <a:srgbClr val="E3E7E1"/>
          </a:solidFill>
          <a:ln/>
        </p:spPr>
      </p:sp>
      <p:sp>
        <p:nvSpPr>
          <p:cNvPr id="73" name="Shape 71"/>
          <p:cNvSpPr/>
          <p:nvPr/>
        </p:nvSpPr>
        <p:spPr>
          <a:xfrm>
            <a:off x="7791450" y="4629150"/>
            <a:ext cx="1699320" cy="990600"/>
          </a:xfrm>
          <a:prstGeom prst="roundRect">
            <a:avLst>
              <a:gd name="adj" fmla="val 6731"/>
            </a:avLst>
          </a:prstGeom>
          <a:solidFill>
            <a:srgbClr val="E3EFEA"/>
          </a:solidFill>
          <a:ln w="9525">
            <a:solidFill>
              <a:srgbClr val="BFD9D0"/>
            </a:solidFill>
            <a:prstDash val="solid"/>
          </a:ln>
        </p:spPr>
      </p:sp>
      <p:sp>
        <p:nvSpPr>
          <p:cNvPr id="74" name="Text 72"/>
          <p:cNvSpPr/>
          <p:nvPr/>
        </p:nvSpPr>
        <p:spPr>
          <a:xfrm>
            <a:off x="7848600" y="4695825"/>
            <a:ext cx="158502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streaming + real-time checks</a:t>
            </a:r>
            <a:endParaRPr lang="en-US" sz="1800" dirty="0"/>
          </a:p>
        </p:txBody>
      </p:sp>
      <p:sp>
        <p:nvSpPr>
          <p:cNvPr id="75" name="Shape 73"/>
          <p:cNvSpPr/>
          <p:nvPr/>
        </p:nvSpPr>
        <p:spPr>
          <a:xfrm>
            <a:off x="9538395" y="4429125"/>
            <a:ext cx="9525" cy="1390650"/>
          </a:xfrm>
          <a:prstGeom prst="rect">
            <a:avLst/>
          </a:prstGeom>
          <a:solidFill>
            <a:srgbClr val="E3E7E1"/>
          </a:solidFill>
          <a:ln/>
        </p:spPr>
      </p:sp>
      <p:sp>
        <p:nvSpPr>
          <p:cNvPr id="76" name="Shape 74"/>
          <p:cNvSpPr/>
          <p:nvPr/>
        </p:nvSpPr>
        <p:spPr>
          <a:xfrm>
            <a:off x="10980539" y="4429125"/>
            <a:ext cx="1441996" cy="1390650"/>
          </a:xfrm>
          <a:prstGeom prst="rect">
            <a:avLst/>
          </a:prstGeom>
          <a:solidFill>
            <a:srgbClr val="FBF3E4"/>
          </a:solidFill>
          <a:ln/>
        </p:spPr>
      </p:sp>
      <p:sp>
        <p:nvSpPr>
          <p:cNvPr id="77" name="Shape 75"/>
          <p:cNvSpPr/>
          <p:nvPr/>
        </p:nvSpPr>
        <p:spPr>
          <a:xfrm>
            <a:off x="10980539" y="4429125"/>
            <a:ext cx="9525" cy="1390650"/>
          </a:xfrm>
          <a:prstGeom prst="rect">
            <a:avLst/>
          </a:prstGeom>
          <a:solidFill>
            <a:srgbClr val="E3E7E1"/>
          </a:solidFill>
          <a:ln/>
        </p:spPr>
      </p:sp>
      <p:sp>
        <p:nvSpPr>
          <p:cNvPr id="78" name="Shape 76"/>
          <p:cNvSpPr/>
          <p:nvPr/>
        </p:nvSpPr>
        <p:spPr>
          <a:xfrm>
            <a:off x="12422535" y="4429125"/>
            <a:ext cx="9525" cy="1390650"/>
          </a:xfrm>
          <a:prstGeom prst="rect">
            <a:avLst/>
          </a:prstGeom>
          <a:solidFill>
            <a:srgbClr val="E3E7E1"/>
          </a:solidFill>
          <a:ln/>
        </p:spPr>
      </p:sp>
      <p:sp>
        <p:nvSpPr>
          <p:cNvPr id="79" name="Shape 77"/>
          <p:cNvSpPr/>
          <p:nvPr/>
        </p:nvSpPr>
        <p:spPr>
          <a:xfrm>
            <a:off x="12479685" y="4629150"/>
            <a:ext cx="1562100" cy="990600"/>
          </a:xfrm>
          <a:prstGeom prst="roundRect">
            <a:avLst>
              <a:gd name="adj" fmla="val 6731"/>
            </a:avLst>
          </a:prstGeom>
          <a:solidFill>
            <a:srgbClr val="E3EFEA"/>
          </a:solidFill>
          <a:ln w="9525">
            <a:solidFill>
              <a:srgbClr val="BFD9D0"/>
            </a:solidFill>
            <a:prstDash val="solid"/>
          </a:ln>
        </p:spPr>
      </p:sp>
      <p:sp>
        <p:nvSpPr>
          <p:cNvPr id="80" name="Text 78"/>
          <p:cNvSpPr/>
          <p:nvPr/>
        </p:nvSpPr>
        <p:spPr>
          <a:xfrm>
            <a:off x="12536835" y="4695825"/>
            <a:ext cx="1447800"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first contract accepted</a:t>
            </a:r>
            <a:endParaRPr lang="en-US" sz="1800" dirty="0"/>
          </a:p>
        </p:txBody>
      </p:sp>
      <p:sp>
        <p:nvSpPr>
          <p:cNvPr id="81" name="Shape 79"/>
          <p:cNvSpPr/>
          <p:nvPr/>
        </p:nvSpPr>
        <p:spPr>
          <a:xfrm>
            <a:off x="14089410" y="4429125"/>
            <a:ext cx="9525" cy="1390650"/>
          </a:xfrm>
          <a:prstGeom prst="rect">
            <a:avLst/>
          </a:prstGeom>
          <a:solidFill>
            <a:srgbClr val="E3E7E1"/>
          </a:solidFill>
          <a:ln/>
        </p:spPr>
      </p:sp>
      <p:sp>
        <p:nvSpPr>
          <p:cNvPr id="82" name="Shape 80"/>
          <p:cNvSpPr/>
          <p:nvPr/>
        </p:nvSpPr>
        <p:spPr>
          <a:xfrm>
            <a:off x="14146560" y="4486275"/>
            <a:ext cx="1337221" cy="1276350"/>
          </a:xfrm>
          <a:prstGeom prst="roundRect">
            <a:avLst>
              <a:gd name="adj" fmla="val 5224"/>
            </a:avLst>
          </a:prstGeom>
          <a:solidFill>
            <a:srgbClr val="E3EFEA"/>
          </a:solidFill>
          <a:ln w="9525">
            <a:solidFill>
              <a:srgbClr val="BFD9D0"/>
            </a:solidFill>
            <a:prstDash val="solid"/>
          </a:ln>
        </p:spPr>
      </p:sp>
      <p:sp>
        <p:nvSpPr>
          <p:cNvPr id="83" name="Text 81"/>
          <p:cNvSpPr/>
          <p:nvPr/>
        </p:nvSpPr>
        <p:spPr>
          <a:xfrm>
            <a:off x="14203710" y="4552950"/>
            <a:ext cx="1222921" cy="11811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gate blocks bad batch</a:t>
            </a:r>
            <a:endParaRPr lang="en-US" sz="1800" dirty="0"/>
          </a:p>
        </p:txBody>
      </p:sp>
      <p:sp>
        <p:nvSpPr>
          <p:cNvPr id="84" name="Shape 82"/>
          <p:cNvSpPr/>
          <p:nvPr/>
        </p:nvSpPr>
        <p:spPr>
          <a:xfrm>
            <a:off x="15531405" y="4429125"/>
            <a:ext cx="9525" cy="1390650"/>
          </a:xfrm>
          <a:prstGeom prst="rect">
            <a:avLst/>
          </a:prstGeom>
          <a:solidFill>
            <a:srgbClr val="E3E7E1"/>
          </a:solidFill>
          <a:ln/>
        </p:spPr>
      </p:sp>
      <p:sp>
        <p:nvSpPr>
          <p:cNvPr id="85" name="Shape 83"/>
          <p:cNvSpPr/>
          <p:nvPr/>
        </p:nvSpPr>
        <p:spPr>
          <a:xfrm>
            <a:off x="4743450" y="5819775"/>
            <a:ext cx="19050" cy="1962150"/>
          </a:xfrm>
          <a:prstGeom prst="rect">
            <a:avLst/>
          </a:prstGeom>
          <a:solidFill>
            <a:srgbClr val="1B2530"/>
          </a:solidFill>
          <a:ln/>
        </p:spPr>
      </p:sp>
      <p:sp>
        <p:nvSpPr>
          <p:cNvPr id="86" name="Text 84"/>
          <p:cNvSpPr/>
          <p:nvPr/>
        </p:nvSpPr>
        <p:spPr>
          <a:xfrm>
            <a:off x="952500" y="6181725"/>
            <a:ext cx="2801889" cy="6477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Onboarding &amp; Experience</a:t>
            </a:r>
            <a:endParaRPr lang="en-US" sz="2025" dirty="0"/>
          </a:p>
        </p:txBody>
      </p:sp>
      <p:sp>
        <p:nvSpPr>
          <p:cNvPr id="87" name="Text 85"/>
          <p:cNvSpPr/>
          <p:nvPr/>
        </p:nvSpPr>
        <p:spPr>
          <a:xfrm>
            <a:off x="3768030" y="6181725"/>
            <a:ext cx="899220" cy="342900"/>
          </a:xfrm>
          <a:prstGeom prst="rect">
            <a:avLst/>
          </a:prstGeom>
          <a:noFill/>
          <a:ln/>
        </p:spPr>
        <p:txBody>
          <a:bodyPr wrap="non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10 ENG</a:t>
            </a:r>
            <a:endParaRPr lang="en-US" sz="1800" dirty="0"/>
          </a:p>
        </p:txBody>
      </p:sp>
      <p:sp>
        <p:nvSpPr>
          <p:cNvPr id="88" name="Text 86"/>
          <p:cNvSpPr/>
          <p:nvPr/>
        </p:nvSpPr>
        <p:spPr>
          <a:xfrm>
            <a:off x="952500" y="6829425"/>
            <a:ext cx="3747707"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health reporting, action, automated onboarding</a:t>
            </a:r>
            <a:endParaRPr lang="en-US" sz="1800" dirty="0"/>
          </a:p>
        </p:txBody>
      </p:sp>
      <p:sp>
        <p:nvSpPr>
          <p:cNvPr id="89" name="Shape 87"/>
          <p:cNvSpPr/>
          <p:nvPr/>
        </p:nvSpPr>
        <p:spPr>
          <a:xfrm>
            <a:off x="4762500" y="5819775"/>
            <a:ext cx="9525" cy="1962150"/>
          </a:xfrm>
          <a:prstGeom prst="rect">
            <a:avLst/>
          </a:prstGeom>
          <a:solidFill>
            <a:srgbClr val="E3E7E1"/>
          </a:solidFill>
          <a:ln/>
        </p:spPr>
      </p:sp>
      <p:sp>
        <p:nvSpPr>
          <p:cNvPr id="90" name="Shape 88"/>
          <p:cNvSpPr/>
          <p:nvPr/>
        </p:nvSpPr>
        <p:spPr>
          <a:xfrm>
            <a:off x="4819650" y="6305550"/>
            <a:ext cx="1425029" cy="990600"/>
          </a:xfrm>
          <a:prstGeom prst="roundRect">
            <a:avLst>
              <a:gd name="adj" fmla="val 6731"/>
            </a:avLst>
          </a:prstGeom>
          <a:solidFill>
            <a:srgbClr val="E3EFEA"/>
          </a:solidFill>
          <a:ln w="9525">
            <a:solidFill>
              <a:srgbClr val="BFD9D0"/>
            </a:solidFill>
            <a:prstDash val="solid"/>
          </a:ln>
        </p:spPr>
      </p:sp>
      <p:sp>
        <p:nvSpPr>
          <p:cNvPr id="91" name="Text 89"/>
          <p:cNvSpPr/>
          <p:nvPr/>
        </p:nvSpPr>
        <p:spPr>
          <a:xfrm>
            <a:off x="4876800" y="6372225"/>
            <a:ext cx="1310729" cy="8953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health dashboard v0</a:t>
            </a:r>
            <a:endParaRPr lang="en-US" sz="1800" dirty="0"/>
          </a:p>
        </p:txBody>
      </p:sp>
      <p:sp>
        <p:nvSpPr>
          <p:cNvPr id="92" name="Shape 90"/>
          <p:cNvSpPr/>
          <p:nvPr/>
        </p:nvSpPr>
        <p:spPr>
          <a:xfrm>
            <a:off x="6292304" y="5819775"/>
            <a:ext cx="9525" cy="1962150"/>
          </a:xfrm>
          <a:prstGeom prst="rect">
            <a:avLst/>
          </a:prstGeom>
          <a:solidFill>
            <a:srgbClr val="E3E7E1"/>
          </a:solidFill>
          <a:ln/>
        </p:spPr>
      </p:sp>
      <p:sp>
        <p:nvSpPr>
          <p:cNvPr id="93" name="Shape 91"/>
          <p:cNvSpPr/>
          <p:nvPr/>
        </p:nvSpPr>
        <p:spPr>
          <a:xfrm>
            <a:off x="7734300" y="5819775"/>
            <a:ext cx="9525" cy="1962150"/>
          </a:xfrm>
          <a:prstGeom prst="rect">
            <a:avLst/>
          </a:prstGeom>
          <a:solidFill>
            <a:srgbClr val="E3E7E1"/>
          </a:solidFill>
          <a:ln/>
        </p:spPr>
      </p:sp>
      <p:sp>
        <p:nvSpPr>
          <p:cNvPr id="94" name="Shape 92"/>
          <p:cNvSpPr/>
          <p:nvPr/>
        </p:nvSpPr>
        <p:spPr>
          <a:xfrm>
            <a:off x="9538395" y="5819775"/>
            <a:ext cx="9525" cy="1962150"/>
          </a:xfrm>
          <a:prstGeom prst="rect">
            <a:avLst/>
          </a:prstGeom>
          <a:solidFill>
            <a:srgbClr val="E3E7E1"/>
          </a:solidFill>
          <a:ln/>
        </p:spPr>
      </p:sp>
      <p:sp>
        <p:nvSpPr>
          <p:cNvPr id="95" name="Shape 93"/>
          <p:cNvSpPr/>
          <p:nvPr/>
        </p:nvSpPr>
        <p:spPr>
          <a:xfrm>
            <a:off x="9595545" y="6019800"/>
            <a:ext cx="1337370" cy="1562100"/>
          </a:xfrm>
          <a:prstGeom prst="roundRect">
            <a:avLst>
              <a:gd name="adj" fmla="val 4986"/>
            </a:avLst>
          </a:prstGeom>
          <a:solidFill>
            <a:srgbClr val="E3EFEA"/>
          </a:solidFill>
          <a:ln w="9525">
            <a:solidFill>
              <a:srgbClr val="BFD9D0"/>
            </a:solidFill>
            <a:prstDash val="solid"/>
          </a:ln>
        </p:spPr>
      </p:sp>
      <p:sp>
        <p:nvSpPr>
          <p:cNvPr id="96" name="Text 94"/>
          <p:cNvSpPr/>
          <p:nvPr/>
        </p:nvSpPr>
        <p:spPr>
          <a:xfrm>
            <a:off x="9652695" y="6086475"/>
            <a:ext cx="1223070" cy="146685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causal view — report to action</a:t>
            </a:r>
            <a:endParaRPr lang="en-US" sz="1800" dirty="0"/>
          </a:p>
        </p:txBody>
      </p:sp>
      <p:sp>
        <p:nvSpPr>
          <p:cNvPr id="97" name="Shape 95"/>
          <p:cNvSpPr/>
          <p:nvPr/>
        </p:nvSpPr>
        <p:spPr>
          <a:xfrm>
            <a:off x="10980539" y="5819775"/>
            <a:ext cx="1441996" cy="1962150"/>
          </a:xfrm>
          <a:prstGeom prst="rect">
            <a:avLst/>
          </a:prstGeom>
          <a:solidFill>
            <a:srgbClr val="FBF3E4"/>
          </a:solidFill>
          <a:ln/>
        </p:spPr>
      </p:sp>
      <p:sp>
        <p:nvSpPr>
          <p:cNvPr id="98" name="Shape 96"/>
          <p:cNvSpPr/>
          <p:nvPr/>
        </p:nvSpPr>
        <p:spPr>
          <a:xfrm>
            <a:off x="10980539" y="5819775"/>
            <a:ext cx="9525" cy="1962150"/>
          </a:xfrm>
          <a:prstGeom prst="rect">
            <a:avLst/>
          </a:prstGeom>
          <a:solidFill>
            <a:srgbClr val="E3E7E1"/>
          </a:solidFill>
          <a:ln/>
        </p:spPr>
      </p:sp>
      <p:sp>
        <p:nvSpPr>
          <p:cNvPr id="99" name="Shape 97"/>
          <p:cNvSpPr/>
          <p:nvPr/>
        </p:nvSpPr>
        <p:spPr>
          <a:xfrm>
            <a:off x="11037689" y="6448425"/>
            <a:ext cx="1337221" cy="704850"/>
          </a:xfrm>
          <a:prstGeom prst="roundRect">
            <a:avLst>
              <a:gd name="adj" fmla="val 9459"/>
            </a:avLst>
          </a:prstGeom>
          <a:solidFill>
            <a:srgbClr val="E3EFEA"/>
          </a:solidFill>
          <a:ln w="9525">
            <a:solidFill>
              <a:srgbClr val="BFD9D0"/>
            </a:solidFill>
            <a:prstDash val="solid"/>
          </a:ln>
        </p:spPr>
      </p:sp>
      <p:sp>
        <p:nvSpPr>
          <p:cNvPr id="100" name="Text 98"/>
          <p:cNvSpPr/>
          <p:nvPr/>
        </p:nvSpPr>
        <p:spPr>
          <a:xfrm>
            <a:off x="11094839" y="6515100"/>
            <a:ext cx="1222921" cy="609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runbook v1</a:t>
            </a:r>
            <a:endParaRPr lang="en-US" sz="1800" dirty="0"/>
          </a:p>
        </p:txBody>
      </p:sp>
      <p:sp>
        <p:nvSpPr>
          <p:cNvPr id="101" name="Shape 99"/>
          <p:cNvSpPr/>
          <p:nvPr/>
        </p:nvSpPr>
        <p:spPr>
          <a:xfrm>
            <a:off x="12422535" y="5819775"/>
            <a:ext cx="9525" cy="1962150"/>
          </a:xfrm>
          <a:prstGeom prst="rect">
            <a:avLst/>
          </a:prstGeom>
          <a:solidFill>
            <a:srgbClr val="E3E7E1"/>
          </a:solidFill>
          <a:ln/>
        </p:spPr>
      </p:sp>
      <p:sp>
        <p:nvSpPr>
          <p:cNvPr id="102" name="Shape 100"/>
          <p:cNvSpPr/>
          <p:nvPr/>
        </p:nvSpPr>
        <p:spPr>
          <a:xfrm>
            <a:off x="14089410" y="5819775"/>
            <a:ext cx="9525" cy="1962150"/>
          </a:xfrm>
          <a:prstGeom prst="rect">
            <a:avLst/>
          </a:prstGeom>
          <a:solidFill>
            <a:srgbClr val="E3E7E1"/>
          </a:solidFill>
          <a:ln/>
        </p:spPr>
      </p:sp>
      <p:sp>
        <p:nvSpPr>
          <p:cNvPr id="103" name="Shape 101"/>
          <p:cNvSpPr/>
          <p:nvPr/>
        </p:nvSpPr>
        <p:spPr>
          <a:xfrm>
            <a:off x="15531405" y="5819775"/>
            <a:ext cx="9525" cy="1962150"/>
          </a:xfrm>
          <a:prstGeom prst="rect">
            <a:avLst/>
          </a:prstGeom>
          <a:solidFill>
            <a:srgbClr val="E3E7E1"/>
          </a:solidFill>
          <a:ln/>
        </p:spPr>
      </p:sp>
      <p:sp>
        <p:nvSpPr>
          <p:cNvPr id="104" name="Shape 102"/>
          <p:cNvSpPr/>
          <p:nvPr/>
        </p:nvSpPr>
        <p:spPr>
          <a:xfrm>
            <a:off x="15588555" y="5876925"/>
            <a:ext cx="1699320" cy="1847850"/>
          </a:xfrm>
          <a:prstGeom prst="roundRect">
            <a:avLst>
              <a:gd name="adj" fmla="val 3924"/>
            </a:avLst>
          </a:prstGeom>
          <a:solidFill>
            <a:srgbClr val="E3EFEA"/>
          </a:solidFill>
          <a:ln w="9525">
            <a:solidFill>
              <a:srgbClr val="BFD9D0"/>
            </a:solidFill>
            <a:prstDash val="solid"/>
          </a:ln>
        </p:spPr>
      </p:sp>
      <p:sp>
        <p:nvSpPr>
          <p:cNvPr id="105" name="Text 103"/>
          <p:cNvSpPr/>
          <p:nvPr/>
        </p:nvSpPr>
        <p:spPr>
          <a:xfrm>
            <a:off x="15645705" y="5943600"/>
            <a:ext cx="1585020" cy="1752600"/>
          </a:xfrm>
          <a:prstGeom prst="rect">
            <a:avLst/>
          </a:prstGeom>
          <a:noFill/>
          <a:ln/>
        </p:spPr>
        <p:txBody>
          <a:bodyPr wrap="square" lIns="25400" tIns="25400" rIns="25400" bIns="25400" rtlCol="0" anchor="t">
            <a:normAutofit/>
          </a:bodyPr>
          <a:lstStyle/>
          <a:p>
            <a:pPr algn="ctr" indent="0" marL="0">
              <a:lnSpc>
                <a:spcPct val="93750"/>
              </a:lnSpc>
              <a:buNone/>
            </a:pPr>
            <a:r>
              <a:rPr lang="en-US" sz="1800" b="1" dirty="0">
                <a:solidFill>
                  <a:srgbClr val="0E7C6B"/>
                </a:solidFill>
                <a:latin typeface="IBM Plex Mono" pitchFamily="34" charset="0"/>
                <a:ea typeface="IBM Plex Mono" pitchFamily="34" charset="-122"/>
                <a:cs typeface="IBM Plex Mono" pitchFamily="34" charset="-120"/>
              </a:rPr>
              <a:t>automated onboarding: DQ + monitoring · UC2 ≤ 2 wks</a:t>
            </a:r>
            <a:endParaRPr lang="en-US" sz="1800" dirty="0"/>
          </a:p>
        </p:txBody>
      </p:sp>
      <p:sp>
        <p:nvSpPr>
          <p:cNvPr id="106" name="Shape 104"/>
          <p:cNvSpPr/>
          <p:nvPr/>
        </p:nvSpPr>
        <p:spPr>
          <a:xfrm>
            <a:off x="952500" y="7781925"/>
            <a:ext cx="3810000" cy="28575"/>
          </a:xfrm>
          <a:prstGeom prst="rect">
            <a:avLst/>
          </a:prstGeom>
          <a:solidFill>
            <a:srgbClr val="1B2530"/>
          </a:solidFill>
          <a:ln/>
        </p:spPr>
      </p:sp>
      <p:sp>
        <p:nvSpPr>
          <p:cNvPr id="107" name="Shape 105"/>
          <p:cNvSpPr/>
          <p:nvPr/>
        </p:nvSpPr>
        <p:spPr>
          <a:xfrm>
            <a:off x="4743450" y="7781925"/>
            <a:ext cx="19050" cy="1095375"/>
          </a:xfrm>
          <a:prstGeom prst="rect">
            <a:avLst/>
          </a:prstGeom>
          <a:solidFill>
            <a:srgbClr val="1B2530"/>
          </a:solidFill>
          <a:ln/>
        </p:spPr>
      </p:sp>
      <p:sp>
        <p:nvSpPr>
          <p:cNvPr id="108" name="Text 106"/>
          <p:cNvSpPr/>
          <p:nvPr/>
        </p:nvSpPr>
        <p:spPr>
          <a:xfrm>
            <a:off x="952500" y="7891463"/>
            <a:ext cx="4002405" cy="342900"/>
          </a:xfrm>
          <a:prstGeom prst="rect">
            <a:avLst/>
          </a:prstGeom>
          <a:noFill/>
          <a:ln/>
        </p:spPr>
        <p:txBody>
          <a:bodyPr wrap="none" lIns="25400" tIns="25400" rIns="25400" bIns="25400" rtlCol="0" anchor="t">
            <a:normAutofit/>
          </a:bodyPr>
          <a:lstStyle/>
          <a:p>
            <a:pPr algn="l" indent="0" marL="0">
              <a:buNone/>
            </a:pPr>
            <a:r>
              <a:rPr lang="en-US" sz="2025" b="1" dirty="0">
                <a:solidFill>
                  <a:srgbClr val="0E7C6B"/>
                </a:solidFill>
                <a:latin typeface="Bricolage Grotesque" pitchFamily="34" charset="0"/>
                <a:ea typeface="Bricolage Grotesque" pitchFamily="34" charset="-122"/>
                <a:cs typeface="Bricolage Grotesque" pitchFamily="34" charset="-120"/>
              </a:rPr>
              <a:t>Convergence</a:t>
            </a:r>
            <a:endParaRPr lang="en-US" sz="2025" dirty="0"/>
          </a:p>
        </p:txBody>
      </p:sp>
      <p:sp>
        <p:nvSpPr>
          <p:cNvPr id="109" name="Text 107"/>
          <p:cNvSpPr/>
          <p:nvPr/>
        </p:nvSpPr>
        <p:spPr>
          <a:xfrm>
            <a:off x="952500" y="8224837"/>
            <a:ext cx="3747707" cy="609600"/>
          </a:xfrm>
          <a:prstGeom prst="rect">
            <a:avLst/>
          </a:prstGeom>
          <a:noFill/>
          <a:ln/>
        </p:spPr>
        <p:txBody>
          <a:bodyPr wrap="square" lIns="25400" tIns="25400" rIns="25400" bIns="25400" rtlCol="0" anchor="t">
            <a:normAutofit/>
          </a:bodyPr>
          <a:lstStyle/>
          <a:p>
            <a:pPr algn="l" indent="0" marL="0">
              <a:lnSpc>
                <a:spcPct val="90909"/>
              </a:lnSpc>
              <a:buNone/>
            </a:pPr>
            <a:r>
              <a:rPr lang="en-US" sz="1800" dirty="0">
                <a:solidFill>
                  <a:srgbClr val="5B6873"/>
                </a:solidFill>
                <a:latin typeface="Source Serif 4" pitchFamily="34" charset="0"/>
                <a:ea typeface="Source Serif 4" pitchFamily="34" charset="-122"/>
                <a:cs typeface="Source Serif 4" pitchFamily="34" charset="-120"/>
              </a:rPr>
              <a:t>the substrate is built, not assumed</a:t>
            </a:r>
            <a:endParaRPr lang="en-US" sz="1800" dirty="0"/>
          </a:p>
        </p:txBody>
      </p:sp>
      <p:sp>
        <p:nvSpPr>
          <p:cNvPr id="110" name="Shape 108"/>
          <p:cNvSpPr/>
          <p:nvPr/>
        </p:nvSpPr>
        <p:spPr>
          <a:xfrm>
            <a:off x="4762500" y="7839075"/>
            <a:ext cx="6218039" cy="1038225"/>
          </a:xfrm>
          <a:custGeom>
            <a:avLst/>
            <a:gdLst/>
            <a:ahLst/>
            <a:cxnLst/>
            <a:rect l="l" t="t" r="r" b="b"/>
            <a:pathLst>
              <a:path w="6218039" h="1038225">
                <a:moveTo>
                  <a:pt x="95250" y="0"/>
                </a:moveTo>
                <a:lnTo>
                  <a:pt x="6218039" y="0"/>
                </a:lnTo>
                <a:lnTo>
                  <a:pt x="6218039" y="1038225"/>
                </a:lnTo>
                <a:lnTo>
                  <a:pt x="95250" y="1038225"/>
                </a:lnTo>
                <a:arcTo hR="95250" wR="95250" stAng="5400000" swAng="5400000"/>
                <a:lnTo>
                  <a:pt x="0" y="95250"/>
                </a:lnTo>
                <a:arcTo hR="95250" wR="95250" stAng="10800000" swAng="5400000"/>
                <a:close/>
              </a:path>
            </a:pathLst>
          </a:custGeom>
          <a:solidFill>
            <a:srgbClr val="1B2530"/>
          </a:solidFill>
          <a:ln/>
        </p:spPr>
      </p:sp>
      <p:sp>
        <p:nvSpPr>
          <p:cNvPr id="111" name="Text 109"/>
          <p:cNvSpPr/>
          <p:nvPr/>
        </p:nvSpPr>
        <p:spPr>
          <a:xfrm>
            <a:off x="4933950" y="8210550"/>
            <a:ext cx="5659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 ↓ ↓</a:t>
            </a:r>
            <a:endParaRPr lang="en-US" sz="1950" dirty="0"/>
          </a:p>
        </p:txBody>
      </p:sp>
      <p:sp>
        <p:nvSpPr>
          <p:cNvPr id="112" name="Text 110"/>
          <p:cNvSpPr/>
          <p:nvPr/>
        </p:nvSpPr>
        <p:spPr>
          <a:xfrm>
            <a:off x="5576143" y="7915275"/>
            <a:ext cx="5389934"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the stream + registry are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built by Lineage's core squad (3 eng) — registry link M1, stream on at m6 </a:t>
            </a:r>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 everything lands there</a:t>
            </a:r>
            <a:endParaRPr lang="en-US" sz="1800" dirty="0"/>
          </a:p>
        </p:txBody>
      </p:sp>
      <p:sp>
        <p:nvSpPr>
          <p:cNvPr id="113" name="Shape 111"/>
          <p:cNvSpPr/>
          <p:nvPr/>
        </p:nvSpPr>
        <p:spPr>
          <a:xfrm>
            <a:off x="10980539" y="7839075"/>
            <a:ext cx="1441996" cy="1038225"/>
          </a:xfrm>
          <a:prstGeom prst="rect">
            <a:avLst/>
          </a:prstGeom>
          <a:solidFill>
            <a:srgbClr val="B97417"/>
          </a:solidFill>
          <a:ln/>
        </p:spPr>
      </p:sp>
      <p:sp>
        <p:nvSpPr>
          <p:cNvPr id="114" name="Text 112"/>
          <p:cNvSpPr/>
          <p:nvPr/>
        </p:nvSpPr>
        <p:spPr>
          <a:xfrm>
            <a:off x="11037689" y="8062913"/>
            <a:ext cx="1327696" cy="628650"/>
          </a:xfrm>
          <a:prstGeom prst="rect">
            <a:avLst/>
          </a:prstGeom>
          <a:noFill/>
          <a:ln/>
        </p:spPr>
        <p:txBody>
          <a:bodyPr wrap="square" lIns="25400" tIns="25400" rIns="25400" bIns="25400" rtlCol="0" anchor="t">
            <a:normAutofit/>
          </a:bodyPr>
          <a:lstStyle/>
          <a:p>
            <a:pPr algn="ctr" indent="0" marL="0">
              <a:lnSpc>
                <a:spcPct val="97500"/>
              </a:lnSpc>
              <a:buNone/>
            </a:pPr>
            <a:r>
              <a:rPr lang="en-US" sz="1800" b="1" dirty="0">
                <a:solidFill>
                  <a:srgbClr val="FFFFFF"/>
                </a:solidFill>
                <a:latin typeface="IBM Plex Mono" pitchFamily="34" charset="0"/>
                <a:ea typeface="IBM Plex Mono" pitchFamily="34" charset="-122"/>
                <a:cs typeface="IBM Plex Mono" pitchFamily="34" charset="-120"/>
              </a:rPr>
              <a:t>JOINED AT M5 on UC1</a:t>
            </a:r>
            <a:endParaRPr lang="en-US" sz="1800" dirty="0"/>
          </a:p>
        </p:txBody>
      </p:sp>
      <p:sp>
        <p:nvSpPr>
          <p:cNvPr id="115" name="Shape 113"/>
          <p:cNvSpPr/>
          <p:nvPr/>
        </p:nvSpPr>
        <p:spPr>
          <a:xfrm>
            <a:off x="12422535" y="7839075"/>
            <a:ext cx="4912965" cy="1038225"/>
          </a:xfrm>
          <a:custGeom>
            <a:avLst/>
            <a:gdLst/>
            <a:ahLst/>
            <a:cxnLst/>
            <a:rect l="l" t="t" r="r" b="b"/>
            <a:pathLst>
              <a:path w="4912965" h="1038225">
                <a:moveTo>
                  <a:pt x="0" y="0"/>
                </a:moveTo>
                <a:lnTo>
                  <a:pt x="4817715" y="0"/>
                </a:lnTo>
                <a:arcTo hR="95250" wR="95250" stAng="16200000" swAng="5400000"/>
                <a:lnTo>
                  <a:pt x="4912965" y="942975"/>
                </a:lnTo>
                <a:arcTo hR="95250" wR="95250" stAng="0" swAng="5400000"/>
                <a:lnTo>
                  <a:pt x="0" y="1038225"/>
                </a:lnTo>
                <a:lnTo>
                  <a:pt x="0" y="0"/>
                </a:lnTo>
                <a:close/>
              </a:path>
            </a:pathLst>
          </a:custGeom>
          <a:solidFill>
            <a:srgbClr val="1B2530"/>
          </a:solidFill>
          <a:ln/>
        </p:spPr>
      </p:sp>
      <p:sp>
        <p:nvSpPr>
          <p:cNvPr id="116" name="Text 114"/>
          <p:cNvSpPr/>
          <p:nvPr/>
        </p:nvSpPr>
        <p:spPr>
          <a:xfrm>
            <a:off x="12593985" y="7915275"/>
            <a:ext cx="4707167"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DCE3E8"/>
                </a:solidFill>
                <a:latin typeface="Source Serif 4" pitchFamily="34" charset="0"/>
                <a:ea typeface="Source Serif 4" pitchFamily="34" charset="-122"/>
                <a:cs typeface="Source Serif 4" pitchFamily="34" charset="-120"/>
              </a:rPr>
              <a:t>gate built by the DQ squad (2→4 eng); onboarding tools by Experience — </a:t>
            </a:r>
            <a:pPr algn="l" indent="0" marL="0">
              <a:lnSpc>
                <a:spcPct val="94545"/>
              </a:lnSpc>
              <a:buNone/>
            </a:pPr>
            <a:r>
              <a:rPr lang="en-US" sz="1800" b="1" dirty="0">
                <a:solidFill>
                  <a:srgbClr val="F6F7F4"/>
                </a:solidFill>
                <a:latin typeface="Source Serif 4" pitchFamily="34" charset="0"/>
                <a:ea typeface="Source Serif 4" pitchFamily="34" charset="-122"/>
                <a:cs typeface="Source Serif 4" pitchFamily="34" charset="-120"/>
              </a:rPr>
              <a:t>one platform</a:t>
            </a:r>
            <a:endParaRPr lang="en-US" sz="1800" dirty="0"/>
          </a:p>
        </p:txBody>
      </p:sp>
      <p:sp>
        <p:nvSpPr>
          <p:cNvPr id="117" name="Shape 115"/>
          <p:cNvSpPr/>
          <p:nvPr/>
        </p:nvSpPr>
        <p:spPr>
          <a:xfrm>
            <a:off x="952500" y="9010650"/>
            <a:ext cx="16383000" cy="895350"/>
          </a:xfrm>
          <a:prstGeom prst="roundRect">
            <a:avLst>
              <a:gd name="adj" fmla="val 12766"/>
            </a:avLst>
          </a:prstGeom>
          <a:solidFill>
            <a:srgbClr val="1B2530"/>
          </a:solidFill>
          <a:ln/>
        </p:spPr>
      </p:sp>
      <p:sp>
        <p:nvSpPr>
          <p:cNvPr id="118" name="Shape 116"/>
          <p:cNvSpPr/>
          <p:nvPr/>
        </p:nvSpPr>
        <p:spPr>
          <a:xfrm>
            <a:off x="1257300" y="9382125"/>
            <a:ext cx="152400" cy="152400"/>
          </a:xfrm>
          <a:prstGeom prst="roundRect">
            <a:avLst>
              <a:gd name="adj" fmla="val 25000"/>
            </a:avLst>
          </a:prstGeom>
          <a:solidFill>
            <a:srgbClr val="FBF3E4"/>
          </a:solidFill>
          <a:ln w="9525">
            <a:solidFill>
              <a:srgbClr val="B97417"/>
            </a:solidFill>
            <a:prstDash val="solid"/>
          </a:ln>
        </p:spPr>
      </p:sp>
      <p:sp>
        <p:nvSpPr>
          <p:cNvPr id="119" name="Text 117"/>
          <p:cNvSpPr/>
          <p:nvPr/>
        </p:nvSpPr>
        <p:spPr>
          <a:xfrm>
            <a:off x="1600200" y="9144000"/>
            <a:ext cx="15893415" cy="666750"/>
          </a:xfrm>
          <a:prstGeom prst="rect">
            <a:avLst/>
          </a:prstGeom>
          <a:noFill/>
          <a:ln/>
        </p:spPr>
        <p:txBody>
          <a:bodyPr wrap="square" lIns="25400" tIns="25400" rIns="25400" bIns="25400" rtlCol="0" anchor="t">
            <a:normAutofit/>
          </a:bodyPr>
          <a:lstStyle/>
          <a:p>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M5 gate: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use case 1 live end-to-end, a real incident replayed in under 30 minutes · </a:t>
            </a:r>
            <a:pPr algn="l" indent="0" marL="0">
              <a:lnSpc>
                <a:spcPct val="99265"/>
              </a:lnSpc>
              <a:buNone/>
            </a:pPr>
            <a:r>
              <a:rPr lang="en-US" sz="1875" b="1" dirty="0">
                <a:solidFill>
                  <a:srgbClr val="F6F7F4"/>
                </a:solidFill>
                <a:latin typeface="Source Serif 4" pitchFamily="34" charset="0"/>
                <a:ea typeface="Source Serif 4" pitchFamily="34" charset="-122"/>
                <a:cs typeface="Source Serif 4" pitchFamily="34" charset="-120"/>
              </a:rPr>
              <a:t>after M8: </a:t>
            </a:r>
            <a:pPr algn="l" indent="0" marL="0">
              <a:lnSpc>
                <a:spcPct val="99265"/>
              </a:lnSpc>
              <a:buNone/>
            </a:pPr>
            <a:r>
              <a:rPr lang="en-US" sz="1875" dirty="0">
                <a:solidFill>
                  <a:srgbClr val="DCE3E8"/>
                </a:solidFill>
                <a:latin typeface="Source Serif 4" pitchFamily="34" charset="0"/>
                <a:ea typeface="Source Serif 4" pitchFamily="34" charset="-122"/>
                <a:cs typeface="Source Serif 4" pitchFamily="34" charset="-120"/>
              </a:rPr>
              <a:t>onboarding progressively expands to data contracts; column-level lineage and self-serve onboarding land m13+, by trigger.</a:t>
            </a:r>
            <a:endParaRPr lang="en-US" sz="18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Phase 0, then eight demo milestones</a:t>
            </a:r>
            <a:endParaRPr lang="en-US" sz="4200" dirty="0"/>
          </a:p>
        </p:txBody>
      </p:sp>
      <p:sp>
        <p:nvSpPr>
          <p:cNvPr id="4" name="Shape 2"/>
          <p:cNvSpPr/>
          <p:nvPr/>
        </p:nvSpPr>
        <p:spPr>
          <a:xfrm>
            <a:off x="952500" y="2257425"/>
            <a:ext cx="9260086" cy="28575"/>
          </a:xfrm>
          <a:prstGeom prst="rect">
            <a:avLst/>
          </a:prstGeom>
          <a:solidFill>
            <a:srgbClr val="1B2530"/>
          </a:solidFill>
          <a:ln/>
        </p:spPr>
      </p:sp>
      <p:sp>
        <p:nvSpPr>
          <p:cNvPr id="5" name="Text 3"/>
          <p:cNvSpPr/>
          <p:nvPr/>
        </p:nvSpPr>
        <p:spPr>
          <a:xfrm>
            <a:off x="952500" y="1862138"/>
            <a:ext cx="163449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IBM Plex Mono" pitchFamily="34" charset="0"/>
                <a:ea typeface="IBM Plex Mono" pitchFamily="34" charset="-122"/>
                <a:cs typeface="IBM Plex Mono" pitchFamily="34" charset="-120"/>
              </a:rPr>
              <a:t>NOW · m0–9</a:t>
            </a:r>
            <a:endParaRPr lang="en-US" sz="1950" dirty="0"/>
          </a:p>
        </p:txBody>
      </p:sp>
      <p:sp>
        <p:nvSpPr>
          <p:cNvPr id="6" name="Text 4"/>
          <p:cNvSpPr/>
          <p:nvPr/>
        </p:nvSpPr>
        <p:spPr>
          <a:xfrm>
            <a:off x="2571750" y="1866900"/>
            <a:ext cx="1999729"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the commitment</a:t>
            </a:r>
            <a:endParaRPr lang="en-US" sz="1800" dirty="0"/>
          </a:p>
        </p:txBody>
      </p:sp>
      <p:sp>
        <p:nvSpPr>
          <p:cNvPr id="7" name="Shape 5"/>
          <p:cNvSpPr/>
          <p:nvPr/>
        </p:nvSpPr>
        <p:spPr>
          <a:xfrm>
            <a:off x="10269736" y="2257425"/>
            <a:ext cx="4601617" cy="28575"/>
          </a:xfrm>
          <a:prstGeom prst="rect">
            <a:avLst/>
          </a:prstGeom>
          <a:solidFill>
            <a:srgbClr val="B97417"/>
          </a:solidFill>
          <a:ln/>
        </p:spPr>
      </p:sp>
      <p:sp>
        <p:nvSpPr>
          <p:cNvPr id="8" name="Text 6"/>
          <p:cNvSpPr/>
          <p:nvPr/>
        </p:nvSpPr>
        <p:spPr>
          <a:xfrm>
            <a:off x="10269736" y="1862138"/>
            <a:ext cx="2124968"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B97417"/>
                </a:solidFill>
                <a:latin typeface="IBM Plex Mono" pitchFamily="34" charset="0"/>
                <a:ea typeface="IBM Plex Mono" pitchFamily="34" charset="-122"/>
                <a:cs typeface="IBM Plex Mono" pitchFamily="34" charset="-120"/>
              </a:rPr>
              <a:t>NEXT · m10–13</a:t>
            </a:r>
            <a:endParaRPr lang="en-US" sz="1950" dirty="0"/>
          </a:p>
        </p:txBody>
      </p:sp>
      <p:sp>
        <p:nvSpPr>
          <p:cNvPr id="9" name="Text 7"/>
          <p:cNvSpPr/>
          <p:nvPr/>
        </p:nvSpPr>
        <p:spPr>
          <a:xfrm>
            <a:off x="12334875" y="1866900"/>
            <a:ext cx="1364531" cy="352425"/>
          </a:xfrm>
          <a:prstGeom prst="rect">
            <a:avLst/>
          </a:prstGeom>
          <a:noFill/>
          <a:ln/>
        </p:spPr>
        <p:txBody>
          <a:bodyPr wrap="square" lIns="25400" tIns="25400" rIns="25400" bIns="25400" rtlCol="0" anchor="t">
            <a:normAutofit/>
          </a:bodyPr>
          <a:lstStyle/>
          <a:p>
            <a:pPr algn="l" indent="0" marL="0">
              <a:buNone/>
            </a:pPr>
            <a:r>
              <a:rPr lang="en-US" sz="1800" i="1" dirty="0">
                <a:solidFill>
                  <a:srgbClr val="5B6873"/>
                </a:solidFill>
                <a:latin typeface="Source Serif 4" pitchFamily="34" charset="0"/>
                <a:ea typeface="Source Serif 4" pitchFamily="34" charset="-122"/>
                <a:cs typeface="Source Serif 4" pitchFamily="34" charset="-120"/>
              </a:rPr>
              <a:t>via the gate</a:t>
            </a:r>
            <a:endParaRPr lang="en-US" sz="1800" dirty="0"/>
          </a:p>
        </p:txBody>
      </p:sp>
      <p:sp>
        <p:nvSpPr>
          <p:cNvPr id="10" name="Shape 8"/>
          <p:cNvSpPr/>
          <p:nvPr/>
        </p:nvSpPr>
        <p:spPr>
          <a:xfrm>
            <a:off x="14928503" y="2257425"/>
            <a:ext cx="2406848" cy="28575"/>
          </a:xfrm>
          <a:prstGeom prst="rect">
            <a:avLst/>
          </a:prstGeom>
          <a:solidFill>
            <a:srgbClr val="B9C2AC"/>
          </a:solidFill>
          <a:ln/>
        </p:spPr>
      </p:sp>
      <p:sp>
        <p:nvSpPr>
          <p:cNvPr id="11" name="Text 9"/>
          <p:cNvSpPr/>
          <p:nvPr/>
        </p:nvSpPr>
        <p:spPr>
          <a:xfrm>
            <a:off x="14928503" y="1862138"/>
            <a:ext cx="2288351"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5B6873"/>
                </a:solidFill>
                <a:latin typeface="IBM Plex Mono" pitchFamily="34" charset="0"/>
                <a:ea typeface="IBM Plex Mono" pitchFamily="34" charset="-122"/>
                <a:cs typeface="IBM Plex Mono" pitchFamily="34" charset="-120"/>
              </a:rPr>
              <a:t>HORIZON · m13+</a:t>
            </a:r>
            <a:endParaRPr lang="en-US" sz="1950" dirty="0"/>
          </a:p>
        </p:txBody>
      </p:sp>
      <p:sp>
        <p:nvSpPr>
          <p:cNvPr id="12" name="Shape 10"/>
          <p:cNvSpPr/>
          <p:nvPr/>
        </p:nvSpPr>
        <p:spPr>
          <a:xfrm>
            <a:off x="1000125" y="2324100"/>
            <a:ext cx="1457623" cy="2971800"/>
          </a:xfrm>
          <a:prstGeom prst="roundRect">
            <a:avLst>
              <a:gd name="adj" fmla="val 6535"/>
            </a:avLst>
          </a:prstGeom>
          <a:solidFill>
            <a:srgbClr val="FDFDFB"/>
          </a:solidFill>
          <a:ln w="9525">
            <a:solidFill>
              <a:srgbClr val="D9DED7"/>
            </a:solidFill>
            <a:prstDash val="solid"/>
          </a:ln>
        </p:spPr>
      </p:sp>
      <p:sp>
        <p:nvSpPr>
          <p:cNvPr id="13" name="Text 11"/>
          <p:cNvSpPr/>
          <p:nvPr/>
        </p:nvSpPr>
        <p:spPr>
          <a:xfrm>
            <a:off x="1143000" y="24479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 · m0–1</a:t>
            </a:r>
            <a:endParaRPr lang="en-US" sz="1800" dirty="0"/>
          </a:p>
        </p:txBody>
      </p:sp>
      <p:sp>
        <p:nvSpPr>
          <p:cNvPr id="14" name="Text 12"/>
          <p:cNvSpPr/>
          <p:nvPr/>
        </p:nvSpPr>
        <p:spPr>
          <a:xfrm>
            <a:off x="1143000" y="3105150"/>
            <a:ext cx="1248073" cy="21050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Teams formed; enterprise registry confirmed as naming authority</a:t>
            </a:r>
            <a:endParaRPr lang="en-US" sz="1800" dirty="0"/>
          </a:p>
        </p:txBody>
      </p:sp>
      <p:sp>
        <p:nvSpPr>
          <p:cNvPr id="15" name="Shape 13"/>
          <p:cNvSpPr/>
          <p:nvPr/>
        </p:nvSpPr>
        <p:spPr>
          <a:xfrm>
            <a:off x="4105870" y="2924175"/>
            <a:ext cx="1457623" cy="2371725"/>
          </a:xfrm>
          <a:prstGeom prst="roundRect">
            <a:avLst>
              <a:gd name="adj" fmla="val 6535"/>
            </a:avLst>
          </a:prstGeom>
          <a:solidFill>
            <a:srgbClr val="FDFDFB"/>
          </a:solidFill>
          <a:ln w="9525">
            <a:solidFill>
              <a:srgbClr val="D9DED7"/>
            </a:solidFill>
            <a:prstDash val="solid"/>
          </a:ln>
        </p:spPr>
      </p:sp>
      <p:sp>
        <p:nvSpPr>
          <p:cNvPr id="16" name="Text 14"/>
          <p:cNvSpPr/>
          <p:nvPr/>
        </p:nvSpPr>
        <p:spPr>
          <a:xfrm>
            <a:off x="4248745" y="3048000"/>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M2 · m4</a:t>
            </a:r>
            <a:endParaRPr lang="en-US" sz="1800" dirty="0"/>
          </a:p>
        </p:txBody>
      </p:sp>
      <p:sp>
        <p:nvSpPr>
          <p:cNvPr id="17" name="Text 15"/>
          <p:cNvSpPr/>
          <p:nvPr/>
        </p:nvSpPr>
        <p:spPr>
          <a:xfrm>
            <a:off x="4248745" y="3400425"/>
            <a:ext cx="1248073"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At-rest checks learn "normal" from history</a:t>
            </a:r>
            <a:endParaRPr lang="en-US" sz="1800" dirty="0"/>
          </a:p>
        </p:txBody>
      </p:sp>
      <p:sp>
        <p:nvSpPr>
          <p:cNvPr id="18" name="Shape 16"/>
          <p:cNvSpPr/>
          <p:nvPr/>
        </p:nvSpPr>
        <p:spPr>
          <a:xfrm>
            <a:off x="7211616" y="2619375"/>
            <a:ext cx="1457623" cy="2676525"/>
          </a:xfrm>
          <a:prstGeom prst="roundRect">
            <a:avLst>
              <a:gd name="adj" fmla="val 6535"/>
            </a:avLst>
          </a:prstGeom>
          <a:solidFill>
            <a:srgbClr val="FDFDFB"/>
          </a:solidFill>
          <a:ln w="9525">
            <a:solidFill>
              <a:srgbClr val="D9DED7"/>
            </a:solidFill>
            <a:prstDash val="solid"/>
          </a:ln>
        </p:spPr>
      </p:sp>
      <p:sp>
        <p:nvSpPr>
          <p:cNvPr id="19" name="Text 17"/>
          <p:cNvSpPr/>
          <p:nvPr/>
        </p:nvSpPr>
        <p:spPr>
          <a:xfrm>
            <a:off x="7354491" y="274320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M4 · m6–7</a:t>
            </a:r>
            <a:endParaRPr lang="en-US" sz="1800" dirty="0"/>
          </a:p>
        </p:txBody>
      </p:sp>
      <p:sp>
        <p:nvSpPr>
          <p:cNvPr id="20" name="Text 18"/>
          <p:cNvSpPr/>
          <p:nvPr/>
        </p:nvSpPr>
        <p:spPr>
          <a:xfrm>
            <a:off x="7354491" y="3400425"/>
            <a:ext cx="1248073"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Graph joins deploys to checks; blast radius live</a:t>
            </a:r>
            <a:endParaRPr lang="en-US" sz="1800" dirty="0"/>
          </a:p>
        </p:txBody>
      </p:sp>
      <p:sp>
        <p:nvSpPr>
          <p:cNvPr id="21" name="Shape 19"/>
          <p:cNvSpPr/>
          <p:nvPr/>
        </p:nvSpPr>
        <p:spPr>
          <a:xfrm>
            <a:off x="10317361" y="3209925"/>
            <a:ext cx="1457623" cy="2085975"/>
          </a:xfrm>
          <a:prstGeom prst="roundRect">
            <a:avLst>
              <a:gd name="adj" fmla="val 6535"/>
            </a:avLst>
          </a:prstGeom>
          <a:solidFill>
            <a:srgbClr val="FDFDFB"/>
          </a:solidFill>
          <a:ln w="9525">
            <a:solidFill>
              <a:srgbClr val="D9DED7"/>
            </a:solidFill>
            <a:prstDash val="solid"/>
          </a:ln>
        </p:spPr>
      </p:sp>
      <p:sp>
        <p:nvSpPr>
          <p:cNvPr id="22" name="Text 20"/>
          <p:cNvSpPr/>
          <p:nvPr/>
        </p:nvSpPr>
        <p:spPr>
          <a:xfrm>
            <a:off x="10460236" y="3333750"/>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M6 · m10–11</a:t>
            </a:r>
            <a:endParaRPr lang="en-US" sz="1800" dirty="0"/>
          </a:p>
        </p:txBody>
      </p:sp>
      <p:sp>
        <p:nvSpPr>
          <p:cNvPr id="23" name="Text 21"/>
          <p:cNvSpPr/>
          <p:nvPr/>
        </p:nvSpPr>
        <p:spPr>
          <a:xfrm>
            <a:off x="10460236" y="3990975"/>
            <a:ext cx="1248073" cy="121920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First producer-accepted contract</a:t>
            </a:r>
            <a:endParaRPr lang="en-US" sz="1800" dirty="0"/>
          </a:p>
        </p:txBody>
      </p:sp>
      <p:sp>
        <p:nvSpPr>
          <p:cNvPr id="24" name="Shape 22"/>
          <p:cNvSpPr/>
          <p:nvPr/>
        </p:nvSpPr>
        <p:spPr>
          <a:xfrm>
            <a:off x="13423106" y="2619375"/>
            <a:ext cx="1457771" cy="2676525"/>
          </a:xfrm>
          <a:prstGeom prst="roundRect">
            <a:avLst>
              <a:gd name="adj" fmla="val 6534"/>
            </a:avLst>
          </a:prstGeom>
          <a:solidFill>
            <a:srgbClr val="FDFDFB"/>
          </a:solidFill>
          <a:ln w="9525">
            <a:solidFill>
              <a:srgbClr val="D9DED7"/>
            </a:solidFill>
            <a:prstDash val="solid"/>
          </a:ln>
        </p:spPr>
      </p:sp>
      <p:sp>
        <p:nvSpPr>
          <p:cNvPr id="25" name="Text 23"/>
          <p:cNvSpPr/>
          <p:nvPr/>
        </p:nvSpPr>
        <p:spPr>
          <a:xfrm>
            <a:off x="13565981" y="2743200"/>
            <a:ext cx="1248221"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M8 · m12–13</a:t>
            </a:r>
            <a:endParaRPr lang="en-US" sz="1800" dirty="0"/>
          </a:p>
        </p:txBody>
      </p:sp>
      <p:sp>
        <p:nvSpPr>
          <p:cNvPr id="26" name="Text 24"/>
          <p:cNvSpPr/>
          <p:nvPr/>
        </p:nvSpPr>
        <p:spPr>
          <a:xfrm>
            <a:off x="13565981" y="3400425"/>
            <a:ext cx="1248221" cy="18097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UC2 onboards on the paved road: 6 wks → 2</a:t>
            </a:r>
            <a:endParaRPr lang="en-US" sz="1800" dirty="0"/>
          </a:p>
        </p:txBody>
      </p:sp>
      <p:sp>
        <p:nvSpPr>
          <p:cNvPr id="27" name="Shape 25"/>
          <p:cNvSpPr/>
          <p:nvPr/>
        </p:nvSpPr>
        <p:spPr>
          <a:xfrm>
            <a:off x="952500" y="5581650"/>
            <a:ext cx="690711" cy="38100"/>
          </a:xfrm>
          <a:prstGeom prst="rect">
            <a:avLst/>
          </a:prstGeom>
          <a:solidFill>
            <a:srgbClr val="C7CEC6"/>
          </a:solidFill>
          <a:ln/>
        </p:spPr>
      </p:sp>
      <p:sp>
        <p:nvSpPr>
          <p:cNvPr id="28" name="Shape 26"/>
          <p:cNvSpPr/>
          <p:nvPr/>
        </p:nvSpPr>
        <p:spPr>
          <a:xfrm>
            <a:off x="1643211" y="5514975"/>
            <a:ext cx="171450" cy="171450"/>
          </a:xfrm>
          <a:prstGeom prst="ellipse">
            <a:avLst/>
          </a:prstGeom>
          <a:solidFill>
            <a:srgbClr val="0E7C6B"/>
          </a:solidFill>
          <a:ln/>
        </p:spPr>
      </p:sp>
      <p:sp>
        <p:nvSpPr>
          <p:cNvPr id="29" name="Shape 27"/>
          <p:cNvSpPr/>
          <p:nvPr/>
        </p:nvSpPr>
        <p:spPr>
          <a:xfrm>
            <a:off x="1814661" y="5581650"/>
            <a:ext cx="690711" cy="38100"/>
          </a:xfrm>
          <a:prstGeom prst="rect">
            <a:avLst/>
          </a:prstGeom>
          <a:solidFill>
            <a:srgbClr val="C7CEC6"/>
          </a:solidFill>
          <a:ln/>
        </p:spPr>
      </p:sp>
      <p:sp>
        <p:nvSpPr>
          <p:cNvPr id="30" name="Shape 28"/>
          <p:cNvSpPr/>
          <p:nvPr/>
        </p:nvSpPr>
        <p:spPr>
          <a:xfrm>
            <a:off x="2505373" y="5581650"/>
            <a:ext cx="690711" cy="38100"/>
          </a:xfrm>
          <a:prstGeom prst="rect">
            <a:avLst/>
          </a:prstGeom>
          <a:solidFill>
            <a:srgbClr val="C7CEC6"/>
          </a:solidFill>
          <a:ln/>
        </p:spPr>
      </p:sp>
      <p:sp>
        <p:nvSpPr>
          <p:cNvPr id="31" name="Shape 29"/>
          <p:cNvSpPr/>
          <p:nvPr/>
        </p:nvSpPr>
        <p:spPr>
          <a:xfrm>
            <a:off x="3196084" y="5514975"/>
            <a:ext cx="171450" cy="171450"/>
          </a:xfrm>
          <a:prstGeom prst="ellipse">
            <a:avLst/>
          </a:prstGeom>
          <a:solidFill>
            <a:srgbClr val="0E7C6B"/>
          </a:solidFill>
          <a:ln/>
        </p:spPr>
      </p:sp>
      <p:sp>
        <p:nvSpPr>
          <p:cNvPr id="32" name="Shape 30"/>
          <p:cNvSpPr/>
          <p:nvPr/>
        </p:nvSpPr>
        <p:spPr>
          <a:xfrm>
            <a:off x="3367534" y="5581650"/>
            <a:ext cx="690711" cy="38100"/>
          </a:xfrm>
          <a:prstGeom prst="rect">
            <a:avLst/>
          </a:prstGeom>
          <a:solidFill>
            <a:srgbClr val="C7CEC6"/>
          </a:solidFill>
          <a:ln/>
        </p:spPr>
      </p:sp>
      <p:sp>
        <p:nvSpPr>
          <p:cNvPr id="33" name="Shape 31"/>
          <p:cNvSpPr/>
          <p:nvPr/>
        </p:nvSpPr>
        <p:spPr>
          <a:xfrm>
            <a:off x="4058245" y="5581650"/>
            <a:ext cx="690711" cy="38100"/>
          </a:xfrm>
          <a:prstGeom prst="rect">
            <a:avLst/>
          </a:prstGeom>
          <a:solidFill>
            <a:srgbClr val="C7CEC6"/>
          </a:solidFill>
          <a:ln/>
        </p:spPr>
      </p:sp>
      <p:sp>
        <p:nvSpPr>
          <p:cNvPr id="34" name="Shape 32"/>
          <p:cNvSpPr/>
          <p:nvPr/>
        </p:nvSpPr>
        <p:spPr>
          <a:xfrm>
            <a:off x="4748957" y="5514975"/>
            <a:ext cx="171450" cy="171450"/>
          </a:xfrm>
          <a:prstGeom prst="ellipse">
            <a:avLst/>
          </a:prstGeom>
          <a:solidFill>
            <a:srgbClr val="0E7C6B"/>
          </a:solidFill>
          <a:ln/>
        </p:spPr>
      </p:sp>
      <p:sp>
        <p:nvSpPr>
          <p:cNvPr id="35" name="Shape 33"/>
          <p:cNvSpPr/>
          <p:nvPr/>
        </p:nvSpPr>
        <p:spPr>
          <a:xfrm>
            <a:off x="4920407" y="5581650"/>
            <a:ext cx="690711" cy="38100"/>
          </a:xfrm>
          <a:prstGeom prst="rect">
            <a:avLst/>
          </a:prstGeom>
          <a:solidFill>
            <a:srgbClr val="C7CEC6"/>
          </a:solidFill>
          <a:ln/>
        </p:spPr>
      </p:sp>
      <p:sp>
        <p:nvSpPr>
          <p:cNvPr id="36" name="Shape 34"/>
          <p:cNvSpPr/>
          <p:nvPr/>
        </p:nvSpPr>
        <p:spPr>
          <a:xfrm>
            <a:off x="5611118" y="5581650"/>
            <a:ext cx="690711" cy="38100"/>
          </a:xfrm>
          <a:prstGeom prst="rect">
            <a:avLst/>
          </a:prstGeom>
          <a:solidFill>
            <a:srgbClr val="C7CEC6"/>
          </a:solidFill>
          <a:ln/>
        </p:spPr>
      </p:sp>
      <p:sp>
        <p:nvSpPr>
          <p:cNvPr id="37" name="Shape 35"/>
          <p:cNvSpPr/>
          <p:nvPr/>
        </p:nvSpPr>
        <p:spPr>
          <a:xfrm>
            <a:off x="6301829" y="5514975"/>
            <a:ext cx="171450" cy="171450"/>
          </a:xfrm>
          <a:prstGeom prst="ellipse">
            <a:avLst/>
          </a:prstGeom>
          <a:solidFill>
            <a:srgbClr val="0E7C6B"/>
          </a:solidFill>
          <a:ln/>
        </p:spPr>
      </p:sp>
      <p:sp>
        <p:nvSpPr>
          <p:cNvPr id="38" name="Shape 36"/>
          <p:cNvSpPr/>
          <p:nvPr/>
        </p:nvSpPr>
        <p:spPr>
          <a:xfrm>
            <a:off x="6473279" y="5581650"/>
            <a:ext cx="690711" cy="38100"/>
          </a:xfrm>
          <a:prstGeom prst="rect">
            <a:avLst/>
          </a:prstGeom>
          <a:solidFill>
            <a:srgbClr val="C7CEC6"/>
          </a:solidFill>
          <a:ln/>
        </p:spPr>
      </p:sp>
      <p:sp>
        <p:nvSpPr>
          <p:cNvPr id="39" name="Shape 37"/>
          <p:cNvSpPr/>
          <p:nvPr/>
        </p:nvSpPr>
        <p:spPr>
          <a:xfrm>
            <a:off x="7163991" y="5581650"/>
            <a:ext cx="690711" cy="38100"/>
          </a:xfrm>
          <a:prstGeom prst="rect">
            <a:avLst/>
          </a:prstGeom>
          <a:solidFill>
            <a:srgbClr val="C7CEC6"/>
          </a:solidFill>
          <a:ln/>
        </p:spPr>
      </p:sp>
      <p:sp>
        <p:nvSpPr>
          <p:cNvPr id="40" name="Shape 38"/>
          <p:cNvSpPr/>
          <p:nvPr/>
        </p:nvSpPr>
        <p:spPr>
          <a:xfrm>
            <a:off x="7854702" y="5514975"/>
            <a:ext cx="171450" cy="171450"/>
          </a:xfrm>
          <a:prstGeom prst="ellipse">
            <a:avLst/>
          </a:prstGeom>
          <a:solidFill>
            <a:srgbClr val="0E7C6B"/>
          </a:solidFill>
          <a:ln/>
        </p:spPr>
      </p:sp>
      <p:sp>
        <p:nvSpPr>
          <p:cNvPr id="41" name="Shape 39"/>
          <p:cNvSpPr/>
          <p:nvPr/>
        </p:nvSpPr>
        <p:spPr>
          <a:xfrm>
            <a:off x="8026152" y="5581650"/>
            <a:ext cx="690711" cy="38100"/>
          </a:xfrm>
          <a:prstGeom prst="rect">
            <a:avLst/>
          </a:prstGeom>
          <a:solidFill>
            <a:srgbClr val="C7CEC6"/>
          </a:solidFill>
          <a:ln/>
        </p:spPr>
      </p:sp>
      <p:sp>
        <p:nvSpPr>
          <p:cNvPr id="42" name="Shape 40"/>
          <p:cNvSpPr/>
          <p:nvPr/>
        </p:nvSpPr>
        <p:spPr>
          <a:xfrm>
            <a:off x="8716863" y="5581650"/>
            <a:ext cx="652611" cy="38100"/>
          </a:xfrm>
          <a:prstGeom prst="rect">
            <a:avLst/>
          </a:prstGeom>
          <a:solidFill>
            <a:srgbClr val="E8D9BD"/>
          </a:solidFill>
          <a:ln/>
        </p:spPr>
      </p:sp>
      <p:sp>
        <p:nvSpPr>
          <p:cNvPr id="43" name="Shape 41"/>
          <p:cNvSpPr/>
          <p:nvPr/>
        </p:nvSpPr>
        <p:spPr>
          <a:xfrm rot="2700000">
            <a:off x="9369475" y="5476875"/>
            <a:ext cx="247650" cy="247650"/>
          </a:xfrm>
          <a:prstGeom prst="roundRect">
            <a:avLst>
              <a:gd name="adj" fmla="val 15385"/>
            </a:avLst>
          </a:prstGeom>
          <a:solidFill>
            <a:srgbClr val="B97417"/>
          </a:solidFill>
          <a:ln/>
        </p:spPr>
      </p:sp>
      <p:sp>
        <p:nvSpPr>
          <p:cNvPr id="44" name="Shape 42"/>
          <p:cNvSpPr/>
          <p:nvPr/>
        </p:nvSpPr>
        <p:spPr>
          <a:xfrm>
            <a:off x="9617125" y="5581650"/>
            <a:ext cx="652611" cy="38100"/>
          </a:xfrm>
          <a:prstGeom prst="rect">
            <a:avLst/>
          </a:prstGeom>
          <a:solidFill>
            <a:srgbClr val="E8D9BD"/>
          </a:solidFill>
          <a:ln/>
        </p:spPr>
      </p:sp>
      <p:sp>
        <p:nvSpPr>
          <p:cNvPr id="45" name="Shape 43"/>
          <p:cNvSpPr/>
          <p:nvPr/>
        </p:nvSpPr>
        <p:spPr>
          <a:xfrm>
            <a:off x="10269736" y="5581650"/>
            <a:ext cx="690711" cy="38100"/>
          </a:xfrm>
          <a:prstGeom prst="rect">
            <a:avLst/>
          </a:prstGeom>
          <a:solidFill>
            <a:srgbClr val="E8D9BD"/>
          </a:solidFill>
          <a:ln/>
        </p:spPr>
      </p:sp>
      <p:sp>
        <p:nvSpPr>
          <p:cNvPr id="46" name="Shape 44"/>
          <p:cNvSpPr/>
          <p:nvPr/>
        </p:nvSpPr>
        <p:spPr>
          <a:xfrm>
            <a:off x="10960447" y="5514975"/>
            <a:ext cx="171450" cy="171450"/>
          </a:xfrm>
          <a:prstGeom prst="ellipse">
            <a:avLst/>
          </a:prstGeom>
          <a:solidFill>
            <a:srgbClr val="FDFDFB"/>
          </a:solidFill>
          <a:ln w="38100">
            <a:solidFill>
              <a:srgbClr val="B97417"/>
            </a:solidFill>
            <a:prstDash val="solid"/>
          </a:ln>
        </p:spPr>
      </p:sp>
      <p:sp>
        <p:nvSpPr>
          <p:cNvPr id="47" name="Shape 45"/>
          <p:cNvSpPr/>
          <p:nvPr/>
        </p:nvSpPr>
        <p:spPr>
          <a:xfrm>
            <a:off x="11131897" y="5581650"/>
            <a:ext cx="690711" cy="38100"/>
          </a:xfrm>
          <a:prstGeom prst="rect">
            <a:avLst/>
          </a:prstGeom>
          <a:solidFill>
            <a:srgbClr val="E8D9BD"/>
          </a:solidFill>
          <a:ln/>
        </p:spPr>
      </p:sp>
      <p:sp>
        <p:nvSpPr>
          <p:cNvPr id="48" name="Shape 46"/>
          <p:cNvSpPr/>
          <p:nvPr/>
        </p:nvSpPr>
        <p:spPr>
          <a:xfrm>
            <a:off x="11822609" y="5581650"/>
            <a:ext cx="690711" cy="38100"/>
          </a:xfrm>
          <a:prstGeom prst="rect">
            <a:avLst/>
          </a:prstGeom>
          <a:solidFill>
            <a:srgbClr val="E8D9BD"/>
          </a:solidFill>
          <a:ln/>
        </p:spPr>
      </p:sp>
      <p:sp>
        <p:nvSpPr>
          <p:cNvPr id="49" name="Shape 47"/>
          <p:cNvSpPr/>
          <p:nvPr/>
        </p:nvSpPr>
        <p:spPr>
          <a:xfrm>
            <a:off x="12513320" y="5514975"/>
            <a:ext cx="171450" cy="171450"/>
          </a:xfrm>
          <a:prstGeom prst="ellipse">
            <a:avLst/>
          </a:prstGeom>
          <a:solidFill>
            <a:srgbClr val="FDFDFB"/>
          </a:solidFill>
          <a:ln w="38100">
            <a:solidFill>
              <a:srgbClr val="B97417"/>
            </a:solidFill>
            <a:prstDash val="solid"/>
          </a:ln>
        </p:spPr>
      </p:sp>
      <p:sp>
        <p:nvSpPr>
          <p:cNvPr id="50" name="Shape 48"/>
          <p:cNvSpPr/>
          <p:nvPr/>
        </p:nvSpPr>
        <p:spPr>
          <a:xfrm>
            <a:off x="12684770" y="5581650"/>
            <a:ext cx="690711" cy="38100"/>
          </a:xfrm>
          <a:prstGeom prst="rect">
            <a:avLst/>
          </a:prstGeom>
          <a:solidFill>
            <a:srgbClr val="E8D9BD"/>
          </a:solidFill>
          <a:ln/>
        </p:spPr>
      </p:sp>
      <p:sp>
        <p:nvSpPr>
          <p:cNvPr id="51" name="Shape 49"/>
          <p:cNvSpPr/>
          <p:nvPr/>
        </p:nvSpPr>
        <p:spPr>
          <a:xfrm>
            <a:off x="13375481" y="5581650"/>
            <a:ext cx="690860" cy="38100"/>
          </a:xfrm>
          <a:prstGeom prst="rect">
            <a:avLst/>
          </a:prstGeom>
          <a:solidFill>
            <a:srgbClr val="E8D9BD"/>
          </a:solidFill>
          <a:ln/>
        </p:spPr>
      </p:sp>
      <p:sp>
        <p:nvSpPr>
          <p:cNvPr id="52" name="Shape 50"/>
          <p:cNvSpPr/>
          <p:nvPr/>
        </p:nvSpPr>
        <p:spPr>
          <a:xfrm>
            <a:off x="14066341" y="5514975"/>
            <a:ext cx="171450" cy="171450"/>
          </a:xfrm>
          <a:prstGeom prst="ellipse">
            <a:avLst/>
          </a:prstGeom>
          <a:solidFill>
            <a:srgbClr val="FDFDFB"/>
          </a:solidFill>
          <a:ln w="38100">
            <a:solidFill>
              <a:srgbClr val="B97417"/>
            </a:solidFill>
            <a:prstDash val="solid"/>
          </a:ln>
        </p:spPr>
      </p:sp>
      <p:sp>
        <p:nvSpPr>
          <p:cNvPr id="53" name="Shape 51"/>
          <p:cNvSpPr/>
          <p:nvPr/>
        </p:nvSpPr>
        <p:spPr>
          <a:xfrm>
            <a:off x="14237791" y="5581650"/>
            <a:ext cx="690860" cy="38100"/>
          </a:xfrm>
          <a:prstGeom prst="rect">
            <a:avLst/>
          </a:prstGeom>
          <a:solidFill>
            <a:srgbClr val="E8D9BD"/>
          </a:solidFill>
          <a:ln/>
        </p:spPr>
      </p:sp>
      <p:sp>
        <p:nvSpPr>
          <p:cNvPr id="54" name="Shape 52"/>
          <p:cNvSpPr/>
          <p:nvPr/>
        </p:nvSpPr>
        <p:spPr>
          <a:xfrm>
            <a:off x="14928503" y="5581650"/>
            <a:ext cx="2406848" cy="38100"/>
          </a:xfrm>
          <a:prstGeom prst="rect">
            <a:avLst/>
          </a:prstGeom>
          <a:solidFill>
            <a:srgbClr val="C7CEC6"/>
          </a:solidFill>
          <a:ln/>
        </p:spPr>
      </p:sp>
      <p:sp>
        <p:nvSpPr>
          <p:cNvPr id="55" name="Shape 53"/>
          <p:cNvSpPr/>
          <p:nvPr/>
        </p:nvSpPr>
        <p:spPr>
          <a:xfrm>
            <a:off x="2552998" y="5905500"/>
            <a:ext cx="1457623" cy="2076450"/>
          </a:xfrm>
          <a:prstGeom prst="roundRect">
            <a:avLst>
              <a:gd name="adj" fmla="val 6535"/>
            </a:avLst>
          </a:prstGeom>
          <a:solidFill>
            <a:srgbClr val="FDFDFB"/>
          </a:solidFill>
          <a:ln w="9525">
            <a:solidFill>
              <a:srgbClr val="D9DED7"/>
            </a:solidFill>
            <a:prstDash val="solid"/>
          </a:ln>
        </p:spPr>
      </p:sp>
      <p:sp>
        <p:nvSpPr>
          <p:cNvPr id="56" name="Text 54"/>
          <p:cNvSpPr/>
          <p:nvPr/>
        </p:nvSpPr>
        <p:spPr>
          <a:xfrm>
            <a:off x="2695873" y="6029325"/>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 · m3</a:t>
            </a:r>
            <a:endParaRPr lang="en-US" sz="1800" dirty="0"/>
          </a:p>
        </p:txBody>
      </p:sp>
      <p:sp>
        <p:nvSpPr>
          <p:cNvPr id="57" name="Text 55"/>
          <p:cNvSpPr/>
          <p:nvPr/>
        </p:nvSpPr>
        <p:spPr>
          <a:xfrm>
            <a:off x="2695873" y="63817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 + registry live; baseline map done</a:t>
            </a:r>
            <a:endParaRPr lang="en-US" sz="1800" dirty="0"/>
          </a:p>
        </p:txBody>
      </p:sp>
      <p:sp>
        <p:nvSpPr>
          <p:cNvPr id="58" name="Shape 56"/>
          <p:cNvSpPr/>
          <p:nvPr/>
        </p:nvSpPr>
        <p:spPr>
          <a:xfrm>
            <a:off x="5658743" y="5905500"/>
            <a:ext cx="1457623" cy="2076450"/>
          </a:xfrm>
          <a:prstGeom prst="roundRect">
            <a:avLst>
              <a:gd name="adj" fmla="val 6535"/>
            </a:avLst>
          </a:prstGeom>
          <a:solidFill>
            <a:srgbClr val="FDFDFB"/>
          </a:solidFill>
          <a:ln w="9525">
            <a:solidFill>
              <a:srgbClr val="D9DED7"/>
            </a:solidFill>
            <a:prstDash val="solid"/>
          </a:ln>
        </p:spPr>
      </p:sp>
      <p:sp>
        <p:nvSpPr>
          <p:cNvPr id="59" name="Text 57"/>
          <p:cNvSpPr/>
          <p:nvPr/>
        </p:nvSpPr>
        <p:spPr>
          <a:xfrm>
            <a:off x="5801618" y="6029325"/>
            <a:ext cx="1248073"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M3 · m5</a:t>
            </a:r>
            <a:endParaRPr lang="en-US" sz="1800" dirty="0"/>
          </a:p>
        </p:txBody>
      </p:sp>
      <p:sp>
        <p:nvSpPr>
          <p:cNvPr id="60" name="Text 58"/>
          <p:cNvSpPr/>
          <p:nvPr/>
        </p:nvSpPr>
        <p:spPr>
          <a:xfrm>
            <a:off x="5801618" y="63817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Streaming checks + live map; incident replayed</a:t>
            </a:r>
            <a:endParaRPr lang="en-US" sz="1800" dirty="0"/>
          </a:p>
        </p:txBody>
      </p:sp>
      <p:sp>
        <p:nvSpPr>
          <p:cNvPr id="61" name="Shape 59"/>
          <p:cNvSpPr/>
          <p:nvPr/>
        </p:nvSpPr>
        <p:spPr>
          <a:xfrm>
            <a:off x="8764488" y="5905500"/>
            <a:ext cx="1457623" cy="2381250"/>
          </a:xfrm>
          <a:prstGeom prst="roundRect">
            <a:avLst>
              <a:gd name="adj" fmla="val 6535"/>
            </a:avLst>
          </a:prstGeom>
          <a:solidFill>
            <a:srgbClr val="B97417"/>
          </a:solidFill>
          <a:ln w="9525">
            <a:solidFill>
              <a:srgbClr val="B97417"/>
            </a:solidFill>
            <a:prstDash val="solid"/>
          </a:ln>
        </p:spPr>
      </p:sp>
      <p:sp>
        <p:nvSpPr>
          <p:cNvPr id="62" name="Text 60"/>
          <p:cNvSpPr/>
          <p:nvPr/>
        </p:nvSpPr>
        <p:spPr>
          <a:xfrm>
            <a:off x="8907363" y="60293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IBM Plex Mono" pitchFamily="34" charset="0"/>
                <a:ea typeface="IBM Plex Mono" pitchFamily="34" charset="-122"/>
                <a:cs typeface="IBM Plex Mono" pitchFamily="34" charset="-120"/>
              </a:rPr>
              <a:t>M5 · m8–9</a:t>
            </a:r>
            <a:endParaRPr lang="en-US" sz="1800" dirty="0"/>
          </a:p>
        </p:txBody>
      </p:sp>
      <p:sp>
        <p:nvSpPr>
          <p:cNvPr id="63" name="Text 61"/>
          <p:cNvSpPr/>
          <p:nvPr/>
        </p:nvSpPr>
        <p:spPr>
          <a:xfrm>
            <a:off x="8907363" y="66865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FFF8EE"/>
                </a:solidFill>
                <a:latin typeface="Source Serif 4" pitchFamily="34" charset="0"/>
                <a:ea typeface="Source Serif 4" pitchFamily="34" charset="-122"/>
                <a:cs typeface="Source Serif 4" pitchFamily="34" charset="-120"/>
              </a:rPr>
              <a:t>UC1 live, joined on URN + trace · GO/NO-GO</a:t>
            </a:r>
            <a:endParaRPr lang="en-US" sz="1800" dirty="0"/>
          </a:p>
        </p:txBody>
      </p:sp>
      <p:sp>
        <p:nvSpPr>
          <p:cNvPr id="64" name="Shape 62"/>
          <p:cNvSpPr/>
          <p:nvPr/>
        </p:nvSpPr>
        <p:spPr>
          <a:xfrm>
            <a:off x="11870234" y="5905500"/>
            <a:ext cx="1457623" cy="2381250"/>
          </a:xfrm>
          <a:prstGeom prst="roundRect">
            <a:avLst>
              <a:gd name="adj" fmla="val 6535"/>
            </a:avLst>
          </a:prstGeom>
          <a:solidFill>
            <a:srgbClr val="FDFDFB"/>
          </a:solidFill>
          <a:ln w="9525">
            <a:solidFill>
              <a:srgbClr val="D9DED7"/>
            </a:solidFill>
            <a:prstDash val="solid"/>
          </a:ln>
        </p:spPr>
      </p:sp>
      <p:sp>
        <p:nvSpPr>
          <p:cNvPr id="65" name="Text 63"/>
          <p:cNvSpPr/>
          <p:nvPr/>
        </p:nvSpPr>
        <p:spPr>
          <a:xfrm>
            <a:off x="12013109" y="6029325"/>
            <a:ext cx="1248073" cy="6477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M7 · m11–12</a:t>
            </a:r>
            <a:endParaRPr lang="en-US" sz="1800" dirty="0"/>
          </a:p>
        </p:txBody>
      </p:sp>
      <p:sp>
        <p:nvSpPr>
          <p:cNvPr id="66" name="Text 64"/>
          <p:cNvSpPr/>
          <p:nvPr/>
        </p:nvSpPr>
        <p:spPr>
          <a:xfrm>
            <a:off x="12013109" y="6686550"/>
            <a:ext cx="1248073" cy="151447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Gate's first real block — zero consumer exposure</a:t>
            </a:r>
            <a:endParaRPr lang="en-US" sz="1800" dirty="0"/>
          </a:p>
        </p:txBody>
      </p:sp>
      <p:sp>
        <p:nvSpPr>
          <p:cNvPr id="67" name="Shape 65"/>
          <p:cNvSpPr/>
          <p:nvPr/>
        </p:nvSpPr>
        <p:spPr>
          <a:xfrm>
            <a:off x="14985653" y="5905500"/>
            <a:ext cx="2349698" cy="3724275"/>
          </a:xfrm>
          <a:prstGeom prst="roundRect">
            <a:avLst>
              <a:gd name="adj" fmla="val 4054"/>
            </a:avLst>
          </a:prstGeom>
          <a:solidFill>
            <a:srgbClr val="F6F7F4"/>
          </a:solidFill>
          <a:ln w="9525">
            <a:solidFill>
              <a:srgbClr val="C7CEC6"/>
            </a:solidFill>
            <a:prstDash val="dash"/>
          </a:ln>
        </p:spPr>
      </p:sp>
      <p:sp>
        <p:nvSpPr>
          <p:cNvPr id="68" name="Text 66"/>
          <p:cNvSpPr/>
          <p:nvPr/>
        </p:nvSpPr>
        <p:spPr>
          <a:xfrm>
            <a:off x="15128528" y="6029325"/>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Impact simulation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trust-scored map</a:t>
            </a:r>
            <a:endParaRPr lang="en-US" sz="1800" dirty="0"/>
          </a:p>
        </p:txBody>
      </p:sp>
      <p:sp>
        <p:nvSpPr>
          <p:cNvPr id="69" name="Text 67"/>
          <p:cNvSpPr/>
          <p:nvPr/>
        </p:nvSpPr>
        <p:spPr>
          <a:xfrm>
            <a:off x="15128528" y="6991350"/>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In-path asserts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recurring violation</a:t>
            </a:r>
            <a:endParaRPr lang="en-US" sz="1800" dirty="0"/>
          </a:p>
        </p:txBody>
      </p:sp>
      <p:sp>
        <p:nvSpPr>
          <p:cNvPr id="70" name="Text 68"/>
          <p:cNvSpPr/>
          <p:nvPr/>
        </p:nvSpPr>
        <p:spPr>
          <a:xfrm>
            <a:off x="15128528" y="7953375"/>
            <a:ext cx="2140148" cy="628650"/>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Auto onboarding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two manual UCs</a:t>
            </a:r>
            <a:endParaRPr lang="en-US" sz="1800" dirty="0"/>
          </a:p>
        </p:txBody>
      </p:sp>
      <p:sp>
        <p:nvSpPr>
          <p:cNvPr id="71" name="Text 69"/>
          <p:cNvSpPr/>
          <p:nvPr/>
        </p:nvSpPr>
        <p:spPr>
          <a:xfrm>
            <a:off x="15128528" y="8620125"/>
            <a:ext cx="2140148" cy="923925"/>
          </a:xfrm>
          <a:prstGeom prst="rect">
            <a:avLst/>
          </a:prstGeom>
          <a:noFill/>
          <a:ln/>
        </p:spPr>
        <p:txBody>
          <a:bodyPr wrap="square" lIns="25400" tIns="25400" rIns="25400" bIns="25400" rtlCol="0" anchor="t">
            <a:normAutofit/>
          </a:bodyPr>
          <a:lstStyle/>
          <a:p>
            <a:pPr algn="l" indent="0" marL="0">
              <a:lnSpc>
                <a:spcPct val="94545"/>
              </a:lnSpc>
              <a:buNone/>
            </a:pPr>
            <a:r>
              <a:rPr lang="en-US" sz="1800" dirty="0">
                <a:solidFill>
                  <a:srgbClr val="3D4A55"/>
                </a:solidFill>
                <a:latin typeface="Source Serif 4" pitchFamily="34" charset="0"/>
                <a:ea typeface="Source Serif 4" pitchFamily="34" charset="-122"/>
                <a:cs typeface="Source Serif 4" pitchFamily="34" charset="-120"/>
              </a:rPr>
              <a:t>Column-level lineage </a:t>
            </a:r>
            <a:pPr algn="l" indent="0" marL="0">
              <a:lnSpc>
                <a:spcPct val="94545"/>
              </a:lnSpc>
              <a:buNone/>
            </a:pPr>
            <a:r>
              <a:rPr lang="en-US" sz="1800" dirty="0">
                <a:solidFill>
                  <a:srgbClr val="5B6873"/>
                </a:solidFill>
                <a:latin typeface="Source Serif 4" pitchFamily="34" charset="0"/>
                <a:ea typeface="Source Serif 4" pitchFamily="34" charset="-122"/>
                <a:cs typeface="Source Serif 4" pitchFamily="34" charset="-120"/>
              </a:rPr>
              <a:t>← incidents demand</a:t>
            </a:r>
            <a:endParaRPr lang="en-US" sz="1800" dirty="0"/>
          </a:p>
        </p:txBody>
      </p:sp>
      <p:sp>
        <p:nvSpPr>
          <p:cNvPr id="72" name="Shape 70"/>
          <p:cNvSpPr/>
          <p:nvPr/>
        </p:nvSpPr>
        <p:spPr>
          <a:xfrm>
            <a:off x="952500" y="8896350"/>
            <a:ext cx="16383000" cy="971550"/>
          </a:xfrm>
          <a:prstGeom prst="roundRect">
            <a:avLst>
              <a:gd name="adj" fmla="val 11765"/>
            </a:avLst>
          </a:prstGeom>
          <a:solidFill>
            <a:srgbClr val="F5EAD8"/>
          </a:solidFill>
          <a:ln/>
        </p:spPr>
      </p:sp>
      <p:sp>
        <p:nvSpPr>
          <p:cNvPr id="73" name="Text 71"/>
          <p:cNvSpPr/>
          <p:nvPr/>
        </p:nvSpPr>
        <p:spPr>
          <a:xfrm>
            <a:off x="1257300" y="9058275"/>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B97417"/>
                </a:solidFill>
                <a:latin typeface="IBM Plex Mono" pitchFamily="34" charset="0"/>
                <a:ea typeface="IBM Plex Mono" pitchFamily="34" charset="-122"/>
                <a:cs typeface="IBM Plex Mono" pitchFamily="34" charset="-120"/>
              </a:rPr>
              <a:t>PACING IS HONEST</a:t>
            </a:r>
            <a:endParaRPr lang="en-US" sz="1800" dirty="0"/>
          </a:p>
        </p:txBody>
      </p:sp>
      <p:sp>
        <p:nvSpPr>
          <p:cNvPr id="74" name="Text 72"/>
          <p:cNvSpPr/>
          <p:nvPr/>
        </p:nvSpPr>
        <p:spPr>
          <a:xfrm>
            <a:off x="3973116" y="9048750"/>
            <a:ext cx="13449312"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Baselines need 4–6 weeks of history · contracts need 90 days observed · the gate blocks only after shadow. Each milestone is the demo ending an initiative bar — dates match the parallel-initiatives view.</a:t>
            </a:r>
            <a:endParaRPr lang="en-US" sz="18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ROADMAP</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What is actually ready, when</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same ladder as the north-star slide, per pillar — foundations by month 6 (A1), observing at the month-9 gate (A2), diagnosing at 15 (A3), preventing at 24 (A4).</a:t>
            </a:r>
            <a:endParaRPr lang="en-US" sz="1950" dirty="0"/>
          </a:p>
        </p:txBody>
      </p:sp>
      <p:sp>
        <p:nvSpPr>
          <p:cNvPr id="5" name="Shape 3"/>
          <p:cNvSpPr/>
          <p:nvPr/>
        </p:nvSpPr>
        <p:spPr>
          <a:xfrm>
            <a:off x="952500" y="3371850"/>
            <a:ext cx="3143250" cy="28575"/>
          </a:xfrm>
          <a:prstGeom prst="rect">
            <a:avLst/>
          </a:prstGeom>
          <a:solidFill>
            <a:srgbClr val="1B2530"/>
          </a:solidFill>
          <a:ln/>
        </p:spPr>
      </p:sp>
      <p:sp>
        <p:nvSpPr>
          <p:cNvPr id="6" name="Text 4"/>
          <p:cNvSpPr/>
          <p:nvPr/>
        </p:nvSpPr>
        <p:spPr>
          <a:xfrm>
            <a:off x="952500" y="2990850"/>
            <a:ext cx="2735937"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PILLAR · MISSION</a:t>
            </a:r>
            <a:endParaRPr lang="en-US" sz="1800" dirty="0"/>
          </a:p>
        </p:txBody>
      </p:sp>
      <p:sp>
        <p:nvSpPr>
          <p:cNvPr id="7" name="Shape 5"/>
          <p:cNvSpPr/>
          <p:nvPr/>
        </p:nvSpPr>
        <p:spPr>
          <a:xfrm>
            <a:off x="4095750" y="3371850"/>
            <a:ext cx="3309938" cy="28575"/>
          </a:xfrm>
          <a:prstGeom prst="rect">
            <a:avLst/>
          </a:prstGeom>
          <a:solidFill>
            <a:srgbClr val="1B2530"/>
          </a:solidFill>
          <a:ln/>
        </p:spPr>
      </p:sp>
      <p:sp>
        <p:nvSpPr>
          <p:cNvPr id="8" name="Text 6"/>
          <p:cNvSpPr/>
          <p:nvPr/>
        </p:nvSpPr>
        <p:spPr>
          <a:xfrm>
            <a:off x="4859089"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TODAY · A0–A1</a:t>
            </a:r>
            <a:endParaRPr lang="en-US" sz="1800" dirty="0"/>
          </a:p>
        </p:txBody>
      </p:sp>
      <p:sp>
        <p:nvSpPr>
          <p:cNvPr id="9" name="Text 7"/>
          <p:cNvSpPr/>
          <p:nvPr/>
        </p:nvSpPr>
        <p:spPr>
          <a:xfrm>
            <a:off x="4695974" y="2971800"/>
            <a:ext cx="2320275"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islands / in build</a:t>
            </a:r>
            <a:endParaRPr lang="en-US" sz="2100" dirty="0"/>
          </a:p>
        </p:txBody>
      </p:sp>
      <p:sp>
        <p:nvSpPr>
          <p:cNvPr id="10" name="Shape 8"/>
          <p:cNvSpPr/>
          <p:nvPr/>
        </p:nvSpPr>
        <p:spPr>
          <a:xfrm>
            <a:off x="7405688" y="2571750"/>
            <a:ext cx="3309938" cy="828675"/>
          </a:xfrm>
          <a:prstGeom prst="rect">
            <a:avLst/>
          </a:prstGeom>
          <a:solidFill>
            <a:srgbClr val="FBF3E4"/>
          </a:solidFill>
          <a:ln/>
        </p:spPr>
      </p:sp>
      <p:sp>
        <p:nvSpPr>
          <p:cNvPr id="11" name="Shape 9"/>
          <p:cNvSpPr/>
          <p:nvPr/>
        </p:nvSpPr>
        <p:spPr>
          <a:xfrm>
            <a:off x="7405688" y="3371850"/>
            <a:ext cx="3309938" cy="28575"/>
          </a:xfrm>
          <a:prstGeom prst="rect">
            <a:avLst/>
          </a:prstGeom>
          <a:solidFill>
            <a:srgbClr val="B97417"/>
          </a:solidFill>
          <a:ln/>
        </p:spPr>
      </p:sp>
      <p:sp>
        <p:nvSpPr>
          <p:cNvPr id="12" name="Text 10"/>
          <p:cNvSpPr/>
          <p:nvPr/>
        </p:nvSpPr>
        <p:spPr>
          <a:xfrm>
            <a:off x="7757517" y="2647950"/>
            <a:ext cx="286674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MONTH 9 · GATE · A2</a:t>
            </a:r>
            <a:endParaRPr lang="en-US" sz="1800" dirty="0"/>
          </a:p>
        </p:txBody>
      </p:sp>
      <p:sp>
        <p:nvSpPr>
          <p:cNvPr id="13" name="Text 11"/>
          <p:cNvSpPr/>
          <p:nvPr/>
        </p:nvSpPr>
        <p:spPr>
          <a:xfrm>
            <a:off x="8365778" y="2971800"/>
            <a:ext cx="1528569"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B97417"/>
                </a:solidFill>
                <a:latin typeface="Bricolage Grotesque" pitchFamily="34" charset="0"/>
                <a:ea typeface="Bricolage Grotesque" pitchFamily="34" charset="-122"/>
                <a:cs typeface="Bricolage Grotesque" pitchFamily="34" charset="-120"/>
              </a:rPr>
              <a:t>connected</a:t>
            </a:r>
            <a:endParaRPr lang="en-US" sz="2100" dirty="0"/>
          </a:p>
        </p:txBody>
      </p:sp>
      <p:sp>
        <p:nvSpPr>
          <p:cNvPr id="14" name="Shape 12"/>
          <p:cNvSpPr/>
          <p:nvPr/>
        </p:nvSpPr>
        <p:spPr>
          <a:xfrm>
            <a:off x="10715625" y="3371850"/>
            <a:ext cx="3309938" cy="28575"/>
          </a:xfrm>
          <a:prstGeom prst="rect">
            <a:avLst/>
          </a:prstGeom>
          <a:solidFill>
            <a:srgbClr val="1B2530"/>
          </a:solidFill>
          <a:ln/>
        </p:spPr>
      </p:sp>
      <p:sp>
        <p:nvSpPr>
          <p:cNvPr id="15" name="Text 13"/>
          <p:cNvSpPr/>
          <p:nvPr/>
        </p:nvSpPr>
        <p:spPr>
          <a:xfrm>
            <a:off x="11478964"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15 · A3</a:t>
            </a:r>
            <a:endParaRPr lang="en-US" sz="1800" dirty="0"/>
          </a:p>
        </p:txBody>
      </p:sp>
      <p:sp>
        <p:nvSpPr>
          <p:cNvPr id="16" name="Text 14"/>
          <p:cNvSpPr/>
          <p:nvPr/>
        </p:nvSpPr>
        <p:spPr>
          <a:xfrm>
            <a:off x="11711583" y="2971800"/>
            <a:ext cx="1449824"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runs itself</a:t>
            </a:r>
            <a:endParaRPr lang="en-US" sz="2100" dirty="0"/>
          </a:p>
        </p:txBody>
      </p:sp>
      <p:sp>
        <p:nvSpPr>
          <p:cNvPr id="17" name="Shape 15"/>
          <p:cNvSpPr/>
          <p:nvPr/>
        </p:nvSpPr>
        <p:spPr>
          <a:xfrm>
            <a:off x="14025563" y="3371850"/>
            <a:ext cx="3309938" cy="28575"/>
          </a:xfrm>
          <a:prstGeom prst="rect">
            <a:avLst/>
          </a:prstGeom>
          <a:solidFill>
            <a:srgbClr val="1B2530"/>
          </a:solidFill>
          <a:ln/>
        </p:spPr>
      </p:sp>
      <p:sp>
        <p:nvSpPr>
          <p:cNvPr id="18" name="Text 16"/>
          <p:cNvSpPr/>
          <p:nvPr/>
        </p:nvSpPr>
        <p:spPr>
          <a:xfrm>
            <a:off x="14788902" y="2647950"/>
            <a:ext cx="196142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MONTH 24 · A4</a:t>
            </a:r>
            <a:endParaRPr lang="en-US" sz="1800" dirty="0"/>
          </a:p>
        </p:txBody>
      </p:sp>
      <p:sp>
        <p:nvSpPr>
          <p:cNvPr id="19" name="Text 17"/>
          <p:cNvSpPr/>
          <p:nvPr/>
        </p:nvSpPr>
        <p:spPr>
          <a:xfrm>
            <a:off x="15099506" y="2971800"/>
            <a:ext cx="1238101"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0E7C6B"/>
                </a:solidFill>
                <a:latin typeface="Bricolage Grotesque" pitchFamily="34" charset="0"/>
                <a:ea typeface="Bricolage Grotesque" pitchFamily="34" charset="-122"/>
                <a:cs typeface="Bricolage Grotesque" pitchFamily="34" charset="-120"/>
              </a:rPr>
              <a:t>prevents</a:t>
            </a:r>
            <a:endParaRPr lang="en-US" sz="2100" dirty="0"/>
          </a:p>
        </p:txBody>
      </p:sp>
      <p:sp>
        <p:nvSpPr>
          <p:cNvPr id="20" name="Shape 18"/>
          <p:cNvSpPr/>
          <p:nvPr/>
        </p:nvSpPr>
        <p:spPr>
          <a:xfrm>
            <a:off x="4076700" y="3400425"/>
            <a:ext cx="19050" cy="1352550"/>
          </a:xfrm>
          <a:prstGeom prst="rect">
            <a:avLst/>
          </a:prstGeom>
          <a:solidFill>
            <a:srgbClr val="1B2530"/>
          </a:solidFill>
          <a:ln/>
        </p:spPr>
      </p:sp>
      <p:sp>
        <p:nvSpPr>
          <p:cNvPr id="21" name="Text 19"/>
          <p:cNvSpPr/>
          <p:nvPr/>
        </p:nvSpPr>
        <p:spPr>
          <a:xfrm>
            <a:off x="952500" y="34575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Platform substrate</a:t>
            </a:r>
            <a:endParaRPr lang="en-US" sz="1950" dirty="0"/>
          </a:p>
        </p:txBody>
      </p:sp>
      <p:sp>
        <p:nvSpPr>
          <p:cNvPr id="22" name="Text 20"/>
          <p:cNvSpPr/>
          <p:nvPr/>
        </p:nvSpPr>
        <p:spPr>
          <a:xfrm>
            <a:off x="952500" y="3781425"/>
            <a:ext cx="3060954" cy="9525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STREAM · REGISTRY · GATE — BUILT BY MISSION SQUADS</a:t>
            </a:r>
            <a:endParaRPr lang="en-US" sz="1800" dirty="0"/>
          </a:p>
        </p:txBody>
      </p:sp>
      <p:sp>
        <p:nvSpPr>
          <p:cNvPr id="23" name="Shape 21"/>
          <p:cNvSpPr/>
          <p:nvPr/>
        </p:nvSpPr>
        <p:spPr>
          <a:xfrm>
            <a:off x="5674519" y="3819525"/>
            <a:ext cx="152400" cy="152400"/>
          </a:xfrm>
          <a:prstGeom prst="ellipse">
            <a:avLst/>
          </a:prstGeom>
          <a:solidFill>
            <a:srgbClr val="8B99A4"/>
          </a:solidFill>
          <a:ln/>
        </p:spPr>
      </p:sp>
      <p:sp>
        <p:nvSpPr>
          <p:cNvPr id="24" name="Shape 22"/>
          <p:cNvSpPr/>
          <p:nvPr/>
        </p:nvSpPr>
        <p:spPr>
          <a:xfrm>
            <a:off x="5826919" y="3881438"/>
            <a:ext cx="1502569" cy="28575"/>
          </a:xfrm>
          <a:prstGeom prst="rect">
            <a:avLst/>
          </a:prstGeom>
          <a:solidFill>
            <a:srgbClr val="C7CEC6"/>
          </a:solidFill>
          <a:ln/>
        </p:spPr>
      </p:sp>
      <p:sp>
        <p:nvSpPr>
          <p:cNvPr id="25" name="Text 23"/>
          <p:cNvSpPr/>
          <p:nvPr/>
        </p:nvSpPr>
        <p:spPr>
          <a:xfrm>
            <a:off x="4014073"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not built — starts M0</a:t>
            </a:r>
            <a:endParaRPr lang="en-US" sz="1800" dirty="0"/>
          </a:p>
        </p:txBody>
      </p:sp>
      <p:sp>
        <p:nvSpPr>
          <p:cNvPr id="26" name="Shape 24"/>
          <p:cNvSpPr/>
          <p:nvPr/>
        </p:nvSpPr>
        <p:spPr>
          <a:xfrm>
            <a:off x="7405688" y="3400425"/>
            <a:ext cx="3309938" cy="1352550"/>
          </a:xfrm>
          <a:prstGeom prst="rect">
            <a:avLst/>
          </a:prstGeom>
          <a:solidFill>
            <a:srgbClr val="FBF3E4"/>
          </a:solidFill>
          <a:ln/>
        </p:spPr>
      </p:sp>
      <p:sp>
        <p:nvSpPr>
          <p:cNvPr id="27" name="Shape 25"/>
          <p:cNvSpPr/>
          <p:nvPr/>
        </p:nvSpPr>
        <p:spPr>
          <a:xfrm>
            <a:off x="7481887" y="3738563"/>
            <a:ext cx="1473994" cy="28575"/>
          </a:xfrm>
          <a:prstGeom prst="rect">
            <a:avLst/>
          </a:prstGeom>
          <a:solidFill>
            <a:srgbClr val="C7CEC6"/>
          </a:solidFill>
          <a:ln/>
        </p:spPr>
      </p:sp>
      <p:sp>
        <p:nvSpPr>
          <p:cNvPr id="28" name="Shape 26"/>
          <p:cNvSpPr/>
          <p:nvPr/>
        </p:nvSpPr>
        <p:spPr>
          <a:xfrm rot="2700000">
            <a:off x="8955881" y="3648075"/>
            <a:ext cx="209550" cy="209550"/>
          </a:xfrm>
          <a:prstGeom prst="roundRect">
            <a:avLst>
              <a:gd name="adj" fmla="val 18182"/>
            </a:avLst>
          </a:prstGeom>
          <a:solidFill>
            <a:srgbClr val="B97417"/>
          </a:solidFill>
          <a:ln/>
        </p:spPr>
      </p:sp>
      <p:sp>
        <p:nvSpPr>
          <p:cNvPr id="29" name="Shape 27"/>
          <p:cNvSpPr/>
          <p:nvPr/>
        </p:nvSpPr>
        <p:spPr>
          <a:xfrm>
            <a:off x="9165431" y="3738563"/>
            <a:ext cx="1473994" cy="28575"/>
          </a:xfrm>
          <a:prstGeom prst="rect">
            <a:avLst/>
          </a:prstGeom>
          <a:solidFill>
            <a:srgbClr val="C7CEC6"/>
          </a:solidFill>
          <a:ln/>
        </p:spPr>
      </p:sp>
      <p:sp>
        <p:nvSpPr>
          <p:cNvPr id="30" name="Text 28"/>
          <p:cNvSpPr/>
          <p:nvPr/>
        </p:nvSpPr>
        <p:spPr>
          <a:xfrm>
            <a:off x="7434524" y="39338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stream, registry, join live; gate in shadow</a:t>
            </a:r>
            <a:endParaRPr lang="en-US" sz="1800" dirty="0"/>
          </a:p>
        </p:txBody>
      </p:sp>
      <p:sp>
        <p:nvSpPr>
          <p:cNvPr id="31" name="Shape 29"/>
          <p:cNvSpPr/>
          <p:nvPr/>
        </p:nvSpPr>
        <p:spPr>
          <a:xfrm>
            <a:off x="10791825" y="3881438"/>
            <a:ext cx="1502569" cy="28575"/>
          </a:xfrm>
          <a:prstGeom prst="rect">
            <a:avLst/>
          </a:prstGeom>
          <a:solidFill>
            <a:srgbClr val="C7CEC6"/>
          </a:solidFill>
          <a:ln/>
        </p:spPr>
      </p:sp>
      <p:sp>
        <p:nvSpPr>
          <p:cNvPr id="32" name="Shape 30"/>
          <p:cNvSpPr/>
          <p:nvPr/>
        </p:nvSpPr>
        <p:spPr>
          <a:xfrm>
            <a:off x="12294394" y="3819525"/>
            <a:ext cx="152400" cy="152400"/>
          </a:xfrm>
          <a:prstGeom prst="ellipse">
            <a:avLst/>
          </a:prstGeom>
          <a:solidFill>
            <a:srgbClr val="FDFDFB"/>
          </a:solidFill>
          <a:ln w="38100">
            <a:solidFill>
              <a:srgbClr val="0E7C6B"/>
            </a:solidFill>
            <a:prstDash val="solid"/>
          </a:ln>
        </p:spPr>
      </p:sp>
      <p:sp>
        <p:nvSpPr>
          <p:cNvPr id="33" name="Shape 31"/>
          <p:cNvSpPr/>
          <p:nvPr/>
        </p:nvSpPr>
        <p:spPr>
          <a:xfrm>
            <a:off x="12446794" y="3881438"/>
            <a:ext cx="1502569" cy="28575"/>
          </a:xfrm>
          <a:prstGeom prst="rect">
            <a:avLst/>
          </a:prstGeom>
          <a:solidFill>
            <a:srgbClr val="C7CEC6"/>
          </a:solidFill>
          <a:ln/>
        </p:spPr>
      </p:sp>
      <p:sp>
        <p:nvSpPr>
          <p:cNvPr id="34" name="Text 32"/>
          <p:cNvSpPr/>
          <p:nvPr/>
        </p:nvSpPr>
        <p:spPr>
          <a:xfrm>
            <a:off x="10633948" y="4048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hardened; self-serve APIs</a:t>
            </a:r>
            <a:endParaRPr lang="en-US" sz="1800" dirty="0"/>
          </a:p>
        </p:txBody>
      </p:sp>
      <p:sp>
        <p:nvSpPr>
          <p:cNvPr id="35" name="Shape 33"/>
          <p:cNvSpPr/>
          <p:nvPr/>
        </p:nvSpPr>
        <p:spPr>
          <a:xfrm>
            <a:off x="14101763" y="3881438"/>
            <a:ext cx="1493044" cy="28575"/>
          </a:xfrm>
          <a:prstGeom prst="rect">
            <a:avLst/>
          </a:prstGeom>
          <a:solidFill>
            <a:srgbClr val="C7CEC6"/>
          </a:solidFill>
          <a:ln/>
        </p:spPr>
      </p:sp>
      <p:sp>
        <p:nvSpPr>
          <p:cNvPr id="36" name="Shape 34"/>
          <p:cNvSpPr/>
          <p:nvPr/>
        </p:nvSpPr>
        <p:spPr>
          <a:xfrm>
            <a:off x="15594806" y="3810000"/>
            <a:ext cx="171450" cy="171450"/>
          </a:xfrm>
          <a:prstGeom prst="ellipse">
            <a:avLst/>
          </a:prstGeom>
          <a:solidFill>
            <a:srgbClr val="0E7C6B"/>
          </a:solidFill>
          <a:ln/>
        </p:spPr>
      </p:sp>
      <p:sp>
        <p:nvSpPr>
          <p:cNvPr id="37" name="Text 35"/>
          <p:cNvSpPr/>
          <p:nvPr/>
        </p:nvSpPr>
        <p:spPr>
          <a:xfrm>
            <a:off x="13943886" y="4057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enforcing at scale</a:t>
            </a:r>
            <a:endParaRPr lang="en-US" sz="1800" dirty="0"/>
          </a:p>
        </p:txBody>
      </p:sp>
      <p:sp>
        <p:nvSpPr>
          <p:cNvPr id="38" name="Shape 36"/>
          <p:cNvSpPr/>
          <p:nvPr/>
        </p:nvSpPr>
        <p:spPr>
          <a:xfrm>
            <a:off x="4076700" y="4752975"/>
            <a:ext cx="19050" cy="914400"/>
          </a:xfrm>
          <a:prstGeom prst="rect">
            <a:avLst/>
          </a:prstGeom>
          <a:solidFill>
            <a:srgbClr val="1B2530"/>
          </a:solidFill>
          <a:ln/>
        </p:spPr>
      </p:sp>
      <p:sp>
        <p:nvSpPr>
          <p:cNvPr id="39" name="Text 37"/>
          <p:cNvSpPr/>
          <p:nvPr/>
        </p:nvSpPr>
        <p:spPr>
          <a:xfrm>
            <a:off x="952500" y="4895850"/>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Batch data quality</a:t>
            </a:r>
            <a:endParaRPr lang="en-US" sz="1950" dirty="0"/>
          </a:p>
        </p:txBody>
      </p:sp>
      <p:sp>
        <p:nvSpPr>
          <p:cNvPr id="40" name="Text 38"/>
          <p:cNvSpPr/>
          <p:nvPr/>
        </p:nvSpPr>
        <p:spPr>
          <a:xfrm>
            <a:off x="952500" y="5219700"/>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41" name="Shape 39"/>
          <p:cNvSpPr/>
          <p:nvPr/>
        </p:nvSpPr>
        <p:spPr>
          <a:xfrm>
            <a:off x="5674519" y="4810125"/>
            <a:ext cx="152400" cy="152400"/>
          </a:xfrm>
          <a:prstGeom prst="ellipse">
            <a:avLst/>
          </a:prstGeom>
          <a:solidFill>
            <a:srgbClr val="8B99A4"/>
          </a:solidFill>
          <a:ln/>
        </p:spPr>
      </p:sp>
      <p:sp>
        <p:nvSpPr>
          <p:cNvPr id="42" name="Shape 40"/>
          <p:cNvSpPr/>
          <p:nvPr/>
        </p:nvSpPr>
        <p:spPr>
          <a:xfrm>
            <a:off x="5826919" y="4872038"/>
            <a:ext cx="1502569" cy="28575"/>
          </a:xfrm>
          <a:prstGeom prst="rect">
            <a:avLst/>
          </a:prstGeom>
          <a:solidFill>
            <a:srgbClr val="C7CEC6"/>
          </a:solidFill>
          <a:ln/>
        </p:spPr>
      </p:sp>
      <p:sp>
        <p:nvSpPr>
          <p:cNvPr id="43" name="Text 41"/>
          <p:cNvSpPr/>
          <p:nvPr/>
        </p:nvSpPr>
        <p:spPr>
          <a:xfrm>
            <a:off x="4124587" y="5038725"/>
            <a:ext cx="3252264" cy="60960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per-team checks, no shared view</a:t>
            </a:r>
            <a:endParaRPr lang="en-US" sz="1800" dirty="0"/>
          </a:p>
        </p:txBody>
      </p:sp>
      <p:sp>
        <p:nvSpPr>
          <p:cNvPr id="44" name="Shape 42"/>
          <p:cNvSpPr/>
          <p:nvPr/>
        </p:nvSpPr>
        <p:spPr>
          <a:xfrm>
            <a:off x="7405688" y="4752975"/>
            <a:ext cx="3309938" cy="914400"/>
          </a:xfrm>
          <a:prstGeom prst="rect">
            <a:avLst/>
          </a:prstGeom>
          <a:solidFill>
            <a:srgbClr val="FBF3E4"/>
          </a:solidFill>
          <a:ln/>
        </p:spPr>
      </p:sp>
      <p:sp>
        <p:nvSpPr>
          <p:cNvPr id="45" name="Shape 43"/>
          <p:cNvSpPr/>
          <p:nvPr/>
        </p:nvSpPr>
        <p:spPr>
          <a:xfrm>
            <a:off x="7481887" y="5014913"/>
            <a:ext cx="1473994" cy="28575"/>
          </a:xfrm>
          <a:prstGeom prst="rect">
            <a:avLst/>
          </a:prstGeom>
          <a:solidFill>
            <a:srgbClr val="C7CEC6"/>
          </a:solidFill>
          <a:ln/>
        </p:spPr>
      </p:sp>
      <p:sp>
        <p:nvSpPr>
          <p:cNvPr id="46" name="Shape 44"/>
          <p:cNvSpPr/>
          <p:nvPr/>
        </p:nvSpPr>
        <p:spPr>
          <a:xfrm rot="2700000">
            <a:off x="8955881" y="4924425"/>
            <a:ext cx="209550" cy="209550"/>
          </a:xfrm>
          <a:prstGeom prst="roundRect">
            <a:avLst>
              <a:gd name="adj" fmla="val 18182"/>
            </a:avLst>
          </a:prstGeom>
          <a:solidFill>
            <a:srgbClr val="B97417"/>
          </a:solidFill>
          <a:ln/>
        </p:spPr>
      </p:sp>
      <p:sp>
        <p:nvSpPr>
          <p:cNvPr id="47" name="Shape 45"/>
          <p:cNvSpPr/>
          <p:nvPr/>
        </p:nvSpPr>
        <p:spPr>
          <a:xfrm>
            <a:off x="9165431" y="5014913"/>
            <a:ext cx="1473994" cy="28575"/>
          </a:xfrm>
          <a:prstGeom prst="rect">
            <a:avLst/>
          </a:prstGeom>
          <a:solidFill>
            <a:srgbClr val="C7CEC6"/>
          </a:solidFill>
          <a:ln/>
        </p:spPr>
      </p:sp>
      <p:sp>
        <p:nvSpPr>
          <p:cNvPr id="48" name="Text 46"/>
          <p:cNvSpPr/>
          <p:nvPr/>
        </p:nvSpPr>
        <p:spPr>
          <a:xfrm>
            <a:off x="7324011" y="5210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federated — one pane</a:t>
            </a:r>
            <a:endParaRPr lang="en-US" sz="1800" dirty="0"/>
          </a:p>
        </p:txBody>
      </p:sp>
      <p:sp>
        <p:nvSpPr>
          <p:cNvPr id="49" name="Shape 47"/>
          <p:cNvSpPr/>
          <p:nvPr/>
        </p:nvSpPr>
        <p:spPr>
          <a:xfrm>
            <a:off x="10791825" y="5014913"/>
            <a:ext cx="1502569" cy="28575"/>
          </a:xfrm>
          <a:prstGeom prst="rect">
            <a:avLst/>
          </a:prstGeom>
          <a:solidFill>
            <a:srgbClr val="C7CEC6"/>
          </a:solidFill>
          <a:ln/>
        </p:spPr>
      </p:sp>
      <p:sp>
        <p:nvSpPr>
          <p:cNvPr id="50" name="Shape 48"/>
          <p:cNvSpPr/>
          <p:nvPr/>
        </p:nvSpPr>
        <p:spPr>
          <a:xfrm>
            <a:off x="12294394" y="4953000"/>
            <a:ext cx="152400" cy="152400"/>
          </a:xfrm>
          <a:prstGeom prst="ellipse">
            <a:avLst/>
          </a:prstGeom>
          <a:solidFill>
            <a:srgbClr val="FDFDFB"/>
          </a:solidFill>
          <a:ln w="38100">
            <a:solidFill>
              <a:srgbClr val="0E7C6B"/>
            </a:solidFill>
            <a:prstDash val="solid"/>
          </a:ln>
        </p:spPr>
      </p:sp>
      <p:sp>
        <p:nvSpPr>
          <p:cNvPr id="51" name="Shape 49"/>
          <p:cNvSpPr/>
          <p:nvPr/>
        </p:nvSpPr>
        <p:spPr>
          <a:xfrm>
            <a:off x="12446794" y="5014913"/>
            <a:ext cx="1502569" cy="28575"/>
          </a:xfrm>
          <a:prstGeom prst="rect">
            <a:avLst/>
          </a:prstGeom>
          <a:solidFill>
            <a:srgbClr val="C7CEC6"/>
          </a:solidFill>
          <a:ln/>
        </p:spPr>
      </p:sp>
      <p:sp>
        <p:nvSpPr>
          <p:cNvPr id="52" name="Text 50"/>
          <p:cNvSpPr/>
          <p:nvPr/>
        </p:nvSpPr>
        <p:spPr>
          <a:xfrm>
            <a:off x="10633948" y="51816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auto-tuned</a:t>
            </a:r>
            <a:endParaRPr lang="en-US" sz="1800" dirty="0"/>
          </a:p>
        </p:txBody>
      </p:sp>
      <p:sp>
        <p:nvSpPr>
          <p:cNvPr id="53" name="Shape 51"/>
          <p:cNvSpPr/>
          <p:nvPr/>
        </p:nvSpPr>
        <p:spPr>
          <a:xfrm>
            <a:off x="14101763" y="5014913"/>
            <a:ext cx="1493044" cy="28575"/>
          </a:xfrm>
          <a:prstGeom prst="rect">
            <a:avLst/>
          </a:prstGeom>
          <a:solidFill>
            <a:srgbClr val="C7CEC6"/>
          </a:solidFill>
          <a:ln/>
        </p:spPr>
      </p:sp>
      <p:sp>
        <p:nvSpPr>
          <p:cNvPr id="54" name="Shape 52"/>
          <p:cNvSpPr/>
          <p:nvPr/>
        </p:nvSpPr>
        <p:spPr>
          <a:xfrm>
            <a:off x="15594806" y="4943475"/>
            <a:ext cx="171450" cy="171450"/>
          </a:xfrm>
          <a:prstGeom prst="ellipse">
            <a:avLst/>
          </a:prstGeom>
          <a:solidFill>
            <a:srgbClr val="0E7C6B"/>
          </a:solidFill>
          <a:ln/>
        </p:spPr>
      </p:sp>
      <p:sp>
        <p:nvSpPr>
          <p:cNvPr id="55" name="Text 53"/>
          <p:cNvSpPr/>
          <p:nvPr/>
        </p:nvSpPr>
        <p:spPr>
          <a:xfrm>
            <a:off x="13943886" y="5191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blocks bad batches</a:t>
            </a:r>
            <a:endParaRPr lang="en-US" sz="1800" dirty="0"/>
          </a:p>
        </p:txBody>
      </p:sp>
      <p:sp>
        <p:nvSpPr>
          <p:cNvPr id="56" name="Shape 54"/>
          <p:cNvSpPr/>
          <p:nvPr/>
        </p:nvSpPr>
        <p:spPr>
          <a:xfrm>
            <a:off x="4076700" y="5667375"/>
            <a:ext cx="19050" cy="742950"/>
          </a:xfrm>
          <a:prstGeom prst="rect">
            <a:avLst/>
          </a:prstGeom>
          <a:solidFill>
            <a:srgbClr val="1B2530"/>
          </a:solidFill>
          <a:ln/>
        </p:spPr>
      </p:sp>
      <p:sp>
        <p:nvSpPr>
          <p:cNvPr id="57" name="Text 55"/>
          <p:cNvSpPr/>
          <p:nvPr/>
        </p:nvSpPr>
        <p:spPr>
          <a:xfrm>
            <a:off x="952500" y="57245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At-rest checks</a:t>
            </a:r>
            <a:endParaRPr lang="en-US" sz="1950" dirty="0"/>
          </a:p>
        </p:txBody>
      </p:sp>
      <p:sp>
        <p:nvSpPr>
          <p:cNvPr id="58" name="Text 56"/>
          <p:cNvSpPr/>
          <p:nvPr/>
        </p:nvSpPr>
        <p:spPr>
          <a:xfrm>
            <a:off x="952500" y="60483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59" name="Shape 57"/>
          <p:cNvSpPr/>
          <p:nvPr/>
        </p:nvSpPr>
        <p:spPr>
          <a:xfrm>
            <a:off x="5674519" y="5781675"/>
            <a:ext cx="152400" cy="152400"/>
          </a:xfrm>
          <a:prstGeom prst="ellipse">
            <a:avLst/>
          </a:prstGeom>
          <a:solidFill>
            <a:srgbClr val="8B99A4"/>
          </a:solidFill>
          <a:ln/>
        </p:spPr>
      </p:sp>
      <p:sp>
        <p:nvSpPr>
          <p:cNvPr id="60" name="Shape 58"/>
          <p:cNvSpPr/>
          <p:nvPr/>
        </p:nvSpPr>
        <p:spPr>
          <a:xfrm>
            <a:off x="5826919" y="5843588"/>
            <a:ext cx="1502569" cy="28575"/>
          </a:xfrm>
          <a:prstGeom prst="rect">
            <a:avLst/>
          </a:prstGeom>
          <a:solidFill>
            <a:srgbClr val="C7CEC6"/>
          </a:solidFill>
          <a:ln/>
        </p:spPr>
      </p:sp>
      <p:sp>
        <p:nvSpPr>
          <p:cNvPr id="61" name="Text 59"/>
          <p:cNvSpPr/>
          <p:nvPr/>
        </p:nvSpPr>
        <p:spPr>
          <a:xfrm>
            <a:off x="4014073"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 build</a:t>
            </a:r>
            <a:endParaRPr lang="en-US" sz="1800" dirty="0"/>
          </a:p>
        </p:txBody>
      </p:sp>
      <p:sp>
        <p:nvSpPr>
          <p:cNvPr id="62" name="Shape 60"/>
          <p:cNvSpPr/>
          <p:nvPr/>
        </p:nvSpPr>
        <p:spPr>
          <a:xfrm>
            <a:off x="7405688" y="5667375"/>
            <a:ext cx="3309938" cy="742950"/>
          </a:xfrm>
          <a:prstGeom prst="rect">
            <a:avLst/>
          </a:prstGeom>
          <a:solidFill>
            <a:srgbClr val="FBF3E4"/>
          </a:solidFill>
          <a:ln/>
        </p:spPr>
      </p:sp>
      <p:sp>
        <p:nvSpPr>
          <p:cNvPr id="63" name="Shape 61"/>
          <p:cNvSpPr/>
          <p:nvPr/>
        </p:nvSpPr>
        <p:spPr>
          <a:xfrm>
            <a:off x="7481887" y="5843588"/>
            <a:ext cx="1473994" cy="28575"/>
          </a:xfrm>
          <a:prstGeom prst="rect">
            <a:avLst/>
          </a:prstGeom>
          <a:solidFill>
            <a:srgbClr val="C7CEC6"/>
          </a:solidFill>
          <a:ln/>
        </p:spPr>
      </p:sp>
      <p:sp>
        <p:nvSpPr>
          <p:cNvPr id="64" name="Shape 62"/>
          <p:cNvSpPr/>
          <p:nvPr/>
        </p:nvSpPr>
        <p:spPr>
          <a:xfrm rot="2700000">
            <a:off x="8955881" y="5753100"/>
            <a:ext cx="209550" cy="209550"/>
          </a:xfrm>
          <a:prstGeom prst="roundRect">
            <a:avLst>
              <a:gd name="adj" fmla="val 18182"/>
            </a:avLst>
          </a:prstGeom>
          <a:solidFill>
            <a:srgbClr val="B97417"/>
          </a:solidFill>
          <a:ln/>
        </p:spPr>
      </p:sp>
      <p:sp>
        <p:nvSpPr>
          <p:cNvPr id="65" name="Shape 63"/>
          <p:cNvSpPr/>
          <p:nvPr/>
        </p:nvSpPr>
        <p:spPr>
          <a:xfrm>
            <a:off x="9165431" y="5843588"/>
            <a:ext cx="1473994" cy="28575"/>
          </a:xfrm>
          <a:prstGeom prst="rect">
            <a:avLst/>
          </a:prstGeom>
          <a:solidFill>
            <a:srgbClr val="C7CEC6"/>
          </a:solidFill>
          <a:ln/>
        </p:spPr>
      </p:sp>
      <p:sp>
        <p:nvSpPr>
          <p:cNvPr id="66" name="Text 64"/>
          <p:cNvSpPr/>
          <p:nvPr/>
        </p:nvSpPr>
        <p:spPr>
          <a:xfrm>
            <a:off x="7324011" y="60388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learned baselines live</a:t>
            </a:r>
            <a:endParaRPr lang="en-US" sz="1800" dirty="0"/>
          </a:p>
        </p:txBody>
      </p:sp>
      <p:sp>
        <p:nvSpPr>
          <p:cNvPr id="67" name="Shape 65"/>
          <p:cNvSpPr/>
          <p:nvPr/>
        </p:nvSpPr>
        <p:spPr>
          <a:xfrm>
            <a:off x="10791825" y="5843588"/>
            <a:ext cx="1502569" cy="28575"/>
          </a:xfrm>
          <a:prstGeom prst="rect">
            <a:avLst/>
          </a:prstGeom>
          <a:solidFill>
            <a:srgbClr val="C7CEC6"/>
          </a:solidFill>
          <a:ln/>
        </p:spPr>
      </p:sp>
      <p:sp>
        <p:nvSpPr>
          <p:cNvPr id="68" name="Shape 66"/>
          <p:cNvSpPr/>
          <p:nvPr/>
        </p:nvSpPr>
        <p:spPr>
          <a:xfrm>
            <a:off x="12294394" y="5781675"/>
            <a:ext cx="152400" cy="152400"/>
          </a:xfrm>
          <a:prstGeom prst="ellipse">
            <a:avLst/>
          </a:prstGeom>
          <a:solidFill>
            <a:srgbClr val="FDFDFB"/>
          </a:solidFill>
          <a:ln w="38100">
            <a:solidFill>
              <a:srgbClr val="0E7C6B"/>
            </a:solidFill>
            <a:prstDash val="solid"/>
          </a:ln>
        </p:spPr>
      </p:sp>
      <p:sp>
        <p:nvSpPr>
          <p:cNvPr id="69" name="Shape 67"/>
          <p:cNvSpPr/>
          <p:nvPr/>
        </p:nvSpPr>
        <p:spPr>
          <a:xfrm>
            <a:off x="12446794" y="5843588"/>
            <a:ext cx="1502569" cy="28575"/>
          </a:xfrm>
          <a:prstGeom prst="rect">
            <a:avLst/>
          </a:prstGeom>
          <a:solidFill>
            <a:srgbClr val="C7CEC6"/>
          </a:solidFill>
          <a:ln/>
        </p:spPr>
      </p:sp>
      <p:sp>
        <p:nvSpPr>
          <p:cNvPr id="70" name="Text 68"/>
          <p:cNvSpPr/>
          <p:nvPr/>
        </p:nvSpPr>
        <p:spPr>
          <a:xfrm>
            <a:off x="10633948" y="60102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self-running, estate-wide</a:t>
            </a:r>
            <a:endParaRPr lang="en-US" sz="1800" dirty="0"/>
          </a:p>
        </p:txBody>
      </p:sp>
      <p:sp>
        <p:nvSpPr>
          <p:cNvPr id="71" name="Shape 69"/>
          <p:cNvSpPr/>
          <p:nvPr/>
        </p:nvSpPr>
        <p:spPr>
          <a:xfrm>
            <a:off x="14101763" y="5843588"/>
            <a:ext cx="1493044" cy="28575"/>
          </a:xfrm>
          <a:prstGeom prst="rect">
            <a:avLst/>
          </a:prstGeom>
          <a:solidFill>
            <a:srgbClr val="C7CEC6"/>
          </a:solidFill>
          <a:ln/>
        </p:spPr>
      </p:sp>
      <p:sp>
        <p:nvSpPr>
          <p:cNvPr id="72" name="Shape 70"/>
          <p:cNvSpPr/>
          <p:nvPr/>
        </p:nvSpPr>
        <p:spPr>
          <a:xfrm>
            <a:off x="15594806" y="5772150"/>
            <a:ext cx="171450" cy="171450"/>
          </a:xfrm>
          <a:prstGeom prst="ellipse">
            <a:avLst/>
          </a:prstGeom>
          <a:solidFill>
            <a:srgbClr val="0E7C6B"/>
          </a:solidFill>
          <a:ln/>
        </p:spPr>
      </p:sp>
      <p:sp>
        <p:nvSpPr>
          <p:cNvPr id="73" name="Text 71"/>
          <p:cNvSpPr/>
          <p:nvPr/>
        </p:nvSpPr>
        <p:spPr>
          <a:xfrm>
            <a:off x="13943886" y="6019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feeds the gate</a:t>
            </a:r>
            <a:endParaRPr lang="en-US" sz="1800" dirty="0"/>
          </a:p>
        </p:txBody>
      </p:sp>
      <p:sp>
        <p:nvSpPr>
          <p:cNvPr id="74" name="Shape 72"/>
          <p:cNvSpPr/>
          <p:nvPr/>
        </p:nvSpPr>
        <p:spPr>
          <a:xfrm>
            <a:off x="4076700" y="6410325"/>
            <a:ext cx="19050" cy="742950"/>
          </a:xfrm>
          <a:prstGeom prst="rect">
            <a:avLst/>
          </a:prstGeom>
          <a:solidFill>
            <a:srgbClr val="1B2530"/>
          </a:solidFill>
          <a:ln/>
        </p:spPr>
      </p:sp>
      <p:sp>
        <p:nvSpPr>
          <p:cNvPr id="75" name="Text 73"/>
          <p:cNvSpPr/>
          <p:nvPr/>
        </p:nvSpPr>
        <p:spPr>
          <a:xfrm>
            <a:off x="952500" y="64674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Streaming checks</a:t>
            </a:r>
            <a:endParaRPr lang="en-US" sz="1950" dirty="0"/>
          </a:p>
        </p:txBody>
      </p:sp>
      <p:sp>
        <p:nvSpPr>
          <p:cNvPr id="76" name="Text 74"/>
          <p:cNvSpPr/>
          <p:nvPr/>
        </p:nvSpPr>
        <p:spPr>
          <a:xfrm>
            <a:off x="952500" y="67913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77" name="Shape 75"/>
          <p:cNvSpPr/>
          <p:nvPr/>
        </p:nvSpPr>
        <p:spPr>
          <a:xfrm>
            <a:off x="5674519" y="6524625"/>
            <a:ext cx="152400" cy="152400"/>
          </a:xfrm>
          <a:prstGeom prst="ellipse">
            <a:avLst/>
          </a:prstGeom>
          <a:solidFill>
            <a:srgbClr val="8B99A4"/>
          </a:solidFill>
          <a:ln/>
        </p:spPr>
      </p:sp>
      <p:sp>
        <p:nvSpPr>
          <p:cNvPr id="78" name="Shape 76"/>
          <p:cNvSpPr/>
          <p:nvPr/>
        </p:nvSpPr>
        <p:spPr>
          <a:xfrm>
            <a:off x="5826919" y="6586538"/>
            <a:ext cx="1502569" cy="28575"/>
          </a:xfrm>
          <a:prstGeom prst="rect">
            <a:avLst/>
          </a:prstGeom>
          <a:solidFill>
            <a:srgbClr val="C7CEC6"/>
          </a:solidFill>
          <a:ln/>
        </p:spPr>
      </p:sp>
      <p:sp>
        <p:nvSpPr>
          <p:cNvPr id="79" name="Text 77"/>
          <p:cNvSpPr/>
          <p:nvPr/>
        </p:nvSpPr>
        <p:spPr>
          <a:xfrm>
            <a:off x="4014073"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pilot topic in build</a:t>
            </a:r>
            <a:endParaRPr lang="en-US" sz="1800" dirty="0"/>
          </a:p>
        </p:txBody>
      </p:sp>
      <p:sp>
        <p:nvSpPr>
          <p:cNvPr id="80" name="Shape 78"/>
          <p:cNvSpPr/>
          <p:nvPr/>
        </p:nvSpPr>
        <p:spPr>
          <a:xfrm>
            <a:off x="7405688" y="6410325"/>
            <a:ext cx="3309938" cy="742950"/>
          </a:xfrm>
          <a:prstGeom prst="rect">
            <a:avLst/>
          </a:prstGeom>
          <a:solidFill>
            <a:srgbClr val="FBF3E4"/>
          </a:solidFill>
          <a:ln/>
        </p:spPr>
      </p:sp>
      <p:sp>
        <p:nvSpPr>
          <p:cNvPr id="81" name="Shape 79"/>
          <p:cNvSpPr/>
          <p:nvPr/>
        </p:nvSpPr>
        <p:spPr>
          <a:xfrm>
            <a:off x="7481887" y="6586538"/>
            <a:ext cx="1473994" cy="28575"/>
          </a:xfrm>
          <a:prstGeom prst="rect">
            <a:avLst/>
          </a:prstGeom>
          <a:solidFill>
            <a:srgbClr val="C7CEC6"/>
          </a:solidFill>
          <a:ln/>
        </p:spPr>
      </p:sp>
      <p:sp>
        <p:nvSpPr>
          <p:cNvPr id="82" name="Shape 80"/>
          <p:cNvSpPr/>
          <p:nvPr/>
        </p:nvSpPr>
        <p:spPr>
          <a:xfrm rot="2700000">
            <a:off x="8955881" y="6496050"/>
            <a:ext cx="209550" cy="209550"/>
          </a:xfrm>
          <a:prstGeom prst="roundRect">
            <a:avLst>
              <a:gd name="adj" fmla="val 18182"/>
            </a:avLst>
          </a:prstGeom>
          <a:solidFill>
            <a:srgbClr val="B97417"/>
          </a:solidFill>
          <a:ln/>
        </p:spPr>
      </p:sp>
      <p:sp>
        <p:nvSpPr>
          <p:cNvPr id="83" name="Shape 81"/>
          <p:cNvSpPr/>
          <p:nvPr/>
        </p:nvSpPr>
        <p:spPr>
          <a:xfrm>
            <a:off x="9165431" y="6586538"/>
            <a:ext cx="1473994" cy="28575"/>
          </a:xfrm>
          <a:prstGeom prst="rect">
            <a:avLst/>
          </a:prstGeom>
          <a:solidFill>
            <a:srgbClr val="C7CEC6"/>
          </a:solidFill>
          <a:ln/>
        </p:spPr>
      </p:sp>
      <p:sp>
        <p:nvSpPr>
          <p:cNvPr id="84" name="Text 82"/>
          <p:cNvSpPr/>
          <p:nvPr/>
        </p:nvSpPr>
        <p:spPr>
          <a:xfrm>
            <a:off x="7324011" y="67818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live alerts, pre-consumption</a:t>
            </a:r>
            <a:endParaRPr lang="en-US" sz="1800" dirty="0"/>
          </a:p>
        </p:txBody>
      </p:sp>
      <p:sp>
        <p:nvSpPr>
          <p:cNvPr id="85" name="Shape 83"/>
          <p:cNvSpPr/>
          <p:nvPr/>
        </p:nvSpPr>
        <p:spPr>
          <a:xfrm>
            <a:off x="10791825" y="6586538"/>
            <a:ext cx="1502569" cy="28575"/>
          </a:xfrm>
          <a:prstGeom prst="rect">
            <a:avLst/>
          </a:prstGeom>
          <a:solidFill>
            <a:srgbClr val="C7CEC6"/>
          </a:solidFill>
          <a:ln/>
        </p:spPr>
      </p:sp>
      <p:sp>
        <p:nvSpPr>
          <p:cNvPr id="86" name="Shape 84"/>
          <p:cNvSpPr/>
          <p:nvPr/>
        </p:nvSpPr>
        <p:spPr>
          <a:xfrm>
            <a:off x="12294394" y="6524625"/>
            <a:ext cx="152400" cy="152400"/>
          </a:xfrm>
          <a:prstGeom prst="ellipse">
            <a:avLst/>
          </a:prstGeom>
          <a:solidFill>
            <a:srgbClr val="FDFDFB"/>
          </a:solidFill>
          <a:ln w="38100">
            <a:solidFill>
              <a:srgbClr val="0E7C6B"/>
            </a:solidFill>
            <a:prstDash val="solid"/>
          </a:ln>
        </p:spPr>
      </p:sp>
      <p:sp>
        <p:nvSpPr>
          <p:cNvPr id="87" name="Shape 85"/>
          <p:cNvSpPr/>
          <p:nvPr/>
        </p:nvSpPr>
        <p:spPr>
          <a:xfrm>
            <a:off x="12446794" y="6586538"/>
            <a:ext cx="1502569" cy="28575"/>
          </a:xfrm>
          <a:prstGeom prst="rect">
            <a:avLst/>
          </a:prstGeom>
          <a:solidFill>
            <a:srgbClr val="C7CEC6"/>
          </a:solidFill>
          <a:ln/>
        </p:spPr>
      </p:sp>
      <p:sp>
        <p:nvSpPr>
          <p:cNvPr id="88" name="Text 86"/>
          <p:cNvSpPr/>
          <p:nvPr/>
        </p:nvSpPr>
        <p:spPr>
          <a:xfrm>
            <a:off x="10633948" y="67532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wider topics, self-running</a:t>
            </a:r>
            <a:endParaRPr lang="en-US" sz="1800" dirty="0"/>
          </a:p>
        </p:txBody>
      </p:sp>
      <p:sp>
        <p:nvSpPr>
          <p:cNvPr id="89" name="Shape 87"/>
          <p:cNvSpPr/>
          <p:nvPr/>
        </p:nvSpPr>
        <p:spPr>
          <a:xfrm>
            <a:off x="14101763" y="6586538"/>
            <a:ext cx="1493044" cy="28575"/>
          </a:xfrm>
          <a:prstGeom prst="rect">
            <a:avLst/>
          </a:prstGeom>
          <a:solidFill>
            <a:srgbClr val="C7CEC6"/>
          </a:solidFill>
          <a:ln/>
        </p:spPr>
      </p:sp>
      <p:sp>
        <p:nvSpPr>
          <p:cNvPr id="90" name="Shape 88"/>
          <p:cNvSpPr/>
          <p:nvPr/>
        </p:nvSpPr>
        <p:spPr>
          <a:xfrm>
            <a:off x="15594806" y="6515100"/>
            <a:ext cx="171450" cy="171450"/>
          </a:xfrm>
          <a:prstGeom prst="ellipse">
            <a:avLst/>
          </a:prstGeom>
          <a:solidFill>
            <a:srgbClr val="0E7C6B"/>
          </a:solidFill>
          <a:ln/>
        </p:spPr>
      </p:sp>
      <p:sp>
        <p:nvSpPr>
          <p:cNvPr id="91" name="Text 89"/>
          <p:cNvSpPr/>
          <p:nvPr/>
        </p:nvSpPr>
        <p:spPr>
          <a:xfrm>
            <a:off x="13943886" y="6762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in-path asserts, Tier-1</a:t>
            </a:r>
            <a:endParaRPr lang="en-US" sz="1800" dirty="0"/>
          </a:p>
        </p:txBody>
      </p:sp>
      <p:sp>
        <p:nvSpPr>
          <p:cNvPr id="92" name="Shape 90"/>
          <p:cNvSpPr/>
          <p:nvPr/>
        </p:nvSpPr>
        <p:spPr>
          <a:xfrm>
            <a:off x="4076700" y="7153275"/>
            <a:ext cx="19050" cy="742950"/>
          </a:xfrm>
          <a:prstGeom prst="rect">
            <a:avLst/>
          </a:prstGeom>
          <a:solidFill>
            <a:srgbClr val="1B2530"/>
          </a:solidFill>
          <a:ln/>
        </p:spPr>
      </p:sp>
      <p:sp>
        <p:nvSpPr>
          <p:cNvPr id="93" name="Text 91"/>
          <p:cNvSpPr/>
          <p:nvPr/>
        </p:nvSpPr>
        <p:spPr>
          <a:xfrm>
            <a:off x="952500" y="721042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Lineage — the map</a:t>
            </a:r>
            <a:endParaRPr lang="en-US" sz="1950" dirty="0"/>
          </a:p>
        </p:txBody>
      </p:sp>
      <p:sp>
        <p:nvSpPr>
          <p:cNvPr id="94" name="Text 92"/>
          <p:cNvSpPr/>
          <p:nvPr/>
        </p:nvSpPr>
        <p:spPr>
          <a:xfrm>
            <a:off x="952500" y="753427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LINEAGE &amp; CONFIDENCE</a:t>
            </a:r>
            <a:endParaRPr lang="en-US" sz="1800" dirty="0"/>
          </a:p>
        </p:txBody>
      </p:sp>
      <p:sp>
        <p:nvSpPr>
          <p:cNvPr id="95" name="Shape 93"/>
          <p:cNvSpPr/>
          <p:nvPr/>
        </p:nvSpPr>
        <p:spPr>
          <a:xfrm>
            <a:off x="5674519" y="7267575"/>
            <a:ext cx="152400" cy="152400"/>
          </a:xfrm>
          <a:prstGeom prst="ellipse">
            <a:avLst/>
          </a:prstGeom>
          <a:solidFill>
            <a:srgbClr val="8B99A4"/>
          </a:solidFill>
          <a:ln/>
        </p:spPr>
      </p:sp>
      <p:sp>
        <p:nvSpPr>
          <p:cNvPr id="96" name="Shape 94"/>
          <p:cNvSpPr/>
          <p:nvPr/>
        </p:nvSpPr>
        <p:spPr>
          <a:xfrm>
            <a:off x="5826919" y="7329488"/>
            <a:ext cx="1502569" cy="28575"/>
          </a:xfrm>
          <a:prstGeom prst="rect">
            <a:avLst/>
          </a:prstGeom>
          <a:solidFill>
            <a:srgbClr val="C7CEC6"/>
          </a:solidFill>
          <a:ln/>
        </p:spPr>
      </p:sp>
      <p:sp>
        <p:nvSpPr>
          <p:cNvPr id="97" name="Text 95"/>
          <p:cNvSpPr/>
          <p:nvPr/>
        </p:nvSpPr>
        <p:spPr>
          <a:xfrm>
            <a:off x="4014073"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capture in build</a:t>
            </a:r>
            <a:endParaRPr lang="en-US" sz="1800" dirty="0"/>
          </a:p>
        </p:txBody>
      </p:sp>
      <p:sp>
        <p:nvSpPr>
          <p:cNvPr id="98" name="Shape 96"/>
          <p:cNvSpPr/>
          <p:nvPr/>
        </p:nvSpPr>
        <p:spPr>
          <a:xfrm>
            <a:off x="7405688" y="7153275"/>
            <a:ext cx="3309938" cy="742950"/>
          </a:xfrm>
          <a:prstGeom prst="rect">
            <a:avLst/>
          </a:prstGeom>
          <a:solidFill>
            <a:srgbClr val="FBF3E4"/>
          </a:solidFill>
          <a:ln/>
        </p:spPr>
      </p:sp>
      <p:sp>
        <p:nvSpPr>
          <p:cNvPr id="99" name="Shape 97"/>
          <p:cNvSpPr/>
          <p:nvPr/>
        </p:nvSpPr>
        <p:spPr>
          <a:xfrm>
            <a:off x="7481887" y="7329488"/>
            <a:ext cx="1473994" cy="28575"/>
          </a:xfrm>
          <a:prstGeom prst="rect">
            <a:avLst/>
          </a:prstGeom>
          <a:solidFill>
            <a:srgbClr val="C7CEC6"/>
          </a:solidFill>
          <a:ln/>
        </p:spPr>
      </p:sp>
      <p:sp>
        <p:nvSpPr>
          <p:cNvPr id="100" name="Shape 98"/>
          <p:cNvSpPr/>
          <p:nvPr/>
        </p:nvSpPr>
        <p:spPr>
          <a:xfrm rot="2700000">
            <a:off x="8955881" y="7239000"/>
            <a:ext cx="209550" cy="209550"/>
          </a:xfrm>
          <a:prstGeom prst="roundRect">
            <a:avLst>
              <a:gd name="adj" fmla="val 18182"/>
            </a:avLst>
          </a:prstGeom>
          <a:solidFill>
            <a:srgbClr val="B97417"/>
          </a:solidFill>
          <a:ln/>
        </p:spPr>
      </p:sp>
      <p:sp>
        <p:nvSpPr>
          <p:cNvPr id="101" name="Shape 99"/>
          <p:cNvSpPr/>
          <p:nvPr/>
        </p:nvSpPr>
        <p:spPr>
          <a:xfrm>
            <a:off x="9165431" y="7329488"/>
            <a:ext cx="1473994" cy="28575"/>
          </a:xfrm>
          <a:prstGeom prst="rect">
            <a:avLst/>
          </a:prstGeom>
          <a:solidFill>
            <a:srgbClr val="C7CEC6"/>
          </a:solidFill>
          <a:ln/>
        </p:spPr>
      </p:sp>
      <p:sp>
        <p:nvSpPr>
          <p:cNvPr id="102" name="Text 100"/>
          <p:cNvSpPr/>
          <p:nvPr/>
        </p:nvSpPr>
        <p:spPr>
          <a:xfrm>
            <a:off x="7324011" y="75247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joined + blast radius</a:t>
            </a:r>
            <a:endParaRPr lang="en-US" sz="1800" dirty="0"/>
          </a:p>
        </p:txBody>
      </p:sp>
      <p:sp>
        <p:nvSpPr>
          <p:cNvPr id="103" name="Shape 101"/>
          <p:cNvSpPr/>
          <p:nvPr/>
        </p:nvSpPr>
        <p:spPr>
          <a:xfrm>
            <a:off x="10791825" y="7329488"/>
            <a:ext cx="1502569" cy="28575"/>
          </a:xfrm>
          <a:prstGeom prst="rect">
            <a:avLst/>
          </a:prstGeom>
          <a:solidFill>
            <a:srgbClr val="C7CEC6"/>
          </a:solidFill>
          <a:ln/>
        </p:spPr>
      </p:sp>
      <p:sp>
        <p:nvSpPr>
          <p:cNvPr id="104" name="Shape 102"/>
          <p:cNvSpPr/>
          <p:nvPr/>
        </p:nvSpPr>
        <p:spPr>
          <a:xfrm>
            <a:off x="12294394" y="7267575"/>
            <a:ext cx="152400" cy="152400"/>
          </a:xfrm>
          <a:prstGeom prst="ellipse">
            <a:avLst/>
          </a:prstGeom>
          <a:solidFill>
            <a:srgbClr val="FDFDFB"/>
          </a:solidFill>
          <a:ln w="38100">
            <a:solidFill>
              <a:srgbClr val="0E7C6B"/>
            </a:solidFill>
            <a:prstDash val="solid"/>
          </a:ln>
        </p:spPr>
      </p:sp>
      <p:sp>
        <p:nvSpPr>
          <p:cNvPr id="105" name="Shape 103"/>
          <p:cNvSpPr/>
          <p:nvPr/>
        </p:nvSpPr>
        <p:spPr>
          <a:xfrm>
            <a:off x="12446794" y="7329488"/>
            <a:ext cx="1502569" cy="28575"/>
          </a:xfrm>
          <a:prstGeom prst="rect">
            <a:avLst/>
          </a:prstGeom>
          <a:solidFill>
            <a:srgbClr val="C7CEC6"/>
          </a:solidFill>
          <a:ln/>
        </p:spPr>
      </p:sp>
      <p:sp>
        <p:nvSpPr>
          <p:cNvPr id="106" name="Text 104"/>
          <p:cNvSpPr/>
          <p:nvPr/>
        </p:nvSpPr>
        <p:spPr>
          <a:xfrm>
            <a:off x="10633948" y="749617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trust-scored, self-refreshing</a:t>
            </a:r>
            <a:endParaRPr lang="en-US" sz="1800" dirty="0"/>
          </a:p>
        </p:txBody>
      </p:sp>
      <p:sp>
        <p:nvSpPr>
          <p:cNvPr id="107" name="Shape 105"/>
          <p:cNvSpPr/>
          <p:nvPr/>
        </p:nvSpPr>
        <p:spPr>
          <a:xfrm>
            <a:off x="14101763" y="7329488"/>
            <a:ext cx="1493044" cy="28575"/>
          </a:xfrm>
          <a:prstGeom prst="rect">
            <a:avLst/>
          </a:prstGeom>
          <a:solidFill>
            <a:srgbClr val="C7CEC6"/>
          </a:solidFill>
          <a:ln/>
        </p:spPr>
      </p:sp>
      <p:sp>
        <p:nvSpPr>
          <p:cNvPr id="108" name="Shape 106"/>
          <p:cNvSpPr/>
          <p:nvPr/>
        </p:nvSpPr>
        <p:spPr>
          <a:xfrm>
            <a:off x="15594806" y="7258050"/>
            <a:ext cx="171450" cy="171450"/>
          </a:xfrm>
          <a:prstGeom prst="ellipse">
            <a:avLst/>
          </a:prstGeom>
          <a:solidFill>
            <a:srgbClr val="0E7C6B"/>
          </a:solidFill>
          <a:ln/>
        </p:spPr>
      </p:sp>
      <p:sp>
        <p:nvSpPr>
          <p:cNvPr id="109" name="Text 107"/>
          <p:cNvSpPr/>
          <p:nvPr/>
        </p:nvSpPr>
        <p:spPr>
          <a:xfrm>
            <a:off x="13943886" y="7505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column-level + simulation</a:t>
            </a:r>
            <a:endParaRPr lang="en-US" sz="1800" dirty="0"/>
          </a:p>
        </p:txBody>
      </p:sp>
      <p:sp>
        <p:nvSpPr>
          <p:cNvPr id="110" name="Shape 108"/>
          <p:cNvSpPr/>
          <p:nvPr/>
        </p:nvSpPr>
        <p:spPr>
          <a:xfrm>
            <a:off x="4076700" y="7896225"/>
            <a:ext cx="19050" cy="742950"/>
          </a:xfrm>
          <a:prstGeom prst="rect">
            <a:avLst/>
          </a:prstGeom>
          <a:solidFill>
            <a:srgbClr val="1B2530"/>
          </a:solidFill>
          <a:ln/>
        </p:spPr>
      </p:sp>
      <p:sp>
        <p:nvSpPr>
          <p:cNvPr id="111" name="Text 109"/>
          <p:cNvSpPr/>
          <p:nvPr/>
        </p:nvSpPr>
        <p:spPr>
          <a:xfrm>
            <a:off x="952500" y="7953375"/>
            <a:ext cx="326898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Data contracts</a:t>
            </a:r>
            <a:endParaRPr lang="en-US" sz="1950" dirty="0"/>
          </a:p>
        </p:txBody>
      </p:sp>
      <p:sp>
        <p:nvSpPr>
          <p:cNvPr id="112" name="Text 110"/>
          <p:cNvSpPr/>
          <p:nvPr/>
        </p:nvSpPr>
        <p:spPr>
          <a:xfrm>
            <a:off x="952500" y="8277225"/>
            <a:ext cx="3268980" cy="3429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DATA QUALITY</a:t>
            </a:r>
            <a:endParaRPr lang="en-US" sz="1800" dirty="0"/>
          </a:p>
        </p:txBody>
      </p:sp>
      <p:sp>
        <p:nvSpPr>
          <p:cNvPr id="113" name="Shape 111"/>
          <p:cNvSpPr/>
          <p:nvPr/>
        </p:nvSpPr>
        <p:spPr>
          <a:xfrm>
            <a:off x="5674519" y="8010525"/>
            <a:ext cx="152400" cy="152400"/>
          </a:xfrm>
          <a:prstGeom prst="ellipse">
            <a:avLst/>
          </a:prstGeom>
          <a:solidFill>
            <a:srgbClr val="8B99A4"/>
          </a:solidFill>
          <a:ln/>
        </p:spPr>
      </p:sp>
      <p:sp>
        <p:nvSpPr>
          <p:cNvPr id="114" name="Shape 112"/>
          <p:cNvSpPr/>
          <p:nvPr/>
        </p:nvSpPr>
        <p:spPr>
          <a:xfrm>
            <a:off x="5826919" y="8072438"/>
            <a:ext cx="1502569" cy="28575"/>
          </a:xfrm>
          <a:prstGeom prst="rect">
            <a:avLst/>
          </a:prstGeom>
          <a:solidFill>
            <a:srgbClr val="C7CEC6"/>
          </a:solidFill>
          <a:ln/>
        </p:spPr>
      </p:sp>
      <p:sp>
        <p:nvSpPr>
          <p:cNvPr id="115" name="Text 113"/>
          <p:cNvSpPr/>
          <p:nvPr/>
        </p:nvSpPr>
        <p:spPr>
          <a:xfrm>
            <a:off x="4014073"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design only</a:t>
            </a:r>
            <a:endParaRPr lang="en-US" sz="1800" dirty="0"/>
          </a:p>
        </p:txBody>
      </p:sp>
      <p:sp>
        <p:nvSpPr>
          <p:cNvPr id="116" name="Shape 114"/>
          <p:cNvSpPr/>
          <p:nvPr/>
        </p:nvSpPr>
        <p:spPr>
          <a:xfrm>
            <a:off x="7405688" y="7896225"/>
            <a:ext cx="3309938" cy="742950"/>
          </a:xfrm>
          <a:prstGeom prst="rect">
            <a:avLst/>
          </a:prstGeom>
          <a:solidFill>
            <a:srgbClr val="FBF3E4"/>
          </a:solidFill>
          <a:ln/>
        </p:spPr>
      </p:sp>
      <p:sp>
        <p:nvSpPr>
          <p:cNvPr id="117" name="Shape 115"/>
          <p:cNvSpPr/>
          <p:nvPr/>
        </p:nvSpPr>
        <p:spPr>
          <a:xfrm>
            <a:off x="7481887" y="8072438"/>
            <a:ext cx="1473994" cy="28575"/>
          </a:xfrm>
          <a:prstGeom prst="rect">
            <a:avLst/>
          </a:prstGeom>
          <a:solidFill>
            <a:srgbClr val="C7CEC6"/>
          </a:solidFill>
          <a:ln/>
        </p:spPr>
      </p:sp>
      <p:sp>
        <p:nvSpPr>
          <p:cNvPr id="118" name="Shape 116"/>
          <p:cNvSpPr/>
          <p:nvPr/>
        </p:nvSpPr>
        <p:spPr>
          <a:xfrm rot="2700000">
            <a:off x="8955881" y="7981950"/>
            <a:ext cx="209550" cy="209550"/>
          </a:xfrm>
          <a:prstGeom prst="roundRect">
            <a:avLst>
              <a:gd name="adj" fmla="val 18182"/>
            </a:avLst>
          </a:prstGeom>
          <a:solidFill>
            <a:srgbClr val="B97417"/>
          </a:solidFill>
          <a:ln/>
        </p:spPr>
      </p:sp>
      <p:sp>
        <p:nvSpPr>
          <p:cNvPr id="119" name="Shape 117"/>
          <p:cNvSpPr/>
          <p:nvPr/>
        </p:nvSpPr>
        <p:spPr>
          <a:xfrm>
            <a:off x="9165431" y="8072438"/>
            <a:ext cx="1473994" cy="28575"/>
          </a:xfrm>
          <a:prstGeom prst="rect">
            <a:avLst/>
          </a:prstGeom>
          <a:solidFill>
            <a:srgbClr val="C7CEC6"/>
          </a:solidFill>
          <a:ln/>
        </p:spPr>
      </p:sp>
      <p:sp>
        <p:nvSpPr>
          <p:cNvPr id="120" name="Text 118"/>
          <p:cNvSpPr/>
          <p:nvPr/>
        </p:nvSpPr>
        <p:spPr>
          <a:xfrm>
            <a:off x="7324011" y="826770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format + registry ready</a:t>
            </a:r>
            <a:endParaRPr lang="en-US" sz="1800" dirty="0"/>
          </a:p>
        </p:txBody>
      </p:sp>
      <p:sp>
        <p:nvSpPr>
          <p:cNvPr id="121" name="Shape 119"/>
          <p:cNvSpPr/>
          <p:nvPr/>
        </p:nvSpPr>
        <p:spPr>
          <a:xfrm>
            <a:off x="10791825" y="8072438"/>
            <a:ext cx="1502569" cy="28575"/>
          </a:xfrm>
          <a:prstGeom prst="rect">
            <a:avLst/>
          </a:prstGeom>
          <a:solidFill>
            <a:srgbClr val="C7CEC6"/>
          </a:solidFill>
          <a:ln/>
        </p:spPr>
      </p:sp>
      <p:sp>
        <p:nvSpPr>
          <p:cNvPr id="122" name="Shape 120"/>
          <p:cNvSpPr/>
          <p:nvPr/>
        </p:nvSpPr>
        <p:spPr>
          <a:xfrm>
            <a:off x="12294394" y="8010525"/>
            <a:ext cx="152400" cy="152400"/>
          </a:xfrm>
          <a:prstGeom prst="ellipse">
            <a:avLst/>
          </a:prstGeom>
          <a:solidFill>
            <a:srgbClr val="FDFDFB"/>
          </a:solidFill>
          <a:ln w="38100">
            <a:solidFill>
              <a:srgbClr val="0E7C6B"/>
            </a:solidFill>
            <a:prstDash val="solid"/>
          </a:ln>
        </p:spPr>
      </p:sp>
      <p:sp>
        <p:nvSpPr>
          <p:cNvPr id="123" name="Shape 121"/>
          <p:cNvSpPr/>
          <p:nvPr/>
        </p:nvSpPr>
        <p:spPr>
          <a:xfrm>
            <a:off x="12446794" y="8072438"/>
            <a:ext cx="1502569" cy="28575"/>
          </a:xfrm>
          <a:prstGeom prst="rect">
            <a:avLst/>
          </a:prstGeom>
          <a:solidFill>
            <a:srgbClr val="C7CEC6"/>
          </a:solidFill>
          <a:ln/>
        </p:spPr>
      </p:sp>
      <p:sp>
        <p:nvSpPr>
          <p:cNvPr id="124" name="Text 122"/>
          <p:cNvSpPr/>
          <p:nvPr/>
        </p:nvSpPr>
        <p:spPr>
          <a:xfrm>
            <a:off x="10633948" y="8239125"/>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producer-accepted, enforced</a:t>
            </a:r>
            <a:endParaRPr lang="en-US" sz="1800" dirty="0"/>
          </a:p>
        </p:txBody>
      </p:sp>
      <p:sp>
        <p:nvSpPr>
          <p:cNvPr id="125" name="Shape 123"/>
          <p:cNvSpPr/>
          <p:nvPr/>
        </p:nvSpPr>
        <p:spPr>
          <a:xfrm>
            <a:off x="14101763" y="8072438"/>
            <a:ext cx="1493044" cy="28575"/>
          </a:xfrm>
          <a:prstGeom prst="rect">
            <a:avLst/>
          </a:prstGeom>
          <a:solidFill>
            <a:srgbClr val="C7CEC6"/>
          </a:solidFill>
          <a:ln/>
        </p:spPr>
      </p:sp>
      <p:sp>
        <p:nvSpPr>
          <p:cNvPr id="126" name="Shape 124"/>
          <p:cNvSpPr/>
          <p:nvPr/>
        </p:nvSpPr>
        <p:spPr>
          <a:xfrm>
            <a:off x="15594806" y="8001000"/>
            <a:ext cx="171450" cy="171450"/>
          </a:xfrm>
          <a:prstGeom prst="ellipse">
            <a:avLst/>
          </a:prstGeom>
          <a:solidFill>
            <a:srgbClr val="0E7C6B"/>
          </a:solidFill>
          <a:ln/>
        </p:spPr>
      </p:sp>
      <p:sp>
        <p:nvSpPr>
          <p:cNvPr id="127" name="Text 125"/>
          <p:cNvSpPr/>
          <p:nvPr/>
        </p:nvSpPr>
        <p:spPr>
          <a:xfrm>
            <a:off x="13943886" y="8248650"/>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gate + in-path, Tier-1</a:t>
            </a:r>
            <a:endParaRPr lang="en-US" sz="1800" dirty="0"/>
          </a:p>
        </p:txBody>
      </p:sp>
      <p:sp>
        <p:nvSpPr>
          <p:cNvPr id="128" name="Shape 126"/>
          <p:cNvSpPr/>
          <p:nvPr/>
        </p:nvSpPr>
        <p:spPr>
          <a:xfrm>
            <a:off x="4076700" y="8639175"/>
            <a:ext cx="19050" cy="1343025"/>
          </a:xfrm>
          <a:prstGeom prst="rect">
            <a:avLst/>
          </a:prstGeom>
          <a:solidFill>
            <a:srgbClr val="1B2530"/>
          </a:solidFill>
          <a:ln/>
        </p:spPr>
      </p:sp>
      <p:sp>
        <p:nvSpPr>
          <p:cNvPr id="129" name="Text 127"/>
          <p:cNvSpPr/>
          <p:nvPr/>
        </p:nvSpPr>
        <p:spPr>
          <a:xfrm>
            <a:off x="952500" y="8696325"/>
            <a:ext cx="3060954" cy="628650"/>
          </a:xfrm>
          <a:prstGeom prst="rect">
            <a:avLst/>
          </a:prstGeom>
          <a:noFill/>
          <a:ln/>
        </p:spPr>
        <p:txBody>
          <a:bodyPr wrap="square" lIns="25400" tIns="25400" rIns="25400" bIns="25400" rtlCol="0" anchor="t">
            <a:normAutofit/>
          </a:bodyPr>
          <a:lstStyle/>
          <a:p>
            <a:pPr algn="l" indent="0" marL="0">
              <a:buNone/>
            </a:pPr>
            <a:r>
              <a:rPr lang="en-US" sz="1950" b="1" dirty="0">
                <a:solidFill>
                  <a:srgbClr val="1B2530"/>
                </a:solidFill>
                <a:latin typeface="Bricolage Grotesque" pitchFamily="34" charset="0"/>
                <a:ea typeface="Bricolage Grotesque" pitchFamily="34" charset="-122"/>
                <a:cs typeface="Bricolage Grotesque" pitchFamily="34" charset="-120"/>
              </a:rPr>
              <a:t>Dashboard + onboarding</a:t>
            </a:r>
            <a:endParaRPr lang="en-US" sz="1950" dirty="0"/>
          </a:p>
        </p:txBody>
      </p:sp>
      <p:sp>
        <p:nvSpPr>
          <p:cNvPr id="130" name="Text 128"/>
          <p:cNvSpPr/>
          <p:nvPr/>
        </p:nvSpPr>
        <p:spPr>
          <a:xfrm>
            <a:off x="952500" y="9315450"/>
            <a:ext cx="3060954" cy="647700"/>
          </a:xfrm>
          <a:prstGeom prst="rect">
            <a:avLst/>
          </a:prstGeom>
          <a:noFill/>
          <a:ln/>
        </p:spPr>
        <p:txBody>
          <a:bodyPr wrap="square" lIns="25400" tIns="25400" rIns="25400" bIns="25400" rtlCol="0" anchor="t">
            <a:normAutofit/>
          </a:bodyPr>
          <a:lstStyle/>
          <a:p>
            <a:pPr algn="l" indent="0" marL="0">
              <a:buNone/>
            </a:pPr>
            <a:r>
              <a:rPr lang="en-US" sz="1800" b="1" spc="72" kern="0" dirty="0">
                <a:solidFill>
                  <a:srgbClr val="5B6873"/>
                </a:solidFill>
                <a:latin typeface="IBM Plex Mono" pitchFamily="34" charset="0"/>
                <a:ea typeface="IBM Plex Mono" pitchFamily="34" charset="-122"/>
                <a:cs typeface="IBM Plex Mono" pitchFamily="34" charset="-120"/>
              </a:rPr>
              <a:t>ONBOARDING &amp; EXPERIENCE</a:t>
            </a:r>
            <a:endParaRPr lang="en-US" sz="1800" dirty="0"/>
          </a:p>
        </p:txBody>
      </p:sp>
      <p:sp>
        <p:nvSpPr>
          <p:cNvPr id="131" name="Shape 129"/>
          <p:cNvSpPr/>
          <p:nvPr/>
        </p:nvSpPr>
        <p:spPr>
          <a:xfrm>
            <a:off x="5674519" y="9053513"/>
            <a:ext cx="152400" cy="152400"/>
          </a:xfrm>
          <a:prstGeom prst="ellipse">
            <a:avLst/>
          </a:prstGeom>
          <a:solidFill>
            <a:srgbClr val="8B99A4"/>
          </a:solidFill>
          <a:ln/>
        </p:spPr>
      </p:sp>
      <p:sp>
        <p:nvSpPr>
          <p:cNvPr id="132" name="Shape 130"/>
          <p:cNvSpPr/>
          <p:nvPr/>
        </p:nvSpPr>
        <p:spPr>
          <a:xfrm>
            <a:off x="5826919" y="9115425"/>
            <a:ext cx="1502569" cy="28575"/>
          </a:xfrm>
          <a:prstGeom prst="rect">
            <a:avLst/>
          </a:prstGeom>
          <a:solidFill>
            <a:srgbClr val="C7CEC6"/>
          </a:solidFill>
          <a:ln/>
        </p:spPr>
      </p:sp>
      <p:sp>
        <p:nvSpPr>
          <p:cNvPr id="133" name="Text 131"/>
          <p:cNvSpPr/>
          <p:nvPr/>
        </p:nvSpPr>
        <p:spPr>
          <a:xfrm>
            <a:off x="4014073"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hand-run pilot</a:t>
            </a:r>
            <a:endParaRPr lang="en-US" sz="1800" dirty="0"/>
          </a:p>
        </p:txBody>
      </p:sp>
      <p:sp>
        <p:nvSpPr>
          <p:cNvPr id="134" name="Shape 132"/>
          <p:cNvSpPr/>
          <p:nvPr/>
        </p:nvSpPr>
        <p:spPr>
          <a:xfrm>
            <a:off x="7405688" y="8639175"/>
            <a:ext cx="3309938" cy="1343025"/>
          </a:xfrm>
          <a:prstGeom prst="rect">
            <a:avLst/>
          </a:prstGeom>
          <a:solidFill>
            <a:srgbClr val="FBF3E4"/>
          </a:solidFill>
          <a:ln/>
        </p:spPr>
      </p:sp>
      <p:sp>
        <p:nvSpPr>
          <p:cNvPr id="135" name="Shape 133"/>
          <p:cNvSpPr/>
          <p:nvPr/>
        </p:nvSpPr>
        <p:spPr>
          <a:xfrm>
            <a:off x="7481887" y="9115425"/>
            <a:ext cx="1473994" cy="28575"/>
          </a:xfrm>
          <a:prstGeom prst="rect">
            <a:avLst/>
          </a:prstGeom>
          <a:solidFill>
            <a:srgbClr val="C7CEC6"/>
          </a:solidFill>
          <a:ln/>
        </p:spPr>
      </p:sp>
      <p:sp>
        <p:nvSpPr>
          <p:cNvPr id="136" name="Shape 134"/>
          <p:cNvSpPr/>
          <p:nvPr/>
        </p:nvSpPr>
        <p:spPr>
          <a:xfrm rot="2700000">
            <a:off x="8955881" y="9024937"/>
            <a:ext cx="209550" cy="209550"/>
          </a:xfrm>
          <a:prstGeom prst="roundRect">
            <a:avLst>
              <a:gd name="adj" fmla="val 18182"/>
            </a:avLst>
          </a:prstGeom>
          <a:solidFill>
            <a:srgbClr val="B97417"/>
          </a:solidFill>
          <a:ln/>
        </p:spPr>
      </p:sp>
      <p:sp>
        <p:nvSpPr>
          <p:cNvPr id="137" name="Shape 135"/>
          <p:cNvSpPr/>
          <p:nvPr/>
        </p:nvSpPr>
        <p:spPr>
          <a:xfrm>
            <a:off x="9165431" y="9115425"/>
            <a:ext cx="1473994" cy="28575"/>
          </a:xfrm>
          <a:prstGeom prst="rect">
            <a:avLst/>
          </a:prstGeom>
          <a:solidFill>
            <a:srgbClr val="C7CEC6"/>
          </a:solidFill>
          <a:ln/>
        </p:spPr>
      </p:sp>
      <p:sp>
        <p:nvSpPr>
          <p:cNvPr id="138" name="Text 136"/>
          <p:cNvSpPr/>
          <p:nvPr/>
        </p:nvSpPr>
        <p:spPr>
          <a:xfrm>
            <a:off x="7324011" y="931068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one pane + causal view</a:t>
            </a:r>
            <a:endParaRPr lang="en-US" sz="1800" dirty="0"/>
          </a:p>
        </p:txBody>
      </p:sp>
      <p:sp>
        <p:nvSpPr>
          <p:cNvPr id="139" name="Shape 137"/>
          <p:cNvSpPr/>
          <p:nvPr/>
        </p:nvSpPr>
        <p:spPr>
          <a:xfrm>
            <a:off x="10791825" y="9115425"/>
            <a:ext cx="1502569" cy="28575"/>
          </a:xfrm>
          <a:prstGeom prst="rect">
            <a:avLst/>
          </a:prstGeom>
          <a:solidFill>
            <a:srgbClr val="C7CEC6"/>
          </a:solidFill>
          <a:ln/>
        </p:spPr>
      </p:sp>
      <p:sp>
        <p:nvSpPr>
          <p:cNvPr id="140" name="Shape 138"/>
          <p:cNvSpPr/>
          <p:nvPr/>
        </p:nvSpPr>
        <p:spPr>
          <a:xfrm>
            <a:off x="12294394" y="9053513"/>
            <a:ext cx="152400" cy="152400"/>
          </a:xfrm>
          <a:prstGeom prst="ellipse">
            <a:avLst/>
          </a:prstGeom>
          <a:solidFill>
            <a:srgbClr val="FDFDFB"/>
          </a:solidFill>
          <a:ln w="38100">
            <a:solidFill>
              <a:srgbClr val="0E7C6B"/>
            </a:solidFill>
            <a:prstDash val="solid"/>
          </a:ln>
        </p:spPr>
      </p:sp>
      <p:sp>
        <p:nvSpPr>
          <p:cNvPr id="141" name="Shape 139"/>
          <p:cNvSpPr/>
          <p:nvPr/>
        </p:nvSpPr>
        <p:spPr>
          <a:xfrm>
            <a:off x="12446794" y="9115425"/>
            <a:ext cx="1502569" cy="28575"/>
          </a:xfrm>
          <a:prstGeom prst="rect">
            <a:avLst/>
          </a:prstGeom>
          <a:solidFill>
            <a:srgbClr val="C7CEC6"/>
          </a:solidFill>
          <a:ln/>
        </p:spPr>
      </p:sp>
      <p:sp>
        <p:nvSpPr>
          <p:cNvPr id="142" name="Text 140"/>
          <p:cNvSpPr/>
          <p:nvPr/>
        </p:nvSpPr>
        <p:spPr>
          <a:xfrm>
            <a:off x="10633948" y="9282113"/>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templated, ≤ 2 wks</a:t>
            </a:r>
            <a:endParaRPr lang="en-US" sz="1800" dirty="0"/>
          </a:p>
        </p:txBody>
      </p:sp>
      <p:sp>
        <p:nvSpPr>
          <p:cNvPr id="143" name="Shape 141"/>
          <p:cNvSpPr/>
          <p:nvPr/>
        </p:nvSpPr>
        <p:spPr>
          <a:xfrm>
            <a:off x="14101763" y="9115425"/>
            <a:ext cx="1493044" cy="28575"/>
          </a:xfrm>
          <a:prstGeom prst="rect">
            <a:avLst/>
          </a:prstGeom>
          <a:solidFill>
            <a:srgbClr val="C7CEC6"/>
          </a:solidFill>
          <a:ln/>
        </p:spPr>
      </p:sp>
      <p:sp>
        <p:nvSpPr>
          <p:cNvPr id="144" name="Shape 142"/>
          <p:cNvSpPr/>
          <p:nvPr/>
        </p:nvSpPr>
        <p:spPr>
          <a:xfrm>
            <a:off x="15594806" y="9043988"/>
            <a:ext cx="171450" cy="171450"/>
          </a:xfrm>
          <a:prstGeom prst="ellipse">
            <a:avLst/>
          </a:prstGeom>
          <a:solidFill>
            <a:srgbClr val="0E7C6B"/>
          </a:solidFill>
          <a:ln/>
        </p:spPr>
      </p:sp>
      <p:sp>
        <p:nvSpPr>
          <p:cNvPr id="145" name="Text 143"/>
          <p:cNvSpPr/>
          <p:nvPr/>
        </p:nvSpPr>
        <p:spPr>
          <a:xfrm>
            <a:off x="13943886" y="9291638"/>
            <a:ext cx="3473291" cy="323850"/>
          </a:xfrm>
          <a:prstGeom prst="rect">
            <a:avLst/>
          </a:prstGeom>
          <a:noFill/>
          <a:ln/>
        </p:spPr>
        <p:txBody>
          <a:bodyPr wrap="square" lIns="25400" tIns="25400" rIns="25400" bIns="25400" rtlCol="0" anchor="t">
            <a:normAutofit/>
          </a:bodyPr>
          <a:lstStyle/>
          <a:p>
            <a:pPr algn="ctr" indent="0" marL="0">
              <a:lnSpc>
                <a:spcPct val="90909"/>
              </a:lnSpc>
              <a:buNone/>
            </a:pPr>
            <a:r>
              <a:rPr lang="en-US" sz="1800" dirty="0">
                <a:solidFill>
                  <a:srgbClr val="3D4A55"/>
                </a:solidFill>
                <a:latin typeface="Source Serif 4" pitchFamily="34" charset="0"/>
                <a:ea typeface="Source Serif 4" pitchFamily="34" charset="-122"/>
                <a:cs typeface="Source Serif 4" pitchFamily="34" charset="-120"/>
              </a:rPr>
              <a:t>self-serve + posture</a:t>
            </a:r>
            <a:endParaRPr lang="en-US" sz="1800" dirty="0"/>
          </a:p>
        </p:txBody>
      </p:sp>
      <p:sp>
        <p:nvSpPr>
          <p:cNvPr id="146" name="Shape 144"/>
          <p:cNvSpPr/>
          <p:nvPr/>
        </p:nvSpPr>
        <p:spPr>
          <a:xfrm>
            <a:off x="952500" y="9639300"/>
            <a:ext cx="133350" cy="133350"/>
          </a:xfrm>
          <a:prstGeom prst="ellipse">
            <a:avLst/>
          </a:prstGeom>
          <a:solidFill>
            <a:srgbClr val="8B99A4"/>
          </a:solidFill>
          <a:ln/>
        </p:spPr>
      </p:sp>
      <p:sp>
        <p:nvSpPr>
          <p:cNvPr id="147" name="Text 145"/>
          <p:cNvSpPr/>
          <p:nvPr/>
        </p:nvSpPr>
        <p:spPr>
          <a:xfrm>
            <a:off x="1181100" y="9553575"/>
            <a:ext cx="7620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today</a:t>
            </a:r>
            <a:endParaRPr lang="en-US" sz="1800" dirty="0"/>
          </a:p>
        </p:txBody>
      </p:sp>
      <p:sp>
        <p:nvSpPr>
          <p:cNvPr id="148" name="Shape 146"/>
          <p:cNvSpPr/>
          <p:nvPr/>
        </p:nvSpPr>
        <p:spPr>
          <a:xfrm rot="2700000">
            <a:off x="2133600" y="9629775"/>
            <a:ext cx="152400" cy="152400"/>
          </a:xfrm>
          <a:prstGeom prst="roundRect">
            <a:avLst>
              <a:gd name="adj" fmla="val 18750"/>
            </a:avLst>
          </a:prstGeom>
          <a:solidFill>
            <a:srgbClr val="B97417"/>
          </a:solidFill>
          <a:ln/>
        </p:spPr>
      </p:sp>
      <p:sp>
        <p:nvSpPr>
          <p:cNvPr id="149" name="Text 147"/>
          <p:cNvSpPr/>
          <p:nvPr/>
        </p:nvSpPr>
        <p:spPr>
          <a:xfrm>
            <a:off x="2381250" y="9553575"/>
            <a:ext cx="24140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M5 go/no-go gate</a:t>
            </a:r>
            <a:endParaRPr lang="en-US" sz="1800" dirty="0"/>
          </a:p>
        </p:txBody>
      </p:sp>
      <p:sp>
        <p:nvSpPr>
          <p:cNvPr id="150" name="Shape 148"/>
          <p:cNvSpPr/>
          <p:nvPr/>
        </p:nvSpPr>
        <p:spPr>
          <a:xfrm>
            <a:off x="4842570" y="9639300"/>
            <a:ext cx="133350" cy="133350"/>
          </a:xfrm>
          <a:prstGeom prst="ellipse">
            <a:avLst/>
          </a:prstGeom>
          <a:solidFill>
            <a:srgbClr val="FDFDFB"/>
          </a:solidFill>
          <a:ln w="38100">
            <a:solidFill>
              <a:srgbClr val="0E7C6B"/>
            </a:solidFill>
            <a:prstDash val="solid"/>
          </a:ln>
        </p:spPr>
      </p:sp>
      <p:sp>
        <p:nvSpPr>
          <p:cNvPr id="151" name="Text 149"/>
          <p:cNvSpPr/>
          <p:nvPr/>
        </p:nvSpPr>
        <p:spPr>
          <a:xfrm>
            <a:off x="5071170" y="9553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via the gate</a:t>
            </a:r>
            <a:endParaRPr lang="en-US" sz="1800" dirty="0"/>
          </a:p>
        </p:txBody>
      </p:sp>
      <p:sp>
        <p:nvSpPr>
          <p:cNvPr id="152" name="Shape 150"/>
          <p:cNvSpPr/>
          <p:nvPr/>
        </p:nvSpPr>
        <p:spPr>
          <a:xfrm>
            <a:off x="6983909" y="9629775"/>
            <a:ext cx="152400" cy="152400"/>
          </a:xfrm>
          <a:prstGeom prst="ellipse">
            <a:avLst/>
          </a:prstGeom>
          <a:solidFill>
            <a:srgbClr val="0E7C6B"/>
          </a:solidFill>
          <a:ln/>
        </p:spPr>
      </p:sp>
      <p:sp>
        <p:nvSpPr>
          <p:cNvPr id="153" name="Text 151"/>
          <p:cNvSpPr/>
          <p:nvPr/>
        </p:nvSpPr>
        <p:spPr>
          <a:xfrm>
            <a:off x="7231559" y="9553575"/>
            <a:ext cx="135798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IBM Plex Mono" pitchFamily="34" charset="0"/>
                <a:ea typeface="IBM Plex Mono" pitchFamily="34" charset="-122"/>
                <a:cs typeface="IBM Plex Mono" pitchFamily="34" charset="-120"/>
              </a:rPr>
              <a:t>end state</a:t>
            </a:r>
            <a:endParaRPr lang="en-US" sz="1800" dirty="0"/>
          </a:p>
        </p:txBody>
      </p:sp>
      <p:sp>
        <p:nvSpPr>
          <p:cNvPr id="154" name="Text 152"/>
          <p:cNvSpPr/>
          <p:nvPr/>
        </p:nvSpPr>
        <p:spPr>
          <a:xfrm>
            <a:off x="9720858" y="9544050"/>
            <a:ext cx="8376106" cy="361950"/>
          </a:xfrm>
          <a:prstGeom prst="rect">
            <a:avLst/>
          </a:prstGeom>
          <a:noFill/>
          <a:ln/>
        </p:spPr>
        <p:txBody>
          <a:bodyPr wrap="square" lIns="25400" tIns="25400" rIns="25400" bIns="25400" rtlCol="0" anchor="t">
            <a:normAutofit/>
          </a:bodyPr>
          <a:lstStyle/>
          <a:p>
            <a:pPr algn="l" indent="0" marL="0">
              <a:buNone/>
            </a:pPr>
            <a:r>
              <a:rPr lang="en-US" sz="1875" i="1" dirty="0">
                <a:solidFill>
                  <a:srgbClr val="5B6873"/>
                </a:solidFill>
                <a:latin typeface="Source Serif 4" pitchFamily="34" charset="0"/>
                <a:ea typeface="Source Serif 4" pitchFamily="34" charset="-122"/>
                <a:cs typeface="Source Serif 4" pitchFamily="34" charset="-120"/>
              </a:rPr>
              <a:t>No pillar jumps two levels in a phase; depth is matched to asset tier.</a:t>
            </a:r>
            <a:endParaRPr lang="en-US" sz="18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1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Lineage &amp; Confidence — the platform core</a:t>
            </a:r>
            <a:endParaRPr lang="en-US" sz="4500" dirty="0"/>
          </a:p>
        </p:txBody>
      </p:sp>
      <p:sp>
        <p:nvSpPr>
          <p:cNvPr id="4" name="Shape 2"/>
          <p:cNvSpPr/>
          <p:nvPr/>
        </p:nvSpPr>
        <p:spPr>
          <a:xfrm>
            <a:off x="952500" y="2295525"/>
            <a:ext cx="2926110" cy="1962150"/>
          </a:xfrm>
          <a:prstGeom prst="roundRect">
            <a:avLst>
              <a:gd name="adj" fmla="val 4854"/>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Capture</a:t>
            </a:r>
            <a:endParaRPr lang="en-US" sz="1875" dirty="0"/>
          </a:p>
        </p:txBody>
      </p:sp>
      <p:sp>
        <p:nvSpPr>
          <p:cNvPr id="6" name="Text 4"/>
          <p:cNvSpPr/>
          <p:nvPr/>
        </p:nvSpPr>
        <p:spPr>
          <a:xfrm>
            <a:off x="1152525" y="2819400"/>
            <a:ext cx="2602260" cy="129540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 for every layer, then incremental on each change</a:t>
            </a:r>
            <a:endParaRPr lang="en-US" sz="1800" dirty="0"/>
          </a:p>
        </p:txBody>
      </p:sp>
      <p:sp>
        <p:nvSpPr>
          <p:cNvPr id="7" name="Text 5"/>
          <p:cNvSpPr/>
          <p:nvPr/>
        </p:nvSpPr>
        <p:spPr>
          <a:xfrm>
            <a:off x="395481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962150"/>
          </a:xfrm>
          <a:prstGeom prst="roundRect">
            <a:avLst>
              <a:gd name="adj" fmla="val 4854"/>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Name</a:t>
            </a:r>
            <a:endParaRPr lang="en-US" sz="1875" dirty="0"/>
          </a:p>
        </p:txBody>
      </p:sp>
      <p:sp>
        <p:nvSpPr>
          <p:cNvPr id="10" name="Text 8"/>
          <p:cNvSpPr/>
          <p:nvPr/>
        </p:nvSpPr>
        <p:spPr>
          <a:xfrm>
            <a:off x="4516785" y="2819400"/>
            <a:ext cx="2602260"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everything mapped to enterprise-registry names</a:t>
            </a:r>
            <a:endParaRPr lang="en-US" sz="1800" dirty="0"/>
          </a:p>
        </p:txBody>
      </p:sp>
      <p:sp>
        <p:nvSpPr>
          <p:cNvPr id="11" name="Text 9"/>
          <p:cNvSpPr/>
          <p:nvPr/>
        </p:nvSpPr>
        <p:spPr>
          <a:xfrm>
            <a:off x="7319070"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962150"/>
          </a:xfrm>
          <a:prstGeom prst="roundRect">
            <a:avLst>
              <a:gd name="adj" fmla="val 4854"/>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Join</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check results + deploys fused onto the map</a:t>
            </a:r>
            <a:endParaRPr lang="en-US" sz="1800" dirty="0"/>
          </a:p>
        </p:txBody>
      </p:sp>
      <p:sp>
        <p:nvSpPr>
          <p:cNvPr id="15" name="Text 13"/>
          <p:cNvSpPr/>
          <p:nvPr/>
        </p:nvSpPr>
        <p:spPr>
          <a:xfrm>
            <a:off x="1068332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962150"/>
          </a:xfrm>
          <a:prstGeom prst="roundRect">
            <a:avLst>
              <a:gd name="adj" fmla="val 4854"/>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Score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trust per edge: declared vs observed</a:t>
            </a:r>
            <a:endParaRPr lang="en-US" sz="1800" dirty="0"/>
          </a:p>
        </p:txBody>
      </p:sp>
      <p:sp>
        <p:nvSpPr>
          <p:cNvPr id="19" name="Text 17"/>
          <p:cNvSpPr/>
          <p:nvPr/>
        </p:nvSpPr>
        <p:spPr>
          <a:xfrm>
            <a:off x="14047589" y="2295525"/>
            <a:ext cx="361950" cy="200025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962150"/>
          </a:xfrm>
          <a:prstGeom prst="roundRect">
            <a:avLst>
              <a:gd name="adj" fmla="val 4854"/>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Serve</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blast radius + impact analysis</a:t>
            </a:r>
            <a:endParaRPr lang="en-US" sz="1800" dirty="0"/>
          </a:p>
        </p:txBody>
      </p:sp>
      <p:sp>
        <p:nvSpPr>
          <p:cNvPr id="23" name="Shape 21"/>
          <p:cNvSpPr/>
          <p:nvPr/>
        </p:nvSpPr>
        <p:spPr>
          <a:xfrm>
            <a:off x="952500" y="4524375"/>
            <a:ext cx="6945957" cy="4048125"/>
          </a:xfrm>
          <a:prstGeom prst="roundRect">
            <a:avLst>
              <a:gd name="adj" fmla="val 2824"/>
            </a:avLst>
          </a:prstGeom>
          <a:solidFill>
            <a:srgbClr val="FDFDFB"/>
          </a:solidFill>
          <a:ln w="9525">
            <a:solidFill>
              <a:srgbClr val="D9DED7"/>
            </a:solidFill>
            <a:prstDash val="solid"/>
          </a:ln>
        </p:spPr>
      </p:sp>
      <p:sp>
        <p:nvSpPr>
          <p:cNvPr id="24" name="Text 22"/>
          <p:cNvSpPr/>
          <p:nvPr/>
        </p:nvSpPr>
        <p:spPr>
          <a:xfrm>
            <a:off x="1247775" y="478155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6143625"/>
            <a:ext cx="6355407" cy="9525"/>
          </a:xfrm>
          <a:prstGeom prst="rect">
            <a:avLst/>
          </a:prstGeom>
          <a:solidFill>
            <a:srgbClr val="D9DED7"/>
          </a:solidFill>
          <a:ln/>
        </p:spPr>
      </p:sp>
      <p:sp>
        <p:nvSpPr>
          <p:cNvPr id="26" name="Text 24"/>
          <p:cNvSpPr/>
          <p:nvPr/>
        </p:nvSpPr>
        <p:spPr>
          <a:xfrm>
            <a:off x="1247775" y="5314950"/>
            <a:ext cx="6171575"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Platform core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enterprise-registry link (M1), evidence stream (m6)</a:t>
            </a:r>
            <a:endParaRPr lang="en-US" sz="1950" dirty="0"/>
          </a:p>
        </p:txBody>
      </p:sp>
      <p:sp>
        <p:nvSpPr>
          <p:cNvPr id="27" name="Text 25"/>
          <p:cNvSpPr/>
          <p:nvPr/>
        </p:nvSpPr>
        <p:spPr>
          <a:xfrm>
            <a:off x="7430095" y="53054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8" name="Shape 26"/>
          <p:cNvSpPr/>
          <p:nvPr/>
        </p:nvSpPr>
        <p:spPr>
          <a:xfrm>
            <a:off x="1247775" y="6791325"/>
            <a:ext cx="6355407" cy="9525"/>
          </a:xfrm>
          <a:prstGeom prst="rect">
            <a:avLst/>
          </a:prstGeom>
          <a:solidFill>
            <a:srgbClr val="D9DED7"/>
          </a:solidFill>
          <a:ln/>
        </p:spPr>
      </p:sp>
      <p:sp>
        <p:nvSpPr>
          <p:cNvPr id="29" name="Text 27"/>
          <p:cNvSpPr/>
          <p:nvPr/>
        </p:nvSpPr>
        <p:spPr>
          <a:xfrm>
            <a:off x="1247775" y="6305550"/>
            <a:ext cx="505457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Collectors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emitters, runtime capture</a:t>
            </a:r>
            <a:endParaRPr lang="en-US" sz="1950" dirty="0"/>
          </a:p>
        </p:txBody>
      </p:sp>
      <p:sp>
        <p:nvSpPr>
          <p:cNvPr id="30" name="Text 28"/>
          <p:cNvSpPr/>
          <p:nvPr/>
        </p:nvSpPr>
        <p:spPr>
          <a:xfrm>
            <a:off x="7424886" y="6296025"/>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953250"/>
            <a:ext cx="5328955"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Join &amp; confidence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provenance, scoring</a:t>
            </a:r>
            <a:endParaRPr lang="en-US" sz="1950" dirty="0"/>
          </a:p>
        </p:txBody>
      </p:sp>
      <p:sp>
        <p:nvSpPr>
          <p:cNvPr id="32" name="Text 30"/>
          <p:cNvSpPr/>
          <p:nvPr/>
        </p:nvSpPr>
        <p:spPr>
          <a:xfrm>
            <a:off x="7430095" y="694372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33" name="Shape 31"/>
          <p:cNvSpPr/>
          <p:nvPr/>
        </p:nvSpPr>
        <p:spPr>
          <a:xfrm>
            <a:off x="8165157" y="4524375"/>
            <a:ext cx="9170343" cy="4048125"/>
          </a:xfrm>
          <a:prstGeom prst="roundRect">
            <a:avLst>
              <a:gd name="adj" fmla="val 2824"/>
            </a:avLst>
          </a:prstGeom>
          <a:solidFill>
            <a:srgbClr val="FDFDFB"/>
          </a:solidFill>
          <a:ln w="9525">
            <a:solidFill>
              <a:srgbClr val="D9DED7"/>
            </a:solidFill>
            <a:prstDash val="solid"/>
          </a:ln>
        </p:spPr>
      </p:sp>
      <p:sp>
        <p:nvSpPr>
          <p:cNvPr id="34" name="Text 32"/>
          <p:cNvSpPr/>
          <p:nvPr/>
        </p:nvSpPr>
        <p:spPr>
          <a:xfrm>
            <a:off x="8460432" y="478155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6096000"/>
            <a:ext cx="8579793" cy="9525"/>
          </a:xfrm>
          <a:prstGeom prst="rect">
            <a:avLst/>
          </a:prstGeom>
          <a:solidFill>
            <a:srgbClr val="D9DED7"/>
          </a:solidFill>
          <a:ln/>
        </p:spPr>
      </p:sp>
      <p:sp>
        <p:nvSpPr>
          <p:cNvPr id="36" name="Text 34"/>
          <p:cNvSpPr/>
          <p:nvPr/>
        </p:nvSpPr>
        <p:spPr>
          <a:xfrm>
            <a:off x="8460432" y="53054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5295900"/>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Foundation building: enterprise-registry link live m3; baseline lineage of every layer; pilot edges captured</a:t>
            </a:r>
            <a:endParaRPr lang="en-US" sz="1875" dirty="0"/>
          </a:p>
        </p:txBody>
      </p:sp>
      <p:sp>
        <p:nvSpPr>
          <p:cNvPr id="38" name="Text 36"/>
          <p:cNvSpPr/>
          <p:nvPr/>
        </p:nvSpPr>
        <p:spPr>
          <a:xfrm>
            <a:off x="16765786" y="5305425"/>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a:t>
            </a:r>
            <a:endParaRPr lang="en-US" sz="1800" dirty="0"/>
          </a:p>
        </p:txBody>
      </p:sp>
      <p:sp>
        <p:nvSpPr>
          <p:cNvPr id="39" name="Shape 37"/>
          <p:cNvSpPr/>
          <p:nvPr/>
        </p:nvSpPr>
        <p:spPr>
          <a:xfrm>
            <a:off x="8460432" y="7038975"/>
            <a:ext cx="8579793" cy="9525"/>
          </a:xfrm>
          <a:prstGeom prst="rect">
            <a:avLst/>
          </a:prstGeom>
          <a:solidFill>
            <a:srgbClr val="D9DED7"/>
          </a:solidFill>
          <a:ln/>
        </p:spPr>
      </p:sp>
      <p:sp>
        <p:nvSpPr>
          <p:cNvPr id="40" name="Text 38"/>
          <p:cNvSpPr/>
          <p:nvPr/>
        </p:nvSpPr>
        <p:spPr>
          <a:xfrm>
            <a:off x="8460432" y="62484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6238875"/>
            <a:ext cx="6737686"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Evidence stream on (m6); the join: checks × map × deploys; provenance on every edge; blast radius live</a:t>
            </a:r>
            <a:endParaRPr lang="en-US" sz="1875" dirty="0"/>
          </a:p>
        </p:txBody>
      </p:sp>
      <p:sp>
        <p:nvSpPr>
          <p:cNvPr id="42" name="Text 40"/>
          <p:cNvSpPr/>
          <p:nvPr/>
        </p:nvSpPr>
        <p:spPr>
          <a:xfrm>
            <a:off x="16354425" y="62484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43" name="Text 41"/>
          <p:cNvSpPr/>
          <p:nvPr/>
        </p:nvSpPr>
        <p:spPr>
          <a:xfrm>
            <a:off x="8460432" y="71913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7181850"/>
            <a:ext cx="6313831"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Trust scoring GA — the map runs itself; simulation + PR-time diff and column-level by trigger — preventing by m24</a:t>
            </a:r>
            <a:endParaRPr lang="en-US" sz="1875" dirty="0"/>
          </a:p>
        </p:txBody>
      </p:sp>
      <p:sp>
        <p:nvSpPr>
          <p:cNvPr id="45" name="Text 43"/>
          <p:cNvSpPr/>
          <p:nvPr/>
        </p:nvSpPr>
        <p:spPr>
          <a:xfrm>
            <a:off x="15942915" y="7191375"/>
            <a:ext cx="11735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triggers</a:t>
            </a:r>
            <a:endParaRPr lang="en-US" sz="1800" dirty="0"/>
          </a:p>
        </p:txBody>
      </p:sp>
      <p:sp>
        <p:nvSpPr>
          <p:cNvPr id="46" name="Shape 44"/>
          <p:cNvSpPr/>
          <p:nvPr/>
        </p:nvSpPr>
        <p:spPr>
          <a:xfrm>
            <a:off x="952500" y="8839200"/>
            <a:ext cx="8077200" cy="1381125"/>
          </a:xfrm>
          <a:prstGeom prst="roundRect">
            <a:avLst>
              <a:gd name="adj" fmla="val 8276"/>
            </a:avLst>
          </a:prstGeom>
          <a:solidFill>
            <a:srgbClr val="E3EFEA"/>
          </a:solidFill>
          <a:ln/>
        </p:spPr>
      </p:sp>
      <p:sp>
        <p:nvSpPr>
          <p:cNvPr id="47" name="Text 45"/>
          <p:cNvSpPr/>
          <p:nvPr/>
        </p:nvSpPr>
        <p:spPr>
          <a:xfrm>
            <a:off x="1238250" y="903922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902970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An edge exists only when it is in the evidence stream, enterprise-registry-named, and provenance-tagged.</a:t>
            </a:r>
            <a:endParaRPr lang="en-US" sz="1875" dirty="0"/>
          </a:p>
        </p:txBody>
      </p:sp>
      <p:sp>
        <p:nvSpPr>
          <p:cNvPr id="49" name="Shape 47"/>
          <p:cNvSpPr/>
          <p:nvPr/>
        </p:nvSpPr>
        <p:spPr>
          <a:xfrm>
            <a:off x="9258300" y="8839200"/>
            <a:ext cx="8077200" cy="1381125"/>
          </a:xfrm>
          <a:prstGeom prst="roundRect">
            <a:avLst>
              <a:gd name="adj" fmla="val 8276"/>
            </a:avLst>
          </a:prstGeom>
          <a:solidFill>
            <a:srgbClr val="F3E4DF"/>
          </a:solidFill>
          <a:ln/>
        </p:spPr>
      </p:sp>
      <p:sp>
        <p:nvSpPr>
          <p:cNvPr id="50" name="Text 48"/>
          <p:cNvSpPr/>
          <p:nvPr/>
        </p:nvSpPr>
        <p:spPr>
          <a:xfrm>
            <a:off x="9544050" y="903922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902970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"Map everything" crawls; column-level before incidents demand it.</a:t>
            </a:r>
            <a:endParaRPr lang="en-US" sz="18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1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map,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pilot thread as Lineage &amp; Confidence sees it — every edge named in the registry, scored, and ready for the impact walk.</a:t>
            </a:r>
            <a:endParaRPr lang="en-US" sz="1950" dirty="0"/>
          </a:p>
        </p:txBody>
      </p:sp>
      <p:sp>
        <p:nvSpPr>
          <p:cNvPr id="5" name="Shape 3"/>
          <p:cNvSpPr/>
          <p:nvPr/>
        </p:nvSpPr>
        <p:spPr>
          <a:xfrm>
            <a:off x="952500" y="2857500"/>
            <a:ext cx="2618929" cy="1362075"/>
          </a:xfrm>
          <a:prstGeom prst="roundRect">
            <a:avLst>
              <a:gd name="adj" fmla="val 8392"/>
            </a:avLst>
          </a:prstGeom>
          <a:solidFill>
            <a:srgbClr val="FDFDFB"/>
          </a:solidFill>
          <a:ln w="9525">
            <a:solidFill>
              <a:srgbClr val="D9DED7"/>
            </a:solidFill>
            <a:prstDash val="solid"/>
          </a:ln>
        </p:spPr>
      </p:sp>
      <p:sp>
        <p:nvSpPr>
          <p:cNvPr id="6" name="Text 4"/>
          <p:cNvSpPr/>
          <p:nvPr/>
        </p:nvSpPr>
        <p:spPr>
          <a:xfrm>
            <a:off x="1133475"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payments-svc</a:t>
            </a:r>
            <a:endParaRPr lang="en-US" sz="1875" dirty="0"/>
          </a:p>
        </p:txBody>
      </p:sp>
      <p:sp>
        <p:nvSpPr>
          <p:cNvPr id="7" name="Text 5"/>
          <p:cNvSpPr/>
          <p:nvPr/>
        </p:nvSpPr>
        <p:spPr>
          <a:xfrm>
            <a:off x="1133475"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service</a:t>
            </a:r>
            <a:endParaRPr lang="en-US" sz="1800" dirty="0"/>
          </a:p>
        </p:txBody>
      </p:sp>
      <p:sp>
        <p:nvSpPr>
          <p:cNvPr id="8" name="Shape 6"/>
          <p:cNvSpPr/>
          <p:nvPr/>
        </p:nvSpPr>
        <p:spPr>
          <a:xfrm>
            <a:off x="1095375" y="2695575"/>
            <a:ext cx="1893689" cy="381000"/>
          </a:xfrm>
          <a:prstGeom prst="roundRect">
            <a:avLst>
              <a:gd name="adj" fmla="val 15000"/>
            </a:avLst>
          </a:prstGeom>
          <a:solidFill>
            <a:srgbClr val="F5EAD8"/>
          </a:solidFill>
          <a:ln w="9525">
            <a:solidFill>
              <a:srgbClr val="B97417"/>
            </a:solidFill>
            <a:prstDash val="solid"/>
          </a:ln>
        </p:spPr>
      </p:sp>
      <p:sp>
        <p:nvSpPr>
          <p:cNvPr id="9" name="Text 7"/>
          <p:cNvSpPr/>
          <p:nvPr/>
        </p:nvSpPr>
        <p:spPr>
          <a:xfrm>
            <a:off x="1219200" y="2733675"/>
            <a:ext cx="17222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deploy v3.17</a:t>
            </a:r>
            <a:endParaRPr lang="en-US" sz="1800" dirty="0"/>
          </a:p>
        </p:txBody>
      </p:sp>
      <p:sp>
        <p:nvSpPr>
          <p:cNvPr id="10" name="Text 8"/>
          <p:cNvSpPr/>
          <p:nvPr/>
        </p:nvSpPr>
        <p:spPr>
          <a:xfrm>
            <a:off x="3855244"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1" name="Shape 9"/>
          <p:cNvSpPr/>
          <p:nvPr/>
        </p:nvSpPr>
        <p:spPr>
          <a:xfrm>
            <a:off x="3628579" y="3571875"/>
            <a:ext cx="739229" cy="342900"/>
          </a:xfrm>
          <a:prstGeom prst="roundRect">
            <a:avLst>
              <a:gd name="adj" fmla="val 13889"/>
            </a:avLst>
          </a:prstGeom>
          <a:solidFill>
            <a:srgbClr val="E3EFEA"/>
          </a:solidFill>
          <a:ln/>
        </p:spPr>
      </p:sp>
      <p:sp>
        <p:nvSpPr>
          <p:cNvPr id="12" name="Text 10"/>
          <p:cNvSpPr/>
          <p:nvPr/>
        </p:nvSpPr>
        <p:spPr>
          <a:xfrm>
            <a:off x="3723829"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3" name="Shape 11"/>
          <p:cNvSpPr/>
          <p:nvPr/>
        </p:nvSpPr>
        <p:spPr>
          <a:xfrm>
            <a:off x="4424958" y="2857500"/>
            <a:ext cx="2630239" cy="1362075"/>
          </a:xfrm>
          <a:prstGeom prst="roundRect">
            <a:avLst>
              <a:gd name="adj" fmla="val 8392"/>
            </a:avLst>
          </a:prstGeom>
          <a:solidFill>
            <a:srgbClr val="FDFDFB"/>
          </a:solidFill>
          <a:ln w="9525">
            <a:solidFill>
              <a:srgbClr val="D9DED7"/>
            </a:solidFill>
            <a:prstDash val="solid"/>
          </a:ln>
        </p:spPr>
      </p:sp>
      <p:sp>
        <p:nvSpPr>
          <p:cNvPr id="14" name="Text 12"/>
          <p:cNvSpPr/>
          <p:nvPr/>
        </p:nvSpPr>
        <p:spPr>
          <a:xfrm>
            <a:off x="4605933" y="3038475"/>
            <a:ext cx="2495118"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orders topic</a:t>
            </a:r>
            <a:endParaRPr lang="en-US" sz="1875" dirty="0"/>
          </a:p>
        </p:txBody>
      </p:sp>
      <p:sp>
        <p:nvSpPr>
          <p:cNvPr id="15" name="Text 13"/>
          <p:cNvSpPr/>
          <p:nvPr/>
        </p:nvSpPr>
        <p:spPr>
          <a:xfrm>
            <a:off x="4605933" y="3409950"/>
            <a:ext cx="234448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Kafka · orders.order_created</a:t>
            </a:r>
            <a:endParaRPr lang="en-US" sz="1800" dirty="0"/>
          </a:p>
        </p:txBody>
      </p:sp>
      <p:sp>
        <p:nvSpPr>
          <p:cNvPr id="16" name="Text 14"/>
          <p:cNvSpPr/>
          <p:nvPr/>
        </p:nvSpPr>
        <p:spPr>
          <a:xfrm>
            <a:off x="7339012"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7" name="Shape 15"/>
          <p:cNvSpPr/>
          <p:nvPr/>
        </p:nvSpPr>
        <p:spPr>
          <a:xfrm>
            <a:off x="7112347" y="3571875"/>
            <a:ext cx="739229" cy="342900"/>
          </a:xfrm>
          <a:prstGeom prst="roundRect">
            <a:avLst>
              <a:gd name="adj" fmla="val 13889"/>
            </a:avLst>
          </a:prstGeom>
          <a:solidFill>
            <a:srgbClr val="E3EFEA"/>
          </a:solidFill>
          <a:ln/>
        </p:spPr>
      </p:sp>
      <p:sp>
        <p:nvSpPr>
          <p:cNvPr id="18" name="Text 16"/>
          <p:cNvSpPr/>
          <p:nvPr/>
        </p:nvSpPr>
        <p:spPr>
          <a:xfrm>
            <a:off x="7207597"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19" name="Shape 17"/>
          <p:cNvSpPr/>
          <p:nvPr/>
        </p:nvSpPr>
        <p:spPr>
          <a:xfrm>
            <a:off x="7908727" y="2857500"/>
            <a:ext cx="2618929" cy="1362075"/>
          </a:xfrm>
          <a:prstGeom prst="roundRect">
            <a:avLst>
              <a:gd name="adj" fmla="val 8392"/>
            </a:avLst>
          </a:prstGeom>
          <a:solidFill>
            <a:srgbClr val="FDFDFB"/>
          </a:solidFill>
          <a:ln w="9525">
            <a:solidFill>
              <a:srgbClr val="D9DED7"/>
            </a:solidFill>
            <a:prstDash val="solid"/>
          </a:ln>
        </p:spPr>
      </p:sp>
      <p:sp>
        <p:nvSpPr>
          <p:cNvPr id="20" name="Text 18"/>
          <p:cNvSpPr/>
          <p:nvPr/>
        </p:nvSpPr>
        <p:spPr>
          <a:xfrm>
            <a:off x="8089702"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enrichment job</a:t>
            </a:r>
            <a:endParaRPr lang="en-US" sz="1875" dirty="0"/>
          </a:p>
        </p:txBody>
      </p:sp>
      <p:sp>
        <p:nvSpPr>
          <p:cNvPr id="21" name="Text 19"/>
          <p:cNvSpPr/>
          <p:nvPr/>
        </p:nvSpPr>
        <p:spPr>
          <a:xfrm>
            <a:off x="8089702"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Spark pipeline</a:t>
            </a:r>
            <a:endParaRPr lang="en-US" sz="1800" dirty="0"/>
          </a:p>
        </p:txBody>
      </p:sp>
      <p:sp>
        <p:nvSpPr>
          <p:cNvPr id="22" name="Text 20"/>
          <p:cNvSpPr/>
          <p:nvPr/>
        </p:nvSpPr>
        <p:spPr>
          <a:xfrm>
            <a:off x="10742861"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3" name="Shape 21"/>
          <p:cNvSpPr/>
          <p:nvPr/>
        </p:nvSpPr>
        <p:spPr>
          <a:xfrm>
            <a:off x="10584805" y="3571875"/>
            <a:ext cx="602010" cy="342900"/>
          </a:xfrm>
          <a:prstGeom prst="roundRect">
            <a:avLst>
              <a:gd name="adj" fmla="val 13889"/>
            </a:avLst>
          </a:prstGeom>
          <a:solidFill>
            <a:srgbClr val="F5EAD8"/>
          </a:solidFill>
          <a:ln/>
        </p:spPr>
      </p:sp>
      <p:sp>
        <p:nvSpPr>
          <p:cNvPr id="24" name="Text 22"/>
          <p:cNvSpPr/>
          <p:nvPr/>
        </p:nvSpPr>
        <p:spPr>
          <a:xfrm>
            <a:off x="10680055" y="3590925"/>
            <a:ext cx="471711"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MED</a:t>
            </a:r>
            <a:endParaRPr lang="en-US" sz="1800" dirty="0"/>
          </a:p>
        </p:txBody>
      </p:sp>
      <p:sp>
        <p:nvSpPr>
          <p:cNvPr id="25" name="Shape 23"/>
          <p:cNvSpPr/>
          <p:nvPr/>
        </p:nvSpPr>
        <p:spPr>
          <a:xfrm>
            <a:off x="11243965" y="2857500"/>
            <a:ext cx="2618929" cy="1362075"/>
          </a:xfrm>
          <a:prstGeom prst="roundRect">
            <a:avLst>
              <a:gd name="adj" fmla="val 8392"/>
            </a:avLst>
          </a:prstGeom>
          <a:solidFill>
            <a:srgbClr val="FDFDFB"/>
          </a:solidFill>
          <a:ln w="9525">
            <a:solidFill>
              <a:srgbClr val="D9DED7"/>
            </a:solidFill>
            <a:prstDash val="solid"/>
          </a:ln>
        </p:spPr>
      </p:sp>
      <p:sp>
        <p:nvSpPr>
          <p:cNvPr id="26" name="Text 24"/>
          <p:cNvSpPr/>
          <p:nvPr/>
        </p:nvSpPr>
        <p:spPr>
          <a:xfrm>
            <a:off x="11424940"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gold.orders_enr</a:t>
            </a:r>
            <a:endParaRPr lang="en-US" sz="1875" dirty="0"/>
          </a:p>
        </p:txBody>
      </p:sp>
      <p:sp>
        <p:nvSpPr>
          <p:cNvPr id="27" name="Text 25"/>
          <p:cNvSpPr/>
          <p:nvPr/>
        </p:nvSpPr>
        <p:spPr>
          <a:xfrm>
            <a:off x="11424940" y="3409950"/>
            <a:ext cx="2482676" cy="352425"/>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curated table</a:t>
            </a:r>
            <a:endParaRPr lang="en-US" sz="1800" dirty="0"/>
          </a:p>
        </p:txBody>
      </p:sp>
      <p:sp>
        <p:nvSpPr>
          <p:cNvPr id="28" name="Text 26"/>
          <p:cNvSpPr/>
          <p:nvPr/>
        </p:nvSpPr>
        <p:spPr>
          <a:xfrm>
            <a:off x="14146709" y="3162300"/>
            <a:ext cx="36195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9" name="Shape 27"/>
          <p:cNvSpPr/>
          <p:nvPr/>
        </p:nvSpPr>
        <p:spPr>
          <a:xfrm>
            <a:off x="13920043" y="3571875"/>
            <a:ext cx="739229" cy="342900"/>
          </a:xfrm>
          <a:prstGeom prst="roundRect">
            <a:avLst>
              <a:gd name="adj" fmla="val 13889"/>
            </a:avLst>
          </a:prstGeom>
          <a:solidFill>
            <a:srgbClr val="E3EFEA"/>
          </a:solidFill>
          <a:ln/>
        </p:spPr>
      </p:sp>
      <p:sp>
        <p:nvSpPr>
          <p:cNvPr id="30" name="Text 28"/>
          <p:cNvSpPr/>
          <p:nvPr/>
        </p:nvSpPr>
        <p:spPr>
          <a:xfrm>
            <a:off x="14015293" y="3590925"/>
            <a:ext cx="622652"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HIGH</a:t>
            </a:r>
            <a:endParaRPr lang="en-US" sz="1800" dirty="0"/>
          </a:p>
        </p:txBody>
      </p:sp>
      <p:sp>
        <p:nvSpPr>
          <p:cNvPr id="31" name="Shape 29"/>
          <p:cNvSpPr/>
          <p:nvPr/>
        </p:nvSpPr>
        <p:spPr>
          <a:xfrm>
            <a:off x="14716423" y="2857500"/>
            <a:ext cx="2618929" cy="1362075"/>
          </a:xfrm>
          <a:prstGeom prst="roundRect">
            <a:avLst>
              <a:gd name="adj" fmla="val 8392"/>
            </a:avLst>
          </a:prstGeom>
          <a:solidFill>
            <a:srgbClr val="F3E4DF"/>
          </a:solidFill>
          <a:ln w="9525">
            <a:solidFill>
              <a:srgbClr val="A3442E"/>
            </a:solidFill>
            <a:prstDash val="solid"/>
          </a:ln>
        </p:spPr>
      </p:sp>
      <p:sp>
        <p:nvSpPr>
          <p:cNvPr id="32" name="Text 30"/>
          <p:cNvSpPr/>
          <p:nvPr/>
        </p:nvSpPr>
        <p:spPr>
          <a:xfrm>
            <a:off x="14897398" y="3038475"/>
            <a:ext cx="2482676"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1B2530"/>
                </a:solidFill>
                <a:latin typeface="IBM Plex Mono" pitchFamily="34" charset="0"/>
                <a:ea typeface="IBM Plex Mono" pitchFamily="34" charset="-122"/>
                <a:cs typeface="IBM Plex Mono" pitchFamily="34" charset="-120"/>
              </a:rPr>
              <a:t>finance report</a:t>
            </a:r>
            <a:endParaRPr lang="en-US" sz="1875" dirty="0"/>
          </a:p>
        </p:txBody>
      </p:sp>
      <p:sp>
        <p:nvSpPr>
          <p:cNvPr id="33" name="Text 31"/>
          <p:cNvSpPr/>
          <p:nvPr/>
        </p:nvSpPr>
        <p:spPr>
          <a:xfrm>
            <a:off x="14897398" y="3409950"/>
            <a:ext cx="2333179" cy="666750"/>
          </a:xfrm>
          <a:prstGeom prst="rect">
            <a:avLst/>
          </a:prstGeom>
          <a:noFill/>
          <a:ln/>
        </p:spPr>
        <p:txBody>
          <a:bodyPr wrap="square" lIns="25400" tIns="25400" rIns="25400" bIns="25400" rtlCol="0" anchor="t">
            <a:normAutofit/>
          </a:bodyPr>
          <a:lstStyle/>
          <a:p>
            <a:pPr algn="l" indent="0" marL="0">
              <a:buNone/>
            </a:pPr>
            <a:r>
              <a:rPr lang="en-US" sz="1800" dirty="0">
                <a:solidFill>
                  <a:srgbClr val="5B6873"/>
                </a:solidFill>
                <a:latin typeface="Source Serif 4" pitchFamily="34" charset="0"/>
                <a:ea typeface="Source Serif 4" pitchFamily="34" charset="-122"/>
                <a:cs typeface="Source Serif 4" pitchFamily="34" charset="-120"/>
              </a:rPr>
              <a:t>consumer — impacted</a:t>
            </a:r>
            <a:endParaRPr lang="en-US" sz="1800" dirty="0"/>
          </a:p>
        </p:txBody>
      </p:sp>
      <p:sp>
        <p:nvSpPr>
          <p:cNvPr id="34" name="Shape 32"/>
          <p:cNvSpPr/>
          <p:nvPr/>
        </p:nvSpPr>
        <p:spPr>
          <a:xfrm>
            <a:off x="952500" y="4714875"/>
            <a:ext cx="5308550" cy="3819525"/>
          </a:xfrm>
          <a:prstGeom prst="roundRect">
            <a:avLst>
              <a:gd name="adj" fmla="val 2993"/>
            </a:avLst>
          </a:prstGeom>
          <a:solidFill>
            <a:srgbClr val="FDFDFB"/>
          </a:solidFill>
          <a:ln w="9525">
            <a:solidFill>
              <a:srgbClr val="D9DED7"/>
            </a:solidFill>
            <a:prstDash val="solid"/>
          </a:ln>
        </p:spPr>
      </p:sp>
      <p:sp>
        <p:nvSpPr>
          <p:cNvPr id="35" name="Text 33"/>
          <p:cNvSpPr/>
          <p:nvPr/>
        </p:nvSpPr>
        <p:spPr>
          <a:xfrm>
            <a:off x="122872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BASELINE · M1</a:t>
            </a:r>
            <a:endParaRPr lang="en-US" sz="1800" dirty="0"/>
          </a:p>
        </p:txBody>
      </p:sp>
      <p:sp>
        <p:nvSpPr>
          <p:cNvPr id="36" name="Text 34"/>
          <p:cNvSpPr/>
          <p:nvPr/>
        </p:nvSpPr>
        <p:spPr>
          <a:xfrm>
            <a:off x="122872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One scan maps every layer — services, topics, jobs, tables, reports — into registry-named edges.</a:t>
            </a:r>
            <a:endParaRPr lang="en-US" sz="1950" dirty="0"/>
          </a:p>
        </p:txBody>
      </p:sp>
      <p:sp>
        <p:nvSpPr>
          <p:cNvPr id="37" name="Shape 35"/>
          <p:cNvSpPr/>
          <p:nvPr/>
        </p:nvSpPr>
        <p:spPr>
          <a:xfrm>
            <a:off x="6489650" y="4714875"/>
            <a:ext cx="5308550" cy="3819525"/>
          </a:xfrm>
          <a:prstGeom prst="roundRect">
            <a:avLst>
              <a:gd name="adj" fmla="val 2993"/>
            </a:avLst>
          </a:prstGeom>
          <a:solidFill>
            <a:srgbClr val="FDFDFB"/>
          </a:solidFill>
          <a:ln w="9525">
            <a:solidFill>
              <a:srgbClr val="D9DED7"/>
            </a:solidFill>
            <a:prstDash val="solid"/>
          </a:ln>
        </p:spPr>
      </p:sp>
      <p:sp>
        <p:nvSpPr>
          <p:cNvPr id="38" name="Text 36"/>
          <p:cNvSpPr/>
          <p:nvPr/>
        </p:nvSpPr>
        <p:spPr>
          <a:xfrm>
            <a:off x="6765875" y="4953000"/>
            <a:ext cx="523171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B97417"/>
                </a:solidFill>
                <a:latin typeface="IBM Plex Mono" pitchFamily="34" charset="0"/>
                <a:ea typeface="IBM Plex Mono" pitchFamily="34" charset="-122"/>
                <a:cs typeface="IBM Plex Mono" pitchFamily="34" charset="-120"/>
              </a:rPr>
              <a:t>INCREMENTAL · ON EVERY CHANGE</a:t>
            </a:r>
            <a:endParaRPr lang="en-US" sz="1800" dirty="0"/>
          </a:p>
        </p:txBody>
      </p:sp>
      <p:sp>
        <p:nvSpPr>
          <p:cNvPr id="39" name="Text 37"/>
          <p:cNvSpPr/>
          <p:nvPr/>
        </p:nvSpPr>
        <p:spPr>
          <a:xfrm>
            <a:off x="6765875" y="5353050"/>
            <a:ext cx="4898783" cy="1095375"/>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The v3.17 merge re-emits its edges in minutes. The map updates itself — it never goes stale between scans.</a:t>
            </a:r>
            <a:endParaRPr lang="en-US" sz="1950" dirty="0"/>
          </a:p>
        </p:txBody>
      </p:sp>
      <p:sp>
        <p:nvSpPr>
          <p:cNvPr id="40" name="Shape 38"/>
          <p:cNvSpPr/>
          <p:nvPr/>
        </p:nvSpPr>
        <p:spPr>
          <a:xfrm>
            <a:off x="12026801" y="4714875"/>
            <a:ext cx="5308699" cy="3819525"/>
          </a:xfrm>
          <a:prstGeom prst="roundRect">
            <a:avLst>
              <a:gd name="adj" fmla="val 2993"/>
            </a:avLst>
          </a:prstGeom>
          <a:solidFill>
            <a:srgbClr val="FDFDFB"/>
          </a:solidFill>
          <a:ln w="9525">
            <a:solidFill>
              <a:srgbClr val="D9DED7"/>
            </a:solidFill>
            <a:prstDash val="solid"/>
          </a:ln>
        </p:spPr>
      </p:sp>
      <p:sp>
        <p:nvSpPr>
          <p:cNvPr id="41" name="Text 39"/>
          <p:cNvSpPr/>
          <p:nvPr/>
        </p:nvSpPr>
        <p:spPr>
          <a:xfrm>
            <a:off x="12303026" y="4953000"/>
            <a:ext cx="5231874"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CONFIDENCE + IMPACT</a:t>
            </a:r>
            <a:endParaRPr lang="en-US" sz="1800" dirty="0"/>
          </a:p>
        </p:txBody>
      </p:sp>
      <p:sp>
        <p:nvSpPr>
          <p:cNvPr id="42" name="Text 40"/>
          <p:cNvSpPr/>
          <p:nvPr/>
        </p:nvSpPr>
        <p:spPr>
          <a:xfrm>
            <a:off x="12303026" y="5353050"/>
            <a:ext cx="4898937" cy="1447800"/>
          </a:xfrm>
          <a:prstGeom prst="rect">
            <a:avLst/>
          </a:prstGeom>
          <a:noFill/>
          <a:ln/>
        </p:spPr>
        <p:txBody>
          <a:bodyPr wrap="square" lIns="25400" tIns="25400" rIns="25400" bIns="25400" rtlCol="0" anchor="t">
            <a:normAutofit/>
          </a:bodyPr>
          <a:lstStyle/>
          <a:p>
            <a:pPr algn="l" indent="0" marL="0">
              <a:lnSpc>
                <a:spcPct val="104722"/>
              </a:lnSpc>
              <a:buNone/>
            </a:pPr>
            <a:r>
              <a:rPr lang="en-US" sz="1950" dirty="0">
                <a:solidFill>
                  <a:srgbClr val="3D4A55"/>
                </a:solidFill>
                <a:latin typeface="Source Serif 4" pitchFamily="34" charset="0"/>
                <a:ea typeface="Source Serif 4" pitchFamily="34" charset="-122"/>
                <a:cs typeface="Source Serif 4" pitchFamily="34" charset="-120"/>
              </a:rPr>
              <a:t>Each edge scored declared-vs-observed — the MED edge is honest about dynamic SQL. The impact walk ranks exposure: finance report first.</a:t>
            </a:r>
            <a:endParaRPr lang="en-US" sz="1950" dirty="0"/>
          </a:p>
        </p:txBody>
      </p:sp>
      <p:sp>
        <p:nvSpPr>
          <p:cNvPr id="43" name="Shape 41"/>
          <p:cNvSpPr/>
          <p:nvPr/>
        </p:nvSpPr>
        <p:spPr>
          <a:xfrm>
            <a:off x="952500" y="8801100"/>
            <a:ext cx="16383000" cy="1028700"/>
          </a:xfrm>
          <a:prstGeom prst="roundRect">
            <a:avLst>
              <a:gd name="adj" fmla="val 11111"/>
            </a:avLst>
          </a:prstGeom>
          <a:solidFill>
            <a:srgbClr val="1B2530"/>
          </a:solidFill>
          <a:ln/>
        </p:spPr>
      </p:sp>
      <p:sp>
        <p:nvSpPr>
          <p:cNvPr id="44" name="Text 42"/>
          <p:cNvSpPr/>
          <p:nvPr/>
        </p:nvSpPr>
        <p:spPr>
          <a:xfrm>
            <a:off x="1257300" y="8991600"/>
            <a:ext cx="2393945"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WHY IT MATTERS</a:t>
            </a:r>
            <a:endParaRPr lang="en-US" sz="1800" dirty="0"/>
          </a:p>
        </p:txBody>
      </p:sp>
      <p:sp>
        <p:nvSpPr>
          <p:cNvPr id="45" name="Text 43"/>
          <p:cNvSpPr/>
          <p:nvPr/>
        </p:nvSpPr>
        <p:spPr>
          <a:xfrm>
            <a:off x="3662214" y="8972550"/>
            <a:ext cx="1376954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DCE3E8"/>
                </a:solidFill>
                <a:latin typeface="Source Serif 4" pitchFamily="34" charset="0"/>
                <a:ea typeface="Source Serif 4" pitchFamily="34" charset="-122"/>
                <a:cs typeface="Source Serif 4" pitchFamily="34" charset="-120"/>
              </a:rPr>
              <a:t>When the NULL spike fires, this map is what turns a symptom into a named cause and a ranked blast radius — in one hop, not a war room.</a:t>
            </a:r>
            <a:endParaRPr lang="en-US" sz="1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2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Data Quality — detection to prevention</a:t>
            </a:r>
            <a:endParaRPr lang="en-US" sz="4500" dirty="0"/>
          </a:p>
        </p:txBody>
      </p:sp>
      <p:sp>
        <p:nvSpPr>
          <p:cNvPr id="4" name="Shape 2"/>
          <p:cNvSpPr/>
          <p:nvPr/>
        </p:nvSpPr>
        <p:spPr>
          <a:xfrm>
            <a:off x="952500" y="2295525"/>
            <a:ext cx="2926110" cy="1647825"/>
          </a:xfrm>
          <a:prstGeom prst="roundRect">
            <a:avLst>
              <a:gd name="adj" fmla="val 5780"/>
            </a:avLst>
          </a:prstGeom>
          <a:solidFill>
            <a:srgbClr val="FDFDFB"/>
          </a:solidFill>
          <a:ln w="9525">
            <a:solidFill>
              <a:srgbClr val="D9DED7"/>
            </a:solidFill>
            <a:prstDash val="solid"/>
          </a:ln>
        </p:spPr>
      </p:sp>
      <p:sp>
        <p:nvSpPr>
          <p:cNvPr id="5" name="Text 3"/>
          <p:cNvSpPr/>
          <p:nvPr/>
        </p:nvSpPr>
        <p:spPr>
          <a:xfrm>
            <a:off x="115252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Learn</a:t>
            </a:r>
            <a:endParaRPr lang="en-US" sz="1875" dirty="0"/>
          </a:p>
        </p:txBody>
      </p:sp>
      <p:sp>
        <p:nvSpPr>
          <p:cNvPr id="6" name="Text 4"/>
          <p:cNvSpPr/>
          <p:nvPr/>
        </p:nvSpPr>
        <p:spPr>
          <a:xfrm>
            <a:off x="115252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baselines from 4–6 wks of history</a:t>
            </a:r>
            <a:endParaRPr lang="en-US" sz="1800" dirty="0"/>
          </a:p>
        </p:txBody>
      </p:sp>
      <p:sp>
        <p:nvSpPr>
          <p:cNvPr id="7" name="Text 5"/>
          <p:cNvSpPr/>
          <p:nvPr/>
        </p:nvSpPr>
        <p:spPr>
          <a:xfrm>
            <a:off x="395481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4316760" y="2295525"/>
            <a:ext cx="2926110" cy="1647825"/>
          </a:xfrm>
          <a:prstGeom prst="roundRect">
            <a:avLst>
              <a:gd name="adj" fmla="val 5780"/>
            </a:avLst>
          </a:prstGeom>
          <a:solidFill>
            <a:srgbClr val="FDFDFB"/>
          </a:solidFill>
          <a:ln w="9525">
            <a:solidFill>
              <a:srgbClr val="D9DED7"/>
            </a:solidFill>
            <a:prstDash val="solid"/>
          </a:ln>
        </p:spPr>
      </p:sp>
      <p:sp>
        <p:nvSpPr>
          <p:cNvPr id="9" name="Text 7"/>
          <p:cNvSpPr/>
          <p:nvPr/>
        </p:nvSpPr>
        <p:spPr>
          <a:xfrm>
            <a:off x="451678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Detect</a:t>
            </a:r>
            <a:endParaRPr lang="en-US" sz="1875" dirty="0"/>
          </a:p>
        </p:txBody>
      </p:sp>
      <p:sp>
        <p:nvSpPr>
          <p:cNvPr id="10" name="Text 8"/>
          <p:cNvSpPr/>
          <p:nvPr/>
        </p:nvSpPr>
        <p:spPr>
          <a:xfrm>
            <a:off x="4516785" y="2819400"/>
            <a:ext cx="2602260" cy="981075"/>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batch, at-rest, in-stream — at the service &amp; Kafka layer</a:t>
            </a:r>
            <a:endParaRPr lang="en-US" sz="1800" dirty="0"/>
          </a:p>
        </p:txBody>
      </p:sp>
      <p:sp>
        <p:nvSpPr>
          <p:cNvPr id="11" name="Text 9"/>
          <p:cNvSpPr/>
          <p:nvPr/>
        </p:nvSpPr>
        <p:spPr>
          <a:xfrm>
            <a:off x="7319070"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7681020" y="2295525"/>
            <a:ext cx="2926110" cy="1647825"/>
          </a:xfrm>
          <a:prstGeom prst="roundRect">
            <a:avLst>
              <a:gd name="adj" fmla="val 5780"/>
            </a:avLst>
          </a:prstGeom>
          <a:solidFill>
            <a:srgbClr val="FDFDFB"/>
          </a:solidFill>
          <a:ln w="9525">
            <a:solidFill>
              <a:srgbClr val="D9DED7"/>
            </a:solidFill>
            <a:prstDash val="solid"/>
          </a:ln>
        </p:spPr>
      </p:sp>
      <p:sp>
        <p:nvSpPr>
          <p:cNvPr id="13" name="Text 11"/>
          <p:cNvSpPr/>
          <p:nvPr/>
        </p:nvSpPr>
        <p:spPr>
          <a:xfrm>
            <a:off x="7881045"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Publish</a:t>
            </a:r>
            <a:endParaRPr lang="en-US" sz="1875" dirty="0"/>
          </a:p>
        </p:txBody>
      </p:sp>
      <p:sp>
        <p:nvSpPr>
          <p:cNvPr id="14" name="Text 12"/>
          <p:cNvSpPr/>
          <p:nvPr/>
        </p:nvSpPr>
        <p:spPr>
          <a:xfrm>
            <a:off x="7881045"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every result into the evidence stream</a:t>
            </a:r>
            <a:endParaRPr lang="en-US" sz="1800" dirty="0"/>
          </a:p>
        </p:txBody>
      </p:sp>
      <p:sp>
        <p:nvSpPr>
          <p:cNvPr id="15" name="Text 13"/>
          <p:cNvSpPr/>
          <p:nvPr/>
        </p:nvSpPr>
        <p:spPr>
          <a:xfrm>
            <a:off x="1068332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1045279" y="2295525"/>
            <a:ext cx="2926110" cy="1647825"/>
          </a:xfrm>
          <a:prstGeom prst="roundRect">
            <a:avLst>
              <a:gd name="adj" fmla="val 5780"/>
            </a:avLst>
          </a:prstGeom>
          <a:solidFill>
            <a:srgbClr val="FDFDFB"/>
          </a:solidFill>
          <a:ln w="9525">
            <a:solidFill>
              <a:srgbClr val="D9DED7"/>
            </a:solidFill>
            <a:prstDash val="solid"/>
          </a:ln>
        </p:spPr>
      </p:sp>
      <p:sp>
        <p:nvSpPr>
          <p:cNvPr id="17" name="Text 15"/>
          <p:cNvSpPr/>
          <p:nvPr/>
        </p:nvSpPr>
        <p:spPr>
          <a:xfrm>
            <a:off x="1124530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Decide</a:t>
            </a:r>
            <a:endParaRPr lang="en-US" sz="1875" dirty="0"/>
          </a:p>
        </p:txBody>
      </p:sp>
      <p:sp>
        <p:nvSpPr>
          <p:cNvPr id="18" name="Text 16"/>
          <p:cNvSpPr/>
          <p:nvPr/>
        </p:nvSpPr>
        <p:spPr>
          <a:xfrm>
            <a:off x="1124530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 compare; gate holds or passes</a:t>
            </a:r>
            <a:endParaRPr lang="en-US" sz="1800" dirty="0"/>
          </a:p>
        </p:txBody>
      </p:sp>
      <p:sp>
        <p:nvSpPr>
          <p:cNvPr id="19" name="Text 17"/>
          <p:cNvSpPr/>
          <p:nvPr/>
        </p:nvSpPr>
        <p:spPr>
          <a:xfrm>
            <a:off x="14047589" y="2295525"/>
            <a:ext cx="361950" cy="1685925"/>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20" name="Shape 18"/>
          <p:cNvSpPr/>
          <p:nvPr/>
        </p:nvSpPr>
        <p:spPr>
          <a:xfrm>
            <a:off x="14409539" y="2295525"/>
            <a:ext cx="2926110" cy="1647825"/>
          </a:xfrm>
          <a:prstGeom prst="roundRect">
            <a:avLst>
              <a:gd name="adj" fmla="val 5780"/>
            </a:avLst>
          </a:prstGeom>
          <a:solidFill>
            <a:srgbClr val="FDFDFB"/>
          </a:solidFill>
          <a:ln w="9525">
            <a:solidFill>
              <a:srgbClr val="D9DED7"/>
            </a:solidFill>
            <a:prstDash val="solid"/>
          </a:ln>
        </p:spPr>
      </p:sp>
      <p:sp>
        <p:nvSpPr>
          <p:cNvPr id="21" name="Text 19"/>
          <p:cNvSpPr/>
          <p:nvPr/>
        </p:nvSpPr>
        <p:spPr>
          <a:xfrm>
            <a:off x="14609564" y="2476500"/>
            <a:ext cx="277866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5 · Prevent</a:t>
            </a:r>
            <a:endParaRPr lang="en-US" sz="1875" dirty="0"/>
          </a:p>
        </p:txBody>
      </p:sp>
      <p:sp>
        <p:nvSpPr>
          <p:cNvPr id="22" name="Text 20"/>
          <p:cNvSpPr/>
          <p:nvPr/>
        </p:nvSpPr>
        <p:spPr>
          <a:xfrm>
            <a:off x="14609564" y="2819400"/>
            <a:ext cx="260226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contracts; in-path asserts on Tier-1</a:t>
            </a:r>
            <a:endParaRPr lang="en-US" sz="1800" dirty="0"/>
          </a:p>
        </p:txBody>
      </p:sp>
      <p:sp>
        <p:nvSpPr>
          <p:cNvPr id="23" name="Shape 21"/>
          <p:cNvSpPr/>
          <p:nvPr/>
        </p:nvSpPr>
        <p:spPr>
          <a:xfrm>
            <a:off x="952500" y="4210050"/>
            <a:ext cx="6945957" cy="4714875"/>
          </a:xfrm>
          <a:prstGeom prst="roundRect">
            <a:avLst>
              <a:gd name="adj" fmla="val 2424"/>
            </a:avLst>
          </a:prstGeom>
          <a:solidFill>
            <a:srgbClr val="FDFDFB"/>
          </a:solidFill>
          <a:ln w="9525">
            <a:solidFill>
              <a:srgbClr val="D9DED7"/>
            </a:solidFill>
            <a:prstDash val="solid"/>
          </a:ln>
        </p:spPr>
      </p:sp>
      <p:sp>
        <p:nvSpPr>
          <p:cNvPr id="24" name="Text 22"/>
          <p:cNvSpPr/>
          <p:nvPr/>
        </p:nvSpPr>
        <p:spPr>
          <a:xfrm>
            <a:off x="1247775" y="4467225"/>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5" name="Shape 23"/>
          <p:cNvSpPr/>
          <p:nvPr/>
        </p:nvSpPr>
        <p:spPr>
          <a:xfrm>
            <a:off x="1247775" y="5486400"/>
            <a:ext cx="6355407" cy="9525"/>
          </a:xfrm>
          <a:prstGeom prst="rect">
            <a:avLst/>
          </a:prstGeom>
          <a:solidFill>
            <a:srgbClr val="D9DED7"/>
          </a:solidFill>
          <a:ln/>
        </p:spPr>
      </p:sp>
      <p:sp>
        <p:nvSpPr>
          <p:cNvPr id="26" name="Text 24"/>
          <p:cNvSpPr/>
          <p:nvPr/>
        </p:nvSpPr>
        <p:spPr>
          <a:xfrm>
            <a:off x="1247775" y="5000625"/>
            <a:ext cx="5396731"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Async / post-write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federation, profiling</a:t>
            </a:r>
            <a:endParaRPr lang="en-US" sz="1950" dirty="0"/>
          </a:p>
        </p:txBody>
      </p:sp>
      <p:sp>
        <p:nvSpPr>
          <p:cNvPr id="27" name="Text 25"/>
          <p:cNvSpPr/>
          <p:nvPr/>
        </p:nvSpPr>
        <p:spPr>
          <a:xfrm>
            <a:off x="7424886" y="49911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28" name="Shape 26"/>
          <p:cNvSpPr/>
          <p:nvPr/>
        </p:nvSpPr>
        <p:spPr>
          <a:xfrm>
            <a:off x="1247775" y="6134100"/>
            <a:ext cx="6355407" cy="9525"/>
          </a:xfrm>
          <a:prstGeom prst="rect">
            <a:avLst/>
          </a:prstGeom>
          <a:solidFill>
            <a:srgbClr val="D9DED7"/>
          </a:solidFill>
          <a:ln/>
        </p:spPr>
      </p:sp>
      <p:sp>
        <p:nvSpPr>
          <p:cNvPr id="29" name="Text 27"/>
          <p:cNvSpPr/>
          <p:nvPr/>
        </p:nvSpPr>
        <p:spPr>
          <a:xfrm>
            <a:off x="1247775" y="5648325"/>
            <a:ext cx="5961370" cy="3810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Sync / streaming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monitor at the chokepoint</a:t>
            </a:r>
            <a:endParaRPr lang="en-US" sz="1950" dirty="0"/>
          </a:p>
        </p:txBody>
      </p:sp>
      <p:sp>
        <p:nvSpPr>
          <p:cNvPr id="30" name="Text 28"/>
          <p:cNvSpPr/>
          <p:nvPr/>
        </p:nvSpPr>
        <p:spPr>
          <a:xfrm>
            <a:off x="7424886" y="5638800"/>
            <a:ext cx="254496"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4</a:t>
            </a:r>
            <a:endParaRPr lang="en-US" sz="2250" dirty="0"/>
          </a:p>
        </p:txBody>
      </p:sp>
      <p:sp>
        <p:nvSpPr>
          <p:cNvPr id="31" name="Text 29"/>
          <p:cNvSpPr/>
          <p:nvPr/>
        </p:nvSpPr>
        <p:spPr>
          <a:xfrm>
            <a:off x="1247775" y="6305550"/>
            <a:ext cx="5694527"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Contracts &amp; gate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certification gate, shadow M5 → blocks M7</a:t>
            </a:r>
            <a:endParaRPr lang="en-US" sz="1950" dirty="0"/>
          </a:p>
        </p:txBody>
      </p:sp>
      <p:sp>
        <p:nvSpPr>
          <p:cNvPr id="32" name="Text 30"/>
          <p:cNvSpPr/>
          <p:nvPr/>
        </p:nvSpPr>
        <p:spPr>
          <a:xfrm>
            <a:off x="6966942" y="6286500"/>
            <a:ext cx="71244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2→4</a:t>
            </a:r>
            <a:endParaRPr lang="en-US" sz="2250" dirty="0"/>
          </a:p>
        </p:txBody>
      </p:sp>
      <p:sp>
        <p:nvSpPr>
          <p:cNvPr id="33" name="Shape 31"/>
          <p:cNvSpPr/>
          <p:nvPr/>
        </p:nvSpPr>
        <p:spPr>
          <a:xfrm>
            <a:off x="8165157" y="4210050"/>
            <a:ext cx="9170343" cy="4714875"/>
          </a:xfrm>
          <a:prstGeom prst="roundRect">
            <a:avLst>
              <a:gd name="adj" fmla="val 2424"/>
            </a:avLst>
          </a:prstGeom>
          <a:solidFill>
            <a:srgbClr val="FDFDFB"/>
          </a:solidFill>
          <a:ln w="9525">
            <a:solidFill>
              <a:srgbClr val="D9DED7"/>
            </a:solidFill>
            <a:prstDash val="solid"/>
          </a:ln>
        </p:spPr>
      </p:sp>
      <p:sp>
        <p:nvSpPr>
          <p:cNvPr id="34" name="Text 32"/>
          <p:cNvSpPr/>
          <p:nvPr/>
        </p:nvSpPr>
        <p:spPr>
          <a:xfrm>
            <a:off x="8460432" y="4467225"/>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5" name="Shape 33"/>
          <p:cNvSpPr/>
          <p:nvPr/>
        </p:nvSpPr>
        <p:spPr>
          <a:xfrm>
            <a:off x="8460432" y="6115050"/>
            <a:ext cx="8579793" cy="9525"/>
          </a:xfrm>
          <a:prstGeom prst="rect">
            <a:avLst/>
          </a:prstGeom>
          <a:solidFill>
            <a:srgbClr val="D9DED7"/>
          </a:solidFill>
          <a:ln/>
        </p:spPr>
      </p:sp>
      <p:sp>
        <p:nvSpPr>
          <p:cNvPr id="36" name="Text 34"/>
          <p:cNvSpPr/>
          <p:nvPr/>
        </p:nvSpPr>
        <p:spPr>
          <a:xfrm>
            <a:off x="8460432" y="499110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7" name="Text 35"/>
          <p:cNvSpPr/>
          <p:nvPr/>
        </p:nvSpPr>
        <p:spPr>
          <a:xfrm>
            <a:off x="9660582" y="4981575"/>
            <a:ext cx="673768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Foundation building: real-time (in-stream) and async (batch + at-rest) DQ built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in parallel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m1–m5; baselines learned by m4</a:t>
            </a:r>
            <a:endParaRPr lang="en-US" sz="1875" dirty="0"/>
          </a:p>
        </p:txBody>
      </p:sp>
      <p:sp>
        <p:nvSpPr>
          <p:cNvPr id="38" name="Text 36"/>
          <p:cNvSpPr/>
          <p:nvPr/>
        </p:nvSpPr>
        <p:spPr>
          <a:xfrm>
            <a:off x="16354425" y="4991100"/>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M1–M3</a:t>
            </a:r>
            <a:endParaRPr lang="en-US" sz="1800" dirty="0"/>
          </a:p>
        </p:txBody>
      </p:sp>
      <p:sp>
        <p:nvSpPr>
          <p:cNvPr id="39" name="Shape 37"/>
          <p:cNvSpPr/>
          <p:nvPr/>
        </p:nvSpPr>
        <p:spPr>
          <a:xfrm>
            <a:off x="8460432" y="7058025"/>
            <a:ext cx="8579793" cy="9525"/>
          </a:xfrm>
          <a:prstGeom prst="rect">
            <a:avLst/>
          </a:prstGeom>
          <a:solidFill>
            <a:srgbClr val="D9DED7"/>
          </a:solidFill>
          <a:ln/>
        </p:spPr>
      </p:sp>
      <p:sp>
        <p:nvSpPr>
          <p:cNvPr id="40" name="Text 38"/>
          <p:cNvSpPr/>
          <p:nvPr/>
        </p:nvSpPr>
        <p:spPr>
          <a:xfrm>
            <a:off x="8460432" y="6267450"/>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41" name="Text 39"/>
          <p:cNvSpPr/>
          <p:nvPr/>
        </p:nvSpPr>
        <p:spPr>
          <a:xfrm>
            <a:off x="9660582" y="6257925"/>
            <a:ext cx="716138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Check tuning on real traffic; gate in shadow mode — logs what it would hold, holds nothing, earns trust</a:t>
            </a:r>
            <a:endParaRPr lang="en-US" sz="1875" dirty="0"/>
          </a:p>
        </p:txBody>
      </p:sp>
      <p:sp>
        <p:nvSpPr>
          <p:cNvPr id="42" name="Text 40"/>
          <p:cNvSpPr/>
          <p:nvPr/>
        </p:nvSpPr>
        <p:spPr>
          <a:xfrm>
            <a:off x="16765786" y="6267450"/>
            <a:ext cx="35063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M5</a:t>
            </a:r>
            <a:endParaRPr lang="en-US" sz="1800" dirty="0"/>
          </a:p>
        </p:txBody>
      </p:sp>
      <p:sp>
        <p:nvSpPr>
          <p:cNvPr id="43" name="Text 41"/>
          <p:cNvSpPr/>
          <p:nvPr/>
        </p:nvSpPr>
        <p:spPr>
          <a:xfrm>
            <a:off x="8460432" y="72104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4" name="Text 42"/>
          <p:cNvSpPr/>
          <p:nvPr/>
        </p:nvSpPr>
        <p:spPr>
          <a:xfrm>
            <a:off x="9660582" y="7200900"/>
            <a:ext cx="6737686"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Contracts &amp; the gate start only after both DQ tracks + the platform substrate land: first contract accepted m10–11 (90 days observed), first real block m11–12; auto-tuned by m15</a:t>
            </a:r>
            <a:endParaRPr lang="en-US" sz="1875" dirty="0"/>
          </a:p>
        </p:txBody>
      </p:sp>
      <p:sp>
        <p:nvSpPr>
          <p:cNvPr id="45" name="Text 43"/>
          <p:cNvSpPr/>
          <p:nvPr/>
        </p:nvSpPr>
        <p:spPr>
          <a:xfrm>
            <a:off x="16354425" y="7210425"/>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M6–M7</a:t>
            </a:r>
            <a:endParaRPr lang="en-US" sz="1800" dirty="0"/>
          </a:p>
        </p:txBody>
      </p:sp>
      <p:sp>
        <p:nvSpPr>
          <p:cNvPr id="46" name="Shape 44"/>
          <p:cNvSpPr/>
          <p:nvPr/>
        </p:nvSpPr>
        <p:spPr>
          <a:xfrm>
            <a:off x="952500" y="9191625"/>
            <a:ext cx="8077200" cy="1381125"/>
          </a:xfrm>
          <a:prstGeom prst="roundRect">
            <a:avLst>
              <a:gd name="adj" fmla="val 8276"/>
            </a:avLst>
          </a:prstGeom>
          <a:solidFill>
            <a:srgbClr val="E3EFEA"/>
          </a:solidFill>
          <a:ln/>
        </p:spPr>
      </p:sp>
      <p:sp>
        <p:nvSpPr>
          <p:cNvPr id="47" name="Text 45"/>
          <p:cNvSpPr/>
          <p:nvPr/>
        </p:nvSpPr>
        <p:spPr>
          <a:xfrm>
            <a:off x="1238250" y="9391650"/>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8" name="Text 46"/>
          <p:cNvSpPr/>
          <p:nvPr/>
        </p:nvSpPr>
        <p:spPr>
          <a:xfrm>
            <a:off x="4144566" y="9382125"/>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 check exists only when its result lands in the evidence stream under enterprise-registry names.</a:t>
            </a:r>
            <a:endParaRPr lang="en-US" sz="1875" dirty="0"/>
          </a:p>
        </p:txBody>
      </p:sp>
      <p:sp>
        <p:nvSpPr>
          <p:cNvPr id="49" name="Shape 47"/>
          <p:cNvSpPr/>
          <p:nvPr/>
        </p:nvSpPr>
        <p:spPr>
          <a:xfrm>
            <a:off x="9258300" y="9191625"/>
            <a:ext cx="8077200" cy="1381125"/>
          </a:xfrm>
          <a:prstGeom prst="roundRect">
            <a:avLst>
              <a:gd name="adj" fmla="val 8276"/>
            </a:avLst>
          </a:prstGeom>
          <a:solidFill>
            <a:srgbClr val="F3E4DF"/>
          </a:solidFill>
          <a:ln/>
        </p:spPr>
      </p:sp>
      <p:sp>
        <p:nvSpPr>
          <p:cNvPr id="50" name="Text 48"/>
          <p:cNvSpPr/>
          <p:nvPr/>
        </p:nvSpPr>
        <p:spPr>
          <a:xfrm>
            <a:off x="9544050" y="9391650"/>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51" name="Text 49"/>
          <p:cNvSpPr/>
          <p:nvPr/>
        </p:nvSpPr>
        <p:spPr>
          <a:xfrm>
            <a:off x="11695956" y="9382125"/>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Blocking on anomaly scores; estate-wide enforcement mandates.</a:t>
            </a:r>
            <a:endParaRPr lang="en-US" sz="187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2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checks, by example</a:t>
            </a:r>
            <a:endParaRPr lang="en-US" sz="4200" dirty="0"/>
          </a:p>
        </p:txBody>
      </p:sp>
      <p:sp>
        <p:nvSpPr>
          <p:cNvPr id="4" name="Text 2"/>
          <p:cNvSpPr/>
          <p:nvPr/>
        </p:nvSpPr>
        <p:spPr>
          <a:xfrm>
            <a:off x="952500" y="1638300"/>
            <a:ext cx="13735050"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The same broken deploy, seen by all three check layers — every result lands in one stream, so the gate makes one decision.</a:t>
            </a:r>
            <a:endParaRPr lang="en-US" sz="1950" dirty="0"/>
          </a:p>
        </p:txBody>
      </p:sp>
      <p:sp>
        <p:nvSpPr>
          <p:cNvPr id="5" name="Shape 3"/>
          <p:cNvSpPr/>
          <p:nvPr/>
        </p:nvSpPr>
        <p:spPr>
          <a:xfrm>
            <a:off x="952500" y="2590800"/>
            <a:ext cx="5308550" cy="5162550"/>
          </a:xfrm>
          <a:prstGeom prst="roundRect">
            <a:avLst>
              <a:gd name="adj" fmla="val 2214"/>
            </a:avLst>
          </a:prstGeom>
          <a:solidFill>
            <a:srgbClr val="FDFDFB"/>
          </a:solidFill>
          <a:ln w="9525">
            <a:solidFill>
              <a:srgbClr val="D9DED7"/>
            </a:solidFill>
            <a:prstDash val="solid"/>
          </a:ln>
        </p:spPr>
      </p:sp>
      <p:sp>
        <p:nvSpPr>
          <p:cNvPr id="6" name="Text 4"/>
          <p:cNvSpPr/>
          <p:nvPr/>
        </p:nvSpPr>
        <p:spPr>
          <a:xfrm>
            <a:off x="120967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IN-STREAM · SERVICE &amp; KAFKA</a:t>
            </a:r>
            <a:endParaRPr lang="en-US" sz="1800" dirty="0"/>
          </a:p>
        </p:txBody>
      </p:sp>
      <p:sp>
        <p:nvSpPr>
          <p:cNvPr id="7" name="Text 5"/>
          <p:cNvSpPr/>
          <p:nvPr/>
        </p:nvSpPr>
        <p:spPr>
          <a:xfrm>
            <a:off x="120967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NULL spike caught</a:t>
            </a:r>
            <a:endParaRPr lang="en-US" sz="2100" dirty="0"/>
          </a:p>
        </p:txBody>
      </p:sp>
      <p:sp>
        <p:nvSpPr>
          <p:cNvPr id="8" name="Text 6"/>
          <p:cNvSpPr/>
          <p:nvPr/>
        </p:nvSpPr>
        <p:spPr>
          <a:xfrm>
            <a:off x="1209675"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customer_id null-rate jumps 0.1% → 8% on the orders topic — flagged at </a:t>
            </a:r>
            <a:pPr algn="l" indent="0" marL="0">
              <a:lnSpc>
                <a:spcPct val="102941"/>
              </a:lnSpc>
              <a:buNone/>
            </a:pPr>
            <a:r>
              <a:rPr lang="en-US" sz="1875" b="1" dirty="0">
                <a:solidFill>
                  <a:srgbClr val="3D4A55"/>
                </a:solidFill>
                <a:latin typeface="Source Serif 4" pitchFamily="34" charset="0"/>
                <a:ea typeface="Source Serif 4" pitchFamily="34" charset="-122"/>
                <a:cs typeface="Source Serif 4" pitchFamily="34" charset="-120"/>
              </a:rPr>
              <a:t>+2 min </a:t>
            </a:r>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 before any consumer reads.</a:t>
            </a:r>
            <a:endParaRPr lang="en-US" sz="1875" dirty="0"/>
          </a:p>
        </p:txBody>
      </p:sp>
      <p:sp>
        <p:nvSpPr>
          <p:cNvPr id="9" name="Text 7"/>
          <p:cNvSpPr/>
          <p:nvPr/>
        </p:nvSpPr>
        <p:spPr>
          <a:xfrm>
            <a:off x="120967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0" name="Shape 8"/>
          <p:cNvSpPr/>
          <p:nvPr/>
        </p:nvSpPr>
        <p:spPr>
          <a:xfrm>
            <a:off x="6489650" y="2590800"/>
            <a:ext cx="5308550" cy="5162550"/>
          </a:xfrm>
          <a:prstGeom prst="roundRect">
            <a:avLst>
              <a:gd name="adj" fmla="val 2214"/>
            </a:avLst>
          </a:prstGeom>
          <a:solidFill>
            <a:srgbClr val="FDFDFB"/>
          </a:solidFill>
          <a:ln w="9525">
            <a:solidFill>
              <a:srgbClr val="D9DED7"/>
            </a:solidFill>
            <a:prstDash val="solid"/>
          </a:ln>
        </p:spPr>
      </p:sp>
      <p:sp>
        <p:nvSpPr>
          <p:cNvPr id="11" name="Text 9"/>
          <p:cNvSpPr/>
          <p:nvPr/>
        </p:nvSpPr>
        <p:spPr>
          <a:xfrm>
            <a:off x="6746825"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AT-REST · POST-WRITE</a:t>
            </a:r>
            <a:endParaRPr lang="en-US" sz="1800" dirty="0"/>
          </a:p>
        </p:txBody>
      </p:sp>
      <p:sp>
        <p:nvSpPr>
          <p:cNvPr id="12" name="Text 10"/>
          <p:cNvSpPr/>
          <p:nvPr/>
        </p:nvSpPr>
        <p:spPr>
          <a:xfrm>
            <a:off x="6746825"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Baseline breach</a:t>
            </a:r>
            <a:endParaRPr lang="en-US" sz="2100" dirty="0"/>
          </a:p>
        </p:txBody>
      </p:sp>
      <p:sp>
        <p:nvSpPr>
          <p:cNvPr id="13" name="Text 11"/>
          <p:cNvSpPr/>
          <p:nvPr/>
        </p:nvSpPr>
        <p:spPr>
          <a:xfrm>
            <a:off x="6746825" y="3590925"/>
            <a:ext cx="4938026" cy="137160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gold.orders_enr lands 40% below its learned volume baseline — freshness and volume checks auto-generated from history.</a:t>
            </a:r>
            <a:endParaRPr lang="en-US" sz="1875" dirty="0"/>
          </a:p>
        </p:txBody>
      </p:sp>
      <p:sp>
        <p:nvSpPr>
          <p:cNvPr id="14" name="Text 12"/>
          <p:cNvSpPr/>
          <p:nvPr/>
        </p:nvSpPr>
        <p:spPr>
          <a:xfrm>
            <a:off x="6746825"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15" name="Shape 13"/>
          <p:cNvSpPr/>
          <p:nvPr/>
        </p:nvSpPr>
        <p:spPr>
          <a:xfrm>
            <a:off x="12026801" y="2590800"/>
            <a:ext cx="5308550" cy="5162550"/>
          </a:xfrm>
          <a:prstGeom prst="roundRect">
            <a:avLst>
              <a:gd name="adj" fmla="val 2214"/>
            </a:avLst>
          </a:prstGeom>
          <a:solidFill>
            <a:srgbClr val="FDFDFB"/>
          </a:solidFill>
          <a:ln w="9525">
            <a:solidFill>
              <a:srgbClr val="D9DED7"/>
            </a:solidFill>
            <a:prstDash val="solid"/>
          </a:ln>
        </p:spPr>
      </p:sp>
      <p:sp>
        <p:nvSpPr>
          <p:cNvPr id="16" name="Text 14"/>
          <p:cNvSpPr/>
          <p:nvPr/>
        </p:nvSpPr>
        <p:spPr>
          <a:xfrm>
            <a:off x="12283976" y="2809875"/>
            <a:ext cx="5273620"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BATCH · FEDERATED</a:t>
            </a:r>
            <a:endParaRPr lang="en-US" sz="1800" dirty="0"/>
          </a:p>
        </p:txBody>
      </p:sp>
      <p:sp>
        <p:nvSpPr>
          <p:cNvPr id="17" name="Text 15"/>
          <p:cNvSpPr/>
          <p:nvPr/>
        </p:nvSpPr>
        <p:spPr>
          <a:xfrm>
            <a:off x="12283976" y="3190875"/>
            <a:ext cx="5273620" cy="361950"/>
          </a:xfrm>
          <a:prstGeom prst="rect">
            <a:avLst/>
          </a:prstGeom>
          <a:noFill/>
          <a:ln/>
        </p:spPr>
        <p:txBody>
          <a:bodyPr wrap="square" lIns="25400" tIns="25400" rIns="25400" bIns="25400" rtlCol="0" anchor="t">
            <a:normAutofit/>
          </a:bodyPr>
          <a:lstStyle/>
          <a:p>
            <a:pPr algn="l" indent="0" marL="0">
              <a:buNone/>
            </a:pPr>
            <a:r>
              <a:rPr lang="en-US" sz="2100" b="1" dirty="0">
                <a:solidFill>
                  <a:srgbClr val="1B2530"/>
                </a:solidFill>
                <a:latin typeface="Bricolage Grotesque" pitchFamily="34" charset="0"/>
                <a:ea typeface="Bricolage Grotesque" pitchFamily="34" charset="-122"/>
                <a:cs typeface="Bricolage Grotesque" pitchFamily="34" charset="-120"/>
              </a:rPr>
              <a:t>Existing check, new home</a:t>
            </a:r>
            <a:endParaRPr lang="en-US" sz="2100" dirty="0"/>
          </a:p>
        </p:txBody>
      </p:sp>
      <p:sp>
        <p:nvSpPr>
          <p:cNvPr id="18" name="Text 16"/>
          <p:cNvSpPr/>
          <p:nvPr/>
        </p:nvSpPr>
        <p:spPr>
          <a:xfrm>
            <a:off x="12283976" y="3590925"/>
            <a:ext cx="493802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The finance team's own row-count check fails — unchanged, but now visible in the same pane as everything else.</a:t>
            </a:r>
            <a:endParaRPr lang="en-US" sz="1875" dirty="0"/>
          </a:p>
        </p:txBody>
      </p:sp>
      <p:sp>
        <p:nvSpPr>
          <p:cNvPr id="19" name="Text 17"/>
          <p:cNvSpPr/>
          <p:nvPr/>
        </p:nvSpPr>
        <p:spPr>
          <a:xfrm>
            <a:off x="12283976" y="7229475"/>
            <a:ext cx="4938026"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5B6873"/>
                </a:solidFill>
                <a:latin typeface="IBM Plex Mono" pitchFamily="34" charset="0"/>
                <a:ea typeface="IBM Plex Mono" pitchFamily="34" charset="-122"/>
                <a:cs typeface="IBM Plex Mono" pitchFamily="34" charset="-120"/>
              </a:rPr>
              <a:t>↓ result → evidence stream</a:t>
            </a:r>
            <a:endParaRPr lang="en-US" sz="1800" dirty="0"/>
          </a:p>
        </p:txBody>
      </p:sp>
      <p:sp>
        <p:nvSpPr>
          <p:cNvPr id="20" name="Shape 18"/>
          <p:cNvSpPr/>
          <p:nvPr/>
        </p:nvSpPr>
        <p:spPr>
          <a:xfrm>
            <a:off x="952500" y="7981950"/>
            <a:ext cx="16383000" cy="704850"/>
          </a:xfrm>
          <a:prstGeom prst="roundRect">
            <a:avLst>
              <a:gd name="adj" fmla="val 16216"/>
            </a:avLst>
          </a:prstGeom>
          <a:solidFill>
            <a:srgbClr val="1B2530"/>
          </a:solidFill>
          <a:ln/>
        </p:spPr>
      </p:sp>
      <p:sp>
        <p:nvSpPr>
          <p:cNvPr id="21" name="Text 19"/>
          <p:cNvSpPr/>
          <p:nvPr/>
        </p:nvSpPr>
        <p:spPr>
          <a:xfrm>
            <a:off x="1238250" y="8181975"/>
            <a:ext cx="2565023"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EVIDENCE STREAM</a:t>
            </a:r>
            <a:endParaRPr lang="en-US" sz="1800" dirty="0"/>
          </a:p>
        </p:txBody>
      </p:sp>
      <p:sp>
        <p:nvSpPr>
          <p:cNvPr id="22" name="Shape 20"/>
          <p:cNvSpPr/>
          <p:nvPr/>
        </p:nvSpPr>
        <p:spPr>
          <a:xfrm>
            <a:off x="3779639" y="8134350"/>
            <a:ext cx="2423220" cy="400050"/>
          </a:xfrm>
          <a:prstGeom prst="roundRect">
            <a:avLst>
              <a:gd name="adj" fmla="val 11905"/>
            </a:avLst>
          </a:prstGeom>
          <a:solidFill>
            <a:srgbClr val="3A2A28"/>
          </a:solidFill>
          <a:ln/>
        </p:spPr>
      </p:sp>
      <p:sp>
        <p:nvSpPr>
          <p:cNvPr id="23" name="Text 21"/>
          <p:cNvSpPr/>
          <p:nvPr/>
        </p:nvSpPr>
        <p:spPr>
          <a:xfrm>
            <a:off x="3893939"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null-rate</a:t>
            </a:r>
            <a:endParaRPr lang="en-US" sz="1800" dirty="0"/>
          </a:p>
        </p:txBody>
      </p:sp>
      <p:sp>
        <p:nvSpPr>
          <p:cNvPr id="24" name="Shape 22"/>
          <p:cNvSpPr/>
          <p:nvPr/>
        </p:nvSpPr>
        <p:spPr>
          <a:xfrm>
            <a:off x="6412409" y="8134350"/>
            <a:ext cx="2011710" cy="400050"/>
          </a:xfrm>
          <a:prstGeom prst="roundRect">
            <a:avLst>
              <a:gd name="adj" fmla="val 11905"/>
            </a:avLst>
          </a:prstGeom>
          <a:solidFill>
            <a:srgbClr val="33291A"/>
          </a:solidFill>
          <a:ln/>
        </p:spPr>
      </p:sp>
      <p:sp>
        <p:nvSpPr>
          <p:cNvPr id="25" name="Text 23"/>
          <p:cNvSpPr/>
          <p:nvPr/>
        </p:nvSpPr>
        <p:spPr>
          <a:xfrm>
            <a:off x="6526709" y="8181975"/>
            <a:ext cx="18593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WARN · volume</a:t>
            </a:r>
            <a:endParaRPr lang="en-US" sz="1800" dirty="0"/>
          </a:p>
        </p:txBody>
      </p:sp>
      <p:sp>
        <p:nvSpPr>
          <p:cNvPr id="26" name="Shape 24"/>
          <p:cNvSpPr/>
          <p:nvPr/>
        </p:nvSpPr>
        <p:spPr>
          <a:xfrm>
            <a:off x="8633668" y="8134350"/>
            <a:ext cx="2423220" cy="400050"/>
          </a:xfrm>
          <a:prstGeom prst="roundRect">
            <a:avLst>
              <a:gd name="adj" fmla="val 11905"/>
            </a:avLst>
          </a:prstGeom>
          <a:solidFill>
            <a:srgbClr val="3A2A28"/>
          </a:solidFill>
          <a:ln/>
        </p:spPr>
      </p:sp>
      <p:sp>
        <p:nvSpPr>
          <p:cNvPr id="27" name="Text 25"/>
          <p:cNvSpPr/>
          <p:nvPr/>
        </p:nvSpPr>
        <p:spPr>
          <a:xfrm>
            <a:off x="8747968" y="8181975"/>
            <a:ext cx="22708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D4765F"/>
                </a:solidFill>
                <a:latin typeface="IBM Plex Mono" pitchFamily="34" charset="0"/>
                <a:ea typeface="IBM Plex Mono" pitchFamily="34" charset="-122"/>
                <a:cs typeface="IBM Plex Mono" pitchFamily="34" charset="-120"/>
              </a:rPr>
              <a:t>FAIL · row-count</a:t>
            </a:r>
            <a:endParaRPr lang="en-US" sz="1800" dirty="0"/>
          </a:p>
        </p:txBody>
      </p:sp>
      <p:sp>
        <p:nvSpPr>
          <p:cNvPr id="28" name="Text 26"/>
          <p:cNvSpPr/>
          <p:nvPr/>
        </p:nvSpPr>
        <p:spPr>
          <a:xfrm>
            <a:off x="12934950" y="8181975"/>
            <a:ext cx="452628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all under orders.order_created</a:t>
            </a:r>
            <a:endParaRPr lang="en-US" sz="1800" dirty="0"/>
          </a:p>
        </p:txBody>
      </p:sp>
      <p:sp>
        <p:nvSpPr>
          <p:cNvPr id="29" name="Shape 27"/>
          <p:cNvSpPr/>
          <p:nvPr/>
        </p:nvSpPr>
        <p:spPr>
          <a:xfrm>
            <a:off x="952500" y="8820150"/>
            <a:ext cx="16383000" cy="1009650"/>
          </a:xfrm>
          <a:prstGeom prst="roundRect">
            <a:avLst>
              <a:gd name="adj" fmla="val 11321"/>
            </a:avLst>
          </a:prstGeom>
          <a:solidFill>
            <a:srgbClr val="FBF3E4"/>
          </a:solidFill>
          <a:ln w="9525">
            <a:solidFill>
              <a:srgbClr val="B97417"/>
            </a:solidFill>
            <a:prstDash val="solid"/>
          </a:ln>
        </p:spPr>
      </p:sp>
      <p:sp>
        <p:nvSpPr>
          <p:cNvPr id="30" name="Shape 28"/>
          <p:cNvSpPr/>
          <p:nvPr/>
        </p:nvSpPr>
        <p:spPr>
          <a:xfrm rot="2700000">
            <a:off x="1247775" y="9220200"/>
            <a:ext cx="209550" cy="209550"/>
          </a:xfrm>
          <a:prstGeom prst="roundRect">
            <a:avLst>
              <a:gd name="adj" fmla="val 18182"/>
            </a:avLst>
          </a:prstGeom>
          <a:solidFill>
            <a:srgbClr val="B97417"/>
          </a:solidFill>
          <a:ln/>
        </p:spPr>
      </p:sp>
      <p:sp>
        <p:nvSpPr>
          <p:cNvPr id="31" name="Text 29"/>
          <p:cNvSpPr/>
          <p:nvPr/>
        </p:nvSpPr>
        <p:spPr>
          <a:xfrm>
            <a:off x="1666875" y="8982075"/>
            <a:ext cx="15834551" cy="723900"/>
          </a:xfrm>
          <a:prstGeom prst="rect">
            <a:avLst/>
          </a:prstGeom>
          <a:noFill/>
          <a:ln/>
        </p:spPr>
        <p:txBody>
          <a:bodyPr wrap="square" lIns="25400" tIns="25400" rIns="25400" bIns="25400" rtlCol="0" anchor="t">
            <a:normAutofit/>
          </a:bodyPr>
          <a:lstStyle/>
          <a:p>
            <a:pPr algn="l" indent="0" marL="0">
              <a:lnSpc>
                <a:spcPct val="101111"/>
              </a:lnSpc>
              <a:buNone/>
            </a:pPr>
            <a:r>
              <a:rPr lang="en-US" sz="1950" b="1" dirty="0">
                <a:solidFill>
                  <a:srgbClr val="1B2530"/>
                </a:solidFill>
                <a:latin typeface="Source Serif 4" pitchFamily="34" charset="0"/>
                <a:ea typeface="Source Serif 4" pitchFamily="34" charset="-122"/>
                <a:cs typeface="Source Serif 4" pitchFamily="34" charset="-120"/>
              </a:rPr>
              <a:t>The gate decides once: </a:t>
            </a:r>
            <a:pPr algn="l" indent="0" marL="0">
              <a:lnSpc>
                <a:spcPct val="101111"/>
              </a:lnSpc>
              <a:buNone/>
            </a:pPr>
            <a:r>
              <a:rPr lang="en-US" sz="1950" dirty="0">
                <a:solidFill>
                  <a:srgbClr val="1B2530"/>
                </a:solidFill>
                <a:latin typeface="Source Serif 4" pitchFamily="34" charset="0"/>
                <a:ea typeface="Source Serif 4" pitchFamily="34" charset="-122"/>
                <a:cs typeface="Source Serif 4" pitchFamily="34" charset="-120"/>
              </a:rPr>
              <a:t>contract compare fails → HOLD the batch; consumers keep reading last-certified data. In shadow mode until M7 — it logs what it would hold, holds nothing, earns trust.</a:t>
            </a:r>
            <a:endParaRPr lang="en-US" sz="1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85725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DEEP DIVE · 3 OF 3</a:t>
            </a:r>
            <a:endParaRPr lang="en-US" sz="1800" dirty="0"/>
          </a:p>
        </p:txBody>
      </p:sp>
      <p:sp>
        <p:nvSpPr>
          <p:cNvPr id="3" name="Text 1"/>
          <p:cNvSpPr/>
          <p:nvPr/>
        </p:nvSpPr>
        <p:spPr>
          <a:xfrm>
            <a:off x="952500" y="1352550"/>
            <a:ext cx="18021300" cy="638175"/>
          </a:xfrm>
          <a:prstGeom prst="rect">
            <a:avLst/>
          </a:prstGeom>
          <a:noFill/>
          <a:ln/>
        </p:spPr>
        <p:txBody>
          <a:bodyPr wrap="square" lIns="25400" tIns="25400" rIns="25400" bIns="25400" rtlCol="0" anchor="t">
            <a:normAutofit/>
          </a:bodyPr>
          <a:lstStyle/>
          <a:p>
            <a:pPr algn="l" indent="0" marL="0">
              <a:lnSpc>
                <a:spcPct val="87500"/>
              </a:lnSpc>
              <a:buNone/>
            </a:pPr>
            <a:r>
              <a:rPr lang="en-US" sz="4500" b="1" spc="-67" kern="0" dirty="0">
                <a:solidFill>
                  <a:srgbClr val="1B2530"/>
                </a:solidFill>
                <a:latin typeface="Bricolage Grotesque" pitchFamily="34" charset="0"/>
                <a:ea typeface="Bricolage Grotesque" pitchFamily="34" charset="-122"/>
                <a:cs typeface="Bricolage Grotesque" pitchFamily="34" charset="-120"/>
              </a:rPr>
              <a:t>Onboarding &amp; Experience — adoption and proof</a:t>
            </a:r>
            <a:endParaRPr lang="en-US" sz="4500" dirty="0"/>
          </a:p>
        </p:txBody>
      </p:sp>
      <p:sp>
        <p:nvSpPr>
          <p:cNvPr id="4" name="Shape 2"/>
          <p:cNvSpPr/>
          <p:nvPr/>
        </p:nvSpPr>
        <p:spPr>
          <a:xfrm>
            <a:off x="952500" y="2295525"/>
            <a:ext cx="3767138" cy="1333500"/>
          </a:xfrm>
          <a:prstGeom prst="roundRect">
            <a:avLst>
              <a:gd name="adj" fmla="val 7143"/>
            </a:avLst>
          </a:prstGeom>
          <a:solidFill>
            <a:srgbClr val="FDFDFB"/>
          </a:solidFill>
          <a:ln w="9525">
            <a:solidFill>
              <a:srgbClr val="D9DED7"/>
            </a:solidFill>
            <a:prstDash val="solid"/>
          </a:ln>
        </p:spPr>
      </p:sp>
      <p:sp>
        <p:nvSpPr>
          <p:cNvPr id="5" name="Text 3"/>
          <p:cNvSpPr/>
          <p:nvPr/>
        </p:nvSpPr>
        <p:spPr>
          <a:xfrm>
            <a:off x="1152525"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1 · Onboard</a:t>
            </a:r>
            <a:endParaRPr lang="en-US" sz="1875" dirty="0"/>
          </a:p>
        </p:txBody>
      </p:sp>
      <p:sp>
        <p:nvSpPr>
          <p:cNvPr id="6" name="Text 4"/>
          <p:cNvSpPr/>
          <p:nvPr/>
        </p:nvSpPr>
        <p:spPr>
          <a:xfrm>
            <a:off x="1152525"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manifest + runbook onboard onto DQ + monitoring tools</a:t>
            </a:r>
            <a:endParaRPr lang="en-US" sz="1800" dirty="0"/>
          </a:p>
        </p:txBody>
      </p:sp>
      <p:sp>
        <p:nvSpPr>
          <p:cNvPr id="7" name="Text 5"/>
          <p:cNvSpPr/>
          <p:nvPr/>
        </p:nvSpPr>
        <p:spPr>
          <a:xfrm>
            <a:off x="4795837"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8" name="Shape 6"/>
          <p:cNvSpPr/>
          <p:nvPr/>
        </p:nvSpPr>
        <p:spPr>
          <a:xfrm>
            <a:off x="5157788" y="2295525"/>
            <a:ext cx="3767138" cy="1333500"/>
          </a:xfrm>
          <a:prstGeom prst="roundRect">
            <a:avLst>
              <a:gd name="adj" fmla="val 7143"/>
            </a:avLst>
          </a:prstGeom>
          <a:solidFill>
            <a:srgbClr val="FDFDFB"/>
          </a:solidFill>
          <a:ln w="9525">
            <a:solidFill>
              <a:srgbClr val="D9DED7"/>
            </a:solidFill>
            <a:prstDash val="solid"/>
          </a:ln>
        </p:spPr>
      </p:sp>
      <p:sp>
        <p:nvSpPr>
          <p:cNvPr id="9" name="Text 7"/>
          <p:cNvSpPr/>
          <p:nvPr/>
        </p:nvSpPr>
        <p:spPr>
          <a:xfrm>
            <a:off x="5357813"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2 · Observe</a:t>
            </a:r>
            <a:endParaRPr lang="en-US" sz="1875" dirty="0"/>
          </a:p>
        </p:txBody>
      </p:sp>
      <p:sp>
        <p:nvSpPr>
          <p:cNvPr id="10" name="Text 8"/>
          <p:cNvSpPr/>
          <p:nvPr/>
        </p:nvSpPr>
        <p:spPr>
          <a:xfrm>
            <a:off x="5357813"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health dashboard: one pane, causal view, blast radius</a:t>
            </a:r>
            <a:endParaRPr lang="en-US" sz="1800" dirty="0"/>
          </a:p>
        </p:txBody>
      </p:sp>
      <p:sp>
        <p:nvSpPr>
          <p:cNvPr id="11" name="Text 9"/>
          <p:cNvSpPr/>
          <p:nvPr/>
        </p:nvSpPr>
        <p:spPr>
          <a:xfrm>
            <a:off x="9001125"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2" name="Shape 10"/>
          <p:cNvSpPr/>
          <p:nvPr/>
        </p:nvSpPr>
        <p:spPr>
          <a:xfrm>
            <a:off x="9363075" y="2295525"/>
            <a:ext cx="3767138" cy="1333500"/>
          </a:xfrm>
          <a:prstGeom prst="roundRect">
            <a:avLst>
              <a:gd name="adj" fmla="val 7143"/>
            </a:avLst>
          </a:prstGeom>
          <a:solidFill>
            <a:srgbClr val="FDFDFB"/>
          </a:solidFill>
          <a:ln w="9525">
            <a:solidFill>
              <a:srgbClr val="D9DED7"/>
            </a:solidFill>
            <a:prstDash val="solid"/>
          </a:ln>
        </p:spPr>
      </p:sp>
      <p:sp>
        <p:nvSpPr>
          <p:cNvPr id="13" name="Text 11"/>
          <p:cNvSpPr/>
          <p:nvPr/>
        </p:nvSpPr>
        <p:spPr>
          <a:xfrm>
            <a:off x="9563100"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3 · Act</a:t>
            </a:r>
            <a:endParaRPr lang="en-US" sz="1875" dirty="0"/>
          </a:p>
        </p:txBody>
      </p:sp>
      <p:sp>
        <p:nvSpPr>
          <p:cNvPr id="14" name="Text 12"/>
          <p:cNvSpPr/>
          <p:nvPr/>
        </p:nvSpPr>
        <p:spPr>
          <a:xfrm>
            <a:off x="9563100"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route the incident; posture fixes pushed per application</a:t>
            </a:r>
            <a:endParaRPr lang="en-US" sz="1800" dirty="0"/>
          </a:p>
        </p:txBody>
      </p:sp>
      <p:sp>
        <p:nvSpPr>
          <p:cNvPr id="15" name="Text 13"/>
          <p:cNvSpPr/>
          <p:nvPr/>
        </p:nvSpPr>
        <p:spPr>
          <a:xfrm>
            <a:off x="13206413" y="2295525"/>
            <a:ext cx="361950" cy="1371600"/>
          </a:xfrm>
          <a:prstGeom prst="rect">
            <a:avLst/>
          </a:prstGeom>
          <a:noFill/>
          <a:ln/>
        </p:spPr>
        <p:txBody>
          <a:bodyPr wrap="square" lIns="25400" tIns="25400" rIns="25400" bIns="25400" rtlCol="0" anchor="ctr">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a:t>
            </a:r>
            <a:endParaRPr lang="en-US" sz="2250" dirty="0"/>
          </a:p>
        </p:txBody>
      </p:sp>
      <p:sp>
        <p:nvSpPr>
          <p:cNvPr id="16" name="Shape 14"/>
          <p:cNvSpPr/>
          <p:nvPr/>
        </p:nvSpPr>
        <p:spPr>
          <a:xfrm>
            <a:off x="13568363" y="2295525"/>
            <a:ext cx="3767138" cy="1333500"/>
          </a:xfrm>
          <a:prstGeom prst="roundRect">
            <a:avLst>
              <a:gd name="adj" fmla="val 7143"/>
            </a:avLst>
          </a:prstGeom>
          <a:solidFill>
            <a:srgbClr val="FDFDFB"/>
          </a:solidFill>
          <a:ln w="9525">
            <a:solidFill>
              <a:srgbClr val="D9DED7"/>
            </a:solidFill>
            <a:prstDash val="solid"/>
          </a:ln>
        </p:spPr>
      </p:sp>
      <p:sp>
        <p:nvSpPr>
          <p:cNvPr id="17" name="Text 15"/>
          <p:cNvSpPr/>
          <p:nvPr/>
        </p:nvSpPr>
        <p:spPr>
          <a:xfrm>
            <a:off x="13768388" y="2476500"/>
            <a:ext cx="3703796" cy="323850"/>
          </a:xfrm>
          <a:prstGeom prst="rect">
            <a:avLst/>
          </a:prstGeom>
          <a:noFill/>
          <a:ln/>
        </p:spPr>
        <p:txBody>
          <a:bodyPr wrap="square" lIns="25400" tIns="25400" rIns="25400" bIns="25400" rtlCol="0" anchor="t">
            <a:normAutofit/>
          </a:bodyPr>
          <a:lstStyle/>
          <a:p>
            <a:pPr algn="l" indent="0" marL="0">
              <a:buNone/>
            </a:pPr>
            <a:r>
              <a:rPr lang="en-US" sz="1875" b="1" dirty="0">
                <a:solidFill>
                  <a:srgbClr val="0E7C6B"/>
                </a:solidFill>
                <a:latin typeface="Bricolage Grotesque" pitchFamily="34" charset="0"/>
                <a:ea typeface="Bricolage Grotesque" pitchFamily="34" charset="-122"/>
                <a:cs typeface="Bricolage Grotesque" pitchFamily="34" charset="-120"/>
              </a:rPr>
              <a:t>4 · Prove</a:t>
            </a:r>
            <a:endParaRPr lang="en-US" sz="1875" dirty="0"/>
          </a:p>
        </p:txBody>
      </p:sp>
      <p:sp>
        <p:nvSpPr>
          <p:cNvPr id="18" name="Text 16"/>
          <p:cNvSpPr/>
          <p:nvPr/>
        </p:nvSpPr>
        <p:spPr>
          <a:xfrm>
            <a:off x="13768388" y="2819400"/>
            <a:ext cx="3468100" cy="666750"/>
          </a:xfrm>
          <a:prstGeom prst="rect">
            <a:avLst/>
          </a:prstGeom>
          <a:noFill/>
          <a:ln/>
        </p:spPr>
        <p:txBody>
          <a:bodyPr wrap="square" lIns="25400" tIns="25400" rIns="25400" bIns="25400" rtlCol="0" anchor="t">
            <a:normAutofit/>
          </a:bodyPr>
          <a:lstStyle/>
          <a:p>
            <a:pPr algn="l" indent="0" marL="0">
              <a:lnSpc>
                <a:spcPct val="101818"/>
              </a:lnSpc>
              <a:buNone/>
            </a:pPr>
            <a:r>
              <a:rPr lang="en-US" sz="1800" dirty="0">
                <a:solidFill>
                  <a:srgbClr val="5B6873"/>
                </a:solidFill>
                <a:latin typeface="Source Serif 4" pitchFamily="34" charset="0"/>
                <a:ea typeface="Source Serif 4" pitchFamily="34" charset="-122"/>
                <a:cs typeface="Source Serif 4" pitchFamily="34" charset="-120"/>
              </a:rPr>
              <a:t>saves ledger + scorecard bank the value</a:t>
            </a:r>
            <a:endParaRPr lang="en-US" sz="1800" dirty="0"/>
          </a:p>
        </p:txBody>
      </p:sp>
      <p:sp>
        <p:nvSpPr>
          <p:cNvPr id="19" name="Shape 17"/>
          <p:cNvSpPr/>
          <p:nvPr/>
        </p:nvSpPr>
        <p:spPr>
          <a:xfrm>
            <a:off x="952500" y="3895725"/>
            <a:ext cx="6945957" cy="4714875"/>
          </a:xfrm>
          <a:prstGeom prst="roundRect">
            <a:avLst>
              <a:gd name="adj" fmla="val 2424"/>
            </a:avLst>
          </a:prstGeom>
          <a:solidFill>
            <a:srgbClr val="FDFDFB"/>
          </a:solidFill>
          <a:ln w="9525">
            <a:solidFill>
              <a:srgbClr val="D9DED7"/>
            </a:solidFill>
            <a:prstDash val="solid"/>
          </a:ln>
        </p:spPr>
      </p:sp>
      <p:sp>
        <p:nvSpPr>
          <p:cNvPr id="20" name="Text 18"/>
          <p:cNvSpPr/>
          <p:nvPr/>
        </p:nvSpPr>
        <p:spPr>
          <a:xfrm>
            <a:off x="1247775" y="4152900"/>
            <a:ext cx="6990948"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SQUADS</a:t>
            </a:r>
            <a:endParaRPr lang="en-US" sz="1800" dirty="0"/>
          </a:p>
        </p:txBody>
      </p:sp>
      <p:sp>
        <p:nvSpPr>
          <p:cNvPr id="21" name="Shape 19"/>
          <p:cNvSpPr/>
          <p:nvPr/>
        </p:nvSpPr>
        <p:spPr>
          <a:xfrm>
            <a:off x="1247775" y="5514975"/>
            <a:ext cx="6355407" cy="9525"/>
          </a:xfrm>
          <a:prstGeom prst="rect">
            <a:avLst/>
          </a:prstGeom>
          <a:solidFill>
            <a:srgbClr val="D9DED7"/>
          </a:solidFill>
          <a:ln/>
        </p:spPr>
      </p:sp>
      <p:sp>
        <p:nvSpPr>
          <p:cNvPr id="22" name="Text 20"/>
          <p:cNvSpPr/>
          <p:nvPr/>
        </p:nvSpPr>
        <p:spPr>
          <a:xfrm>
            <a:off x="1247775" y="4686300"/>
            <a:ext cx="6170349"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Data health dashboard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builds the substrate: the health surface, v0 at M3</a:t>
            </a:r>
            <a:endParaRPr lang="en-US" sz="1950" dirty="0"/>
          </a:p>
        </p:txBody>
      </p:sp>
      <p:sp>
        <p:nvSpPr>
          <p:cNvPr id="23" name="Text 21"/>
          <p:cNvSpPr/>
          <p:nvPr/>
        </p:nvSpPr>
        <p:spPr>
          <a:xfrm>
            <a:off x="7428905" y="4676775"/>
            <a:ext cx="250478"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5</a:t>
            </a:r>
            <a:endParaRPr lang="en-US" sz="2250" dirty="0"/>
          </a:p>
        </p:txBody>
      </p:sp>
      <p:sp>
        <p:nvSpPr>
          <p:cNvPr id="24" name="Shape 22"/>
          <p:cNvSpPr/>
          <p:nvPr/>
        </p:nvSpPr>
        <p:spPr>
          <a:xfrm>
            <a:off x="1247775" y="6505575"/>
            <a:ext cx="6355407" cy="9525"/>
          </a:xfrm>
          <a:prstGeom prst="rect">
            <a:avLst/>
          </a:prstGeom>
          <a:solidFill>
            <a:srgbClr val="D9DED7"/>
          </a:solidFill>
          <a:ln/>
        </p:spPr>
      </p:sp>
      <p:sp>
        <p:nvSpPr>
          <p:cNvPr id="25" name="Text 23"/>
          <p:cNvSpPr/>
          <p:nvPr/>
        </p:nvSpPr>
        <p:spPr>
          <a:xfrm>
            <a:off x="1247775" y="5676900"/>
            <a:ext cx="6171575" cy="7239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Guided onboarding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manifest, runbook, template</a:t>
            </a:r>
            <a:endParaRPr lang="en-US" sz="1950" dirty="0"/>
          </a:p>
        </p:txBody>
      </p:sp>
      <p:sp>
        <p:nvSpPr>
          <p:cNvPr id="26" name="Text 24"/>
          <p:cNvSpPr/>
          <p:nvPr/>
        </p:nvSpPr>
        <p:spPr>
          <a:xfrm>
            <a:off x="7430095" y="5667375"/>
            <a:ext cx="249287"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27" name="Text 25"/>
          <p:cNvSpPr/>
          <p:nvPr/>
        </p:nvSpPr>
        <p:spPr>
          <a:xfrm>
            <a:off x="1247775" y="6667500"/>
            <a:ext cx="6172341" cy="1066800"/>
          </a:xfrm>
          <a:prstGeom prst="rect">
            <a:avLst/>
          </a:prstGeom>
          <a:noFill/>
          <a:ln/>
        </p:spPr>
        <p:txBody>
          <a:bodyPr wrap="square" lIns="25400" tIns="25400" rIns="25400" bIns="25400" rtlCol="0" anchor="t">
            <a:normAutofit/>
          </a:bodyPr>
          <a:lstStyle/>
          <a:p>
            <a:pPr algn="l" indent="0" marL="0">
              <a:buNone/>
            </a:pPr>
            <a:r>
              <a:rPr lang="en-US" sz="1950" b="1" dirty="0">
                <a:solidFill>
                  <a:srgbClr val="3D4A55"/>
                </a:solidFill>
                <a:latin typeface="Source Serif 4" pitchFamily="34" charset="0"/>
                <a:ea typeface="Source Serif 4" pitchFamily="34" charset="-122"/>
                <a:cs typeface="Source Serif 4" pitchFamily="34" charset="-120"/>
              </a:rPr>
              <a:t>Value tracking </a:t>
            </a:r>
            <a:pPr algn="l" indent="0" marL="0">
              <a:buNone/>
            </a:pPr>
            <a:r>
              <a:rPr lang="en-US" sz="1950" dirty="0">
                <a:solidFill>
                  <a:srgbClr val="3D4A55"/>
                </a:solidFill>
                <a:latin typeface="Source Serif 4" pitchFamily="34" charset="0"/>
                <a:ea typeface="Source Serif 4" pitchFamily="34" charset="-122"/>
                <a:cs typeface="Source Serif 4" pitchFamily="34" charset="-120"/>
              </a:rPr>
              <a:t>— the saves ledger (each win priced in $), the monthly scorecard, and the evidence pack for the M5 go/no-go</a:t>
            </a:r>
            <a:endParaRPr lang="en-US" sz="1950" dirty="0"/>
          </a:p>
        </p:txBody>
      </p:sp>
      <p:sp>
        <p:nvSpPr>
          <p:cNvPr id="28" name="Text 26"/>
          <p:cNvSpPr/>
          <p:nvPr/>
        </p:nvSpPr>
        <p:spPr>
          <a:xfrm>
            <a:off x="7430839" y="6657975"/>
            <a:ext cx="248543"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29" name="Shape 27"/>
          <p:cNvSpPr/>
          <p:nvPr/>
        </p:nvSpPr>
        <p:spPr>
          <a:xfrm>
            <a:off x="8165157" y="3895725"/>
            <a:ext cx="9170343" cy="4714875"/>
          </a:xfrm>
          <a:prstGeom prst="roundRect">
            <a:avLst>
              <a:gd name="adj" fmla="val 2424"/>
            </a:avLst>
          </a:prstGeom>
          <a:solidFill>
            <a:srgbClr val="FDFDFB"/>
          </a:solidFill>
          <a:ln w="9525">
            <a:solidFill>
              <a:srgbClr val="D9DED7"/>
            </a:solidFill>
            <a:prstDash val="solid"/>
          </a:ln>
        </p:spPr>
      </p:sp>
      <p:sp>
        <p:nvSpPr>
          <p:cNvPr id="30" name="Text 28"/>
          <p:cNvSpPr/>
          <p:nvPr/>
        </p:nvSpPr>
        <p:spPr>
          <a:xfrm>
            <a:off x="8460432" y="4152900"/>
            <a:ext cx="9437772"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5B6873"/>
                </a:solidFill>
                <a:latin typeface="IBM Plex Mono" pitchFamily="34" charset="0"/>
                <a:ea typeface="IBM Plex Mono" pitchFamily="34" charset="-122"/>
                <a:cs typeface="IBM Plex Mono" pitchFamily="34" charset="-120"/>
              </a:rPr>
              <a:t>TEAM ROADMAP → PLATFORM ROADMAP</a:t>
            </a:r>
            <a:endParaRPr lang="en-US" sz="1800" dirty="0"/>
          </a:p>
        </p:txBody>
      </p:sp>
      <p:sp>
        <p:nvSpPr>
          <p:cNvPr id="31" name="Shape 29"/>
          <p:cNvSpPr/>
          <p:nvPr/>
        </p:nvSpPr>
        <p:spPr>
          <a:xfrm>
            <a:off x="8460432" y="5800725"/>
            <a:ext cx="8579793" cy="9525"/>
          </a:xfrm>
          <a:prstGeom prst="rect">
            <a:avLst/>
          </a:prstGeom>
          <a:solidFill>
            <a:srgbClr val="D9DED7"/>
          </a:solidFill>
          <a:ln/>
        </p:spPr>
      </p:sp>
      <p:sp>
        <p:nvSpPr>
          <p:cNvPr id="32" name="Text 30"/>
          <p:cNvSpPr/>
          <p:nvPr/>
        </p:nvSpPr>
        <p:spPr>
          <a:xfrm>
            <a:off x="8460432" y="46767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m0–5</a:t>
            </a:r>
            <a:endParaRPr lang="en-US" sz="1800" dirty="0"/>
          </a:p>
        </p:txBody>
      </p:sp>
      <p:sp>
        <p:nvSpPr>
          <p:cNvPr id="33" name="Text 31"/>
          <p:cNvSpPr/>
          <p:nvPr/>
        </p:nvSpPr>
        <p:spPr>
          <a:xfrm>
            <a:off x="9660582" y="4667250"/>
            <a:ext cx="6596350"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Onboarding experience v0 (pilot manifest); data health reporting v0 — whole thread in one pane m3, alert views m5</a:t>
            </a:r>
            <a:endParaRPr lang="en-US" sz="1875" dirty="0"/>
          </a:p>
        </p:txBody>
      </p:sp>
      <p:sp>
        <p:nvSpPr>
          <p:cNvPr id="34" name="Text 32"/>
          <p:cNvSpPr/>
          <p:nvPr/>
        </p:nvSpPr>
        <p:spPr>
          <a:xfrm>
            <a:off x="16217205" y="4676775"/>
            <a:ext cx="89922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M1, M3</a:t>
            </a:r>
            <a:endParaRPr lang="en-US" sz="1800" dirty="0"/>
          </a:p>
        </p:txBody>
      </p:sp>
      <p:sp>
        <p:nvSpPr>
          <p:cNvPr id="35" name="Shape 33"/>
          <p:cNvSpPr/>
          <p:nvPr/>
        </p:nvSpPr>
        <p:spPr>
          <a:xfrm>
            <a:off x="8460432" y="7077075"/>
            <a:ext cx="8579793" cy="9525"/>
          </a:xfrm>
          <a:prstGeom prst="rect">
            <a:avLst/>
          </a:prstGeom>
          <a:solidFill>
            <a:srgbClr val="D9DED7"/>
          </a:solidFill>
          <a:ln/>
        </p:spPr>
      </p:sp>
      <p:sp>
        <p:nvSpPr>
          <p:cNvPr id="36" name="Text 34"/>
          <p:cNvSpPr/>
          <p:nvPr/>
        </p:nvSpPr>
        <p:spPr>
          <a:xfrm>
            <a:off x="8460432" y="595312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m5–9</a:t>
            </a:r>
            <a:endParaRPr lang="en-US" sz="1800" dirty="0"/>
          </a:p>
        </p:txBody>
      </p:sp>
      <p:sp>
        <p:nvSpPr>
          <p:cNvPr id="37" name="Text 35"/>
          <p:cNvSpPr/>
          <p:nvPr/>
        </p:nvSpPr>
        <p:spPr>
          <a:xfrm>
            <a:off x="9660582" y="5943600"/>
            <a:ext cx="673768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Acting on health: findings routed with runbooks; causal / blast-radius view; the M5 evidence pack — a live incident replay</a:t>
            </a:r>
            <a:endParaRPr lang="en-US" sz="1875" dirty="0"/>
          </a:p>
        </p:txBody>
      </p:sp>
      <p:sp>
        <p:nvSpPr>
          <p:cNvPr id="38" name="Text 36"/>
          <p:cNvSpPr/>
          <p:nvPr/>
        </p:nvSpPr>
        <p:spPr>
          <a:xfrm>
            <a:off x="16354425" y="5953125"/>
            <a:ext cx="7620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M4–M5</a:t>
            </a:r>
            <a:endParaRPr lang="en-US" sz="1800" dirty="0"/>
          </a:p>
        </p:txBody>
      </p:sp>
      <p:sp>
        <p:nvSpPr>
          <p:cNvPr id="39" name="Text 37"/>
          <p:cNvSpPr/>
          <p:nvPr/>
        </p:nvSpPr>
        <p:spPr>
          <a:xfrm>
            <a:off x="8460432" y="7229475"/>
            <a:ext cx="112395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B97417"/>
                </a:solidFill>
                <a:latin typeface="IBM Plex Mono" pitchFamily="34" charset="0"/>
                <a:ea typeface="IBM Plex Mono" pitchFamily="34" charset="-122"/>
                <a:cs typeface="IBM Plex Mono" pitchFamily="34" charset="-120"/>
              </a:rPr>
              <a:t>m10+</a:t>
            </a:r>
            <a:endParaRPr lang="en-US" sz="1800" dirty="0"/>
          </a:p>
        </p:txBody>
      </p:sp>
      <p:sp>
        <p:nvSpPr>
          <p:cNvPr id="40" name="Text 38"/>
          <p:cNvSpPr/>
          <p:nvPr/>
        </p:nvSpPr>
        <p:spPr>
          <a:xfrm>
            <a:off x="9660582" y="7219950"/>
            <a:ext cx="7020205"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3D4A55"/>
                </a:solidFill>
                <a:latin typeface="Source Serif 4" pitchFamily="34" charset="0"/>
                <a:ea typeface="Source Serif 4" pitchFamily="34" charset="-122"/>
                <a:cs typeface="Source Serif 4" pitchFamily="34" charset="-120"/>
              </a:rPr>
              <a:t>Automated onboarding: UC2 on the template (6 wks → 2), self-serve from UC3; acting goes automatic — posture fixes pushed per app — by m24</a:t>
            </a:r>
            <a:endParaRPr lang="en-US" sz="1875" dirty="0"/>
          </a:p>
        </p:txBody>
      </p:sp>
      <p:sp>
        <p:nvSpPr>
          <p:cNvPr id="41" name="Text 39"/>
          <p:cNvSpPr/>
          <p:nvPr/>
        </p:nvSpPr>
        <p:spPr>
          <a:xfrm>
            <a:off x="16628715" y="7229475"/>
            <a:ext cx="48771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0E7C6B"/>
                </a:solidFill>
                <a:latin typeface="IBM Plex Mono" pitchFamily="34" charset="0"/>
                <a:ea typeface="IBM Plex Mono" pitchFamily="34" charset="-122"/>
                <a:cs typeface="IBM Plex Mono" pitchFamily="34" charset="-120"/>
              </a:rPr>
              <a:t>M8+</a:t>
            </a:r>
            <a:endParaRPr lang="en-US" sz="1800" dirty="0"/>
          </a:p>
        </p:txBody>
      </p:sp>
      <p:sp>
        <p:nvSpPr>
          <p:cNvPr id="42" name="Shape 40"/>
          <p:cNvSpPr/>
          <p:nvPr/>
        </p:nvSpPr>
        <p:spPr>
          <a:xfrm>
            <a:off x="952500" y="8877300"/>
            <a:ext cx="8077200" cy="1381125"/>
          </a:xfrm>
          <a:prstGeom prst="roundRect">
            <a:avLst>
              <a:gd name="adj" fmla="val 8276"/>
            </a:avLst>
          </a:prstGeom>
          <a:solidFill>
            <a:srgbClr val="E3EFEA"/>
          </a:solidFill>
          <a:ln/>
        </p:spPr>
      </p:sp>
      <p:sp>
        <p:nvSpPr>
          <p:cNvPr id="43" name="Text 41"/>
          <p:cNvSpPr/>
          <p:nvPr/>
        </p:nvSpPr>
        <p:spPr>
          <a:xfrm>
            <a:off x="1238250" y="9077325"/>
            <a:ext cx="2987397"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0E7C6B"/>
                </a:solidFill>
                <a:latin typeface="IBM Plex Mono" pitchFamily="34" charset="0"/>
                <a:ea typeface="IBM Plex Mono" pitchFamily="34" charset="-122"/>
                <a:cs typeface="IBM Plex Mono" pitchFamily="34" charset="-120"/>
              </a:rPr>
              <a:t>DEFINITION OF DONE</a:t>
            </a:r>
            <a:endParaRPr lang="en-US" sz="1800" dirty="0"/>
          </a:p>
        </p:txBody>
      </p:sp>
      <p:sp>
        <p:nvSpPr>
          <p:cNvPr id="44" name="Text 42"/>
          <p:cNvSpPr/>
          <p:nvPr/>
        </p:nvSpPr>
        <p:spPr>
          <a:xfrm>
            <a:off x="4144566" y="9067800"/>
            <a:ext cx="4737366"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Every view reads only the evidence stream — if it isn't joined, it cannot be rendered.</a:t>
            </a:r>
            <a:endParaRPr lang="en-US" sz="1875" dirty="0"/>
          </a:p>
        </p:txBody>
      </p:sp>
      <p:sp>
        <p:nvSpPr>
          <p:cNvPr id="45" name="Shape 43"/>
          <p:cNvSpPr/>
          <p:nvPr/>
        </p:nvSpPr>
        <p:spPr>
          <a:xfrm>
            <a:off x="9258300" y="8877300"/>
            <a:ext cx="8077200" cy="1381125"/>
          </a:xfrm>
          <a:prstGeom prst="roundRect">
            <a:avLst>
              <a:gd name="adj" fmla="val 8276"/>
            </a:avLst>
          </a:prstGeom>
          <a:solidFill>
            <a:srgbClr val="F3E4DF"/>
          </a:solidFill>
          <a:ln/>
        </p:spPr>
      </p:sp>
      <p:sp>
        <p:nvSpPr>
          <p:cNvPr id="46" name="Text 44"/>
          <p:cNvSpPr/>
          <p:nvPr/>
        </p:nvSpPr>
        <p:spPr>
          <a:xfrm>
            <a:off x="9544050" y="9077325"/>
            <a:ext cx="2157546" cy="342900"/>
          </a:xfrm>
          <a:prstGeom prst="rect">
            <a:avLst/>
          </a:prstGeom>
          <a:noFill/>
          <a:ln/>
        </p:spPr>
        <p:txBody>
          <a:bodyPr wrap="square" lIns="25400" tIns="25400" rIns="25400" bIns="25400" rtlCol="0" anchor="t">
            <a:normAutofit/>
          </a:bodyPr>
          <a:lstStyle/>
          <a:p>
            <a:pPr algn="l" indent="0" marL="0">
              <a:buNone/>
            </a:pPr>
            <a:r>
              <a:rPr lang="en-US" sz="1800" b="1" spc="108" kern="0" dirty="0">
                <a:solidFill>
                  <a:srgbClr val="A3442E"/>
                </a:solidFill>
                <a:latin typeface="IBM Plex Mono" pitchFamily="34" charset="0"/>
                <a:ea typeface="IBM Plex Mono" pitchFamily="34" charset="-122"/>
                <a:cs typeface="IBM Plex Mono" pitchFamily="34" charset="-120"/>
              </a:rPr>
              <a:t>REFUSES TO DO</a:t>
            </a:r>
            <a:endParaRPr lang="en-US" sz="1800" dirty="0"/>
          </a:p>
        </p:txBody>
      </p:sp>
      <p:sp>
        <p:nvSpPr>
          <p:cNvPr id="47" name="Text 45"/>
          <p:cNvSpPr/>
          <p:nvPr/>
        </p:nvSpPr>
        <p:spPr>
          <a:xfrm>
            <a:off x="11695956" y="9067800"/>
            <a:ext cx="551440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1B2530"/>
                </a:solidFill>
                <a:latin typeface="Source Serif 4" pitchFamily="34" charset="0"/>
                <a:ea typeface="Source Serif 4" pitchFamily="34" charset="-122"/>
                <a:cs typeface="Source Serif 4" pitchFamily="34" charset="-120"/>
              </a:rPr>
              <a:t>Automation before two manual samples; views on unjoined data.</a:t>
            </a:r>
            <a:endParaRPr lang="en-US" sz="187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952500" y="571500"/>
            <a:ext cx="18021300"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E7C6B"/>
                </a:solidFill>
                <a:latin typeface="IBM Plex Mono" pitchFamily="34" charset="0"/>
                <a:ea typeface="IBM Plex Mono" pitchFamily="34" charset="-122"/>
                <a:cs typeface="IBM Plex Mono" pitchFamily="34" charset="-120"/>
              </a:rPr>
              <a:t>APPENDIX · MISSION 3 · WORKED EXAMPLE</a:t>
            </a:r>
            <a:endParaRPr lang="en-US" sz="1800" dirty="0"/>
          </a:p>
        </p:txBody>
      </p:sp>
      <p:sp>
        <p:nvSpPr>
          <p:cNvPr id="3" name="Text 1"/>
          <p:cNvSpPr/>
          <p:nvPr/>
        </p:nvSpPr>
        <p:spPr>
          <a:xfrm>
            <a:off x="952500" y="990600"/>
            <a:ext cx="18021300" cy="590550"/>
          </a:xfrm>
          <a:prstGeom prst="rect">
            <a:avLst/>
          </a:prstGeom>
          <a:noFill/>
          <a:ln/>
        </p:spPr>
        <p:txBody>
          <a:bodyPr wrap="square" lIns="25400" tIns="25400" rIns="25400" bIns="25400" rtlCol="0" anchor="t">
            <a:normAutofit/>
          </a:bodyPr>
          <a:lstStyle/>
          <a:p>
            <a:pPr algn="l" indent="0" marL="0">
              <a:lnSpc>
                <a:spcPct val="87761"/>
              </a:lnSpc>
              <a:buNone/>
            </a:pPr>
            <a:r>
              <a:rPr lang="en-US" sz="4200" b="1" spc="-63" kern="0" dirty="0">
                <a:solidFill>
                  <a:srgbClr val="1B2530"/>
                </a:solidFill>
                <a:latin typeface="Bricolage Grotesque" pitchFamily="34" charset="0"/>
                <a:ea typeface="Bricolage Grotesque" pitchFamily="34" charset="-122"/>
                <a:cs typeface="Bricolage Grotesque" pitchFamily="34" charset="-120"/>
              </a:rPr>
              <a:t>The experience, by example</a:t>
            </a:r>
            <a:endParaRPr lang="en-US" sz="4200" dirty="0"/>
          </a:p>
        </p:txBody>
      </p:sp>
      <p:sp>
        <p:nvSpPr>
          <p:cNvPr id="4" name="Text 2"/>
          <p:cNvSpPr/>
          <p:nvPr/>
        </p:nvSpPr>
        <p:spPr>
          <a:xfrm>
            <a:off x="952500" y="1638300"/>
            <a:ext cx="14668500" cy="381000"/>
          </a:xfrm>
          <a:prstGeom prst="rect">
            <a:avLst/>
          </a:prstGeom>
          <a:noFill/>
          <a:ln/>
        </p:spPr>
        <p:txBody>
          <a:bodyPr wrap="square" lIns="25400" tIns="25400" rIns="25400" bIns="25400" rtlCol="0" anchor="t">
            <a:normAutofit/>
          </a:bodyPr>
          <a:lstStyle/>
          <a:p>
            <a:pPr algn="l" indent="0" marL="0">
              <a:lnSpc>
                <a:spcPct val="101111"/>
              </a:lnSpc>
              <a:buNone/>
            </a:pPr>
            <a:r>
              <a:rPr lang="en-US" sz="1950" dirty="0">
                <a:solidFill>
                  <a:srgbClr val="5B6873"/>
                </a:solidFill>
                <a:latin typeface="Source Serif 4" pitchFamily="34" charset="0"/>
                <a:ea typeface="Source Serif 4" pitchFamily="34" charset="-122"/>
                <a:cs typeface="Source Serif 4" pitchFamily="34" charset="-120"/>
              </a:rPr>
              <a:t>A second use case joins the platform on the paved road — and what its team sees afterwards.</a:t>
            </a:r>
            <a:endParaRPr lang="en-US" sz="1950" dirty="0"/>
          </a:p>
        </p:txBody>
      </p:sp>
      <p:sp>
        <p:nvSpPr>
          <p:cNvPr id="5" name="Shape 3"/>
          <p:cNvSpPr/>
          <p:nvPr/>
        </p:nvSpPr>
        <p:spPr>
          <a:xfrm>
            <a:off x="952500" y="3552825"/>
            <a:ext cx="7825383" cy="9525"/>
          </a:xfrm>
          <a:prstGeom prst="rect">
            <a:avLst/>
          </a:prstGeom>
          <a:solidFill>
            <a:srgbClr val="D9DED7"/>
          </a:solidFill>
          <a:ln/>
        </p:spPr>
      </p:sp>
      <p:sp>
        <p:nvSpPr>
          <p:cNvPr id="6" name="Text 4"/>
          <p:cNvSpPr/>
          <p:nvPr/>
        </p:nvSpPr>
        <p:spPr>
          <a:xfrm>
            <a:off x="952500" y="23812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1</a:t>
            </a:r>
            <a:endParaRPr lang="en-US" sz="2250" dirty="0"/>
          </a:p>
        </p:txBody>
      </p:sp>
      <p:sp>
        <p:nvSpPr>
          <p:cNvPr id="7" name="Text 5"/>
          <p:cNvSpPr/>
          <p:nvPr/>
        </p:nvSpPr>
        <p:spPr>
          <a:xfrm>
            <a:off x="1543050" y="23812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Manifest — 30 minutes</a:t>
            </a:r>
            <a:endParaRPr lang="en-US" sz="2025" dirty="0"/>
          </a:p>
        </p:txBody>
      </p:sp>
      <p:sp>
        <p:nvSpPr>
          <p:cNvPr id="8" name="Text 6"/>
          <p:cNvSpPr/>
          <p:nvPr/>
        </p:nvSpPr>
        <p:spPr>
          <a:xfrm>
            <a:off x="1543050" y="2733675"/>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The team lists the app and its assets; enterprise-registry names are assigned automatically.</a:t>
            </a:r>
            <a:endParaRPr lang="en-US" sz="1875" dirty="0"/>
          </a:p>
        </p:txBody>
      </p:sp>
      <p:sp>
        <p:nvSpPr>
          <p:cNvPr id="9" name="Shape 7"/>
          <p:cNvSpPr/>
          <p:nvPr/>
        </p:nvSpPr>
        <p:spPr>
          <a:xfrm>
            <a:off x="952500" y="5219700"/>
            <a:ext cx="7825383" cy="9525"/>
          </a:xfrm>
          <a:prstGeom prst="rect">
            <a:avLst/>
          </a:prstGeom>
          <a:solidFill>
            <a:srgbClr val="D9DED7"/>
          </a:solidFill>
          <a:ln/>
        </p:spPr>
      </p:sp>
      <p:sp>
        <p:nvSpPr>
          <p:cNvPr id="10" name="Text 8"/>
          <p:cNvSpPr/>
          <p:nvPr/>
        </p:nvSpPr>
        <p:spPr>
          <a:xfrm>
            <a:off x="952500" y="3714750"/>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2</a:t>
            </a:r>
            <a:endParaRPr lang="en-US" sz="2250" dirty="0"/>
          </a:p>
        </p:txBody>
      </p:sp>
      <p:sp>
        <p:nvSpPr>
          <p:cNvPr id="11" name="Text 9"/>
          <p:cNvSpPr/>
          <p:nvPr/>
        </p:nvSpPr>
        <p:spPr>
          <a:xfrm>
            <a:off x="1543050" y="3714750"/>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Auto-onboard onto the tools</a:t>
            </a:r>
            <a:endParaRPr lang="en-US" sz="2025" dirty="0"/>
          </a:p>
        </p:txBody>
      </p:sp>
      <p:sp>
        <p:nvSpPr>
          <p:cNvPr id="12" name="Text 10"/>
          <p:cNvSpPr/>
          <p:nvPr/>
        </p:nvSpPr>
        <p:spPr>
          <a:xfrm>
            <a:off x="1543050" y="4067175"/>
            <a:ext cx="7451878" cy="1038225"/>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DQ checks, monitoring, lineage capture, and the dashboard are wired from the manifest — no bespoke integration. UC2: 6 weeks → 2.</a:t>
            </a:r>
            <a:endParaRPr lang="en-US" sz="1875" dirty="0"/>
          </a:p>
        </p:txBody>
      </p:sp>
      <p:sp>
        <p:nvSpPr>
          <p:cNvPr id="13" name="Shape 11"/>
          <p:cNvSpPr/>
          <p:nvPr/>
        </p:nvSpPr>
        <p:spPr>
          <a:xfrm>
            <a:off x="952500" y="6553200"/>
            <a:ext cx="7825383" cy="9525"/>
          </a:xfrm>
          <a:prstGeom prst="rect">
            <a:avLst/>
          </a:prstGeom>
          <a:solidFill>
            <a:srgbClr val="D9DED7"/>
          </a:solidFill>
          <a:ln/>
        </p:spPr>
      </p:sp>
      <p:sp>
        <p:nvSpPr>
          <p:cNvPr id="14" name="Text 12"/>
          <p:cNvSpPr/>
          <p:nvPr/>
        </p:nvSpPr>
        <p:spPr>
          <a:xfrm>
            <a:off x="952500" y="53816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0E7C6B"/>
                </a:solidFill>
                <a:latin typeface="Bricolage Grotesque" pitchFamily="34" charset="0"/>
                <a:ea typeface="Bricolage Grotesque" pitchFamily="34" charset="-122"/>
                <a:cs typeface="Bricolage Grotesque" pitchFamily="34" charset="-120"/>
              </a:rPr>
              <a:t>3</a:t>
            </a:r>
            <a:endParaRPr lang="en-US" sz="2250" dirty="0"/>
          </a:p>
        </p:txBody>
      </p:sp>
      <p:sp>
        <p:nvSpPr>
          <p:cNvPr id="15" name="Text 13"/>
          <p:cNvSpPr/>
          <p:nvPr/>
        </p:nvSpPr>
        <p:spPr>
          <a:xfrm>
            <a:off x="1543050" y="53816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Report and act</a:t>
            </a:r>
            <a:endParaRPr lang="en-US" sz="2025" dirty="0"/>
          </a:p>
        </p:txBody>
      </p:sp>
      <p:sp>
        <p:nvSpPr>
          <p:cNvPr id="16" name="Text 14"/>
          <p:cNvSpPr/>
          <p:nvPr/>
        </p:nvSpPr>
        <p:spPr>
          <a:xfrm>
            <a:off x="1543050" y="57340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data-health posture arrives with routed actions — incidents page one team, with cause attached.</a:t>
            </a:r>
            <a:endParaRPr lang="en-US" sz="1875" dirty="0"/>
          </a:p>
        </p:txBody>
      </p:sp>
      <p:sp>
        <p:nvSpPr>
          <p:cNvPr id="17" name="Text 15"/>
          <p:cNvSpPr/>
          <p:nvPr/>
        </p:nvSpPr>
        <p:spPr>
          <a:xfrm>
            <a:off x="952500" y="6715125"/>
            <a:ext cx="495300" cy="381000"/>
          </a:xfrm>
          <a:prstGeom prst="rect">
            <a:avLst/>
          </a:prstGeom>
          <a:noFill/>
          <a:ln/>
        </p:spPr>
        <p:txBody>
          <a:bodyPr wrap="square" lIns="25400" tIns="25400" rIns="25400" bIns="25400" rtlCol="0" anchor="t">
            <a:normAutofit/>
          </a:bodyPr>
          <a:lstStyle/>
          <a:p>
            <a:pPr algn="l" indent="0" marL="0">
              <a:buNone/>
            </a:pPr>
            <a:r>
              <a:rPr lang="en-US" sz="2250" b="1" dirty="0">
                <a:solidFill>
                  <a:srgbClr val="B97417"/>
                </a:solidFill>
                <a:latin typeface="Bricolage Grotesque" pitchFamily="34" charset="0"/>
                <a:ea typeface="Bricolage Grotesque" pitchFamily="34" charset="-122"/>
                <a:cs typeface="Bricolage Grotesque" pitchFamily="34" charset="-120"/>
              </a:rPr>
              <a:t>4</a:t>
            </a:r>
            <a:endParaRPr lang="en-US" sz="2250" dirty="0"/>
          </a:p>
        </p:txBody>
      </p:sp>
      <p:sp>
        <p:nvSpPr>
          <p:cNvPr id="18" name="Text 16"/>
          <p:cNvSpPr/>
          <p:nvPr/>
        </p:nvSpPr>
        <p:spPr>
          <a:xfrm>
            <a:off x="1543050" y="6715125"/>
            <a:ext cx="7958316"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1B2530"/>
                </a:solidFill>
                <a:latin typeface="Bricolage Grotesque" pitchFamily="34" charset="0"/>
                <a:ea typeface="Bricolage Grotesque" pitchFamily="34" charset="-122"/>
                <a:cs typeface="Bricolage Grotesque" pitchFamily="34" charset="-120"/>
              </a:rPr>
              <a:t>Expand to contracts — m10+</a:t>
            </a:r>
            <a:endParaRPr lang="en-US" sz="2025" dirty="0"/>
          </a:p>
        </p:txBody>
      </p:sp>
      <p:sp>
        <p:nvSpPr>
          <p:cNvPr id="19" name="Text 17"/>
          <p:cNvSpPr/>
          <p:nvPr/>
        </p:nvSpPr>
        <p:spPr>
          <a:xfrm>
            <a:off x="1543050" y="7067550"/>
            <a:ext cx="7451878"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5B6873"/>
                </a:solidFill>
                <a:latin typeface="Source Serif 4" pitchFamily="34" charset="0"/>
                <a:ea typeface="Source Serif 4" pitchFamily="34" charset="-122"/>
                <a:cs typeface="Source Serif 4" pitchFamily="34" charset="-120"/>
              </a:rPr>
              <a:t>A contract is auto-drafted from 90 days of observed behavior; the producer reviews it in ~20 minutes.</a:t>
            </a:r>
            <a:endParaRPr lang="en-US" sz="1875" dirty="0"/>
          </a:p>
        </p:txBody>
      </p:sp>
      <p:sp>
        <p:nvSpPr>
          <p:cNvPr id="20" name="Shape 18"/>
          <p:cNvSpPr/>
          <p:nvPr/>
        </p:nvSpPr>
        <p:spPr>
          <a:xfrm>
            <a:off x="9235083" y="2228850"/>
            <a:ext cx="8100417" cy="7600950"/>
          </a:xfrm>
          <a:prstGeom prst="roundRect">
            <a:avLst>
              <a:gd name="adj" fmla="val 2005"/>
            </a:avLst>
          </a:prstGeom>
          <a:solidFill>
            <a:srgbClr val="1B2530"/>
          </a:solidFill>
          <a:ln/>
        </p:spPr>
      </p:sp>
      <p:sp>
        <p:nvSpPr>
          <p:cNvPr id="21" name="Text 19"/>
          <p:cNvSpPr/>
          <p:nvPr/>
        </p:nvSpPr>
        <p:spPr>
          <a:xfrm>
            <a:off x="9558933" y="2590800"/>
            <a:ext cx="1881039" cy="342900"/>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34B39B"/>
                </a:solidFill>
                <a:latin typeface="IBM Plex Mono" pitchFamily="34" charset="0"/>
                <a:ea typeface="IBM Plex Mono" pitchFamily="34" charset="-122"/>
                <a:cs typeface="IBM Plex Mono" pitchFamily="34" charset="-120"/>
              </a:rPr>
              <a:t>DATA HEALTH</a:t>
            </a:r>
            <a:endParaRPr lang="en-US" sz="1800" dirty="0"/>
          </a:p>
        </p:txBody>
      </p:sp>
      <p:sp>
        <p:nvSpPr>
          <p:cNvPr id="22" name="Text 20"/>
          <p:cNvSpPr/>
          <p:nvPr/>
        </p:nvSpPr>
        <p:spPr>
          <a:xfrm>
            <a:off x="11421368" y="2581275"/>
            <a:ext cx="2671763" cy="352425"/>
          </a:xfrm>
          <a:prstGeom prst="rect">
            <a:avLst/>
          </a:prstGeom>
          <a:noFill/>
          <a:ln/>
        </p:spPr>
        <p:txBody>
          <a:bodyPr wrap="square" lIns="25400" tIns="25400" rIns="25400" bIns="25400" rtlCol="0" anchor="t">
            <a:normAutofit/>
          </a:bodyPr>
          <a:lstStyle/>
          <a:p>
            <a:pPr algn="l" indent="0" marL="0">
              <a:buNone/>
            </a:pPr>
            <a:r>
              <a:rPr lang="en-US" sz="1875" b="1" dirty="0">
                <a:solidFill>
                  <a:srgbClr val="DCE3E8"/>
                </a:solidFill>
                <a:latin typeface="IBM Plex Mono" pitchFamily="34" charset="0"/>
                <a:ea typeface="IBM Plex Mono" pitchFamily="34" charset="-122"/>
                <a:cs typeface="IBM Plex Mono" pitchFamily="34" charset="-120"/>
              </a:rPr>
              <a:t>finance-reporting</a:t>
            </a:r>
            <a:endParaRPr lang="en-US" sz="1875" dirty="0"/>
          </a:p>
        </p:txBody>
      </p:sp>
      <p:sp>
        <p:nvSpPr>
          <p:cNvPr id="23" name="Text 21"/>
          <p:cNvSpPr/>
          <p:nvPr/>
        </p:nvSpPr>
        <p:spPr>
          <a:xfrm>
            <a:off x="16082070" y="2476500"/>
            <a:ext cx="1005780" cy="495300"/>
          </a:xfrm>
          <a:prstGeom prst="rect">
            <a:avLst/>
          </a:prstGeom>
          <a:noFill/>
          <a:ln/>
        </p:spPr>
        <p:txBody>
          <a:bodyPr wrap="square" lIns="25400" tIns="25400" rIns="25400" bIns="25400" rtlCol="0" anchor="t">
            <a:normAutofit/>
          </a:bodyPr>
          <a:lstStyle/>
          <a:p>
            <a:pPr algn="l" indent="0" marL="0">
              <a:buNone/>
            </a:pPr>
            <a:r>
              <a:rPr lang="en-US" sz="3000" b="1" dirty="0">
                <a:solidFill>
                  <a:srgbClr val="34B39B"/>
                </a:solidFill>
                <a:latin typeface="Bricolage Grotesque" pitchFamily="34" charset="0"/>
                <a:ea typeface="Bricolage Grotesque" pitchFamily="34" charset="-122"/>
                <a:cs typeface="Bricolage Grotesque" pitchFamily="34" charset="-120"/>
              </a:rPr>
              <a:t>72</a:t>
            </a:r>
            <a:pPr algn="l" indent="0" marL="0">
              <a:buNone/>
            </a:pPr>
            <a:r>
              <a:rPr lang="en-US" sz="1950" b="1" dirty="0">
                <a:solidFill>
                  <a:srgbClr val="8B99A4"/>
                </a:solidFill>
                <a:latin typeface="Bricolage Grotesque" pitchFamily="34" charset="0"/>
                <a:ea typeface="Bricolage Grotesque" pitchFamily="34" charset="-122"/>
                <a:cs typeface="Bricolage Grotesque" pitchFamily="34" charset="-120"/>
              </a:rPr>
              <a:t>/100</a:t>
            </a:r>
            <a:endParaRPr lang="en-US" sz="3000" dirty="0"/>
          </a:p>
        </p:txBody>
      </p:sp>
      <p:sp>
        <p:nvSpPr>
          <p:cNvPr id="24" name="Shape 22"/>
          <p:cNvSpPr/>
          <p:nvPr/>
        </p:nvSpPr>
        <p:spPr>
          <a:xfrm>
            <a:off x="9558933" y="3581400"/>
            <a:ext cx="7452717" cy="9525"/>
          </a:xfrm>
          <a:prstGeom prst="rect">
            <a:avLst/>
          </a:prstGeom>
          <a:solidFill>
            <a:srgbClr val="2E3B47"/>
          </a:solidFill>
          <a:ln/>
        </p:spPr>
      </p:sp>
      <p:sp>
        <p:nvSpPr>
          <p:cNvPr id="25" name="Text 23"/>
          <p:cNvSpPr/>
          <p:nvPr/>
        </p:nvSpPr>
        <p:spPr>
          <a:xfrm>
            <a:off x="9558933" y="317182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26" name="Text 24"/>
          <p:cNvSpPr/>
          <p:nvPr/>
        </p:nvSpPr>
        <p:spPr>
          <a:xfrm>
            <a:off x="10035183" y="3162300"/>
            <a:ext cx="5566008"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Streaming checks on orders topic</a:t>
            </a:r>
            <a:endParaRPr lang="en-US" sz="1875" dirty="0"/>
          </a:p>
        </p:txBody>
      </p:sp>
      <p:sp>
        <p:nvSpPr>
          <p:cNvPr id="27" name="Text 25"/>
          <p:cNvSpPr/>
          <p:nvPr/>
        </p:nvSpPr>
        <p:spPr>
          <a:xfrm>
            <a:off x="15228540" y="3171825"/>
            <a:ext cx="196142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live · +2 min</a:t>
            </a:r>
            <a:endParaRPr lang="en-US" sz="1800" dirty="0"/>
          </a:p>
        </p:txBody>
      </p:sp>
      <p:sp>
        <p:nvSpPr>
          <p:cNvPr id="28" name="Shape 26"/>
          <p:cNvSpPr/>
          <p:nvPr/>
        </p:nvSpPr>
        <p:spPr>
          <a:xfrm>
            <a:off x="9558933" y="4105275"/>
            <a:ext cx="7452717" cy="9525"/>
          </a:xfrm>
          <a:prstGeom prst="rect">
            <a:avLst/>
          </a:prstGeom>
          <a:solidFill>
            <a:srgbClr val="2E3B47"/>
          </a:solidFill>
          <a:ln/>
        </p:spPr>
      </p:sp>
      <p:sp>
        <p:nvSpPr>
          <p:cNvPr id="29" name="Text 27"/>
          <p:cNvSpPr/>
          <p:nvPr/>
        </p:nvSpPr>
        <p:spPr>
          <a:xfrm>
            <a:off x="9558933" y="3695700"/>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0" name="Text 28"/>
          <p:cNvSpPr/>
          <p:nvPr/>
        </p:nvSpPr>
        <p:spPr>
          <a:xfrm>
            <a:off x="10035183" y="3686175"/>
            <a:ext cx="5264289"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At-rest baselines on gold tables</a:t>
            </a:r>
            <a:endParaRPr lang="en-US" sz="1875" dirty="0"/>
          </a:p>
        </p:txBody>
      </p:sp>
      <p:sp>
        <p:nvSpPr>
          <p:cNvPr id="31" name="Text 29"/>
          <p:cNvSpPr/>
          <p:nvPr/>
        </p:nvSpPr>
        <p:spPr>
          <a:xfrm>
            <a:off x="14954250" y="3695700"/>
            <a:ext cx="226314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learned · 6 wks</a:t>
            </a:r>
            <a:endParaRPr lang="en-US" sz="1800" dirty="0"/>
          </a:p>
        </p:txBody>
      </p:sp>
      <p:sp>
        <p:nvSpPr>
          <p:cNvPr id="32" name="Shape 30"/>
          <p:cNvSpPr/>
          <p:nvPr/>
        </p:nvSpPr>
        <p:spPr>
          <a:xfrm>
            <a:off x="9558933" y="4629150"/>
            <a:ext cx="7452717" cy="9525"/>
          </a:xfrm>
          <a:prstGeom prst="rect">
            <a:avLst/>
          </a:prstGeom>
          <a:solidFill>
            <a:srgbClr val="2E3B47"/>
          </a:solidFill>
          <a:ln/>
        </p:spPr>
      </p:sp>
      <p:sp>
        <p:nvSpPr>
          <p:cNvPr id="33" name="Text 31"/>
          <p:cNvSpPr/>
          <p:nvPr/>
        </p:nvSpPr>
        <p:spPr>
          <a:xfrm>
            <a:off x="9558933" y="4219575"/>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34B39B"/>
                </a:solidFill>
                <a:latin typeface="Bricolage Grotesque" pitchFamily="34" charset="0"/>
                <a:ea typeface="Bricolage Grotesque" pitchFamily="34" charset="-122"/>
                <a:cs typeface="Bricolage Grotesque" pitchFamily="34" charset="-120"/>
              </a:rPr>
              <a:t>✓</a:t>
            </a:r>
            <a:endParaRPr lang="en-US" sz="1950" dirty="0"/>
          </a:p>
        </p:txBody>
      </p:sp>
      <p:sp>
        <p:nvSpPr>
          <p:cNvPr id="34" name="Text 32"/>
          <p:cNvSpPr/>
          <p:nvPr/>
        </p:nvSpPr>
        <p:spPr>
          <a:xfrm>
            <a:off x="10035183" y="4210050"/>
            <a:ext cx="571678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Lineage joined to deploys</a:t>
            </a:r>
            <a:endParaRPr lang="en-US" sz="1875" dirty="0"/>
          </a:p>
        </p:txBody>
      </p:sp>
      <p:sp>
        <p:nvSpPr>
          <p:cNvPr id="35" name="Text 33"/>
          <p:cNvSpPr/>
          <p:nvPr/>
        </p:nvSpPr>
        <p:spPr>
          <a:xfrm>
            <a:off x="15365611" y="4219575"/>
            <a:ext cx="181064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impact-ready</a:t>
            </a:r>
            <a:endParaRPr lang="en-US" sz="1800" dirty="0"/>
          </a:p>
        </p:txBody>
      </p:sp>
      <p:sp>
        <p:nvSpPr>
          <p:cNvPr id="36" name="Shape 34"/>
          <p:cNvSpPr/>
          <p:nvPr/>
        </p:nvSpPr>
        <p:spPr>
          <a:xfrm>
            <a:off x="9558933" y="5153025"/>
            <a:ext cx="7452717" cy="9525"/>
          </a:xfrm>
          <a:prstGeom prst="rect">
            <a:avLst/>
          </a:prstGeom>
          <a:solidFill>
            <a:srgbClr val="2E3B47"/>
          </a:solidFill>
          <a:ln/>
        </p:spPr>
      </p:sp>
      <p:sp>
        <p:nvSpPr>
          <p:cNvPr id="37" name="Text 35"/>
          <p:cNvSpPr/>
          <p:nvPr/>
        </p:nvSpPr>
        <p:spPr>
          <a:xfrm>
            <a:off x="9558933" y="4752975"/>
            <a:ext cx="419100"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D4765F"/>
                </a:solidFill>
                <a:latin typeface="Bricolage Grotesque" pitchFamily="34" charset="0"/>
                <a:ea typeface="Bricolage Grotesque" pitchFamily="34" charset="-122"/>
                <a:cs typeface="Bricolage Grotesque" pitchFamily="34" charset="-120"/>
              </a:rPr>
              <a:t>—</a:t>
            </a:r>
            <a:endParaRPr lang="en-US" sz="1950" dirty="0"/>
          </a:p>
        </p:txBody>
      </p:sp>
      <p:sp>
        <p:nvSpPr>
          <p:cNvPr id="38" name="Text 36"/>
          <p:cNvSpPr/>
          <p:nvPr/>
        </p:nvSpPr>
        <p:spPr>
          <a:xfrm>
            <a:off x="10035183" y="4733925"/>
            <a:ext cx="6471166" cy="361950"/>
          </a:xfrm>
          <a:prstGeom prst="rect">
            <a:avLst/>
          </a:prstGeom>
          <a:noFill/>
          <a:ln/>
        </p:spPr>
        <p:txBody>
          <a:bodyPr wrap="square" lIns="25400" tIns="25400" rIns="25400" bIns="25400" rtlCol="0" anchor="t">
            <a:normAutofit/>
          </a:bodyPr>
          <a:lstStyle/>
          <a:p>
            <a:pPr algn="l" indent="0" marL="0">
              <a:buNone/>
            </a:pPr>
            <a:r>
              <a:rPr lang="en-US" sz="1875" dirty="0">
                <a:solidFill>
                  <a:srgbClr val="DCE3E8"/>
                </a:solidFill>
                <a:latin typeface="Source Serif 4" pitchFamily="34" charset="0"/>
                <a:ea typeface="Source Serif 4" pitchFamily="34" charset="-122"/>
                <a:cs typeface="Source Serif 4" pitchFamily="34" charset="-120"/>
              </a:rPr>
              <a:t>Data contract</a:t>
            </a:r>
            <a:endParaRPr lang="en-US" sz="1875" dirty="0"/>
          </a:p>
        </p:txBody>
      </p:sp>
      <p:sp>
        <p:nvSpPr>
          <p:cNvPr id="39" name="Text 37"/>
          <p:cNvSpPr/>
          <p:nvPr/>
        </p:nvSpPr>
        <p:spPr>
          <a:xfrm>
            <a:off x="16051411" y="4743450"/>
            <a:ext cx="1036439" cy="3429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missing</a:t>
            </a:r>
            <a:endParaRPr lang="en-US" sz="1800" dirty="0"/>
          </a:p>
        </p:txBody>
      </p:sp>
      <p:sp>
        <p:nvSpPr>
          <p:cNvPr id="40" name="Shape 38"/>
          <p:cNvSpPr/>
          <p:nvPr/>
        </p:nvSpPr>
        <p:spPr>
          <a:xfrm>
            <a:off x="9558933" y="5314950"/>
            <a:ext cx="7452717" cy="1295400"/>
          </a:xfrm>
          <a:prstGeom prst="roundRect">
            <a:avLst>
              <a:gd name="adj" fmla="val 7353"/>
            </a:avLst>
          </a:prstGeom>
          <a:solidFill>
            <a:srgbClr val="243140"/>
          </a:solidFill>
          <a:ln/>
        </p:spPr>
      </p:sp>
      <p:sp>
        <p:nvSpPr>
          <p:cNvPr id="41" name="Text 39"/>
          <p:cNvSpPr/>
          <p:nvPr/>
        </p:nvSpPr>
        <p:spPr>
          <a:xfrm>
            <a:off x="9749433" y="5448300"/>
            <a:ext cx="7778889"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E0A04A"/>
                </a:solidFill>
                <a:latin typeface="IBM Plex Mono" pitchFamily="34" charset="0"/>
                <a:ea typeface="IBM Plex Mono" pitchFamily="34" charset="-122"/>
                <a:cs typeface="IBM Plex Mono" pitchFamily="34" charset="-120"/>
              </a:rPr>
              <a:t>ACTION · closes the gap</a:t>
            </a:r>
            <a:endParaRPr lang="en-US" sz="1800" dirty="0"/>
          </a:p>
        </p:txBody>
      </p:sp>
      <p:sp>
        <p:nvSpPr>
          <p:cNvPr id="42" name="Text 40"/>
          <p:cNvSpPr/>
          <p:nvPr/>
        </p:nvSpPr>
        <p:spPr>
          <a:xfrm>
            <a:off x="9749433" y="5810250"/>
            <a:ext cx="7283869" cy="704850"/>
          </a:xfrm>
          <a:prstGeom prst="rect">
            <a:avLst/>
          </a:prstGeom>
          <a:noFill/>
          <a:ln/>
        </p:spPr>
        <p:txBody>
          <a:bodyPr wrap="square" lIns="25400" tIns="25400" rIns="25400" bIns="25400" rtlCol="0" anchor="t">
            <a:normAutofit/>
          </a:bodyPr>
          <a:lstStyle/>
          <a:p>
            <a:pPr algn="l" indent="0" marL="0">
              <a:lnSpc>
                <a:spcPct val="102941"/>
              </a:lnSpc>
              <a:buNone/>
            </a:pPr>
            <a:r>
              <a:rPr lang="en-US" sz="1875" dirty="0">
                <a:solidFill>
                  <a:srgbClr val="F6F7F4"/>
                </a:solidFill>
                <a:latin typeface="Source Serif 4" pitchFamily="34" charset="0"/>
                <a:ea typeface="Source Serif 4" pitchFamily="34" charset="-122"/>
                <a:cs typeface="Source Serif 4" pitchFamily="34" charset="-120"/>
              </a:rPr>
              <a:t>Review the auto-drafted contract — ~20 minutes, drafted from your own observed traffic.</a:t>
            </a:r>
            <a:endParaRPr lang="en-US" sz="1875" dirty="0"/>
          </a:p>
        </p:txBody>
      </p:sp>
      <p:sp>
        <p:nvSpPr>
          <p:cNvPr id="43" name="Text 41"/>
          <p:cNvSpPr/>
          <p:nvPr/>
        </p:nvSpPr>
        <p:spPr>
          <a:xfrm>
            <a:off x="9558933" y="8972550"/>
            <a:ext cx="7676299" cy="647700"/>
          </a:xfrm>
          <a:prstGeom prst="rect">
            <a:avLst/>
          </a:prstGeom>
          <a:noFill/>
          <a:ln/>
        </p:spPr>
        <p:txBody>
          <a:bodyPr wrap="square" lIns="25400" tIns="25400" rIns="25400" bIns="25400" rtlCol="0" anchor="t">
            <a:normAutofit/>
          </a:bodyPr>
          <a:lstStyle/>
          <a:p>
            <a:pPr algn="l" indent="0" marL="0">
              <a:buNone/>
            </a:pPr>
            <a:r>
              <a:rPr lang="en-US" sz="1800" dirty="0">
                <a:solidFill>
                  <a:srgbClr val="8B99A4"/>
                </a:solidFill>
                <a:latin typeface="IBM Plex Mono" pitchFamily="34" charset="0"/>
                <a:ea typeface="IBM Plex Mono" pitchFamily="34" charset="-122"/>
                <a:cs typeface="IBM Plex Mono" pitchFamily="34" charset="-120"/>
              </a:rPr>
              <a:t>saves ledger: 3 banked this quarter · each with $ counterfactual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2026-08-26T12:41:25Z</dcterms:created>
  <dcterms:modified xsi:type="dcterms:W3CDTF">2026-08-26T12:41:25Z</dcterms:modified>
</cp:coreProperties>
</file>