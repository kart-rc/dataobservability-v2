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the program as committed — four foundations, three teams, nine months to a live pilot — then the platform those missions converge into, component by component with build roadmaps.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incident, as it runs today: two days to truth, four teams paged, found by luck. Part 2 replays this exact incident on the platform — thirty minutes, one team, caught before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one incident moving down the slide: a check catches it, the map explains it, the same map shows who is exposed, and the gate stops the repeat. Each foundation has a milestone where it goes live on the pilot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 platform substrate is not assumed — it is line-item work inside the missions. The evidence stream and registry are built by the Lineage mission's platform-core squad (3 engineers, live at M1); the gate by Data Quality's contracts-and-gate squad (2 growing to 4); the dashboard and onboarding tooling by the Experience mission's squads. The convergence row is the answer to how three missions become one platform: everything lands in one evidence stream under one registry, the three outputs are first JOINED at the M5 gate on UC1 (health + cause + impact in one incident), and after the gate the missions compound on that joined base. Lanes: Lineage applies to every layer: baseline first, then incremental on each change, with impact analysis and confidence scoring. Data Quality covers streaming and real-time checks at the service and Kafka layer plus batch and at-rest. Onboarding delivers health reporting and action, then the automated onboarding experience onto DQ and monitoring tools — progressively expanding to data contracts. Everything is proven on the one pilot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Corrects a wrong read of the roadmap slide: milestones are demos, not month-long builds. Each bar is a body of work with its own duration — baseline lineage is a 3-month build, incremental lineage lands at month 5, the gate shadows for months before it blocks. Dark bars are the platform substrate built inside the missions; everything runs in parallel and joins at the M5 gate on UC1.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then down: the same broken deploy, seen by each mission. Data Quality writes the check result, Lineage writes the cause and the exposure, Onboarding turns it into one incident and one action. The context-schema strip makes the join mechanical — every record carries the same envelope { asset · type · at · trace_id · payload }, asset = the registry URN. Aligned with the platform deck: DQ writes evidence FAIL which the signal engines turn into DQ_BREACH; lineage writes deploy + lineage edges into the causal graph under the same URN; signal engines + alerting do the join into one incident, the dashboard only renders it. The punchline: four fields, three writers, one schema — the join costs nothing because everything is keyed by the same URN and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visual language as the foundations roadmap: one timeline, nine nodes. Teal nodes are the committed NOW phase; the amber diamond is the M5 go/no-go gate; outlined nodes are entered only via the gate; the horizon is trigger-based, not dated. Milestone wording now matches the initiative bars and the convergence example: M1 = stream + registry + baseline map (end of the two m0–m3 bars), M3 = streaming checks + incremental lineage landing at month 5, M4 = the causal-graph join, M5 = one incident joined on URN +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visual language as the roadmap slides: each pillar rides one maturity track — The first row makes the platform-build effort explicit: the substrate (evidence stream, registry, join, gate) does not exist today and is built by squads inside the missions — Lineage core (3 eng), DQ contracts-and-gate (2→4), Experience dashboard (5). Grey dot is today, the amber diamond is what the month-9 gate requires (everything connected on UC1), then runs-itself at 15 and prevents at 24. 'Runs itself' means no hand-tending: checks auto-tune from rolling baselines, new assets get covered automatically from observed behavior, lineage self-refreshes on every deploy, contracts are auto-drafted from 90 days observed, and onboarding is templated at two weeks without platform-team hand-holding. No pillar jumps two levels in a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now names the squad that builds the platform substrate — the stream and registry, the gate, the health surface — so no one assumes the platform is free. Maturity follows slide 7's track: connected at the gate, runs itself at 15, prevents at 24. Three missions of ten engineers. Every definition of done lands in one evidence stream on one pilot thread — one platform, not three projects. Weekly joined demo from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platform-core squad here is the substrate build — evidence stream + registry live at M1, not assumed. Lineage covers every layer with baseline first, incremental on each change, and matures along the same track: joined at the gate, runs itself at 15 (trust-scored, self-refreshing), prevents by 24. Lineage and Confidence owns the join key. Definition of done: an edge exists only when it is in the evidence stream, registry-named, provenance-tagged. Refuses map-everything crawls.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 the real pilot thread. Baseline scanned every layer once at M1; the v3.17 merge re-emits its edges so the map never goes stale; every edge is scored declared-vs-observed, and the impact walk ranks who is exposed — finance report first. MED on the enrichment edge is honest: dynamic SQL lowers confidence, and RCA weighs it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contracts-and-gate squad is this mission's substrate build — the certification gate itself, shadow at M5, first real block M7, never assumed for free. Checks cover the service and Kafka layer in-stream plus batch and at-rest, and mature along the same track: connected at the gate, auto-tuned and self-running at 15, blocking bad batches at 24. Data Quality staggers deliberately: federation feeds baselines feeds streaming. The gate earns trust in shadow mode before it ever blocks. Refuses blocking on anomaly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checks, one destination. In-stream at the service and Kafka layer catches the NULL spike pre-consumption; at-rest compares the written table against learned baselines; existing team-built batch checks are federated, not replaced. All three write to the same stream under the same name — which is what lets the gate make one decision. Until M7 the gate only logs (shadow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dashboard squad is this mission's substrate build — the health surface every view runs on, v0 at M3, reading only the evidence stream. Onboarding matures along the same track: hand-run today, one pane + causal view at the gate, templated ≤ 2 weeks (runs itself) at 15, self-serve with posture actions and contract expansion by 24. Onboarding and Experience proves the value: every view reads only the evidence stream, the saves ledger banks each win, and the gate pack is a live incident replay — not a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onboarding journey for a new use case: a 30-minute manifest, automated wiring onto the DQ and monitoring tools, a health report with routed actions, and progressive expansion into contracts. The right card is the artifact stakeholders see — a posture score, what is covered, and the one action that closes the gap, with the save banked in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Producers owe almost nothing until the platform proves value. The one hard control-plane decision is the naming registry — without it every join fails silently later. Every dependency has a dated interlock and a Plan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monthly, no status prose. Reviews are live incident replays, never percent-complete. Kill criteria stated up front: no saves and no time-to-detect improvement by month 9 → the program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checkpoints: proven at 9, enforcing at 15, scaled at 24. Then Part 2 — the platform all of this converges into, component by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goes a level deeper for this audience: the target design of each platform component, and how its build phases map onto the program milestones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before the components: one broken deploy, minute by minute, from the engineer's seat. Every claim on the incident card cites evidence — unknown is a valid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targets are the program's success criteria — the platform is judged on outcomes, not adoption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planes. Data path is untouched; the observability path runs beside it. Automation plane feeds instrumentation back into producer 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record through the system. Latency budget: 2 seconds to evidence, 5 minutes to signal, 2 minutes for an RCA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SLOs hold constant while throughput scales 10x — the architecture scales out, not up. Total run cost about $21K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leadership controls: the merge SLA, the pilot domain, the scorecard, and holding the MVP boundary. The architecture risk is low; the discipline risk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2871788"/>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Courier New" pitchFamily="34" charset="0"/>
                <a:ea typeface="Courier New" pitchFamily="34" charset="-122"/>
                <a:cs typeface="Courier New" pitchFamily="34" charset="-120"/>
              </a:rPr>
              <a:t>TECH LEADERSHIP · EXECUTION DEEP DIVE</a:t>
            </a:r>
            <a:endParaRPr lang="en-US" sz="1800" dirty="0"/>
          </a:p>
        </p:txBody>
      </p:sp>
      <p:sp>
        <p:nvSpPr>
          <p:cNvPr id="3" name="Text 1"/>
          <p:cNvSpPr/>
          <p:nvPr/>
        </p:nvSpPr>
        <p:spPr>
          <a:xfrm>
            <a:off x="1143000" y="3519488"/>
            <a:ext cx="15716250" cy="1047750"/>
          </a:xfrm>
          <a:prstGeom prst="rect">
            <a:avLst/>
          </a:prstGeom>
          <a:noFill/>
          <a:ln/>
        </p:spPr>
        <p:txBody>
          <a:bodyPr wrap="square" lIns="25400" tIns="25400" rIns="25400" bIns="25400" rtlCol="0" anchor="t">
            <a:normAutofit/>
          </a:bodyPr>
          <a:lstStyle/>
          <a:p>
            <a:pPr algn="l" indent="0" marL="0">
              <a:lnSpc>
                <a:spcPct val="84864"/>
              </a:lnSpc>
              <a:buNone/>
            </a:pPr>
            <a:r>
              <a:rPr lang="en-US" sz="7800" b="1" spc="-156" kern="0" dirty="0">
                <a:solidFill>
                  <a:srgbClr val="F6F7F4"/>
                </a:solidFill>
                <a:latin typeface="Bricolage Grotesque" pitchFamily="34" charset="0"/>
                <a:ea typeface="Bricolage Grotesque" pitchFamily="34" charset="-122"/>
                <a:cs typeface="Bricolage Grotesque" pitchFamily="34" charset="-120"/>
              </a:rPr>
              <a:t>Data Observability Platform</a:t>
            </a:r>
            <a:endParaRPr lang="en-US" sz="7800" dirty="0"/>
          </a:p>
        </p:txBody>
      </p:sp>
      <p:sp>
        <p:nvSpPr>
          <p:cNvPr id="4" name="Text 2"/>
          <p:cNvSpPr/>
          <p:nvPr/>
        </p:nvSpPr>
        <p:spPr>
          <a:xfrm>
            <a:off x="1143000" y="4948238"/>
            <a:ext cx="12263438" cy="1438275"/>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What broke, why, who is affected, how it stops recurring — four foundations, three teams, nine months to a live pilot. Then just enough of the target platform to make the experience concrete.</a:t>
            </a:r>
            <a:endParaRPr lang="en-US" sz="2550" dirty="0"/>
          </a:p>
        </p:txBody>
      </p:sp>
      <p:sp>
        <p:nvSpPr>
          <p:cNvPr id="5" name="Text 3"/>
          <p:cNvSpPr/>
          <p:nvPr/>
        </p:nvSpPr>
        <p:spPr>
          <a:xfrm>
            <a:off x="1143000" y="7205663"/>
            <a:ext cx="30175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Part 1 · The program</a:t>
            </a:r>
            <a:endParaRPr lang="en-US" sz="1800" dirty="0"/>
          </a:p>
        </p:txBody>
      </p:sp>
      <p:sp>
        <p:nvSpPr>
          <p:cNvPr id="6" name="Text 4"/>
          <p:cNvSpPr/>
          <p:nvPr/>
        </p:nvSpPr>
        <p:spPr>
          <a:xfrm>
            <a:off x="4305300" y="7205663"/>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7" name="Text 5"/>
          <p:cNvSpPr/>
          <p:nvPr/>
        </p:nvSpPr>
        <p:spPr>
          <a:xfrm>
            <a:off x="4861620" y="7205663"/>
            <a:ext cx="31684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Part 2 · The platform</a:t>
            </a:r>
            <a:endParaRPr lang="en-US" sz="1800" dirty="0"/>
          </a:p>
        </p:txBody>
      </p:sp>
      <p:sp>
        <p:nvSpPr>
          <p:cNvPr id="8" name="Text 6"/>
          <p:cNvSpPr/>
          <p:nvPr/>
        </p:nvSpPr>
        <p:spPr>
          <a:xfrm>
            <a:off x="8161139" y="7205663"/>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8717459" y="7205663"/>
            <a:ext cx="16597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PROBLEM</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Failures live in the seams — one incident, as it runs today</a:t>
            </a:r>
            <a:endParaRPr lang="en-US" sz="4800" dirty="0"/>
          </a:p>
        </p:txBody>
      </p:sp>
      <p:sp>
        <p:nvSpPr>
          <p:cNvPr id="4" name="Shape 2"/>
          <p:cNvSpPr/>
          <p:nvPr/>
        </p:nvSpPr>
        <p:spPr>
          <a:xfrm>
            <a:off x="952500" y="2447925"/>
            <a:ext cx="9220200" cy="7077075"/>
          </a:xfrm>
          <a:prstGeom prst="roundRect">
            <a:avLst>
              <a:gd name="adj" fmla="val 1884"/>
            </a:avLst>
          </a:prstGeom>
          <a:solidFill>
            <a:srgbClr val="FDFDFB"/>
          </a:solidFill>
          <a:ln w="9525">
            <a:solidFill>
              <a:srgbClr val="D9DED7"/>
            </a:solidFill>
            <a:prstDash val="solid"/>
          </a:ln>
        </p:spPr>
      </p:sp>
      <p:sp>
        <p:nvSpPr>
          <p:cNvPr id="5" name="Text 3"/>
          <p:cNvSpPr/>
          <p:nvPr/>
        </p:nvSpPr>
        <p:spPr>
          <a:xfrm>
            <a:off x="1323975" y="2952750"/>
            <a:ext cx="3696593"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3442E"/>
                </a:solidFill>
                <a:latin typeface="IBM Plex Mono" pitchFamily="34" charset="0"/>
                <a:ea typeface="IBM Plex Mono" pitchFamily="34" charset="-122"/>
                <a:cs typeface="IBM Plex Mono" pitchFamily="34" charset="-120"/>
              </a:rPr>
              <a:t>TODAY · TIME TO TRUTH</a:t>
            </a:r>
            <a:endParaRPr lang="en-US" sz="1800" dirty="0"/>
          </a:p>
        </p:txBody>
      </p:sp>
      <p:sp>
        <p:nvSpPr>
          <p:cNvPr id="6" name="Text 4"/>
          <p:cNvSpPr/>
          <p:nvPr/>
        </p:nvSpPr>
        <p:spPr>
          <a:xfrm>
            <a:off x="8056066" y="2781300"/>
            <a:ext cx="1919674"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A3442E"/>
                </a:solidFill>
                <a:latin typeface="Bricolage Grotesque" pitchFamily="34" charset="0"/>
                <a:ea typeface="Bricolage Grotesque" pitchFamily="34" charset="-122"/>
                <a:cs typeface="Bricolage Grotesque" pitchFamily="34" charset="-120"/>
              </a:rPr>
              <a:t>≈ 2 days</a:t>
            </a:r>
            <a:endParaRPr lang="en-US" sz="3450" dirty="0"/>
          </a:p>
        </p:txBody>
      </p:sp>
      <p:sp>
        <p:nvSpPr>
          <p:cNvPr id="7" name="Shape 5"/>
          <p:cNvSpPr/>
          <p:nvPr/>
        </p:nvSpPr>
        <p:spPr>
          <a:xfrm>
            <a:off x="1323975" y="3552825"/>
            <a:ext cx="8477250" cy="9525"/>
          </a:xfrm>
          <a:prstGeom prst="rect">
            <a:avLst/>
          </a:prstGeom>
          <a:solidFill>
            <a:srgbClr val="D9DED7"/>
          </a:solidFill>
          <a:ln/>
        </p:spPr>
      </p:sp>
      <p:sp>
        <p:nvSpPr>
          <p:cNvPr id="8" name="Text 6"/>
          <p:cNvSpPr/>
          <p:nvPr/>
        </p:nvSpPr>
        <p:spPr>
          <a:xfrm>
            <a:off x="1323975" y="376237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1</a:t>
            </a:r>
            <a:endParaRPr lang="en-US" sz="1875" dirty="0"/>
          </a:p>
        </p:txBody>
      </p:sp>
      <p:sp>
        <p:nvSpPr>
          <p:cNvPr id="9" name="Text 7"/>
          <p:cNvSpPr/>
          <p:nvPr/>
        </p:nvSpPr>
        <p:spPr>
          <a:xfrm>
            <a:off x="2847975" y="373380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Job exits 0 — "success" — 8% of rows silently NULLed. No alert anywhere.</a:t>
            </a:r>
            <a:endParaRPr lang="en-US" sz="2025" dirty="0"/>
          </a:p>
        </p:txBody>
      </p:sp>
      <p:sp>
        <p:nvSpPr>
          <p:cNvPr id="10" name="Shape 8"/>
          <p:cNvSpPr/>
          <p:nvPr/>
        </p:nvSpPr>
        <p:spPr>
          <a:xfrm>
            <a:off x="1323975" y="4667250"/>
            <a:ext cx="8477250" cy="9525"/>
          </a:xfrm>
          <a:prstGeom prst="rect">
            <a:avLst/>
          </a:prstGeom>
          <a:solidFill>
            <a:srgbClr val="D9DED7"/>
          </a:solidFill>
          <a:ln/>
        </p:spPr>
      </p:sp>
      <p:sp>
        <p:nvSpPr>
          <p:cNvPr id="11" name="Text 9"/>
          <p:cNvSpPr/>
          <p:nvPr/>
        </p:nvSpPr>
        <p:spPr>
          <a:xfrm>
            <a:off x="1323975" y="4876800"/>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2</a:t>
            </a:r>
            <a:endParaRPr lang="en-US" sz="1875" dirty="0"/>
          </a:p>
        </p:txBody>
      </p:sp>
      <p:sp>
        <p:nvSpPr>
          <p:cNvPr id="12" name="Text 10"/>
          <p:cNvSpPr/>
          <p:nvPr/>
        </p:nvSpPr>
        <p:spPr>
          <a:xfrm>
            <a:off x="2847975" y="4848225"/>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An analyst notices revenue looks low — decisions already made on the wrong number.</a:t>
            </a:r>
            <a:endParaRPr lang="en-US" sz="2025" dirty="0"/>
          </a:p>
        </p:txBody>
      </p:sp>
      <p:sp>
        <p:nvSpPr>
          <p:cNvPr id="13" name="Shape 11"/>
          <p:cNvSpPr/>
          <p:nvPr/>
        </p:nvSpPr>
        <p:spPr>
          <a:xfrm>
            <a:off x="1323975" y="5781675"/>
            <a:ext cx="8477250" cy="9525"/>
          </a:xfrm>
          <a:prstGeom prst="rect">
            <a:avLst/>
          </a:prstGeom>
          <a:solidFill>
            <a:srgbClr val="D9DED7"/>
          </a:solidFill>
          <a:ln/>
        </p:spPr>
      </p:sp>
      <p:sp>
        <p:nvSpPr>
          <p:cNvPr id="14" name="Text 12"/>
          <p:cNvSpPr/>
          <p:nvPr/>
        </p:nvSpPr>
        <p:spPr>
          <a:xfrm>
            <a:off x="1323975" y="599122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+4–6 hrs</a:t>
            </a:r>
            <a:endParaRPr lang="en-US" sz="1875" dirty="0"/>
          </a:p>
        </p:txBody>
      </p:sp>
      <p:sp>
        <p:nvSpPr>
          <p:cNvPr id="15" name="Text 13"/>
          <p:cNvSpPr/>
          <p:nvPr/>
        </p:nvSpPr>
        <p:spPr>
          <a:xfrm>
            <a:off x="2847975" y="596265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War room: four teams paged, every tool reports green; root cause found by hand.</a:t>
            </a:r>
            <a:endParaRPr lang="en-US" sz="2025" dirty="0"/>
          </a:p>
        </p:txBody>
      </p:sp>
      <p:sp>
        <p:nvSpPr>
          <p:cNvPr id="16" name="Shape 14"/>
          <p:cNvSpPr/>
          <p:nvPr/>
        </p:nvSpPr>
        <p:spPr>
          <a:xfrm>
            <a:off x="1323975" y="8505825"/>
            <a:ext cx="8477250" cy="685800"/>
          </a:xfrm>
          <a:prstGeom prst="roundRect">
            <a:avLst>
              <a:gd name="adj" fmla="val 13889"/>
            </a:avLst>
          </a:prstGeom>
          <a:solidFill>
            <a:srgbClr val="F3E4DF"/>
          </a:solidFill>
          <a:ln/>
        </p:spPr>
      </p:sp>
      <p:sp>
        <p:nvSpPr>
          <p:cNvPr id="17" name="Text 15"/>
          <p:cNvSpPr/>
          <p:nvPr/>
        </p:nvSpPr>
        <p:spPr>
          <a:xfrm>
            <a:off x="1552575" y="8677275"/>
            <a:ext cx="8274368"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A3442E"/>
                </a:solidFill>
                <a:latin typeface="Source Serif 4" pitchFamily="34" charset="0"/>
                <a:ea typeface="Source Serif 4" pitchFamily="34" charset="-122"/>
                <a:cs typeface="Source Serif 4" pitchFamily="34" charset="-120"/>
              </a:rPr>
              <a:t>Bad data reached a decision · 4 teams paged · found by luck</a:t>
            </a:r>
            <a:endParaRPr lang="en-US" sz="1950" dirty="0"/>
          </a:p>
        </p:txBody>
      </p:sp>
      <p:sp>
        <p:nvSpPr>
          <p:cNvPr id="18" name="Shape 16"/>
          <p:cNvSpPr/>
          <p:nvPr/>
        </p:nvSpPr>
        <p:spPr>
          <a:xfrm>
            <a:off x="10553700" y="2447925"/>
            <a:ext cx="6781800" cy="1409700"/>
          </a:xfrm>
          <a:prstGeom prst="roundRect">
            <a:avLst>
              <a:gd name="adj" fmla="val 8108"/>
            </a:avLst>
          </a:prstGeom>
          <a:solidFill>
            <a:srgbClr val="1B2530"/>
          </a:solidFill>
          <a:ln/>
        </p:spPr>
      </p:sp>
      <p:sp>
        <p:nvSpPr>
          <p:cNvPr id="19" name="Text 17"/>
          <p:cNvSpPr/>
          <p:nvPr/>
        </p:nvSpPr>
        <p:spPr>
          <a:xfrm>
            <a:off x="10858500" y="26955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~$2M/yr</a:t>
            </a:r>
            <a:endParaRPr lang="en-US" sz="3450" dirty="0"/>
          </a:p>
        </p:txBody>
      </p:sp>
      <p:sp>
        <p:nvSpPr>
          <p:cNvPr id="20" name="Text 18"/>
          <p:cNvSpPr/>
          <p:nvPr/>
        </p:nvSpPr>
        <p:spPr>
          <a:xfrm>
            <a:off x="10858500" y="32956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lost per 50 affected engineers</a:t>
            </a:r>
            <a:endParaRPr lang="en-US" sz="1875" dirty="0"/>
          </a:p>
        </p:txBody>
      </p:sp>
      <p:sp>
        <p:nvSpPr>
          <p:cNvPr id="21" name="Shape 19"/>
          <p:cNvSpPr/>
          <p:nvPr/>
        </p:nvSpPr>
        <p:spPr>
          <a:xfrm>
            <a:off x="10553700" y="4048125"/>
            <a:ext cx="6781800" cy="1409700"/>
          </a:xfrm>
          <a:prstGeom prst="roundRect">
            <a:avLst>
              <a:gd name="adj" fmla="val 8108"/>
            </a:avLst>
          </a:prstGeom>
          <a:solidFill>
            <a:srgbClr val="1B2530"/>
          </a:solidFill>
          <a:ln/>
        </p:spPr>
      </p:sp>
      <p:sp>
        <p:nvSpPr>
          <p:cNvPr id="22" name="Text 20"/>
          <p:cNvSpPr/>
          <p:nvPr/>
        </p:nvSpPr>
        <p:spPr>
          <a:xfrm>
            <a:off x="10858500" y="42957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0</a:t>
            </a:r>
            <a:endParaRPr lang="en-US" sz="3450" dirty="0"/>
          </a:p>
        </p:txBody>
      </p:sp>
      <p:sp>
        <p:nvSpPr>
          <p:cNvPr id="23" name="Text 21"/>
          <p:cNvSpPr/>
          <p:nvPr/>
        </p:nvSpPr>
        <p:spPr>
          <a:xfrm>
            <a:off x="10858500" y="48958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alerts on silent failures today</a:t>
            </a:r>
            <a:endParaRPr lang="en-US" sz="1875" dirty="0"/>
          </a:p>
        </p:txBody>
      </p:sp>
      <p:sp>
        <p:nvSpPr>
          <p:cNvPr id="24" name="Shape 22"/>
          <p:cNvSpPr/>
          <p:nvPr/>
        </p:nvSpPr>
        <p:spPr>
          <a:xfrm>
            <a:off x="10553700" y="7486650"/>
            <a:ext cx="6781800" cy="2038350"/>
          </a:xfrm>
          <a:prstGeom prst="roundRect">
            <a:avLst>
              <a:gd name="adj" fmla="val 5607"/>
            </a:avLst>
          </a:prstGeom>
          <a:solidFill>
            <a:srgbClr val="E3EFEA"/>
          </a:solidFill>
          <a:ln/>
        </p:spPr>
      </p:sp>
      <p:sp>
        <p:nvSpPr>
          <p:cNvPr id="25" name="Text 23"/>
          <p:cNvSpPr/>
          <p:nvPr/>
        </p:nvSpPr>
        <p:spPr>
          <a:xfrm>
            <a:off x="10858500" y="7734300"/>
            <a:ext cx="678942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THE OTHER RUN</a:t>
            </a:r>
            <a:endParaRPr lang="en-US" sz="1800" dirty="0"/>
          </a:p>
        </p:txBody>
      </p:sp>
      <p:sp>
        <p:nvSpPr>
          <p:cNvPr id="26" name="Text 24"/>
          <p:cNvSpPr/>
          <p:nvPr/>
        </p:nvSpPr>
        <p:spPr>
          <a:xfrm>
            <a:off x="10858500" y="8134350"/>
            <a:ext cx="6357366" cy="1181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1B2530"/>
                </a:solidFill>
                <a:latin typeface="Source Serif 4" pitchFamily="34" charset="0"/>
                <a:ea typeface="Source Serif 4" pitchFamily="34" charset="-122"/>
                <a:cs typeface="Source Serif 4" pitchFamily="34" charset="-120"/>
              </a:rPr>
              <a:t>Part 2 replays this same incident on the platform: </a:t>
            </a:r>
            <a:pPr algn="l" indent="0" marL="0">
              <a:lnSpc>
                <a:spcPct val="109459"/>
              </a:lnSpc>
              <a:buNone/>
            </a:pPr>
            <a:r>
              <a:rPr lang="en-US" sz="2025" b="1" dirty="0">
                <a:solidFill>
                  <a:srgbClr val="1B2530"/>
                </a:solidFill>
                <a:latin typeface="Source Serif 4" pitchFamily="34" charset="0"/>
                <a:ea typeface="Source Serif 4" pitchFamily="34" charset="-122"/>
                <a:cs typeface="Source Serif 4" pitchFamily="34" charset="-120"/>
              </a:rPr>
              <a:t>≈ 30 minutes, one team paged, caught pre-consumption — 96× faster to truth.</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7620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APPROACH</a:t>
            </a:r>
            <a:endParaRPr lang="en-US" sz="1800" dirty="0"/>
          </a:p>
        </p:txBody>
      </p:sp>
      <p:sp>
        <p:nvSpPr>
          <p:cNvPr id="3" name="Text 1"/>
          <p:cNvSpPr/>
          <p:nvPr/>
        </p:nvSpPr>
        <p:spPr>
          <a:xfrm>
            <a:off x="952500" y="121920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Four questions, four foundations</a:t>
            </a:r>
            <a:endParaRPr lang="en-US" sz="4800" dirty="0"/>
          </a:p>
        </p:txBody>
      </p:sp>
      <p:sp>
        <p:nvSpPr>
          <p:cNvPr id="4" name="Shape 2"/>
          <p:cNvSpPr/>
          <p:nvPr/>
        </p:nvSpPr>
        <p:spPr>
          <a:xfrm>
            <a:off x="952500" y="2181225"/>
            <a:ext cx="16383000" cy="9525"/>
          </a:xfrm>
          <a:prstGeom prst="rect">
            <a:avLst/>
          </a:prstGeom>
          <a:solidFill>
            <a:srgbClr val="D9DED7"/>
          </a:solidFill>
          <a:ln/>
        </p:spPr>
      </p:sp>
      <p:sp>
        <p:nvSpPr>
          <p:cNvPr id="5" name="Text 3"/>
          <p:cNvSpPr/>
          <p:nvPr/>
        </p:nvSpPr>
        <p:spPr>
          <a:xfrm>
            <a:off x="952500" y="2752725"/>
            <a:ext cx="1885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1</a:t>
            </a:r>
            <a:endParaRPr lang="en-US" sz="2550" dirty="0"/>
          </a:p>
        </p:txBody>
      </p:sp>
      <p:sp>
        <p:nvSpPr>
          <p:cNvPr id="6" name="Text 4"/>
          <p:cNvSpPr/>
          <p:nvPr/>
        </p:nvSpPr>
        <p:spPr>
          <a:xfrm>
            <a:off x="1255365" y="2752725"/>
            <a:ext cx="229244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What broke?</a:t>
            </a:r>
            <a:endParaRPr lang="en-US" sz="2700" dirty="0"/>
          </a:p>
        </p:txBody>
      </p:sp>
      <p:sp>
        <p:nvSpPr>
          <p:cNvPr id="7" name="Shape 5"/>
          <p:cNvSpPr/>
          <p:nvPr/>
        </p:nvSpPr>
        <p:spPr>
          <a:xfrm>
            <a:off x="5143500" y="2614613"/>
            <a:ext cx="171450" cy="171450"/>
          </a:xfrm>
          <a:prstGeom prst="ellipse">
            <a:avLst/>
          </a:prstGeom>
          <a:solidFill>
            <a:srgbClr val="0E7C6B"/>
          </a:solidFill>
          <a:ln/>
        </p:spPr>
      </p:sp>
      <p:sp>
        <p:nvSpPr>
          <p:cNvPr id="8" name="Shape 6"/>
          <p:cNvSpPr/>
          <p:nvPr/>
        </p:nvSpPr>
        <p:spPr>
          <a:xfrm>
            <a:off x="5391150" y="2614613"/>
            <a:ext cx="171450" cy="171450"/>
          </a:xfrm>
          <a:prstGeom prst="ellipse">
            <a:avLst/>
          </a:prstGeom>
          <a:solidFill>
            <a:srgbClr val="0E7C6B"/>
          </a:solidFill>
          <a:ln/>
        </p:spPr>
      </p:sp>
      <p:sp>
        <p:nvSpPr>
          <p:cNvPr id="9" name="Shape 7"/>
          <p:cNvSpPr/>
          <p:nvPr/>
        </p:nvSpPr>
        <p:spPr>
          <a:xfrm>
            <a:off x="5638800" y="2614613"/>
            <a:ext cx="171450" cy="171450"/>
          </a:xfrm>
          <a:prstGeom prst="ellipse">
            <a:avLst/>
          </a:prstGeom>
          <a:solidFill>
            <a:srgbClr val="0E7C6B"/>
          </a:solidFill>
          <a:ln/>
        </p:spPr>
      </p:sp>
      <p:sp>
        <p:nvSpPr>
          <p:cNvPr id="10" name="Shape 8"/>
          <p:cNvSpPr/>
          <p:nvPr/>
        </p:nvSpPr>
        <p:spPr>
          <a:xfrm>
            <a:off x="5143500" y="2862263"/>
            <a:ext cx="171450" cy="171450"/>
          </a:xfrm>
          <a:prstGeom prst="ellipse">
            <a:avLst/>
          </a:prstGeom>
          <a:solidFill>
            <a:srgbClr val="0E7C6B"/>
          </a:solidFill>
          <a:ln/>
        </p:spPr>
      </p:sp>
      <p:sp>
        <p:nvSpPr>
          <p:cNvPr id="11" name="Shape 9"/>
          <p:cNvSpPr/>
          <p:nvPr/>
        </p:nvSpPr>
        <p:spPr>
          <a:xfrm>
            <a:off x="5391150" y="2862263"/>
            <a:ext cx="171450" cy="171450"/>
          </a:xfrm>
          <a:prstGeom prst="ellipse">
            <a:avLst/>
          </a:prstGeom>
          <a:solidFill>
            <a:srgbClr val="A3442E"/>
          </a:solidFill>
          <a:ln/>
        </p:spPr>
      </p:sp>
      <p:sp>
        <p:nvSpPr>
          <p:cNvPr id="12" name="Shape 10"/>
          <p:cNvSpPr/>
          <p:nvPr/>
        </p:nvSpPr>
        <p:spPr>
          <a:xfrm>
            <a:off x="5638800" y="2862263"/>
            <a:ext cx="171450" cy="171450"/>
          </a:xfrm>
          <a:prstGeom prst="ellipse">
            <a:avLst/>
          </a:prstGeom>
          <a:solidFill>
            <a:srgbClr val="0E7C6B"/>
          </a:solidFill>
          <a:ln/>
        </p:spPr>
      </p:sp>
      <p:sp>
        <p:nvSpPr>
          <p:cNvPr id="13" name="Shape 11"/>
          <p:cNvSpPr/>
          <p:nvPr/>
        </p:nvSpPr>
        <p:spPr>
          <a:xfrm>
            <a:off x="5143500" y="3109913"/>
            <a:ext cx="171450" cy="171450"/>
          </a:xfrm>
          <a:prstGeom prst="ellipse">
            <a:avLst/>
          </a:prstGeom>
          <a:solidFill>
            <a:srgbClr val="0E7C6B"/>
          </a:solidFill>
          <a:ln/>
        </p:spPr>
      </p:sp>
      <p:sp>
        <p:nvSpPr>
          <p:cNvPr id="14" name="Shape 12"/>
          <p:cNvSpPr/>
          <p:nvPr/>
        </p:nvSpPr>
        <p:spPr>
          <a:xfrm>
            <a:off x="5391150" y="3109913"/>
            <a:ext cx="171450" cy="171450"/>
          </a:xfrm>
          <a:prstGeom prst="ellipse">
            <a:avLst/>
          </a:prstGeom>
          <a:solidFill>
            <a:srgbClr val="0E7C6B"/>
          </a:solidFill>
          <a:ln/>
        </p:spPr>
      </p:sp>
      <p:sp>
        <p:nvSpPr>
          <p:cNvPr id="15" name="Shape 13"/>
          <p:cNvSpPr/>
          <p:nvPr/>
        </p:nvSpPr>
        <p:spPr>
          <a:xfrm>
            <a:off x="5638800" y="3109913"/>
            <a:ext cx="171450" cy="171450"/>
          </a:xfrm>
          <a:prstGeom prst="ellipse">
            <a:avLst/>
          </a:prstGeom>
          <a:solidFill>
            <a:srgbClr val="0E7C6B"/>
          </a:solidFill>
          <a:ln/>
        </p:spPr>
      </p:sp>
      <p:sp>
        <p:nvSpPr>
          <p:cNvPr id="16" name="Shape 14"/>
          <p:cNvSpPr/>
          <p:nvPr/>
        </p:nvSpPr>
        <p:spPr>
          <a:xfrm>
            <a:off x="5981700" y="2933700"/>
            <a:ext cx="438150" cy="28575"/>
          </a:xfrm>
          <a:prstGeom prst="rect">
            <a:avLst/>
          </a:prstGeom>
          <a:solidFill>
            <a:srgbClr val="C7CEC6"/>
          </a:solidFill>
          <a:ln/>
        </p:spPr>
      </p:sp>
      <p:sp>
        <p:nvSpPr>
          <p:cNvPr id="17" name="Shape 15"/>
          <p:cNvSpPr/>
          <p:nvPr/>
        </p:nvSpPr>
        <p:spPr>
          <a:xfrm>
            <a:off x="6591300" y="2700338"/>
            <a:ext cx="2438400" cy="495300"/>
          </a:xfrm>
          <a:prstGeom prst="roundRect">
            <a:avLst>
              <a:gd name="adj" fmla="val 15385"/>
            </a:avLst>
          </a:prstGeom>
          <a:solidFill>
            <a:srgbClr val="1B2530"/>
          </a:solidFill>
          <a:ln/>
        </p:spPr>
      </p:sp>
      <p:sp>
        <p:nvSpPr>
          <p:cNvPr id="18" name="Text 16"/>
          <p:cNvSpPr/>
          <p:nvPr/>
        </p:nvSpPr>
        <p:spPr>
          <a:xfrm>
            <a:off x="6781800" y="2795588"/>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IBM Plex Mono" pitchFamily="34" charset="0"/>
                <a:ea typeface="IBM Plex Mono" pitchFamily="34" charset="-122"/>
                <a:cs typeface="IBM Plex Mono" pitchFamily="34" charset="-120"/>
              </a:rPr>
              <a:t>one health feed</a:t>
            </a:r>
            <a:endParaRPr lang="en-US" sz="1800" dirty="0"/>
          </a:p>
        </p:txBody>
      </p:sp>
      <p:sp>
        <p:nvSpPr>
          <p:cNvPr id="19" name="Text 17"/>
          <p:cNvSpPr/>
          <p:nvPr/>
        </p:nvSpPr>
        <p:spPr>
          <a:xfrm>
            <a:off x="9715500" y="2419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Every check — batch jobs, stored tables, live streams — reports into one place that says what failed.</a:t>
            </a:r>
            <a:endParaRPr lang="en-US" sz="1950" dirty="0"/>
          </a:p>
        </p:txBody>
      </p:sp>
      <p:sp>
        <p:nvSpPr>
          <p:cNvPr id="20" name="Shape 18"/>
          <p:cNvSpPr/>
          <p:nvPr/>
        </p:nvSpPr>
        <p:spPr>
          <a:xfrm>
            <a:off x="15697200" y="2738438"/>
            <a:ext cx="1638300" cy="419100"/>
          </a:xfrm>
          <a:prstGeom prst="roundRect">
            <a:avLst>
              <a:gd name="adj" fmla="val 13636"/>
            </a:avLst>
          </a:prstGeom>
          <a:solidFill>
            <a:srgbClr val="E3EFEA"/>
          </a:solidFill>
          <a:ln/>
        </p:spPr>
      </p:sp>
      <p:sp>
        <p:nvSpPr>
          <p:cNvPr id="21" name="Text 19"/>
          <p:cNvSpPr/>
          <p:nvPr/>
        </p:nvSpPr>
        <p:spPr>
          <a:xfrm>
            <a:off x="15830550" y="2795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M1–M3</a:t>
            </a:r>
            <a:endParaRPr lang="en-US" sz="1800" dirty="0"/>
          </a:p>
        </p:txBody>
      </p:sp>
      <p:sp>
        <p:nvSpPr>
          <p:cNvPr id="22" name="Shape 20"/>
          <p:cNvSpPr/>
          <p:nvPr/>
        </p:nvSpPr>
        <p:spPr>
          <a:xfrm>
            <a:off x="952500" y="3705225"/>
            <a:ext cx="16383000" cy="9525"/>
          </a:xfrm>
          <a:prstGeom prst="rect">
            <a:avLst/>
          </a:prstGeom>
          <a:solidFill>
            <a:srgbClr val="D9DED7"/>
          </a:solidFill>
          <a:ln/>
        </p:spPr>
      </p:sp>
      <p:sp>
        <p:nvSpPr>
          <p:cNvPr id="23" name="Text 21"/>
          <p:cNvSpPr/>
          <p:nvPr/>
        </p:nvSpPr>
        <p:spPr>
          <a:xfrm>
            <a:off x="952500" y="4276725"/>
            <a:ext cx="271611"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2</a:t>
            </a:r>
            <a:endParaRPr lang="en-US" sz="2550" dirty="0"/>
          </a:p>
        </p:txBody>
      </p:sp>
      <p:sp>
        <p:nvSpPr>
          <p:cNvPr id="24" name="Text 22"/>
          <p:cNvSpPr/>
          <p:nvPr/>
        </p:nvSpPr>
        <p:spPr>
          <a:xfrm>
            <a:off x="1338411" y="4276725"/>
            <a:ext cx="97988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Why?</a:t>
            </a:r>
            <a:endParaRPr lang="en-US" sz="2700" dirty="0"/>
          </a:p>
        </p:txBody>
      </p:sp>
      <p:sp>
        <p:nvSpPr>
          <p:cNvPr id="25" name="Shape 23"/>
          <p:cNvSpPr/>
          <p:nvPr/>
        </p:nvSpPr>
        <p:spPr>
          <a:xfrm>
            <a:off x="5753100" y="4014788"/>
            <a:ext cx="1912739" cy="400050"/>
          </a:xfrm>
          <a:prstGeom prst="roundRect">
            <a:avLst>
              <a:gd name="adj" fmla="val 14286"/>
            </a:avLst>
          </a:prstGeom>
          <a:solidFill>
            <a:srgbClr val="F5EAD8"/>
          </a:solidFill>
          <a:ln/>
        </p:spPr>
      </p:sp>
      <p:sp>
        <p:nvSpPr>
          <p:cNvPr id="26" name="Text 24"/>
          <p:cNvSpPr/>
          <p:nvPr/>
        </p:nvSpPr>
        <p:spPr>
          <a:xfrm>
            <a:off x="5886450" y="4062412"/>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27" name="Shape 25"/>
          <p:cNvSpPr/>
          <p:nvPr/>
        </p:nvSpPr>
        <p:spPr>
          <a:xfrm>
            <a:off x="6191250" y="4491038"/>
            <a:ext cx="28575" cy="152400"/>
          </a:xfrm>
          <a:prstGeom prst="rect">
            <a:avLst/>
          </a:prstGeom>
          <a:solidFill>
            <a:srgbClr val="B97417"/>
          </a:solidFill>
          <a:ln/>
        </p:spPr>
      </p:sp>
      <p:sp>
        <p:nvSpPr>
          <p:cNvPr id="28" name="Shape 26"/>
          <p:cNvSpPr/>
          <p:nvPr/>
        </p:nvSpPr>
        <p:spPr>
          <a:xfrm>
            <a:off x="5143500" y="4738688"/>
            <a:ext cx="171450" cy="171450"/>
          </a:xfrm>
          <a:prstGeom prst="ellipse">
            <a:avLst/>
          </a:prstGeom>
          <a:solidFill>
            <a:srgbClr val="0E7C6B"/>
          </a:solidFill>
          <a:ln/>
        </p:spPr>
      </p:sp>
      <p:sp>
        <p:nvSpPr>
          <p:cNvPr id="29" name="Shape 27"/>
          <p:cNvSpPr/>
          <p:nvPr/>
        </p:nvSpPr>
        <p:spPr>
          <a:xfrm>
            <a:off x="5314950" y="4810125"/>
            <a:ext cx="742950" cy="28575"/>
          </a:xfrm>
          <a:prstGeom prst="rect">
            <a:avLst/>
          </a:prstGeom>
          <a:solidFill>
            <a:srgbClr val="B97417"/>
          </a:solidFill>
          <a:ln/>
        </p:spPr>
      </p:sp>
      <p:sp>
        <p:nvSpPr>
          <p:cNvPr id="30" name="Shape 28"/>
          <p:cNvSpPr/>
          <p:nvPr/>
        </p:nvSpPr>
        <p:spPr>
          <a:xfrm>
            <a:off x="6057900" y="4719638"/>
            <a:ext cx="209550" cy="209550"/>
          </a:xfrm>
          <a:prstGeom prst="ellipse">
            <a:avLst/>
          </a:prstGeom>
          <a:solidFill>
            <a:srgbClr val="A3442E"/>
          </a:solidFill>
          <a:ln/>
        </p:spPr>
      </p:sp>
      <p:sp>
        <p:nvSpPr>
          <p:cNvPr id="31" name="Shape 29"/>
          <p:cNvSpPr/>
          <p:nvPr/>
        </p:nvSpPr>
        <p:spPr>
          <a:xfrm>
            <a:off x="6267450" y="4810125"/>
            <a:ext cx="742950" cy="28575"/>
          </a:xfrm>
          <a:prstGeom prst="rect">
            <a:avLst/>
          </a:prstGeom>
          <a:solidFill>
            <a:srgbClr val="C7CEC6"/>
          </a:solidFill>
          <a:ln/>
        </p:spPr>
      </p:sp>
      <p:sp>
        <p:nvSpPr>
          <p:cNvPr id="32" name="Shape 30"/>
          <p:cNvSpPr/>
          <p:nvPr/>
        </p:nvSpPr>
        <p:spPr>
          <a:xfrm>
            <a:off x="7010400" y="4738688"/>
            <a:ext cx="171450" cy="171450"/>
          </a:xfrm>
          <a:prstGeom prst="ellipse">
            <a:avLst/>
          </a:prstGeom>
          <a:solidFill>
            <a:srgbClr val="0E7C6B"/>
          </a:solidFill>
          <a:ln/>
        </p:spPr>
      </p:sp>
      <p:sp>
        <p:nvSpPr>
          <p:cNvPr id="33" name="Shape 31"/>
          <p:cNvSpPr/>
          <p:nvPr/>
        </p:nvSpPr>
        <p:spPr>
          <a:xfrm>
            <a:off x="7181850" y="4810125"/>
            <a:ext cx="742950" cy="28575"/>
          </a:xfrm>
          <a:prstGeom prst="rect">
            <a:avLst/>
          </a:prstGeom>
          <a:solidFill>
            <a:srgbClr val="C7CEC6"/>
          </a:solidFill>
          <a:ln/>
        </p:spPr>
      </p:sp>
      <p:sp>
        <p:nvSpPr>
          <p:cNvPr id="34" name="Shape 32"/>
          <p:cNvSpPr/>
          <p:nvPr/>
        </p:nvSpPr>
        <p:spPr>
          <a:xfrm>
            <a:off x="7924800" y="4738688"/>
            <a:ext cx="171450" cy="171450"/>
          </a:xfrm>
          <a:prstGeom prst="ellipse">
            <a:avLst/>
          </a:prstGeom>
          <a:solidFill>
            <a:srgbClr val="0E7C6B"/>
          </a:solidFill>
          <a:ln/>
        </p:spPr>
      </p:sp>
      <p:sp>
        <p:nvSpPr>
          <p:cNvPr id="35" name="Text 33"/>
          <p:cNvSpPr/>
          <p:nvPr/>
        </p:nvSpPr>
        <p:spPr>
          <a:xfrm>
            <a:off x="9715500" y="3943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 map of how data flows, linked to code deploys — an incident names the change that caused it, not just a symptom.</a:t>
            </a:r>
            <a:endParaRPr lang="en-US" sz="1950" dirty="0"/>
          </a:p>
        </p:txBody>
      </p:sp>
      <p:sp>
        <p:nvSpPr>
          <p:cNvPr id="36" name="Shape 34"/>
          <p:cNvSpPr/>
          <p:nvPr/>
        </p:nvSpPr>
        <p:spPr>
          <a:xfrm>
            <a:off x="15697200" y="4262438"/>
            <a:ext cx="1638300" cy="419100"/>
          </a:xfrm>
          <a:prstGeom prst="roundRect">
            <a:avLst>
              <a:gd name="adj" fmla="val 13636"/>
            </a:avLst>
          </a:prstGeom>
          <a:solidFill>
            <a:srgbClr val="E3EFEA"/>
          </a:solidFill>
          <a:ln/>
        </p:spPr>
      </p:sp>
      <p:sp>
        <p:nvSpPr>
          <p:cNvPr id="37" name="Text 35"/>
          <p:cNvSpPr/>
          <p:nvPr/>
        </p:nvSpPr>
        <p:spPr>
          <a:xfrm>
            <a:off x="15830550" y="4319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M4–M5</a:t>
            </a:r>
            <a:endParaRPr lang="en-US" sz="1800" dirty="0"/>
          </a:p>
        </p:txBody>
      </p:sp>
      <p:sp>
        <p:nvSpPr>
          <p:cNvPr id="38" name="Shape 36"/>
          <p:cNvSpPr/>
          <p:nvPr/>
        </p:nvSpPr>
        <p:spPr>
          <a:xfrm>
            <a:off x="952500" y="5229225"/>
            <a:ext cx="16383000" cy="9525"/>
          </a:xfrm>
          <a:prstGeom prst="rect">
            <a:avLst/>
          </a:prstGeom>
          <a:solidFill>
            <a:srgbClr val="D9DED7"/>
          </a:solidFill>
          <a:ln/>
        </p:spPr>
      </p:sp>
      <p:sp>
        <p:nvSpPr>
          <p:cNvPr id="39" name="Text 37"/>
          <p:cNvSpPr/>
          <p:nvPr/>
        </p:nvSpPr>
        <p:spPr>
          <a:xfrm>
            <a:off x="952500" y="5862638"/>
            <a:ext cx="27235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3</a:t>
            </a:r>
            <a:endParaRPr lang="en-US" sz="2550" dirty="0"/>
          </a:p>
        </p:txBody>
      </p:sp>
      <p:sp>
        <p:nvSpPr>
          <p:cNvPr id="40" name="Text 38"/>
          <p:cNvSpPr/>
          <p:nvPr/>
        </p:nvSpPr>
        <p:spPr>
          <a:xfrm>
            <a:off x="1339155" y="5862638"/>
            <a:ext cx="3055828"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Who is affected?</a:t>
            </a:r>
            <a:endParaRPr lang="en-US" sz="2700" dirty="0"/>
          </a:p>
        </p:txBody>
      </p:sp>
      <p:sp>
        <p:nvSpPr>
          <p:cNvPr id="41" name="Shape 39"/>
          <p:cNvSpPr/>
          <p:nvPr/>
        </p:nvSpPr>
        <p:spPr>
          <a:xfrm>
            <a:off x="5143500" y="5953125"/>
            <a:ext cx="209550" cy="209550"/>
          </a:xfrm>
          <a:prstGeom prst="ellipse">
            <a:avLst/>
          </a:prstGeom>
          <a:solidFill>
            <a:srgbClr val="A3442E"/>
          </a:solidFill>
          <a:ln/>
        </p:spPr>
      </p:sp>
      <p:sp>
        <p:nvSpPr>
          <p:cNvPr id="42" name="Shape 40"/>
          <p:cNvSpPr/>
          <p:nvPr/>
        </p:nvSpPr>
        <p:spPr>
          <a:xfrm>
            <a:off x="5353050" y="6043613"/>
            <a:ext cx="381000" cy="28575"/>
          </a:xfrm>
          <a:prstGeom prst="rect">
            <a:avLst/>
          </a:prstGeom>
          <a:solidFill>
            <a:srgbClr val="C7CEC6"/>
          </a:solidFill>
          <a:ln/>
        </p:spPr>
      </p:sp>
      <p:sp>
        <p:nvSpPr>
          <p:cNvPr id="43" name="Shape 41"/>
          <p:cNvSpPr/>
          <p:nvPr/>
        </p:nvSpPr>
        <p:spPr>
          <a:xfrm>
            <a:off x="5734050" y="5467350"/>
            <a:ext cx="28575" cy="1181100"/>
          </a:xfrm>
          <a:prstGeom prst="rect">
            <a:avLst/>
          </a:prstGeom>
          <a:solidFill>
            <a:srgbClr val="C7CEC6"/>
          </a:solidFill>
          <a:ln/>
        </p:spPr>
      </p:sp>
      <p:sp>
        <p:nvSpPr>
          <p:cNvPr id="44" name="Shape 42"/>
          <p:cNvSpPr/>
          <p:nvPr/>
        </p:nvSpPr>
        <p:spPr>
          <a:xfrm>
            <a:off x="5762625" y="5605463"/>
            <a:ext cx="381000" cy="28575"/>
          </a:xfrm>
          <a:prstGeom prst="rect">
            <a:avLst/>
          </a:prstGeom>
          <a:solidFill>
            <a:srgbClr val="C7CEC6"/>
          </a:solidFill>
          <a:ln/>
        </p:spPr>
      </p:sp>
      <p:sp>
        <p:nvSpPr>
          <p:cNvPr id="45" name="Shape 43"/>
          <p:cNvSpPr/>
          <p:nvPr/>
        </p:nvSpPr>
        <p:spPr>
          <a:xfrm>
            <a:off x="6143625" y="5534025"/>
            <a:ext cx="171450" cy="171450"/>
          </a:xfrm>
          <a:prstGeom prst="ellipse">
            <a:avLst/>
          </a:prstGeom>
          <a:solidFill>
            <a:srgbClr val="B97417"/>
          </a:solidFill>
          <a:ln/>
        </p:spPr>
      </p:sp>
      <p:sp>
        <p:nvSpPr>
          <p:cNvPr id="46" name="Text 44"/>
          <p:cNvSpPr/>
          <p:nvPr/>
        </p:nvSpPr>
        <p:spPr>
          <a:xfrm>
            <a:off x="6429375" y="54673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table</a:t>
            </a:r>
            <a:endParaRPr lang="en-US" sz="1800" dirty="0"/>
          </a:p>
        </p:txBody>
      </p:sp>
      <p:sp>
        <p:nvSpPr>
          <p:cNvPr id="47" name="Shape 45"/>
          <p:cNvSpPr/>
          <p:nvPr/>
        </p:nvSpPr>
        <p:spPr>
          <a:xfrm>
            <a:off x="5762625" y="6043613"/>
            <a:ext cx="381000" cy="28575"/>
          </a:xfrm>
          <a:prstGeom prst="rect">
            <a:avLst/>
          </a:prstGeom>
          <a:solidFill>
            <a:srgbClr val="C7CEC6"/>
          </a:solidFill>
          <a:ln/>
        </p:spPr>
      </p:sp>
      <p:sp>
        <p:nvSpPr>
          <p:cNvPr id="48" name="Shape 46"/>
          <p:cNvSpPr/>
          <p:nvPr/>
        </p:nvSpPr>
        <p:spPr>
          <a:xfrm>
            <a:off x="6143625" y="5972175"/>
            <a:ext cx="171450" cy="171450"/>
          </a:xfrm>
          <a:prstGeom prst="ellipse">
            <a:avLst/>
          </a:prstGeom>
          <a:solidFill>
            <a:srgbClr val="B97417"/>
          </a:solidFill>
          <a:ln/>
        </p:spPr>
      </p:sp>
      <p:sp>
        <p:nvSpPr>
          <p:cNvPr id="49" name="Text 47"/>
          <p:cNvSpPr/>
          <p:nvPr/>
        </p:nvSpPr>
        <p:spPr>
          <a:xfrm>
            <a:off x="6429375" y="5905500"/>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report</a:t>
            </a:r>
            <a:endParaRPr lang="en-US" sz="1800" dirty="0"/>
          </a:p>
        </p:txBody>
      </p:sp>
      <p:sp>
        <p:nvSpPr>
          <p:cNvPr id="50" name="Shape 48"/>
          <p:cNvSpPr/>
          <p:nvPr/>
        </p:nvSpPr>
        <p:spPr>
          <a:xfrm>
            <a:off x="5762625" y="6481763"/>
            <a:ext cx="381000" cy="28575"/>
          </a:xfrm>
          <a:prstGeom prst="rect">
            <a:avLst/>
          </a:prstGeom>
          <a:solidFill>
            <a:srgbClr val="C7CEC6"/>
          </a:solidFill>
          <a:ln/>
        </p:spPr>
      </p:sp>
      <p:sp>
        <p:nvSpPr>
          <p:cNvPr id="51" name="Shape 49"/>
          <p:cNvSpPr/>
          <p:nvPr/>
        </p:nvSpPr>
        <p:spPr>
          <a:xfrm>
            <a:off x="6143625" y="6410325"/>
            <a:ext cx="171450" cy="171450"/>
          </a:xfrm>
          <a:prstGeom prst="ellipse">
            <a:avLst/>
          </a:prstGeom>
          <a:solidFill>
            <a:srgbClr val="B97417"/>
          </a:solidFill>
          <a:ln/>
        </p:spPr>
      </p:sp>
      <p:sp>
        <p:nvSpPr>
          <p:cNvPr id="52" name="Text 50"/>
          <p:cNvSpPr/>
          <p:nvPr/>
        </p:nvSpPr>
        <p:spPr>
          <a:xfrm>
            <a:off x="6429375" y="6343650"/>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team</a:t>
            </a:r>
            <a:endParaRPr lang="en-US" sz="1800" dirty="0"/>
          </a:p>
        </p:txBody>
      </p:sp>
      <p:sp>
        <p:nvSpPr>
          <p:cNvPr id="53" name="Text 51"/>
          <p:cNvSpPr/>
          <p:nvPr/>
        </p:nvSpPr>
        <p:spPr>
          <a:xfrm>
            <a:off x="9715500" y="5529263"/>
            <a:ext cx="619242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same map knows every downstream table, report, and team — one click shows who is exposed before they find out the hard way.</a:t>
            </a:r>
            <a:endParaRPr lang="en-US" sz="1950" dirty="0"/>
          </a:p>
        </p:txBody>
      </p:sp>
      <p:sp>
        <p:nvSpPr>
          <p:cNvPr id="54" name="Shape 52"/>
          <p:cNvSpPr/>
          <p:nvPr/>
        </p:nvSpPr>
        <p:spPr>
          <a:xfrm>
            <a:off x="16108561" y="5848350"/>
            <a:ext cx="1226939" cy="419100"/>
          </a:xfrm>
          <a:prstGeom prst="roundRect">
            <a:avLst>
              <a:gd name="adj" fmla="val 13636"/>
            </a:avLst>
          </a:prstGeom>
          <a:solidFill>
            <a:srgbClr val="E3EFEA"/>
          </a:solidFill>
          <a:ln/>
        </p:spPr>
      </p:sp>
      <p:sp>
        <p:nvSpPr>
          <p:cNvPr id="55" name="Text 53"/>
          <p:cNvSpPr/>
          <p:nvPr/>
        </p:nvSpPr>
        <p:spPr>
          <a:xfrm>
            <a:off x="16241911" y="5905500"/>
            <a:ext cx="10364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a:t>
            </a:r>
            <a:endParaRPr lang="en-US" sz="1800" dirty="0"/>
          </a:p>
        </p:txBody>
      </p:sp>
      <p:sp>
        <p:nvSpPr>
          <p:cNvPr id="56" name="Shape 54"/>
          <p:cNvSpPr/>
          <p:nvPr/>
        </p:nvSpPr>
        <p:spPr>
          <a:xfrm>
            <a:off x="952500" y="8753475"/>
            <a:ext cx="16383000" cy="9525"/>
          </a:xfrm>
          <a:prstGeom prst="rect">
            <a:avLst/>
          </a:prstGeom>
          <a:solidFill>
            <a:srgbClr val="D9DED7"/>
          </a:solidFill>
          <a:ln/>
        </p:spPr>
      </p:sp>
      <p:sp>
        <p:nvSpPr>
          <p:cNvPr id="57" name="Shape 55"/>
          <p:cNvSpPr/>
          <p:nvPr/>
        </p:nvSpPr>
        <p:spPr>
          <a:xfrm>
            <a:off x="952500" y="6877050"/>
            <a:ext cx="16383000" cy="9525"/>
          </a:xfrm>
          <a:prstGeom prst="rect">
            <a:avLst/>
          </a:prstGeom>
          <a:solidFill>
            <a:srgbClr val="D9DED7"/>
          </a:solidFill>
          <a:ln/>
        </p:spPr>
      </p:sp>
      <p:sp>
        <p:nvSpPr>
          <p:cNvPr id="58" name="Text 56"/>
          <p:cNvSpPr/>
          <p:nvPr/>
        </p:nvSpPr>
        <p:spPr>
          <a:xfrm>
            <a:off x="952500" y="7429500"/>
            <a:ext cx="278160"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4</a:t>
            </a:r>
            <a:endParaRPr lang="en-US" sz="2550" dirty="0"/>
          </a:p>
        </p:txBody>
      </p:sp>
      <p:sp>
        <p:nvSpPr>
          <p:cNvPr id="59" name="Text 57"/>
          <p:cNvSpPr/>
          <p:nvPr/>
        </p:nvSpPr>
        <p:spPr>
          <a:xfrm>
            <a:off x="1344960" y="7429500"/>
            <a:ext cx="3520066" cy="819150"/>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How does it stop recurring?</a:t>
            </a:r>
            <a:endParaRPr lang="en-US" sz="2700" dirty="0"/>
          </a:p>
        </p:txBody>
      </p:sp>
      <p:sp>
        <p:nvSpPr>
          <p:cNvPr id="60" name="Shape 58"/>
          <p:cNvSpPr/>
          <p:nvPr/>
        </p:nvSpPr>
        <p:spPr>
          <a:xfrm>
            <a:off x="5143500" y="7715250"/>
            <a:ext cx="209550" cy="209550"/>
          </a:xfrm>
          <a:prstGeom prst="roundRect">
            <a:avLst>
              <a:gd name="adj" fmla="val 22727"/>
            </a:avLst>
          </a:prstGeom>
          <a:solidFill>
            <a:srgbClr val="A3442E"/>
          </a:solidFill>
          <a:ln/>
        </p:spPr>
      </p:sp>
      <p:sp>
        <p:nvSpPr>
          <p:cNvPr id="61" name="Shape 59"/>
          <p:cNvSpPr/>
          <p:nvPr/>
        </p:nvSpPr>
        <p:spPr>
          <a:xfrm>
            <a:off x="5353050" y="7805738"/>
            <a:ext cx="323850" cy="28575"/>
          </a:xfrm>
          <a:prstGeom prst="rect">
            <a:avLst/>
          </a:prstGeom>
          <a:solidFill>
            <a:srgbClr val="A3442E"/>
          </a:solidFill>
          <a:ln/>
        </p:spPr>
      </p:sp>
      <p:sp>
        <p:nvSpPr>
          <p:cNvPr id="62" name="Shape 60"/>
          <p:cNvSpPr/>
          <p:nvPr/>
        </p:nvSpPr>
        <p:spPr>
          <a:xfrm>
            <a:off x="5676900" y="7467600"/>
            <a:ext cx="114300" cy="704850"/>
          </a:xfrm>
          <a:prstGeom prst="roundRect">
            <a:avLst>
              <a:gd name="adj" fmla="val 50000"/>
            </a:avLst>
          </a:prstGeom>
          <a:solidFill>
            <a:srgbClr val="1B2530"/>
          </a:solidFill>
          <a:ln/>
        </p:spPr>
      </p:sp>
      <p:sp>
        <p:nvSpPr>
          <p:cNvPr id="63" name="Shape 61"/>
          <p:cNvSpPr/>
          <p:nvPr/>
        </p:nvSpPr>
        <p:spPr>
          <a:xfrm>
            <a:off x="5791200" y="7805738"/>
            <a:ext cx="323850" cy="28575"/>
          </a:xfrm>
          <a:prstGeom prst="rect">
            <a:avLst/>
          </a:prstGeom>
          <a:solidFill>
            <a:srgbClr val="0E7C6B"/>
          </a:solidFill>
          <a:ln/>
        </p:spPr>
      </p:sp>
      <p:sp>
        <p:nvSpPr>
          <p:cNvPr id="64" name="Shape 62"/>
          <p:cNvSpPr/>
          <p:nvPr/>
        </p:nvSpPr>
        <p:spPr>
          <a:xfrm>
            <a:off x="6115050" y="7734300"/>
            <a:ext cx="171450" cy="171450"/>
          </a:xfrm>
          <a:prstGeom prst="ellipse">
            <a:avLst/>
          </a:prstGeom>
          <a:solidFill>
            <a:srgbClr val="0E7C6B"/>
          </a:solidFill>
          <a:ln/>
        </p:spPr>
      </p:sp>
      <p:sp>
        <p:nvSpPr>
          <p:cNvPr id="65" name="Shape 63"/>
          <p:cNvSpPr/>
          <p:nvPr/>
        </p:nvSpPr>
        <p:spPr>
          <a:xfrm>
            <a:off x="6381750" y="7734300"/>
            <a:ext cx="171450" cy="171450"/>
          </a:xfrm>
          <a:prstGeom prst="ellipse">
            <a:avLst/>
          </a:prstGeom>
          <a:solidFill>
            <a:srgbClr val="0E7C6B"/>
          </a:solidFill>
          <a:ln/>
        </p:spPr>
      </p:sp>
      <p:sp>
        <p:nvSpPr>
          <p:cNvPr id="66" name="Text 64"/>
          <p:cNvSpPr/>
          <p:nvPr/>
        </p:nvSpPr>
        <p:spPr>
          <a:xfrm>
            <a:off x="6705600" y="7667625"/>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gate holds it</a:t>
            </a:r>
            <a:endParaRPr lang="en-US" sz="1800" dirty="0"/>
          </a:p>
        </p:txBody>
      </p:sp>
      <p:sp>
        <p:nvSpPr>
          <p:cNvPr id="67" name="Text 65"/>
          <p:cNvSpPr/>
          <p:nvPr/>
        </p:nvSpPr>
        <p:spPr>
          <a:xfrm>
            <a:off x="9715500" y="7115175"/>
            <a:ext cx="5768721"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Written rules agreed with producing teams, plus a gate that holds bad data before anyone reads it — consumers keep reading last-certified data.</a:t>
            </a:r>
            <a:endParaRPr lang="en-US" sz="1950" dirty="0"/>
          </a:p>
        </p:txBody>
      </p:sp>
      <p:sp>
        <p:nvSpPr>
          <p:cNvPr id="68" name="Shape 66"/>
          <p:cNvSpPr/>
          <p:nvPr/>
        </p:nvSpPr>
        <p:spPr>
          <a:xfrm>
            <a:off x="15697200" y="7610475"/>
            <a:ext cx="1638300" cy="419100"/>
          </a:xfrm>
          <a:prstGeom prst="roundRect">
            <a:avLst>
              <a:gd name="adj" fmla="val 13636"/>
            </a:avLst>
          </a:prstGeom>
          <a:solidFill>
            <a:srgbClr val="E3EFEA"/>
          </a:solidFill>
          <a:ln/>
        </p:spPr>
      </p:sp>
      <p:sp>
        <p:nvSpPr>
          <p:cNvPr id="69" name="Text 67"/>
          <p:cNvSpPr/>
          <p:nvPr/>
        </p:nvSpPr>
        <p:spPr>
          <a:xfrm>
            <a:off x="15830550" y="7667625"/>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M6–M7</a:t>
            </a:r>
            <a:endParaRPr lang="en-US" sz="1800" dirty="0"/>
          </a:p>
        </p:txBody>
      </p:sp>
      <p:sp>
        <p:nvSpPr>
          <p:cNvPr id="70" name="Shape 68"/>
          <p:cNvSpPr/>
          <p:nvPr/>
        </p:nvSpPr>
        <p:spPr>
          <a:xfrm>
            <a:off x="952500" y="9048750"/>
            <a:ext cx="16383000" cy="1123950"/>
          </a:xfrm>
          <a:prstGeom prst="roundRect">
            <a:avLst>
              <a:gd name="adj" fmla="val 10169"/>
            </a:avLst>
          </a:prstGeom>
          <a:solidFill>
            <a:srgbClr val="1B2530"/>
          </a:solidFill>
          <a:ln/>
        </p:spPr>
      </p:sp>
      <p:sp>
        <p:nvSpPr>
          <p:cNvPr id="71" name="Text 69"/>
          <p:cNvSpPr/>
          <p:nvPr/>
        </p:nvSpPr>
        <p:spPr>
          <a:xfrm>
            <a:off x="1295400" y="9286875"/>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BY MONTH 24</a:t>
            </a:r>
            <a:endParaRPr lang="en-US" sz="1800" dirty="0"/>
          </a:p>
        </p:txBody>
      </p:sp>
      <p:sp>
        <p:nvSpPr>
          <p:cNvPr id="72" name="Text 70"/>
          <p:cNvSpPr/>
          <p:nvPr/>
        </p:nvSpPr>
        <p:spPr>
          <a:xfrm>
            <a:off x="3234035" y="9258300"/>
            <a:ext cx="14171322"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Bad data never reaches a Tier-1 consumer unseen · a new use case onboards in ≤ 2 weeks · every connection in the map carries a trust score.</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4953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APPROACH</a:t>
            </a:r>
            <a:endParaRPr lang="en-US" sz="1800" dirty="0"/>
          </a:p>
        </p:txBody>
      </p:sp>
      <p:sp>
        <p:nvSpPr>
          <p:cNvPr id="3" name="Text 1"/>
          <p:cNvSpPr/>
          <p:nvPr/>
        </p:nvSpPr>
        <p:spPr>
          <a:xfrm>
            <a:off x="952500" y="9144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Three foundations, one roadmap, one convergence point</a:t>
            </a:r>
            <a:endParaRPr lang="en-US" sz="4200" dirty="0"/>
          </a:p>
        </p:txBody>
      </p:sp>
      <p:sp>
        <p:nvSpPr>
          <p:cNvPr id="4" name="Text 2"/>
          <p:cNvSpPr/>
          <p:nvPr/>
        </p:nvSpPr>
        <p:spPr>
          <a:xfrm>
            <a:off x="952500" y="1562100"/>
            <a:ext cx="44810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PROVEN ON ONE PILOT THREAD:</a:t>
            </a:r>
            <a:endParaRPr lang="en-US" sz="1800" dirty="0"/>
          </a:p>
        </p:txBody>
      </p:sp>
      <p:sp>
        <p:nvSpPr>
          <p:cNvPr id="5" name="Text 3"/>
          <p:cNvSpPr/>
          <p:nvPr/>
        </p:nvSpPr>
        <p:spPr>
          <a:xfrm>
            <a:off x="5159573" y="1562100"/>
            <a:ext cx="1192143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payments-svc → orders topic → enrichment job → gold.orders_enr → finance report</a:t>
            </a:r>
            <a:endParaRPr lang="en-US" sz="1800" dirty="0"/>
          </a:p>
        </p:txBody>
      </p:sp>
      <p:sp>
        <p:nvSpPr>
          <p:cNvPr id="6" name="Shape 4"/>
          <p:cNvSpPr/>
          <p:nvPr/>
        </p:nvSpPr>
        <p:spPr>
          <a:xfrm>
            <a:off x="952500" y="3009900"/>
            <a:ext cx="3810000" cy="28575"/>
          </a:xfrm>
          <a:prstGeom prst="rect">
            <a:avLst/>
          </a:prstGeom>
          <a:solidFill>
            <a:srgbClr val="1B2530"/>
          </a:solidFill>
          <a:ln/>
        </p:spPr>
      </p:sp>
      <p:sp>
        <p:nvSpPr>
          <p:cNvPr id="7" name="Text 5"/>
          <p:cNvSpPr/>
          <p:nvPr/>
        </p:nvSpPr>
        <p:spPr>
          <a:xfrm>
            <a:off x="952500" y="2647950"/>
            <a:ext cx="324900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FOUNDATION MISSIONS</a:t>
            </a:r>
            <a:endParaRPr lang="en-US" sz="1800" dirty="0"/>
          </a:p>
        </p:txBody>
      </p:sp>
      <p:sp>
        <p:nvSpPr>
          <p:cNvPr id="8" name="Shape 6"/>
          <p:cNvSpPr/>
          <p:nvPr/>
        </p:nvSpPr>
        <p:spPr>
          <a:xfrm>
            <a:off x="4762500" y="3009900"/>
            <a:ext cx="1529804" cy="28575"/>
          </a:xfrm>
          <a:prstGeom prst="rect">
            <a:avLst/>
          </a:prstGeom>
          <a:solidFill>
            <a:srgbClr val="1B2530"/>
          </a:solidFill>
          <a:ln/>
        </p:spPr>
      </p:sp>
      <p:sp>
        <p:nvSpPr>
          <p:cNvPr id="9" name="Shape 7"/>
          <p:cNvSpPr/>
          <p:nvPr/>
        </p:nvSpPr>
        <p:spPr>
          <a:xfrm>
            <a:off x="4762500" y="2057400"/>
            <a:ext cx="9525" cy="981075"/>
          </a:xfrm>
          <a:prstGeom prst="rect">
            <a:avLst/>
          </a:prstGeom>
          <a:solidFill>
            <a:srgbClr val="E3E7E1"/>
          </a:solidFill>
          <a:ln/>
        </p:spPr>
      </p:sp>
      <p:sp>
        <p:nvSpPr>
          <p:cNvPr id="10" name="Text 8"/>
          <p:cNvSpPr/>
          <p:nvPr/>
        </p:nvSpPr>
        <p:spPr>
          <a:xfrm>
            <a:off x="53892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M1</a:t>
            </a:r>
            <a:endParaRPr lang="en-US" sz="1875" dirty="0"/>
          </a:p>
        </p:txBody>
      </p:sp>
      <p:sp>
        <p:nvSpPr>
          <p:cNvPr id="11" name="Text 9"/>
          <p:cNvSpPr/>
          <p:nvPr/>
        </p:nvSpPr>
        <p:spPr>
          <a:xfrm>
            <a:off x="53948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12" name="Shape 10"/>
          <p:cNvSpPr/>
          <p:nvPr/>
        </p:nvSpPr>
        <p:spPr>
          <a:xfrm>
            <a:off x="6292304" y="3009900"/>
            <a:ext cx="1441996" cy="28575"/>
          </a:xfrm>
          <a:prstGeom prst="rect">
            <a:avLst/>
          </a:prstGeom>
          <a:solidFill>
            <a:srgbClr val="1B2530"/>
          </a:solidFill>
          <a:ln/>
        </p:spPr>
      </p:sp>
      <p:sp>
        <p:nvSpPr>
          <p:cNvPr id="13" name="Shape 11"/>
          <p:cNvSpPr/>
          <p:nvPr/>
        </p:nvSpPr>
        <p:spPr>
          <a:xfrm>
            <a:off x="6292304" y="2057400"/>
            <a:ext cx="9525" cy="981075"/>
          </a:xfrm>
          <a:prstGeom prst="rect">
            <a:avLst/>
          </a:prstGeom>
          <a:solidFill>
            <a:srgbClr val="E3E7E1"/>
          </a:solidFill>
          <a:ln/>
        </p:spPr>
      </p:sp>
      <p:sp>
        <p:nvSpPr>
          <p:cNvPr id="14" name="Text 12"/>
          <p:cNvSpPr/>
          <p:nvPr/>
        </p:nvSpPr>
        <p:spPr>
          <a:xfrm>
            <a:off x="68751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M2</a:t>
            </a:r>
            <a:endParaRPr lang="en-US" sz="1875" dirty="0"/>
          </a:p>
        </p:txBody>
      </p:sp>
      <p:sp>
        <p:nvSpPr>
          <p:cNvPr id="15" name="Text 13"/>
          <p:cNvSpPr/>
          <p:nvPr/>
        </p:nvSpPr>
        <p:spPr>
          <a:xfrm>
            <a:off x="68807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16" name="Shape 14"/>
          <p:cNvSpPr/>
          <p:nvPr/>
        </p:nvSpPr>
        <p:spPr>
          <a:xfrm>
            <a:off x="7734300" y="3009900"/>
            <a:ext cx="1804095" cy="28575"/>
          </a:xfrm>
          <a:prstGeom prst="rect">
            <a:avLst/>
          </a:prstGeom>
          <a:solidFill>
            <a:srgbClr val="1B2530"/>
          </a:solidFill>
          <a:ln/>
        </p:spPr>
      </p:sp>
      <p:sp>
        <p:nvSpPr>
          <p:cNvPr id="17" name="Shape 15"/>
          <p:cNvSpPr/>
          <p:nvPr/>
        </p:nvSpPr>
        <p:spPr>
          <a:xfrm>
            <a:off x="7734300" y="2057400"/>
            <a:ext cx="9525" cy="981075"/>
          </a:xfrm>
          <a:prstGeom prst="rect">
            <a:avLst/>
          </a:prstGeom>
          <a:solidFill>
            <a:srgbClr val="E3E7E1"/>
          </a:solidFill>
          <a:ln/>
        </p:spPr>
      </p:sp>
      <p:sp>
        <p:nvSpPr>
          <p:cNvPr id="18" name="Text 16"/>
          <p:cNvSpPr/>
          <p:nvPr/>
        </p:nvSpPr>
        <p:spPr>
          <a:xfrm>
            <a:off x="849823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M3</a:t>
            </a:r>
            <a:endParaRPr lang="en-US" sz="1875" dirty="0"/>
          </a:p>
        </p:txBody>
      </p:sp>
      <p:sp>
        <p:nvSpPr>
          <p:cNvPr id="19" name="Text 17"/>
          <p:cNvSpPr/>
          <p:nvPr/>
        </p:nvSpPr>
        <p:spPr>
          <a:xfrm>
            <a:off x="8503890"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0" name="Shape 18"/>
          <p:cNvSpPr/>
          <p:nvPr/>
        </p:nvSpPr>
        <p:spPr>
          <a:xfrm>
            <a:off x="9538395" y="3009900"/>
            <a:ext cx="1442145" cy="28575"/>
          </a:xfrm>
          <a:prstGeom prst="rect">
            <a:avLst/>
          </a:prstGeom>
          <a:solidFill>
            <a:srgbClr val="1B2530"/>
          </a:solidFill>
          <a:ln/>
        </p:spPr>
      </p:sp>
      <p:sp>
        <p:nvSpPr>
          <p:cNvPr id="21" name="Shape 19"/>
          <p:cNvSpPr/>
          <p:nvPr/>
        </p:nvSpPr>
        <p:spPr>
          <a:xfrm>
            <a:off x="9538395" y="2057400"/>
            <a:ext cx="9525" cy="981075"/>
          </a:xfrm>
          <a:prstGeom prst="rect">
            <a:avLst/>
          </a:prstGeom>
          <a:solidFill>
            <a:srgbClr val="E3E7E1"/>
          </a:solidFill>
          <a:ln/>
        </p:spPr>
      </p:sp>
      <p:sp>
        <p:nvSpPr>
          <p:cNvPr id="22" name="Text 20"/>
          <p:cNvSpPr/>
          <p:nvPr/>
        </p:nvSpPr>
        <p:spPr>
          <a:xfrm>
            <a:off x="10121354"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M4</a:t>
            </a:r>
            <a:endParaRPr lang="en-US" sz="1875" dirty="0"/>
          </a:p>
        </p:txBody>
      </p:sp>
      <p:sp>
        <p:nvSpPr>
          <p:cNvPr id="23" name="Text 21"/>
          <p:cNvSpPr/>
          <p:nvPr/>
        </p:nvSpPr>
        <p:spPr>
          <a:xfrm>
            <a:off x="9989790"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m6–7</a:t>
            </a:r>
            <a:endParaRPr lang="en-US" sz="1800" dirty="0"/>
          </a:p>
        </p:txBody>
      </p:sp>
      <p:sp>
        <p:nvSpPr>
          <p:cNvPr id="24" name="Shape 22"/>
          <p:cNvSpPr/>
          <p:nvPr/>
        </p:nvSpPr>
        <p:spPr>
          <a:xfrm>
            <a:off x="10980539" y="2057400"/>
            <a:ext cx="1441996" cy="981075"/>
          </a:xfrm>
          <a:prstGeom prst="rect">
            <a:avLst/>
          </a:prstGeom>
          <a:solidFill>
            <a:srgbClr val="FBF3E4"/>
          </a:solidFill>
          <a:ln/>
        </p:spPr>
      </p:sp>
      <p:sp>
        <p:nvSpPr>
          <p:cNvPr id="25" name="Shape 23"/>
          <p:cNvSpPr/>
          <p:nvPr/>
        </p:nvSpPr>
        <p:spPr>
          <a:xfrm>
            <a:off x="10980539" y="3009900"/>
            <a:ext cx="1441996" cy="28575"/>
          </a:xfrm>
          <a:prstGeom prst="rect">
            <a:avLst/>
          </a:prstGeom>
          <a:solidFill>
            <a:srgbClr val="B97417"/>
          </a:solidFill>
          <a:ln/>
        </p:spPr>
      </p:sp>
      <p:sp>
        <p:nvSpPr>
          <p:cNvPr id="26" name="Shape 24"/>
          <p:cNvSpPr/>
          <p:nvPr/>
        </p:nvSpPr>
        <p:spPr>
          <a:xfrm>
            <a:off x="10980539" y="2057400"/>
            <a:ext cx="9525" cy="981075"/>
          </a:xfrm>
          <a:prstGeom prst="rect">
            <a:avLst/>
          </a:prstGeom>
          <a:solidFill>
            <a:srgbClr val="E3E7E1"/>
          </a:solidFill>
          <a:ln/>
        </p:spPr>
      </p:sp>
      <p:sp>
        <p:nvSpPr>
          <p:cNvPr id="27" name="Text 25"/>
          <p:cNvSpPr/>
          <p:nvPr/>
        </p:nvSpPr>
        <p:spPr>
          <a:xfrm>
            <a:off x="11206163" y="2114550"/>
            <a:ext cx="1076325"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97417"/>
                </a:solidFill>
                <a:latin typeface="IBM Plex Mono" pitchFamily="34" charset="0"/>
                <a:ea typeface="IBM Plex Mono" pitchFamily="34" charset="-122"/>
                <a:cs typeface="IBM Plex Mono" pitchFamily="34" charset="-120"/>
              </a:rPr>
              <a:t>M5·GATE</a:t>
            </a:r>
            <a:endParaRPr lang="en-US" sz="1875" dirty="0"/>
          </a:p>
        </p:txBody>
      </p:sp>
      <p:sp>
        <p:nvSpPr>
          <p:cNvPr id="28" name="Text 26"/>
          <p:cNvSpPr/>
          <p:nvPr/>
        </p:nvSpPr>
        <p:spPr>
          <a:xfrm>
            <a:off x="11431935"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7417"/>
                </a:solidFill>
                <a:latin typeface="IBM Plex Mono" pitchFamily="34" charset="0"/>
                <a:ea typeface="IBM Plex Mono" pitchFamily="34" charset="-122"/>
                <a:cs typeface="IBM Plex Mono" pitchFamily="34" charset="-120"/>
              </a:rPr>
              <a:t>m8–9</a:t>
            </a:r>
            <a:endParaRPr lang="en-US" sz="1800" dirty="0"/>
          </a:p>
        </p:txBody>
      </p:sp>
      <p:sp>
        <p:nvSpPr>
          <p:cNvPr id="29" name="Shape 27"/>
          <p:cNvSpPr/>
          <p:nvPr/>
        </p:nvSpPr>
        <p:spPr>
          <a:xfrm>
            <a:off x="12422535" y="3009900"/>
            <a:ext cx="1666875" cy="28575"/>
          </a:xfrm>
          <a:prstGeom prst="rect">
            <a:avLst/>
          </a:prstGeom>
          <a:solidFill>
            <a:srgbClr val="1B2530"/>
          </a:solidFill>
          <a:ln/>
        </p:spPr>
      </p:sp>
      <p:sp>
        <p:nvSpPr>
          <p:cNvPr id="30" name="Shape 28"/>
          <p:cNvSpPr/>
          <p:nvPr/>
        </p:nvSpPr>
        <p:spPr>
          <a:xfrm>
            <a:off x="12422535" y="2057400"/>
            <a:ext cx="9525" cy="981075"/>
          </a:xfrm>
          <a:prstGeom prst="rect">
            <a:avLst/>
          </a:prstGeom>
          <a:solidFill>
            <a:srgbClr val="E3E7E1"/>
          </a:solidFill>
          <a:ln/>
        </p:spPr>
      </p:sp>
      <p:sp>
        <p:nvSpPr>
          <p:cNvPr id="31" name="Text 29"/>
          <p:cNvSpPr/>
          <p:nvPr/>
        </p:nvSpPr>
        <p:spPr>
          <a:xfrm>
            <a:off x="1311786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M6</a:t>
            </a:r>
            <a:endParaRPr lang="en-US" sz="1875" dirty="0"/>
          </a:p>
        </p:txBody>
      </p:sp>
      <p:sp>
        <p:nvSpPr>
          <p:cNvPr id="32" name="Text 30"/>
          <p:cNvSpPr/>
          <p:nvPr/>
        </p:nvSpPr>
        <p:spPr>
          <a:xfrm>
            <a:off x="1284922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m10–11</a:t>
            </a:r>
            <a:endParaRPr lang="en-US" sz="1800" dirty="0"/>
          </a:p>
        </p:txBody>
      </p:sp>
      <p:sp>
        <p:nvSpPr>
          <p:cNvPr id="33" name="Shape 31"/>
          <p:cNvSpPr/>
          <p:nvPr/>
        </p:nvSpPr>
        <p:spPr>
          <a:xfrm>
            <a:off x="14089410" y="3009900"/>
            <a:ext cx="1441996" cy="28575"/>
          </a:xfrm>
          <a:prstGeom prst="rect">
            <a:avLst/>
          </a:prstGeom>
          <a:solidFill>
            <a:srgbClr val="1B2530"/>
          </a:solidFill>
          <a:ln/>
        </p:spPr>
      </p:sp>
      <p:sp>
        <p:nvSpPr>
          <p:cNvPr id="34" name="Shape 32"/>
          <p:cNvSpPr/>
          <p:nvPr/>
        </p:nvSpPr>
        <p:spPr>
          <a:xfrm>
            <a:off x="14089410" y="2057400"/>
            <a:ext cx="9525" cy="981075"/>
          </a:xfrm>
          <a:prstGeom prst="rect">
            <a:avLst/>
          </a:prstGeom>
          <a:solidFill>
            <a:srgbClr val="E3E7E1"/>
          </a:solidFill>
          <a:ln/>
        </p:spPr>
      </p:sp>
      <p:sp>
        <p:nvSpPr>
          <p:cNvPr id="35" name="Text 33"/>
          <p:cNvSpPr/>
          <p:nvPr/>
        </p:nvSpPr>
        <p:spPr>
          <a:xfrm>
            <a:off x="14672221"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M7</a:t>
            </a:r>
            <a:endParaRPr lang="en-US" sz="1875" dirty="0"/>
          </a:p>
        </p:txBody>
      </p:sp>
      <p:sp>
        <p:nvSpPr>
          <p:cNvPr id="36" name="Text 34"/>
          <p:cNvSpPr/>
          <p:nvPr/>
        </p:nvSpPr>
        <p:spPr>
          <a:xfrm>
            <a:off x="14403586"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m11–12</a:t>
            </a:r>
            <a:endParaRPr lang="en-US" sz="1800" dirty="0"/>
          </a:p>
        </p:txBody>
      </p:sp>
      <p:sp>
        <p:nvSpPr>
          <p:cNvPr id="37" name="Shape 35"/>
          <p:cNvSpPr/>
          <p:nvPr/>
        </p:nvSpPr>
        <p:spPr>
          <a:xfrm>
            <a:off x="15531405" y="3009900"/>
            <a:ext cx="1804095" cy="28575"/>
          </a:xfrm>
          <a:prstGeom prst="rect">
            <a:avLst/>
          </a:prstGeom>
          <a:solidFill>
            <a:srgbClr val="1B2530"/>
          </a:solidFill>
          <a:ln/>
        </p:spPr>
      </p:sp>
      <p:sp>
        <p:nvSpPr>
          <p:cNvPr id="38" name="Shape 36"/>
          <p:cNvSpPr/>
          <p:nvPr/>
        </p:nvSpPr>
        <p:spPr>
          <a:xfrm>
            <a:off x="15531405" y="2057400"/>
            <a:ext cx="9525" cy="981075"/>
          </a:xfrm>
          <a:prstGeom prst="rect">
            <a:avLst/>
          </a:prstGeom>
          <a:solidFill>
            <a:srgbClr val="E3E7E1"/>
          </a:solidFill>
          <a:ln/>
        </p:spPr>
      </p:sp>
      <p:sp>
        <p:nvSpPr>
          <p:cNvPr id="39" name="Text 37"/>
          <p:cNvSpPr/>
          <p:nvPr/>
        </p:nvSpPr>
        <p:spPr>
          <a:xfrm>
            <a:off x="1629534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M8</a:t>
            </a:r>
            <a:endParaRPr lang="en-US" sz="1875" dirty="0"/>
          </a:p>
        </p:txBody>
      </p:sp>
      <p:sp>
        <p:nvSpPr>
          <p:cNvPr id="40" name="Text 38"/>
          <p:cNvSpPr/>
          <p:nvPr/>
        </p:nvSpPr>
        <p:spPr>
          <a:xfrm>
            <a:off x="1602670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m12–13</a:t>
            </a:r>
            <a:endParaRPr lang="en-US" sz="1800" dirty="0"/>
          </a:p>
        </p:txBody>
      </p:sp>
      <p:sp>
        <p:nvSpPr>
          <p:cNvPr id="41" name="Shape 39"/>
          <p:cNvSpPr/>
          <p:nvPr/>
        </p:nvSpPr>
        <p:spPr>
          <a:xfrm>
            <a:off x="4743450" y="3038475"/>
            <a:ext cx="19050" cy="1390650"/>
          </a:xfrm>
          <a:prstGeom prst="rect">
            <a:avLst/>
          </a:prstGeom>
          <a:solidFill>
            <a:srgbClr val="1B2530"/>
          </a:solidFill>
          <a:ln/>
        </p:spPr>
      </p:sp>
      <p:sp>
        <p:nvSpPr>
          <p:cNvPr id="42" name="Text 40"/>
          <p:cNvSpPr/>
          <p:nvPr/>
        </p:nvSpPr>
        <p:spPr>
          <a:xfrm>
            <a:off x="952500" y="3267075"/>
            <a:ext cx="2989362"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025" dirty="0"/>
          </a:p>
        </p:txBody>
      </p:sp>
      <p:sp>
        <p:nvSpPr>
          <p:cNvPr id="43" name="Text 41"/>
          <p:cNvSpPr/>
          <p:nvPr/>
        </p:nvSpPr>
        <p:spPr>
          <a:xfrm>
            <a:off x="3765352" y="326707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44" name="Text 42"/>
          <p:cNvSpPr/>
          <p:nvPr/>
        </p:nvSpPr>
        <p:spPr>
          <a:xfrm>
            <a:off x="952500" y="360997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every layer: services, topics, jobs, tables, reports</a:t>
            </a:r>
            <a:endParaRPr lang="en-US" sz="1800" dirty="0"/>
          </a:p>
        </p:txBody>
      </p:sp>
      <p:sp>
        <p:nvSpPr>
          <p:cNvPr id="45" name="Shape 43"/>
          <p:cNvSpPr/>
          <p:nvPr/>
        </p:nvSpPr>
        <p:spPr>
          <a:xfrm>
            <a:off x="4762500" y="3038475"/>
            <a:ext cx="9525" cy="1390650"/>
          </a:xfrm>
          <a:prstGeom prst="rect">
            <a:avLst/>
          </a:prstGeom>
          <a:solidFill>
            <a:srgbClr val="E3E7E1"/>
          </a:solidFill>
          <a:ln/>
        </p:spPr>
      </p:sp>
      <p:sp>
        <p:nvSpPr>
          <p:cNvPr id="46" name="Shape 44"/>
          <p:cNvSpPr/>
          <p:nvPr/>
        </p:nvSpPr>
        <p:spPr>
          <a:xfrm>
            <a:off x="4819650" y="3095625"/>
            <a:ext cx="1425029" cy="1276350"/>
          </a:xfrm>
          <a:prstGeom prst="roundRect">
            <a:avLst>
              <a:gd name="adj" fmla="val 5224"/>
            </a:avLst>
          </a:prstGeom>
          <a:solidFill>
            <a:srgbClr val="E3EFEA"/>
          </a:solidFill>
          <a:ln w="9525">
            <a:solidFill>
              <a:srgbClr val="BFD9D0"/>
            </a:solidFill>
            <a:prstDash val="solid"/>
          </a:ln>
        </p:spPr>
      </p:sp>
      <p:sp>
        <p:nvSpPr>
          <p:cNvPr id="47" name="Text 45"/>
          <p:cNvSpPr/>
          <p:nvPr/>
        </p:nvSpPr>
        <p:spPr>
          <a:xfrm>
            <a:off x="4876800" y="3162300"/>
            <a:ext cx="1310729"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baseline lineage, all layers</a:t>
            </a:r>
            <a:endParaRPr lang="en-US" sz="1800" dirty="0"/>
          </a:p>
        </p:txBody>
      </p:sp>
      <p:sp>
        <p:nvSpPr>
          <p:cNvPr id="48" name="Shape 46"/>
          <p:cNvSpPr/>
          <p:nvPr/>
        </p:nvSpPr>
        <p:spPr>
          <a:xfrm>
            <a:off x="6292304" y="3038475"/>
            <a:ext cx="9525" cy="1390650"/>
          </a:xfrm>
          <a:prstGeom prst="rect">
            <a:avLst/>
          </a:prstGeom>
          <a:solidFill>
            <a:srgbClr val="E3E7E1"/>
          </a:solidFill>
          <a:ln/>
        </p:spPr>
      </p:sp>
      <p:sp>
        <p:nvSpPr>
          <p:cNvPr id="49" name="Shape 47"/>
          <p:cNvSpPr/>
          <p:nvPr/>
        </p:nvSpPr>
        <p:spPr>
          <a:xfrm>
            <a:off x="7734300" y="3038475"/>
            <a:ext cx="9525" cy="1390650"/>
          </a:xfrm>
          <a:prstGeom prst="rect">
            <a:avLst/>
          </a:prstGeom>
          <a:solidFill>
            <a:srgbClr val="E3E7E1"/>
          </a:solidFill>
          <a:ln/>
        </p:spPr>
      </p:sp>
      <p:sp>
        <p:nvSpPr>
          <p:cNvPr id="50" name="Shape 48"/>
          <p:cNvSpPr/>
          <p:nvPr/>
        </p:nvSpPr>
        <p:spPr>
          <a:xfrm>
            <a:off x="7791450" y="3238500"/>
            <a:ext cx="1699320" cy="990600"/>
          </a:xfrm>
          <a:prstGeom prst="roundRect">
            <a:avLst>
              <a:gd name="adj" fmla="val 6731"/>
            </a:avLst>
          </a:prstGeom>
          <a:solidFill>
            <a:srgbClr val="E3EFEA"/>
          </a:solidFill>
          <a:ln w="9525">
            <a:solidFill>
              <a:srgbClr val="BFD9D0"/>
            </a:solidFill>
            <a:prstDash val="solid"/>
          </a:ln>
        </p:spPr>
      </p:sp>
      <p:sp>
        <p:nvSpPr>
          <p:cNvPr id="51" name="Text 49"/>
          <p:cNvSpPr/>
          <p:nvPr/>
        </p:nvSpPr>
        <p:spPr>
          <a:xfrm>
            <a:off x="7848600" y="330517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incremental on every change</a:t>
            </a:r>
            <a:endParaRPr lang="en-US" sz="1800" dirty="0"/>
          </a:p>
        </p:txBody>
      </p:sp>
      <p:sp>
        <p:nvSpPr>
          <p:cNvPr id="52" name="Shape 50"/>
          <p:cNvSpPr/>
          <p:nvPr/>
        </p:nvSpPr>
        <p:spPr>
          <a:xfrm>
            <a:off x="9538395" y="3038475"/>
            <a:ext cx="9525" cy="1390650"/>
          </a:xfrm>
          <a:prstGeom prst="rect">
            <a:avLst/>
          </a:prstGeom>
          <a:solidFill>
            <a:srgbClr val="E3E7E1"/>
          </a:solidFill>
          <a:ln/>
        </p:spPr>
      </p:sp>
      <p:sp>
        <p:nvSpPr>
          <p:cNvPr id="53" name="Shape 51"/>
          <p:cNvSpPr/>
          <p:nvPr/>
        </p:nvSpPr>
        <p:spPr>
          <a:xfrm>
            <a:off x="9595545" y="3095625"/>
            <a:ext cx="1337370" cy="1276350"/>
          </a:xfrm>
          <a:prstGeom prst="roundRect">
            <a:avLst>
              <a:gd name="adj" fmla="val 5224"/>
            </a:avLst>
          </a:prstGeom>
          <a:solidFill>
            <a:srgbClr val="E3EFEA"/>
          </a:solidFill>
          <a:ln w="9525">
            <a:solidFill>
              <a:srgbClr val="BFD9D0"/>
            </a:solidFill>
            <a:prstDash val="solid"/>
          </a:ln>
        </p:spPr>
      </p:sp>
      <p:sp>
        <p:nvSpPr>
          <p:cNvPr id="54" name="Text 52"/>
          <p:cNvSpPr/>
          <p:nvPr/>
        </p:nvSpPr>
        <p:spPr>
          <a:xfrm>
            <a:off x="9652695" y="3162300"/>
            <a:ext cx="1223070"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impact analysis + blast radius</a:t>
            </a:r>
            <a:endParaRPr lang="en-US" sz="1800" dirty="0"/>
          </a:p>
        </p:txBody>
      </p:sp>
      <p:sp>
        <p:nvSpPr>
          <p:cNvPr id="55" name="Shape 53"/>
          <p:cNvSpPr/>
          <p:nvPr/>
        </p:nvSpPr>
        <p:spPr>
          <a:xfrm>
            <a:off x="10980539" y="3038475"/>
            <a:ext cx="1441996" cy="1390650"/>
          </a:xfrm>
          <a:prstGeom prst="rect">
            <a:avLst/>
          </a:prstGeom>
          <a:solidFill>
            <a:srgbClr val="FBF3E4"/>
          </a:solidFill>
          <a:ln/>
        </p:spPr>
      </p:sp>
      <p:sp>
        <p:nvSpPr>
          <p:cNvPr id="56" name="Shape 54"/>
          <p:cNvSpPr/>
          <p:nvPr/>
        </p:nvSpPr>
        <p:spPr>
          <a:xfrm>
            <a:off x="10980539" y="3038475"/>
            <a:ext cx="9525" cy="1390650"/>
          </a:xfrm>
          <a:prstGeom prst="rect">
            <a:avLst/>
          </a:prstGeom>
          <a:solidFill>
            <a:srgbClr val="E3E7E1"/>
          </a:solidFill>
          <a:ln/>
        </p:spPr>
      </p:sp>
      <p:sp>
        <p:nvSpPr>
          <p:cNvPr id="57" name="Shape 55"/>
          <p:cNvSpPr/>
          <p:nvPr/>
        </p:nvSpPr>
        <p:spPr>
          <a:xfrm>
            <a:off x="12422535" y="3038475"/>
            <a:ext cx="9525" cy="1390650"/>
          </a:xfrm>
          <a:prstGeom prst="rect">
            <a:avLst/>
          </a:prstGeom>
          <a:solidFill>
            <a:srgbClr val="E3E7E1"/>
          </a:solidFill>
          <a:ln/>
        </p:spPr>
      </p:sp>
      <p:sp>
        <p:nvSpPr>
          <p:cNvPr id="58" name="Shape 56"/>
          <p:cNvSpPr/>
          <p:nvPr/>
        </p:nvSpPr>
        <p:spPr>
          <a:xfrm>
            <a:off x="12479685" y="3381375"/>
            <a:ext cx="1562100" cy="704850"/>
          </a:xfrm>
          <a:prstGeom prst="roundRect">
            <a:avLst>
              <a:gd name="adj" fmla="val 9459"/>
            </a:avLst>
          </a:prstGeom>
          <a:solidFill>
            <a:srgbClr val="E3EFEA"/>
          </a:solidFill>
          <a:ln w="9525">
            <a:solidFill>
              <a:srgbClr val="BFD9D0"/>
            </a:solidFill>
            <a:prstDash val="solid"/>
          </a:ln>
        </p:spPr>
      </p:sp>
      <p:sp>
        <p:nvSpPr>
          <p:cNvPr id="59" name="Text 57"/>
          <p:cNvSpPr/>
          <p:nvPr/>
        </p:nvSpPr>
        <p:spPr>
          <a:xfrm>
            <a:off x="12536835" y="3448050"/>
            <a:ext cx="1447800"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confidence scoring GA</a:t>
            </a:r>
            <a:endParaRPr lang="en-US" sz="1800" dirty="0"/>
          </a:p>
        </p:txBody>
      </p:sp>
      <p:sp>
        <p:nvSpPr>
          <p:cNvPr id="60" name="Shape 58"/>
          <p:cNvSpPr/>
          <p:nvPr/>
        </p:nvSpPr>
        <p:spPr>
          <a:xfrm>
            <a:off x="14089410" y="3038475"/>
            <a:ext cx="9525" cy="1390650"/>
          </a:xfrm>
          <a:prstGeom prst="rect">
            <a:avLst/>
          </a:prstGeom>
          <a:solidFill>
            <a:srgbClr val="E3E7E1"/>
          </a:solidFill>
          <a:ln/>
        </p:spPr>
      </p:sp>
      <p:sp>
        <p:nvSpPr>
          <p:cNvPr id="61" name="Shape 59"/>
          <p:cNvSpPr/>
          <p:nvPr/>
        </p:nvSpPr>
        <p:spPr>
          <a:xfrm>
            <a:off x="15531405" y="3038475"/>
            <a:ext cx="9525" cy="1390650"/>
          </a:xfrm>
          <a:prstGeom prst="rect">
            <a:avLst/>
          </a:prstGeom>
          <a:solidFill>
            <a:srgbClr val="E3E7E1"/>
          </a:solidFill>
          <a:ln/>
        </p:spPr>
      </p:sp>
      <p:sp>
        <p:nvSpPr>
          <p:cNvPr id="62" name="Shape 60"/>
          <p:cNvSpPr/>
          <p:nvPr/>
        </p:nvSpPr>
        <p:spPr>
          <a:xfrm>
            <a:off x="4743450" y="4429125"/>
            <a:ext cx="19050" cy="1390650"/>
          </a:xfrm>
          <a:prstGeom prst="rect">
            <a:avLst/>
          </a:prstGeom>
          <a:solidFill>
            <a:srgbClr val="1B2530"/>
          </a:solidFill>
          <a:ln/>
        </p:spPr>
      </p:sp>
      <p:sp>
        <p:nvSpPr>
          <p:cNvPr id="63" name="Text 61"/>
          <p:cNvSpPr/>
          <p:nvPr/>
        </p:nvSpPr>
        <p:spPr>
          <a:xfrm>
            <a:off x="952500" y="4657725"/>
            <a:ext cx="16921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Data Quality</a:t>
            </a:r>
            <a:endParaRPr lang="en-US" sz="2025" dirty="0"/>
          </a:p>
        </p:txBody>
      </p:sp>
      <p:sp>
        <p:nvSpPr>
          <p:cNvPr id="64" name="Text 62"/>
          <p:cNvSpPr/>
          <p:nvPr/>
        </p:nvSpPr>
        <p:spPr>
          <a:xfrm>
            <a:off x="2586038" y="4657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65" name="Text 63"/>
          <p:cNvSpPr/>
          <p:nvPr/>
        </p:nvSpPr>
        <p:spPr>
          <a:xfrm>
            <a:off x="952500" y="50006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streaming + real-time at service &amp; Kafka; batch at rest</a:t>
            </a:r>
            <a:endParaRPr lang="en-US" sz="1800" dirty="0"/>
          </a:p>
        </p:txBody>
      </p:sp>
      <p:sp>
        <p:nvSpPr>
          <p:cNvPr id="66" name="Shape 64"/>
          <p:cNvSpPr/>
          <p:nvPr/>
        </p:nvSpPr>
        <p:spPr>
          <a:xfrm>
            <a:off x="4762500" y="4429125"/>
            <a:ext cx="9525" cy="1390650"/>
          </a:xfrm>
          <a:prstGeom prst="rect">
            <a:avLst/>
          </a:prstGeom>
          <a:solidFill>
            <a:srgbClr val="E3E7E1"/>
          </a:solidFill>
          <a:ln/>
        </p:spPr>
      </p:sp>
      <p:sp>
        <p:nvSpPr>
          <p:cNvPr id="67" name="Shape 65"/>
          <p:cNvSpPr/>
          <p:nvPr/>
        </p:nvSpPr>
        <p:spPr>
          <a:xfrm>
            <a:off x="4819650" y="4772025"/>
            <a:ext cx="1425029" cy="704850"/>
          </a:xfrm>
          <a:prstGeom prst="roundRect">
            <a:avLst>
              <a:gd name="adj" fmla="val 9459"/>
            </a:avLst>
          </a:prstGeom>
          <a:solidFill>
            <a:srgbClr val="E3EFEA"/>
          </a:solidFill>
          <a:ln w="9525">
            <a:solidFill>
              <a:srgbClr val="BFD9D0"/>
            </a:solidFill>
            <a:prstDash val="solid"/>
          </a:ln>
        </p:spPr>
      </p:sp>
      <p:sp>
        <p:nvSpPr>
          <p:cNvPr id="68" name="Text 66"/>
          <p:cNvSpPr/>
          <p:nvPr/>
        </p:nvSpPr>
        <p:spPr>
          <a:xfrm>
            <a:off x="4876800" y="4838700"/>
            <a:ext cx="1310729"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batch DQ federated</a:t>
            </a:r>
            <a:endParaRPr lang="en-US" sz="1800" dirty="0"/>
          </a:p>
        </p:txBody>
      </p:sp>
      <p:sp>
        <p:nvSpPr>
          <p:cNvPr id="69" name="Shape 67"/>
          <p:cNvSpPr/>
          <p:nvPr/>
        </p:nvSpPr>
        <p:spPr>
          <a:xfrm>
            <a:off x="6292304" y="4429125"/>
            <a:ext cx="9525" cy="1390650"/>
          </a:xfrm>
          <a:prstGeom prst="rect">
            <a:avLst/>
          </a:prstGeom>
          <a:solidFill>
            <a:srgbClr val="E3E7E1"/>
          </a:solidFill>
          <a:ln/>
        </p:spPr>
      </p:sp>
      <p:sp>
        <p:nvSpPr>
          <p:cNvPr id="70" name="Shape 68"/>
          <p:cNvSpPr/>
          <p:nvPr/>
        </p:nvSpPr>
        <p:spPr>
          <a:xfrm>
            <a:off x="6349454" y="4486275"/>
            <a:ext cx="1337221" cy="1276350"/>
          </a:xfrm>
          <a:prstGeom prst="roundRect">
            <a:avLst>
              <a:gd name="adj" fmla="val 5224"/>
            </a:avLst>
          </a:prstGeom>
          <a:solidFill>
            <a:srgbClr val="E3EFEA"/>
          </a:solidFill>
          <a:ln w="9525">
            <a:solidFill>
              <a:srgbClr val="BFD9D0"/>
            </a:solidFill>
            <a:prstDash val="solid"/>
          </a:ln>
        </p:spPr>
      </p:sp>
      <p:sp>
        <p:nvSpPr>
          <p:cNvPr id="71" name="Text 69"/>
          <p:cNvSpPr/>
          <p:nvPr/>
        </p:nvSpPr>
        <p:spPr>
          <a:xfrm>
            <a:off x="6406604"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at-rest checks learn normal</a:t>
            </a:r>
            <a:endParaRPr lang="en-US" sz="1800" dirty="0"/>
          </a:p>
        </p:txBody>
      </p:sp>
      <p:sp>
        <p:nvSpPr>
          <p:cNvPr id="72" name="Shape 70"/>
          <p:cNvSpPr/>
          <p:nvPr/>
        </p:nvSpPr>
        <p:spPr>
          <a:xfrm>
            <a:off x="7734300" y="4429125"/>
            <a:ext cx="9525" cy="1390650"/>
          </a:xfrm>
          <a:prstGeom prst="rect">
            <a:avLst/>
          </a:prstGeom>
          <a:solidFill>
            <a:srgbClr val="E3E7E1"/>
          </a:solidFill>
          <a:ln/>
        </p:spPr>
      </p:sp>
      <p:sp>
        <p:nvSpPr>
          <p:cNvPr id="73" name="Shape 71"/>
          <p:cNvSpPr/>
          <p:nvPr/>
        </p:nvSpPr>
        <p:spPr>
          <a:xfrm>
            <a:off x="7791450" y="4629150"/>
            <a:ext cx="1699320" cy="990600"/>
          </a:xfrm>
          <a:prstGeom prst="roundRect">
            <a:avLst>
              <a:gd name="adj" fmla="val 6731"/>
            </a:avLst>
          </a:prstGeom>
          <a:solidFill>
            <a:srgbClr val="E3EFEA"/>
          </a:solidFill>
          <a:ln w="9525">
            <a:solidFill>
              <a:srgbClr val="BFD9D0"/>
            </a:solidFill>
            <a:prstDash val="solid"/>
          </a:ln>
        </p:spPr>
      </p:sp>
      <p:sp>
        <p:nvSpPr>
          <p:cNvPr id="74" name="Text 72"/>
          <p:cNvSpPr/>
          <p:nvPr/>
        </p:nvSpPr>
        <p:spPr>
          <a:xfrm>
            <a:off x="7848600" y="469582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streaming + real-time checks</a:t>
            </a:r>
            <a:endParaRPr lang="en-US" sz="1800" dirty="0"/>
          </a:p>
        </p:txBody>
      </p:sp>
      <p:sp>
        <p:nvSpPr>
          <p:cNvPr id="75" name="Shape 73"/>
          <p:cNvSpPr/>
          <p:nvPr/>
        </p:nvSpPr>
        <p:spPr>
          <a:xfrm>
            <a:off x="9538395" y="4429125"/>
            <a:ext cx="9525" cy="1390650"/>
          </a:xfrm>
          <a:prstGeom prst="rect">
            <a:avLst/>
          </a:prstGeom>
          <a:solidFill>
            <a:srgbClr val="E3E7E1"/>
          </a:solidFill>
          <a:ln/>
        </p:spPr>
      </p:sp>
      <p:sp>
        <p:nvSpPr>
          <p:cNvPr id="76" name="Shape 74"/>
          <p:cNvSpPr/>
          <p:nvPr/>
        </p:nvSpPr>
        <p:spPr>
          <a:xfrm>
            <a:off x="10980539" y="4429125"/>
            <a:ext cx="1441996" cy="1390650"/>
          </a:xfrm>
          <a:prstGeom prst="rect">
            <a:avLst/>
          </a:prstGeom>
          <a:solidFill>
            <a:srgbClr val="FBF3E4"/>
          </a:solidFill>
          <a:ln/>
        </p:spPr>
      </p:sp>
      <p:sp>
        <p:nvSpPr>
          <p:cNvPr id="77" name="Shape 75"/>
          <p:cNvSpPr/>
          <p:nvPr/>
        </p:nvSpPr>
        <p:spPr>
          <a:xfrm>
            <a:off x="10980539" y="4429125"/>
            <a:ext cx="9525" cy="1390650"/>
          </a:xfrm>
          <a:prstGeom prst="rect">
            <a:avLst/>
          </a:prstGeom>
          <a:solidFill>
            <a:srgbClr val="E3E7E1"/>
          </a:solidFill>
          <a:ln/>
        </p:spPr>
      </p:sp>
      <p:sp>
        <p:nvSpPr>
          <p:cNvPr id="78" name="Shape 76"/>
          <p:cNvSpPr/>
          <p:nvPr/>
        </p:nvSpPr>
        <p:spPr>
          <a:xfrm>
            <a:off x="12422535" y="4429125"/>
            <a:ext cx="9525" cy="1390650"/>
          </a:xfrm>
          <a:prstGeom prst="rect">
            <a:avLst/>
          </a:prstGeom>
          <a:solidFill>
            <a:srgbClr val="E3E7E1"/>
          </a:solidFill>
          <a:ln/>
        </p:spPr>
      </p:sp>
      <p:sp>
        <p:nvSpPr>
          <p:cNvPr id="79" name="Shape 77"/>
          <p:cNvSpPr/>
          <p:nvPr/>
        </p:nvSpPr>
        <p:spPr>
          <a:xfrm>
            <a:off x="12479685" y="4629150"/>
            <a:ext cx="1562100" cy="990600"/>
          </a:xfrm>
          <a:prstGeom prst="roundRect">
            <a:avLst>
              <a:gd name="adj" fmla="val 6731"/>
            </a:avLst>
          </a:prstGeom>
          <a:solidFill>
            <a:srgbClr val="E3EFEA"/>
          </a:solidFill>
          <a:ln w="9525">
            <a:solidFill>
              <a:srgbClr val="BFD9D0"/>
            </a:solidFill>
            <a:prstDash val="solid"/>
          </a:ln>
        </p:spPr>
      </p:sp>
      <p:sp>
        <p:nvSpPr>
          <p:cNvPr id="80" name="Text 78"/>
          <p:cNvSpPr/>
          <p:nvPr/>
        </p:nvSpPr>
        <p:spPr>
          <a:xfrm>
            <a:off x="12536835" y="4695825"/>
            <a:ext cx="144780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first contract accepted</a:t>
            </a:r>
            <a:endParaRPr lang="en-US" sz="1800" dirty="0"/>
          </a:p>
        </p:txBody>
      </p:sp>
      <p:sp>
        <p:nvSpPr>
          <p:cNvPr id="81" name="Shape 79"/>
          <p:cNvSpPr/>
          <p:nvPr/>
        </p:nvSpPr>
        <p:spPr>
          <a:xfrm>
            <a:off x="14089410" y="4429125"/>
            <a:ext cx="9525" cy="1390650"/>
          </a:xfrm>
          <a:prstGeom prst="rect">
            <a:avLst/>
          </a:prstGeom>
          <a:solidFill>
            <a:srgbClr val="E3E7E1"/>
          </a:solidFill>
          <a:ln/>
        </p:spPr>
      </p:sp>
      <p:sp>
        <p:nvSpPr>
          <p:cNvPr id="82" name="Shape 80"/>
          <p:cNvSpPr/>
          <p:nvPr/>
        </p:nvSpPr>
        <p:spPr>
          <a:xfrm>
            <a:off x="14146560" y="4486275"/>
            <a:ext cx="1337221" cy="1276350"/>
          </a:xfrm>
          <a:prstGeom prst="roundRect">
            <a:avLst>
              <a:gd name="adj" fmla="val 5224"/>
            </a:avLst>
          </a:prstGeom>
          <a:solidFill>
            <a:srgbClr val="E3EFEA"/>
          </a:solidFill>
          <a:ln w="9525">
            <a:solidFill>
              <a:srgbClr val="BFD9D0"/>
            </a:solidFill>
            <a:prstDash val="solid"/>
          </a:ln>
        </p:spPr>
      </p:sp>
      <p:sp>
        <p:nvSpPr>
          <p:cNvPr id="83" name="Text 81"/>
          <p:cNvSpPr/>
          <p:nvPr/>
        </p:nvSpPr>
        <p:spPr>
          <a:xfrm>
            <a:off x="14203710"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gate blocks bad batch</a:t>
            </a:r>
            <a:endParaRPr lang="en-US" sz="1800" dirty="0"/>
          </a:p>
        </p:txBody>
      </p:sp>
      <p:sp>
        <p:nvSpPr>
          <p:cNvPr id="84" name="Shape 82"/>
          <p:cNvSpPr/>
          <p:nvPr/>
        </p:nvSpPr>
        <p:spPr>
          <a:xfrm>
            <a:off x="15531405" y="4429125"/>
            <a:ext cx="9525" cy="1390650"/>
          </a:xfrm>
          <a:prstGeom prst="rect">
            <a:avLst/>
          </a:prstGeom>
          <a:solidFill>
            <a:srgbClr val="E3E7E1"/>
          </a:solidFill>
          <a:ln/>
        </p:spPr>
      </p:sp>
      <p:sp>
        <p:nvSpPr>
          <p:cNvPr id="85" name="Shape 83"/>
          <p:cNvSpPr/>
          <p:nvPr/>
        </p:nvSpPr>
        <p:spPr>
          <a:xfrm>
            <a:off x="4743450" y="5819775"/>
            <a:ext cx="19050" cy="1962150"/>
          </a:xfrm>
          <a:prstGeom prst="rect">
            <a:avLst/>
          </a:prstGeom>
          <a:solidFill>
            <a:srgbClr val="1B2530"/>
          </a:solidFill>
          <a:ln/>
        </p:spPr>
      </p:sp>
      <p:sp>
        <p:nvSpPr>
          <p:cNvPr id="86" name="Text 84"/>
          <p:cNvSpPr/>
          <p:nvPr/>
        </p:nvSpPr>
        <p:spPr>
          <a:xfrm>
            <a:off x="952500" y="6181725"/>
            <a:ext cx="2801889" cy="6477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025" dirty="0"/>
          </a:p>
        </p:txBody>
      </p:sp>
      <p:sp>
        <p:nvSpPr>
          <p:cNvPr id="87" name="Text 85"/>
          <p:cNvSpPr/>
          <p:nvPr/>
        </p:nvSpPr>
        <p:spPr>
          <a:xfrm>
            <a:off x="3768030" y="6181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88" name="Text 86"/>
          <p:cNvSpPr/>
          <p:nvPr/>
        </p:nvSpPr>
        <p:spPr>
          <a:xfrm>
            <a:off x="952500" y="68294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health reporting, action, automated onboarding</a:t>
            </a:r>
            <a:endParaRPr lang="en-US" sz="1800" dirty="0"/>
          </a:p>
        </p:txBody>
      </p:sp>
      <p:sp>
        <p:nvSpPr>
          <p:cNvPr id="89" name="Shape 87"/>
          <p:cNvSpPr/>
          <p:nvPr/>
        </p:nvSpPr>
        <p:spPr>
          <a:xfrm>
            <a:off x="4762500" y="5819775"/>
            <a:ext cx="9525" cy="1962150"/>
          </a:xfrm>
          <a:prstGeom prst="rect">
            <a:avLst/>
          </a:prstGeom>
          <a:solidFill>
            <a:srgbClr val="E3E7E1"/>
          </a:solidFill>
          <a:ln/>
        </p:spPr>
      </p:sp>
      <p:sp>
        <p:nvSpPr>
          <p:cNvPr id="90" name="Shape 88"/>
          <p:cNvSpPr/>
          <p:nvPr/>
        </p:nvSpPr>
        <p:spPr>
          <a:xfrm>
            <a:off x="4819650" y="6305550"/>
            <a:ext cx="1425029" cy="990600"/>
          </a:xfrm>
          <a:prstGeom prst="roundRect">
            <a:avLst>
              <a:gd name="adj" fmla="val 6731"/>
            </a:avLst>
          </a:prstGeom>
          <a:solidFill>
            <a:srgbClr val="E3EFEA"/>
          </a:solidFill>
          <a:ln w="9525">
            <a:solidFill>
              <a:srgbClr val="BFD9D0"/>
            </a:solidFill>
            <a:prstDash val="solid"/>
          </a:ln>
        </p:spPr>
      </p:sp>
      <p:sp>
        <p:nvSpPr>
          <p:cNvPr id="91" name="Text 89"/>
          <p:cNvSpPr/>
          <p:nvPr/>
        </p:nvSpPr>
        <p:spPr>
          <a:xfrm>
            <a:off x="4876800" y="6372225"/>
            <a:ext cx="1310729"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health dashboard v0</a:t>
            </a:r>
            <a:endParaRPr lang="en-US" sz="1800" dirty="0"/>
          </a:p>
        </p:txBody>
      </p:sp>
      <p:sp>
        <p:nvSpPr>
          <p:cNvPr id="92" name="Shape 90"/>
          <p:cNvSpPr/>
          <p:nvPr/>
        </p:nvSpPr>
        <p:spPr>
          <a:xfrm>
            <a:off x="6292304" y="5819775"/>
            <a:ext cx="9525" cy="1962150"/>
          </a:xfrm>
          <a:prstGeom prst="rect">
            <a:avLst/>
          </a:prstGeom>
          <a:solidFill>
            <a:srgbClr val="E3E7E1"/>
          </a:solidFill>
          <a:ln/>
        </p:spPr>
      </p:sp>
      <p:sp>
        <p:nvSpPr>
          <p:cNvPr id="93" name="Shape 91"/>
          <p:cNvSpPr/>
          <p:nvPr/>
        </p:nvSpPr>
        <p:spPr>
          <a:xfrm>
            <a:off x="7734300" y="5819775"/>
            <a:ext cx="9525" cy="1962150"/>
          </a:xfrm>
          <a:prstGeom prst="rect">
            <a:avLst/>
          </a:prstGeom>
          <a:solidFill>
            <a:srgbClr val="E3E7E1"/>
          </a:solidFill>
          <a:ln/>
        </p:spPr>
      </p:sp>
      <p:sp>
        <p:nvSpPr>
          <p:cNvPr id="94" name="Shape 92"/>
          <p:cNvSpPr/>
          <p:nvPr/>
        </p:nvSpPr>
        <p:spPr>
          <a:xfrm>
            <a:off x="9538395" y="5819775"/>
            <a:ext cx="9525" cy="1962150"/>
          </a:xfrm>
          <a:prstGeom prst="rect">
            <a:avLst/>
          </a:prstGeom>
          <a:solidFill>
            <a:srgbClr val="E3E7E1"/>
          </a:solidFill>
          <a:ln/>
        </p:spPr>
      </p:sp>
      <p:sp>
        <p:nvSpPr>
          <p:cNvPr id="95" name="Shape 93"/>
          <p:cNvSpPr/>
          <p:nvPr/>
        </p:nvSpPr>
        <p:spPr>
          <a:xfrm>
            <a:off x="9595545" y="6019800"/>
            <a:ext cx="1337370" cy="1562100"/>
          </a:xfrm>
          <a:prstGeom prst="roundRect">
            <a:avLst>
              <a:gd name="adj" fmla="val 4986"/>
            </a:avLst>
          </a:prstGeom>
          <a:solidFill>
            <a:srgbClr val="E3EFEA"/>
          </a:solidFill>
          <a:ln w="9525">
            <a:solidFill>
              <a:srgbClr val="BFD9D0"/>
            </a:solidFill>
            <a:prstDash val="solid"/>
          </a:ln>
        </p:spPr>
      </p:sp>
      <p:sp>
        <p:nvSpPr>
          <p:cNvPr id="96" name="Text 94"/>
          <p:cNvSpPr/>
          <p:nvPr/>
        </p:nvSpPr>
        <p:spPr>
          <a:xfrm>
            <a:off x="9652695" y="6086475"/>
            <a:ext cx="1223070" cy="14668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causal view — report to action</a:t>
            </a:r>
            <a:endParaRPr lang="en-US" sz="1800" dirty="0"/>
          </a:p>
        </p:txBody>
      </p:sp>
      <p:sp>
        <p:nvSpPr>
          <p:cNvPr id="97" name="Shape 95"/>
          <p:cNvSpPr/>
          <p:nvPr/>
        </p:nvSpPr>
        <p:spPr>
          <a:xfrm>
            <a:off x="10980539" y="5819775"/>
            <a:ext cx="1441996" cy="1962150"/>
          </a:xfrm>
          <a:prstGeom prst="rect">
            <a:avLst/>
          </a:prstGeom>
          <a:solidFill>
            <a:srgbClr val="FBF3E4"/>
          </a:solidFill>
          <a:ln/>
        </p:spPr>
      </p:sp>
      <p:sp>
        <p:nvSpPr>
          <p:cNvPr id="98" name="Shape 96"/>
          <p:cNvSpPr/>
          <p:nvPr/>
        </p:nvSpPr>
        <p:spPr>
          <a:xfrm>
            <a:off x="10980539" y="5819775"/>
            <a:ext cx="9525" cy="1962150"/>
          </a:xfrm>
          <a:prstGeom prst="rect">
            <a:avLst/>
          </a:prstGeom>
          <a:solidFill>
            <a:srgbClr val="E3E7E1"/>
          </a:solidFill>
          <a:ln/>
        </p:spPr>
      </p:sp>
      <p:sp>
        <p:nvSpPr>
          <p:cNvPr id="99" name="Shape 97"/>
          <p:cNvSpPr/>
          <p:nvPr/>
        </p:nvSpPr>
        <p:spPr>
          <a:xfrm>
            <a:off x="11037689" y="6448425"/>
            <a:ext cx="1337221" cy="704850"/>
          </a:xfrm>
          <a:prstGeom prst="roundRect">
            <a:avLst>
              <a:gd name="adj" fmla="val 9459"/>
            </a:avLst>
          </a:prstGeom>
          <a:solidFill>
            <a:srgbClr val="E3EFEA"/>
          </a:solidFill>
          <a:ln w="9525">
            <a:solidFill>
              <a:srgbClr val="BFD9D0"/>
            </a:solidFill>
            <a:prstDash val="solid"/>
          </a:ln>
        </p:spPr>
      </p:sp>
      <p:sp>
        <p:nvSpPr>
          <p:cNvPr id="100" name="Text 98"/>
          <p:cNvSpPr/>
          <p:nvPr/>
        </p:nvSpPr>
        <p:spPr>
          <a:xfrm>
            <a:off x="11094839" y="6515100"/>
            <a:ext cx="1222921"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runbook v1</a:t>
            </a:r>
            <a:endParaRPr lang="en-US" sz="1800" dirty="0"/>
          </a:p>
        </p:txBody>
      </p:sp>
      <p:sp>
        <p:nvSpPr>
          <p:cNvPr id="101" name="Shape 99"/>
          <p:cNvSpPr/>
          <p:nvPr/>
        </p:nvSpPr>
        <p:spPr>
          <a:xfrm>
            <a:off x="12422535" y="5819775"/>
            <a:ext cx="9525" cy="1962150"/>
          </a:xfrm>
          <a:prstGeom prst="rect">
            <a:avLst/>
          </a:prstGeom>
          <a:solidFill>
            <a:srgbClr val="E3E7E1"/>
          </a:solidFill>
          <a:ln/>
        </p:spPr>
      </p:sp>
      <p:sp>
        <p:nvSpPr>
          <p:cNvPr id="102" name="Shape 100"/>
          <p:cNvSpPr/>
          <p:nvPr/>
        </p:nvSpPr>
        <p:spPr>
          <a:xfrm>
            <a:off x="14089410" y="5819775"/>
            <a:ext cx="9525" cy="1962150"/>
          </a:xfrm>
          <a:prstGeom prst="rect">
            <a:avLst/>
          </a:prstGeom>
          <a:solidFill>
            <a:srgbClr val="E3E7E1"/>
          </a:solidFill>
          <a:ln/>
        </p:spPr>
      </p:sp>
      <p:sp>
        <p:nvSpPr>
          <p:cNvPr id="103" name="Shape 101"/>
          <p:cNvSpPr/>
          <p:nvPr/>
        </p:nvSpPr>
        <p:spPr>
          <a:xfrm>
            <a:off x="15531405" y="5819775"/>
            <a:ext cx="9525" cy="1962150"/>
          </a:xfrm>
          <a:prstGeom prst="rect">
            <a:avLst/>
          </a:prstGeom>
          <a:solidFill>
            <a:srgbClr val="E3E7E1"/>
          </a:solidFill>
          <a:ln/>
        </p:spPr>
      </p:sp>
      <p:sp>
        <p:nvSpPr>
          <p:cNvPr id="104" name="Shape 102"/>
          <p:cNvSpPr/>
          <p:nvPr/>
        </p:nvSpPr>
        <p:spPr>
          <a:xfrm>
            <a:off x="15588555" y="5876925"/>
            <a:ext cx="1699320" cy="1847850"/>
          </a:xfrm>
          <a:prstGeom prst="roundRect">
            <a:avLst>
              <a:gd name="adj" fmla="val 3924"/>
            </a:avLst>
          </a:prstGeom>
          <a:solidFill>
            <a:srgbClr val="E3EFEA"/>
          </a:solidFill>
          <a:ln w="9525">
            <a:solidFill>
              <a:srgbClr val="BFD9D0"/>
            </a:solidFill>
            <a:prstDash val="solid"/>
          </a:ln>
        </p:spPr>
      </p:sp>
      <p:sp>
        <p:nvSpPr>
          <p:cNvPr id="105" name="Text 103"/>
          <p:cNvSpPr/>
          <p:nvPr/>
        </p:nvSpPr>
        <p:spPr>
          <a:xfrm>
            <a:off x="15645705" y="5943600"/>
            <a:ext cx="1585020" cy="1752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automated onboarding: DQ + monitoring · UC2 ≤ 2 wks</a:t>
            </a:r>
            <a:endParaRPr lang="en-US" sz="1800" dirty="0"/>
          </a:p>
        </p:txBody>
      </p:sp>
      <p:sp>
        <p:nvSpPr>
          <p:cNvPr id="106" name="Shape 104"/>
          <p:cNvSpPr/>
          <p:nvPr/>
        </p:nvSpPr>
        <p:spPr>
          <a:xfrm>
            <a:off x="952500" y="7781925"/>
            <a:ext cx="3810000" cy="28575"/>
          </a:xfrm>
          <a:prstGeom prst="rect">
            <a:avLst/>
          </a:prstGeom>
          <a:solidFill>
            <a:srgbClr val="1B2530"/>
          </a:solidFill>
          <a:ln/>
        </p:spPr>
      </p:sp>
      <p:sp>
        <p:nvSpPr>
          <p:cNvPr id="107" name="Shape 105"/>
          <p:cNvSpPr/>
          <p:nvPr/>
        </p:nvSpPr>
        <p:spPr>
          <a:xfrm>
            <a:off x="4743450" y="7781925"/>
            <a:ext cx="19050" cy="1095375"/>
          </a:xfrm>
          <a:prstGeom prst="rect">
            <a:avLst/>
          </a:prstGeom>
          <a:solidFill>
            <a:srgbClr val="1B2530"/>
          </a:solidFill>
          <a:ln/>
        </p:spPr>
      </p:sp>
      <p:sp>
        <p:nvSpPr>
          <p:cNvPr id="108" name="Text 106"/>
          <p:cNvSpPr/>
          <p:nvPr/>
        </p:nvSpPr>
        <p:spPr>
          <a:xfrm>
            <a:off x="952500" y="7891463"/>
            <a:ext cx="4002405" cy="342900"/>
          </a:xfrm>
          <a:prstGeom prst="rect">
            <a:avLst/>
          </a:prstGeom>
          <a:noFill/>
          <a:ln/>
        </p:spPr>
        <p:txBody>
          <a:bodyPr wrap="non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Convergence</a:t>
            </a:r>
            <a:endParaRPr lang="en-US" sz="2025" dirty="0"/>
          </a:p>
        </p:txBody>
      </p:sp>
      <p:sp>
        <p:nvSpPr>
          <p:cNvPr id="109" name="Text 107"/>
          <p:cNvSpPr/>
          <p:nvPr/>
        </p:nvSpPr>
        <p:spPr>
          <a:xfrm>
            <a:off x="952500" y="8224837"/>
            <a:ext cx="3747707"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5B6873"/>
                </a:solidFill>
                <a:latin typeface="Source Serif 4" pitchFamily="34" charset="0"/>
                <a:ea typeface="Source Serif 4" pitchFamily="34" charset="-122"/>
                <a:cs typeface="Source Serif 4" pitchFamily="34" charset="-120"/>
              </a:rPr>
              <a:t>the substrate is built, not assumed</a:t>
            </a:r>
            <a:endParaRPr lang="en-US" sz="1800" dirty="0"/>
          </a:p>
        </p:txBody>
      </p:sp>
      <p:sp>
        <p:nvSpPr>
          <p:cNvPr id="110" name="Shape 108"/>
          <p:cNvSpPr/>
          <p:nvPr/>
        </p:nvSpPr>
        <p:spPr>
          <a:xfrm>
            <a:off x="4762500" y="7839075"/>
            <a:ext cx="6218039" cy="1038225"/>
          </a:xfrm>
          <a:custGeom>
            <a:avLst/>
            <a:gdLst/>
            <a:ahLst/>
            <a:cxnLst/>
            <a:rect l="l" t="t" r="r" b="b"/>
            <a:pathLst>
              <a:path w="6218039" h="1038225">
                <a:moveTo>
                  <a:pt x="95250" y="0"/>
                </a:moveTo>
                <a:lnTo>
                  <a:pt x="6218039" y="0"/>
                </a:lnTo>
                <a:lnTo>
                  <a:pt x="6218039" y="1038225"/>
                </a:lnTo>
                <a:lnTo>
                  <a:pt x="95250" y="1038225"/>
                </a:lnTo>
                <a:arcTo hR="95250" wR="95250" stAng="5400000" swAng="5400000"/>
                <a:lnTo>
                  <a:pt x="0" y="95250"/>
                </a:lnTo>
                <a:arcTo hR="95250" wR="95250" stAng="10800000" swAng="5400000"/>
                <a:close/>
              </a:path>
            </a:pathLst>
          </a:custGeom>
          <a:solidFill>
            <a:srgbClr val="1B2530"/>
          </a:solidFill>
          <a:ln/>
        </p:spPr>
      </p:sp>
      <p:sp>
        <p:nvSpPr>
          <p:cNvPr id="111" name="Text 109"/>
          <p:cNvSpPr/>
          <p:nvPr/>
        </p:nvSpPr>
        <p:spPr>
          <a:xfrm>
            <a:off x="4933950" y="8210550"/>
            <a:ext cx="5659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 ↓ ↓</a:t>
            </a:r>
            <a:endParaRPr lang="en-US" sz="1950" dirty="0"/>
          </a:p>
        </p:txBody>
      </p:sp>
      <p:sp>
        <p:nvSpPr>
          <p:cNvPr id="112" name="Text 110"/>
          <p:cNvSpPr/>
          <p:nvPr/>
        </p:nvSpPr>
        <p:spPr>
          <a:xfrm>
            <a:off x="5576143" y="8062913"/>
            <a:ext cx="5389934"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the stream + registry are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built by Lineage's core squad (3 eng), live M1 </a:t>
            </a:r>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 everything lands there</a:t>
            </a:r>
            <a:endParaRPr lang="en-US" sz="1800" dirty="0"/>
          </a:p>
        </p:txBody>
      </p:sp>
      <p:sp>
        <p:nvSpPr>
          <p:cNvPr id="113" name="Shape 111"/>
          <p:cNvSpPr/>
          <p:nvPr/>
        </p:nvSpPr>
        <p:spPr>
          <a:xfrm>
            <a:off x="10980539" y="7839075"/>
            <a:ext cx="1441996" cy="1038225"/>
          </a:xfrm>
          <a:prstGeom prst="rect">
            <a:avLst/>
          </a:prstGeom>
          <a:solidFill>
            <a:srgbClr val="B97417"/>
          </a:solidFill>
          <a:ln/>
        </p:spPr>
      </p:sp>
      <p:sp>
        <p:nvSpPr>
          <p:cNvPr id="114" name="Text 112"/>
          <p:cNvSpPr/>
          <p:nvPr/>
        </p:nvSpPr>
        <p:spPr>
          <a:xfrm>
            <a:off x="11037689" y="8062913"/>
            <a:ext cx="1327696" cy="628650"/>
          </a:xfrm>
          <a:prstGeom prst="rect">
            <a:avLst/>
          </a:prstGeom>
          <a:noFill/>
          <a:ln/>
        </p:spPr>
        <p:txBody>
          <a:bodyPr wrap="square" lIns="25400" tIns="25400" rIns="25400" bIns="25400" rtlCol="0" anchor="t">
            <a:normAutofit/>
          </a:bodyPr>
          <a:lstStyle/>
          <a:p>
            <a:pPr algn="ctr" indent="0" marL="0">
              <a:lnSpc>
                <a:spcPct val="97500"/>
              </a:lnSpc>
              <a:buNone/>
            </a:pPr>
            <a:r>
              <a:rPr lang="en-US" sz="1800" b="1" dirty="0">
                <a:solidFill>
                  <a:srgbClr val="FFFFFF"/>
                </a:solidFill>
                <a:latin typeface="IBM Plex Mono" pitchFamily="34" charset="0"/>
                <a:ea typeface="IBM Plex Mono" pitchFamily="34" charset="-122"/>
                <a:cs typeface="IBM Plex Mono" pitchFamily="34" charset="-120"/>
              </a:rPr>
              <a:t>JOINED AT M5 on UC1</a:t>
            </a:r>
            <a:endParaRPr lang="en-US" sz="1800" dirty="0"/>
          </a:p>
        </p:txBody>
      </p:sp>
      <p:sp>
        <p:nvSpPr>
          <p:cNvPr id="115" name="Shape 113"/>
          <p:cNvSpPr/>
          <p:nvPr/>
        </p:nvSpPr>
        <p:spPr>
          <a:xfrm>
            <a:off x="12422535" y="7839075"/>
            <a:ext cx="4912965" cy="1038225"/>
          </a:xfrm>
          <a:custGeom>
            <a:avLst/>
            <a:gdLst/>
            <a:ahLst/>
            <a:cxnLst/>
            <a:rect l="l" t="t" r="r" b="b"/>
            <a:pathLst>
              <a:path w="4912965" h="1038225">
                <a:moveTo>
                  <a:pt x="0" y="0"/>
                </a:moveTo>
                <a:lnTo>
                  <a:pt x="4817715" y="0"/>
                </a:lnTo>
                <a:arcTo hR="95250" wR="95250" stAng="16200000" swAng="5400000"/>
                <a:lnTo>
                  <a:pt x="4912965" y="942975"/>
                </a:lnTo>
                <a:arcTo hR="95250" wR="95250" stAng="0" swAng="5400000"/>
                <a:lnTo>
                  <a:pt x="0" y="1038225"/>
                </a:lnTo>
                <a:lnTo>
                  <a:pt x="0" y="0"/>
                </a:lnTo>
                <a:close/>
              </a:path>
            </a:pathLst>
          </a:custGeom>
          <a:solidFill>
            <a:srgbClr val="1B2530"/>
          </a:solidFill>
          <a:ln/>
        </p:spPr>
      </p:sp>
      <p:sp>
        <p:nvSpPr>
          <p:cNvPr id="116" name="Text 114"/>
          <p:cNvSpPr/>
          <p:nvPr/>
        </p:nvSpPr>
        <p:spPr>
          <a:xfrm>
            <a:off x="12593985" y="7915275"/>
            <a:ext cx="4707167"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gate built by the DQ squad (2→4 eng); onboarding tools by Experience —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one platform</a:t>
            </a:r>
            <a:endParaRPr lang="en-US" sz="1800" dirty="0"/>
          </a:p>
        </p:txBody>
      </p:sp>
      <p:sp>
        <p:nvSpPr>
          <p:cNvPr id="117" name="Shape 115"/>
          <p:cNvSpPr/>
          <p:nvPr/>
        </p:nvSpPr>
        <p:spPr>
          <a:xfrm>
            <a:off x="952500" y="9010650"/>
            <a:ext cx="16383000" cy="895350"/>
          </a:xfrm>
          <a:prstGeom prst="roundRect">
            <a:avLst>
              <a:gd name="adj" fmla="val 12766"/>
            </a:avLst>
          </a:prstGeom>
          <a:solidFill>
            <a:srgbClr val="1B2530"/>
          </a:solidFill>
          <a:ln/>
        </p:spPr>
      </p:sp>
      <p:sp>
        <p:nvSpPr>
          <p:cNvPr id="118" name="Shape 116"/>
          <p:cNvSpPr/>
          <p:nvPr/>
        </p:nvSpPr>
        <p:spPr>
          <a:xfrm>
            <a:off x="1257300" y="9382125"/>
            <a:ext cx="152400" cy="152400"/>
          </a:xfrm>
          <a:prstGeom prst="roundRect">
            <a:avLst>
              <a:gd name="adj" fmla="val 25000"/>
            </a:avLst>
          </a:prstGeom>
          <a:solidFill>
            <a:srgbClr val="FBF3E4"/>
          </a:solidFill>
          <a:ln w="9525">
            <a:solidFill>
              <a:srgbClr val="B97417"/>
            </a:solidFill>
            <a:prstDash val="solid"/>
          </a:ln>
        </p:spPr>
      </p:sp>
      <p:sp>
        <p:nvSpPr>
          <p:cNvPr id="119" name="Text 117"/>
          <p:cNvSpPr/>
          <p:nvPr/>
        </p:nvSpPr>
        <p:spPr>
          <a:xfrm>
            <a:off x="1600200" y="9144000"/>
            <a:ext cx="15893415"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M5 gate: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use case 1 live end-to-end, a real incident replayed in under 30 minutes · </a:t>
            </a:r>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after M8: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onboarding progressively expands to data contracts; column-level lineage and self-serve onboarding land m13+, by trigger.</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4953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APPROACH · HOW THE WORK ACTUALLY RUNS</a:t>
            </a:r>
            <a:endParaRPr lang="en-US" sz="1800" dirty="0"/>
          </a:p>
        </p:txBody>
      </p:sp>
      <p:sp>
        <p:nvSpPr>
          <p:cNvPr id="3" name="Text 1"/>
          <p:cNvSpPr/>
          <p:nvPr/>
        </p:nvSpPr>
        <p:spPr>
          <a:xfrm>
            <a:off x="952500" y="9144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same nine months, as parallel initiatives</a:t>
            </a:r>
            <a:endParaRPr lang="en-US" sz="4200" dirty="0"/>
          </a:p>
        </p:txBody>
      </p:sp>
      <p:sp>
        <p:nvSpPr>
          <p:cNvPr id="4" name="Shape 2"/>
          <p:cNvSpPr/>
          <p:nvPr/>
        </p:nvSpPr>
        <p:spPr>
          <a:xfrm>
            <a:off x="952500" y="1666875"/>
            <a:ext cx="142875" cy="142875"/>
          </a:xfrm>
          <a:prstGeom prst="roundRect">
            <a:avLst>
              <a:gd name="adj" fmla="val 26667"/>
            </a:avLst>
          </a:prstGeom>
          <a:solidFill>
            <a:srgbClr val="0E7C6B"/>
          </a:solidFill>
          <a:ln/>
        </p:spPr>
      </p:sp>
      <p:sp>
        <p:nvSpPr>
          <p:cNvPr id="5" name="Text 3"/>
          <p:cNvSpPr/>
          <p:nvPr/>
        </p:nvSpPr>
        <p:spPr>
          <a:xfrm>
            <a:off x="1190625" y="1585913"/>
            <a:ext cx="34701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mission foundation work</a:t>
            </a:r>
            <a:endParaRPr lang="en-US" sz="1800" dirty="0"/>
          </a:p>
        </p:txBody>
      </p:sp>
      <p:sp>
        <p:nvSpPr>
          <p:cNvPr id="6" name="Shape 4"/>
          <p:cNvSpPr/>
          <p:nvPr/>
        </p:nvSpPr>
        <p:spPr>
          <a:xfrm>
            <a:off x="4612035" y="1666875"/>
            <a:ext cx="142875" cy="142875"/>
          </a:xfrm>
          <a:prstGeom prst="roundRect">
            <a:avLst>
              <a:gd name="adj" fmla="val 26667"/>
            </a:avLst>
          </a:prstGeom>
          <a:solidFill>
            <a:srgbClr val="1B2530"/>
          </a:solidFill>
          <a:ln/>
        </p:spPr>
      </p:sp>
      <p:sp>
        <p:nvSpPr>
          <p:cNvPr id="7" name="Text 5"/>
          <p:cNvSpPr/>
          <p:nvPr/>
        </p:nvSpPr>
        <p:spPr>
          <a:xfrm>
            <a:off x="4850160" y="1585913"/>
            <a:ext cx="362112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platform substrate build</a:t>
            </a:r>
            <a:endParaRPr lang="en-US" sz="1800" dirty="0"/>
          </a:p>
        </p:txBody>
      </p:sp>
      <p:sp>
        <p:nvSpPr>
          <p:cNvPr id="8" name="Shape 6"/>
          <p:cNvSpPr/>
          <p:nvPr/>
        </p:nvSpPr>
        <p:spPr>
          <a:xfrm>
            <a:off x="8408789" y="1666875"/>
            <a:ext cx="142875" cy="142875"/>
          </a:xfrm>
          <a:prstGeom prst="roundRect">
            <a:avLst>
              <a:gd name="adj" fmla="val 26667"/>
            </a:avLst>
          </a:prstGeom>
          <a:solidFill>
            <a:srgbClr val="FBF3E4"/>
          </a:solidFill>
          <a:ln w="9525">
            <a:solidFill>
              <a:srgbClr val="B97417"/>
            </a:solidFill>
            <a:prstDash val="solid"/>
          </a:ln>
        </p:spPr>
      </p:sp>
      <p:sp>
        <p:nvSpPr>
          <p:cNvPr id="9" name="Text 7"/>
          <p:cNvSpPr/>
          <p:nvPr/>
        </p:nvSpPr>
        <p:spPr>
          <a:xfrm>
            <a:off x="8646914" y="1585913"/>
            <a:ext cx="34701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M5 gate — joined on UC1</a:t>
            </a:r>
            <a:endParaRPr lang="en-US" sz="1800" dirty="0"/>
          </a:p>
        </p:txBody>
      </p:sp>
      <p:sp>
        <p:nvSpPr>
          <p:cNvPr id="10" name="Text 8"/>
          <p:cNvSpPr/>
          <p:nvPr/>
        </p:nvSpPr>
        <p:spPr>
          <a:xfrm>
            <a:off x="12665571" y="1581150"/>
            <a:ext cx="5136922"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chips mark the demo at the end of each bar</a:t>
            </a:r>
            <a:endParaRPr lang="en-US" sz="1800" dirty="0"/>
          </a:p>
        </p:txBody>
      </p:sp>
      <p:sp>
        <p:nvSpPr>
          <p:cNvPr id="11" name="Shape 9"/>
          <p:cNvSpPr/>
          <p:nvPr/>
        </p:nvSpPr>
        <p:spPr>
          <a:xfrm>
            <a:off x="952500" y="2390775"/>
            <a:ext cx="4095750" cy="28575"/>
          </a:xfrm>
          <a:prstGeom prst="rect">
            <a:avLst/>
          </a:prstGeom>
          <a:solidFill>
            <a:srgbClr val="1B2530"/>
          </a:solidFill>
          <a:ln/>
        </p:spPr>
      </p:sp>
      <p:sp>
        <p:nvSpPr>
          <p:cNvPr id="12" name="Text 10"/>
          <p:cNvSpPr/>
          <p:nvPr/>
        </p:nvSpPr>
        <p:spPr>
          <a:xfrm>
            <a:off x="952500" y="2028825"/>
            <a:ext cx="42186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PARALLEL INITIATIVES</a:t>
            </a:r>
            <a:endParaRPr lang="en-US" sz="1800" dirty="0"/>
          </a:p>
        </p:txBody>
      </p:sp>
      <p:sp>
        <p:nvSpPr>
          <p:cNvPr id="13" name="Shape 11"/>
          <p:cNvSpPr/>
          <p:nvPr/>
        </p:nvSpPr>
        <p:spPr>
          <a:xfrm>
            <a:off x="5048250" y="2390775"/>
            <a:ext cx="1228725" cy="28575"/>
          </a:xfrm>
          <a:prstGeom prst="rect">
            <a:avLst/>
          </a:prstGeom>
          <a:solidFill>
            <a:srgbClr val="1B2530"/>
          </a:solidFill>
          <a:ln/>
        </p:spPr>
      </p:sp>
      <p:sp>
        <p:nvSpPr>
          <p:cNvPr id="14" name="Text 12"/>
          <p:cNvSpPr/>
          <p:nvPr/>
        </p:nvSpPr>
        <p:spPr>
          <a:xfrm>
            <a:off x="5010150"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m0</a:t>
            </a:r>
            <a:endParaRPr lang="en-US" sz="1800" dirty="0"/>
          </a:p>
        </p:txBody>
      </p:sp>
      <p:sp>
        <p:nvSpPr>
          <p:cNvPr id="15" name="Shape 13"/>
          <p:cNvSpPr/>
          <p:nvPr/>
        </p:nvSpPr>
        <p:spPr>
          <a:xfrm>
            <a:off x="6276975" y="2390775"/>
            <a:ext cx="1228725" cy="28575"/>
          </a:xfrm>
          <a:prstGeom prst="rect">
            <a:avLst/>
          </a:prstGeom>
          <a:solidFill>
            <a:srgbClr val="1B2530"/>
          </a:solidFill>
          <a:ln/>
        </p:spPr>
      </p:sp>
      <p:sp>
        <p:nvSpPr>
          <p:cNvPr id="16" name="Text 14"/>
          <p:cNvSpPr/>
          <p:nvPr/>
        </p:nvSpPr>
        <p:spPr>
          <a:xfrm>
            <a:off x="6238875"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m1</a:t>
            </a:r>
            <a:endParaRPr lang="en-US" sz="1800" dirty="0"/>
          </a:p>
        </p:txBody>
      </p:sp>
      <p:sp>
        <p:nvSpPr>
          <p:cNvPr id="17" name="Shape 15"/>
          <p:cNvSpPr/>
          <p:nvPr/>
        </p:nvSpPr>
        <p:spPr>
          <a:xfrm>
            <a:off x="7505700" y="2390775"/>
            <a:ext cx="1228725" cy="28575"/>
          </a:xfrm>
          <a:prstGeom prst="rect">
            <a:avLst/>
          </a:prstGeom>
          <a:solidFill>
            <a:srgbClr val="1B2530"/>
          </a:solidFill>
          <a:ln/>
        </p:spPr>
      </p:sp>
      <p:sp>
        <p:nvSpPr>
          <p:cNvPr id="18" name="Text 16"/>
          <p:cNvSpPr/>
          <p:nvPr/>
        </p:nvSpPr>
        <p:spPr>
          <a:xfrm>
            <a:off x="7467600"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m2</a:t>
            </a:r>
            <a:endParaRPr lang="en-US" sz="1800" dirty="0"/>
          </a:p>
        </p:txBody>
      </p:sp>
      <p:sp>
        <p:nvSpPr>
          <p:cNvPr id="19" name="Shape 17"/>
          <p:cNvSpPr/>
          <p:nvPr/>
        </p:nvSpPr>
        <p:spPr>
          <a:xfrm>
            <a:off x="8734425" y="2390775"/>
            <a:ext cx="1228725" cy="28575"/>
          </a:xfrm>
          <a:prstGeom prst="rect">
            <a:avLst/>
          </a:prstGeom>
          <a:solidFill>
            <a:srgbClr val="1B2530"/>
          </a:solidFill>
          <a:ln/>
        </p:spPr>
      </p:sp>
      <p:sp>
        <p:nvSpPr>
          <p:cNvPr id="20" name="Text 18"/>
          <p:cNvSpPr/>
          <p:nvPr/>
        </p:nvSpPr>
        <p:spPr>
          <a:xfrm>
            <a:off x="8696325"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21" name="Shape 19"/>
          <p:cNvSpPr/>
          <p:nvPr/>
        </p:nvSpPr>
        <p:spPr>
          <a:xfrm>
            <a:off x="9963150" y="2390775"/>
            <a:ext cx="1228725" cy="28575"/>
          </a:xfrm>
          <a:prstGeom prst="rect">
            <a:avLst/>
          </a:prstGeom>
          <a:solidFill>
            <a:srgbClr val="1B2530"/>
          </a:solidFill>
          <a:ln/>
        </p:spPr>
      </p:sp>
      <p:sp>
        <p:nvSpPr>
          <p:cNvPr id="22" name="Text 20"/>
          <p:cNvSpPr/>
          <p:nvPr/>
        </p:nvSpPr>
        <p:spPr>
          <a:xfrm>
            <a:off x="9925050"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23" name="Shape 21"/>
          <p:cNvSpPr/>
          <p:nvPr/>
        </p:nvSpPr>
        <p:spPr>
          <a:xfrm>
            <a:off x="11191875" y="2390775"/>
            <a:ext cx="1228725" cy="28575"/>
          </a:xfrm>
          <a:prstGeom prst="rect">
            <a:avLst/>
          </a:prstGeom>
          <a:solidFill>
            <a:srgbClr val="1B2530"/>
          </a:solidFill>
          <a:ln/>
        </p:spPr>
      </p:sp>
      <p:sp>
        <p:nvSpPr>
          <p:cNvPr id="24" name="Text 22"/>
          <p:cNvSpPr/>
          <p:nvPr/>
        </p:nvSpPr>
        <p:spPr>
          <a:xfrm>
            <a:off x="11153775"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5" name="Shape 23"/>
          <p:cNvSpPr/>
          <p:nvPr/>
        </p:nvSpPr>
        <p:spPr>
          <a:xfrm>
            <a:off x="12420600" y="2390775"/>
            <a:ext cx="1228725" cy="28575"/>
          </a:xfrm>
          <a:prstGeom prst="rect">
            <a:avLst/>
          </a:prstGeom>
          <a:solidFill>
            <a:srgbClr val="1B2530"/>
          </a:solidFill>
          <a:ln/>
        </p:spPr>
      </p:sp>
      <p:sp>
        <p:nvSpPr>
          <p:cNvPr id="26" name="Text 24"/>
          <p:cNvSpPr/>
          <p:nvPr/>
        </p:nvSpPr>
        <p:spPr>
          <a:xfrm>
            <a:off x="12382500"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m6</a:t>
            </a:r>
            <a:endParaRPr lang="en-US" sz="1800" dirty="0"/>
          </a:p>
        </p:txBody>
      </p:sp>
      <p:sp>
        <p:nvSpPr>
          <p:cNvPr id="27" name="Shape 25"/>
          <p:cNvSpPr/>
          <p:nvPr/>
        </p:nvSpPr>
        <p:spPr>
          <a:xfrm>
            <a:off x="13649325" y="2390775"/>
            <a:ext cx="1228725" cy="28575"/>
          </a:xfrm>
          <a:prstGeom prst="rect">
            <a:avLst/>
          </a:prstGeom>
          <a:solidFill>
            <a:srgbClr val="1B2530"/>
          </a:solidFill>
          <a:ln/>
        </p:spPr>
      </p:sp>
      <p:sp>
        <p:nvSpPr>
          <p:cNvPr id="28" name="Text 26"/>
          <p:cNvSpPr/>
          <p:nvPr/>
        </p:nvSpPr>
        <p:spPr>
          <a:xfrm>
            <a:off x="13611225"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m7</a:t>
            </a:r>
            <a:endParaRPr lang="en-US" sz="1800" dirty="0"/>
          </a:p>
        </p:txBody>
      </p:sp>
      <p:sp>
        <p:nvSpPr>
          <p:cNvPr id="29" name="Shape 27"/>
          <p:cNvSpPr/>
          <p:nvPr/>
        </p:nvSpPr>
        <p:spPr>
          <a:xfrm>
            <a:off x="14878050" y="2390775"/>
            <a:ext cx="1228725" cy="28575"/>
          </a:xfrm>
          <a:prstGeom prst="rect">
            <a:avLst/>
          </a:prstGeom>
          <a:solidFill>
            <a:srgbClr val="B97417"/>
          </a:solidFill>
          <a:ln/>
        </p:spPr>
      </p:sp>
      <p:sp>
        <p:nvSpPr>
          <p:cNvPr id="30" name="Text 28"/>
          <p:cNvSpPr/>
          <p:nvPr/>
        </p:nvSpPr>
        <p:spPr>
          <a:xfrm>
            <a:off x="14839950" y="2028825"/>
            <a:ext cx="1304925"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m8·GATE</a:t>
            </a:r>
            <a:endParaRPr lang="en-US" sz="1800" dirty="0"/>
          </a:p>
        </p:txBody>
      </p:sp>
      <p:sp>
        <p:nvSpPr>
          <p:cNvPr id="31" name="Shape 29"/>
          <p:cNvSpPr/>
          <p:nvPr/>
        </p:nvSpPr>
        <p:spPr>
          <a:xfrm>
            <a:off x="16106775" y="2390775"/>
            <a:ext cx="1228725" cy="28575"/>
          </a:xfrm>
          <a:prstGeom prst="rect">
            <a:avLst/>
          </a:prstGeom>
          <a:solidFill>
            <a:srgbClr val="1B2530"/>
          </a:solidFill>
          <a:ln/>
        </p:spPr>
      </p:sp>
      <p:sp>
        <p:nvSpPr>
          <p:cNvPr id="32" name="Text 30"/>
          <p:cNvSpPr/>
          <p:nvPr/>
        </p:nvSpPr>
        <p:spPr>
          <a:xfrm>
            <a:off x="16068675" y="2028825"/>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m9</a:t>
            </a:r>
            <a:endParaRPr lang="en-US" sz="1800" dirty="0"/>
          </a:p>
        </p:txBody>
      </p:sp>
      <p:sp>
        <p:nvSpPr>
          <p:cNvPr id="33" name="Shape 31"/>
          <p:cNvSpPr/>
          <p:nvPr/>
        </p:nvSpPr>
        <p:spPr>
          <a:xfrm>
            <a:off x="5048250" y="2419350"/>
            <a:ext cx="9525" cy="6086475"/>
          </a:xfrm>
          <a:prstGeom prst="rect">
            <a:avLst/>
          </a:prstGeom>
          <a:solidFill>
            <a:srgbClr val="E3E7E1"/>
          </a:solidFill>
          <a:ln/>
        </p:spPr>
      </p:sp>
      <p:sp>
        <p:nvSpPr>
          <p:cNvPr id="34" name="Shape 32"/>
          <p:cNvSpPr/>
          <p:nvPr/>
        </p:nvSpPr>
        <p:spPr>
          <a:xfrm>
            <a:off x="6276082" y="2419350"/>
            <a:ext cx="9525" cy="6086475"/>
          </a:xfrm>
          <a:prstGeom prst="rect">
            <a:avLst/>
          </a:prstGeom>
          <a:solidFill>
            <a:srgbClr val="E3E7E1"/>
          </a:solidFill>
          <a:ln/>
        </p:spPr>
      </p:sp>
      <p:sp>
        <p:nvSpPr>
          <p:cNvPr id="35" name="Shape 33"/>
          <p:cNvSpPr/>
          <p:nvPr/>
        </p:nvSpPr>
        <p:spPr>
          <a:xfrm>
            <a:off x="7503914" y="2419350"/>
            <a:ext cx="9525" cy="6086475"/>
          </a:xfrm>
          <a:prstGeom prst="rect">
            <a:avLst/>
          </a:prstGeom>
          <a:solidFill>
            <a:srgbClr val="E3E7E1"/>
          </a:solidFill>
          <a:ln/>
        </p:spPr>
      </p:sp>
      <p:sp>
        <p:nvSpPr>
          <p:cNvPr id="36" name="Shape 34"/>
          <p:cNvSpPr/>
          <p:nvPr/>
        </p:nvSpPr>
        <p:spPr>
          <a:xfrm>
            <a:off x="8731746" y="2419350"/>
            <a:ext cx="9525" cy="6086475"/>
          </a:xfrm>
          <a:prstGeom prst="rect">
            <a:avLst/>
          </a:prstGeom>
          <a:solidFill>
            <a:srgbClr val="E3E7E1"/>
          </a:solidFill>
          <a:ln/>
        </p:spPr>
      </p:sp>
      <p:sp>
        <p:nvSpPr>
          <p:cNvPr id="37" name="Shape 35"/>
          <p:cNvSpPr/>
          <p:nvPr/>
        </p:nvSpPr>
        <p:spPr>
          <a:xfrm>
            <a:off x="9959578" y="2419350"/>
            <a:ext cx="9525" cy="6086475"/>
          </a:xfrm>
          <a:prstGeom prst="rect">
            <a:avLst/>
          </a:prstGeom>
          <a:solidFill>
            <a:srgbClr val="E3E7E1"/>
          </a:solidFill>
          <a:ln/>
        </p:spPr>
      </p:sp>
      <p:sp>
        <p:nvSpPr>
          <p:cNvPr id="38" name="Shape 36"/>
          <p:cNvSpPr/>
          <p:nvPr/>
        </p:nvSpPr>
        <p:spPr>
          <a:xfrm>
            <a:off x="11187410" y="2419350"/>
            <a:ext cx="9525" cy="6086475"/>
          </a:xfrm>
          <a:prstGeom prst="rect">
            <a:avLst/>
          </a:prstGeom>
          <a:solidFill>
            <a:srgbClr val="E3E7E1"/>
          </a:solidFill>
          <a:ln/>
        </p:spPr>
      </p:sp>
      <p:sp>
        <p:nvSpPr>
          <p:cNvPr id="39" name="Shape 37"/>
          <p:cNvSpPr/>
          <p:nvPr/>
        </p:nvSpPr>
        <p:spPr>
          <a:xfrm>
            <a:off x="12415242" y="2419350"/>
            <a:ext cx="9525" cy="6086475"/>
          </a:xfrm>
          <a:prstGeom prst="rect">
            <a:avLst/>
          </a:prstGeom>
          <a:solidFill>
            <a:srgbClr val="E3E7E1"/>
          </a:solidFill>
          <a:ln/>
        </p:spPr>
      </p:sp>
      <p:sp>
        <p:nvSpPr>
          <p:cNvPr id="40" name="Shape 38"/>
          <p:cNvSpPr/>
          <p:nvPr/>
        </p:nvSpPr>
        <p:spPr>
          <a:xfrm>
            <a:off x="13643074" y="2419350"/>
            <a:ext cx="9525" cy="6086475"/>
          </a:xfrm>
          <a:prstGeom prst="rect">
            <a:avLst/>
          </a:prstGeom>
          <a:solidFill>
            <a:srgbClr val="E3E7E1"/>
          </a:solidFill>
          <a:ln/>
        </p:spPr>
      </p:sp>
      <p:sp>
        <p:nvSpPr>
          <p:cNvPr id="41" name="Shape 39"/>
          <p:cNvSpPr/>
          <p:nvPr/>
        </p:nvSpPr>
        <p:spPr>
          <a:xfrm>
            <a:off x="14870906" y="2419350"/>
            <a:ext cx="1237357" cy="6086475"/>
          </a:xfrm>
          <a:prstGeom prst="rect">
            <a:avLst/>
          </a:prstGeom>
          <a:solidFill>
            <a:srgbClr val="FBF3E4"/>
          </a:solidFill>
          <a:ln/>
        </p:spPr>
      </p:sp>
      <p:sp>
        <p:nvSpPr>
          <p:cNvPr id="42" name="Shape 40"/>
          <p:cNvSpPr/>
          <p:nvPr/>
        </p:nvSpPr>
        <p:spPr>
          <a:xfrm>
            <a:off x="14870906" y="2419350"/>
            <a:ext cx="19050" cy="6086475"/>
          </a:xfrm>
          <a:prstGeom prst="rect">
            <a:avLst/>
          </a:prstGeom>
          <a:solidFill>
            <a:srgbClr val="B97417"/>
          </a:solidFill>
          <a:ln/>
        </p:spPr>
      </p:sp>
      <p:sp>
        <p:nvSpPr>
          <p:cNvPr id="43" name="Shape 41"/>
          <p:cNvSpPr/>
          <p:nvPr/>
        </p:nvSpPr>
        <p:spPr>
          <a:xfrm>
            <a:off x="16108263" y="2419350"/>
            <a:ext cx="9525" cy="6086475"/>
          </a:xfrm>
          <a:prstGeom prst="rect">
            <a:avLst/>
          </a:prstGeom>
          <a:solidFill>
            <a:srgbClr val="E3E7E1"/>
          </a:solidFill>
          <a:ln/>
        </p:spPr>
      </p:sp>
      <p:sp>
        <p:nvSpPr>
          <p:cNvPr id="44" name="Text 42"/>
          <p:cNvSpPr/>
          <p:nvPr/>
        </p:nvSpPr>
        <p:spPr>
          <a:xfrm>
            <a:off x="952500" y="2495550"/>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LINEAGE &amp; CONFIDENCE</a:t>
            </a:r>
            <a:endParaRPr lang="en-US" sz="1800" dirty="0"/>
          </a:p>
        </p:txBody>
      </p:sp>
      <p:sp>
        <p:nvSpPr>
          <p:cNvPr id="45" name="Text 43"/>
          <p:cNvSpPr/>
          <p:nvPr/>
        </p:nvSpPr>
        <p:spPr>
          <a:xfrm>
            <a:off x="952500" y="2838450"/>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Evidence stream &amp; asset registry</a:t>
            </a:r>
            <a:endParaRPr lang="en-US" sz="1800" dirty="0"/>
          </a:p>
        </p:txBody>
      </p:sp>
      <p:sp>
        <p:nvSpPr>
          <p:cNvPr id="46" name="Shape 44"/>
          <p:cNvSpPr/>
          <p:nvPr/>
        </p:nvSpPr>
        <p:spPr>
          <a:xfrm>
            <a:off x="5048250" y="2800350"/>
            <a:ext cx="3686175" cy="361950"/>
          </a:xfrm>
          <a:prstGeom prst="roundRect">
            <a:avLst>
              <a:gd name="adj" fmla="val 18421"/>
            </a:avLst>
          </a:prstGeom>
          <a:solidFill>
            <a:srgbClr val="1B2530"/>
          </a:solidFill>
          <a:ln/>
        </p:spPr>
      </p:sp>
      <p:sp>
        <p:nvSpPr>
          <p:cNvPr id="47" name="Text 45"/>
          <p:cNvSpPr/>
          <p:nvPr/>
        </p:nvSpPr>
        <p:spPr>
          <a:xfrm>
            <a:off x="5162550" y="28289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m0–m3</a:t>
            </a:r>
            <a:endParaRPr lang="en-US" sz="1800" dirty="0"/>
          </a:p>
        </p:txBody>
      </p:sp>
      <p:sp>
        <p:nvSpPr>
          <p:cNvPr id="48" name="Shape 46"/>
          <p:cNvSpPr/>
          <p:nvPr/>
        </p:nvSpPr>
        <p:spPr>
          <a:xfrm>
            <a:off x="7507486" y="2828925"/>
            <a:ext cx="1112639" cy="304800"/>
          </a:xfrm>
          <a:prstGeom prst="roundRect">
            <a:avLst>
              <a:gd name="adj" fmla="val 12500"/>
            </a:avLst>
          </a:prstGeom>
          <a:solidFill>
            <a:srgbClr val="F6F7F4"/>
          </a:solidFill>
          <a:ln/>
        </p:spPr>
      </p:sp>
      <p:sp>
        <p:nvSpPr>
          <p:cNvPr id="49" name="Text 47"/>
          <p:cNvSpPr/>
          <p:nvPr/>
        </p:nvSpPr>
        <p:spPr>
          <a:xfrm>
            <a:off x="7583686" y="2828925"/>
            <a:ext cx="107150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live M1</a:t>
            </a:r>
            <a:endParaRPr lang="en-US" sz="1800" dirty="0"/>
          </a:p>
        </p:txBody>
      </p:sp>
      <p:sp>
        <p:nvSpPr>
          <p:cNvPr id="50" name="Text 48"/>
          <p:cNvSpPr/>
          <p:nvPr/>
        </p:nvSpPr>
        <p:spPr>
          <a:xfrm>
            <a:off x="952500" y="3200400"/>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Baseline lineage scan — all layers</a:t>
            </a:r>
            <a:endParaRPr lang="en-US" sz="1800" dirty="0"/>
          </a:p>
        </p:txBody>
      </p:sp>
      <p:sp>
        <p:nvSpPr>
          <p:cNvPr id="51" name="Shape 49"/>
          <p:cNvSpPr/>
          <p:nvPr/>
        </p:nvSpPr>
        <p:spPr>
          <a:xfrm>
            <a:off x="5048250" y="3162300"/>
            <a:ext cx="3686175" cy="361950"/>
          </a:xfrm>
          <a:prstGeom prst="roundRect">
            <a:avLst>
              <a:gd name="adj" fmla="val 18421"/>
            </a:avLst>
          </a:prstGeom>
          <a:solidFill>
            <a:srgbClr val="0E7C6B"/>
          </a:solidFill>
          <a:ln/>
        </p:spPr>
      </p:sp>
      <p:sp>
        <p:nvSpPr>
          <p:cNvPr id="52" name="Text 50"/>
          <p:cNvSpPr/>
          <p:nvPr/>
        </p:nvSpPr>
        <p:spPr>
          <a:xfrm>
            <a:off x="5162550" y="31908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m0–m3 · 3 mo</a:t>
            </a:r>
            <a:endParaRPr lang="en-US" sz="1800" dirty="0"/>
          </a:p>
        </p:txBody>
      </p:sp>
      <p:sp>
        <p:nvSpPr>
          <p:cNvPr id="53" name="Shape 51"/>
          <p:cNvSpPr/>
          <p:nvPr/>
        </p:nvSpPr>
        <p:spPr>
          <a:xfrm>
            <a:off x="8193286" y="3190875"/>
            <a:ext cx="426839" cy="304800"/>
          </a:xfrm>
          <a:prstGeom prst="roundRect">
            <a:avLst>
              <a:gd name="adj" fmla="val 12500"/>
            </a:avLst>
          </a:prstGeom>
          <a:solidFill>
            <a:srgbClr val="F6F7F4"/>
          </a:solidFill>
          <a:ln/>
        </p:spPr>
      </p:sp>
      <p:sp>
        <p:nvSpPr>
          <p:cNvPr id="54" name="Text 52"/>
          <p:cNvSpPr/>
          <p:nvPr/>
        </p:nvSpPr>
        <p:spPr>
          <a:xfrm>
            <a:off x="8269486" y="319087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55" name="Text 53"/>
          <p:cNvSpPr/>
          <p:nvPr/>
        </p:nvSpPr>
        <p:spPr>
          <a:xfrm>
            <a:off x="952500" y="352425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Incremental lineage — refresh on every deploy</a:t>
            </a:r>
            <a:endParaRPr lang="en-US" sz="1800" dirty="0"/>
          </a:p>
        </p:txBody>
      </p:sp>
      <p:sp>
        <p:nvSpPr>
          <p:cNvPr id="56" name="Shape 54"/>
          <p:cNvSpPr/>
          <p:nvPr/>
        </p:nvSpPr>
        <p:spPr>
          <a:xfrm>
            <a:off x="7505700" y="3629025"/>
            <a:ext cx="3686175" cy="361950"/>
          </a:xfrm>
          <a:prstGeom prst="roundRect">
            <a:avLst>
              <a:gd name="adj" fmla="val 18421"/>
            </a:avLst>
          </a:prstGeom>
          <a:solidFill>
            <a:srgbClr val="0E7C6B"/>
          </a:solidFill>
          <a:ln/>
        </p:spPr>
      </p:sp>
      <p:sp>
        <p:nvSpPr>
          <p:cNvPr id="57" name="Text 55"/>
          <p:cNvSpPr/>
          <p:nvPr/>
        </p:nvSpPr>
        <p:spPr>
          <a:xfrm>
            <a:off x="7620000" y="3657600"/>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m2–m5 · lands m5</a:t>
            </a:r>
            <a:endParaRPr lang="en-US" sz="1800" dirty="0"/>
          </a:p>
        </p:txBody>
      </p:sp>
      <p:sp>
        <p:nvSpPr>
          <p:cNvPr id="58" name="Shape 56"/>
          <p:cNvSpPr/>
          <p:nvPr/>
        </p:nvSpPr>
        <p:spPr>
          <a:xfrm>
            <a:off x="10650736" y="3657600"/>
            <a:ext cx="426839" cy="304800"/>
          </a:xfrm>
          <a:prstGeom prst="roundRect">
            <a:avLst>
              <a:gd name="adj" fmla="val 12500"/>
            </a:avLst>
          </a:prstGeom>
          <a:solidFill>
            <a:srgbClr val="F6F7F4"/>
          </a:solidFill>
          <a:ln/>
        </p:spPr>
      </p:sp>
      <p:sp>
        <p:nvSpPr>
          <p:cNvPr id="59" name="Text 57"/>
          <p:cNvSpPr/>
          <p:nvPr/>
        </p:nvSpPr>
        <p:spPr>
          <a:xfrm>
            <a:off x="10726936" y="36576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60" name="Text 58"/>
          <p:cNvSpPr/>
          <p:nvPr/>
        </p:nvSpPr>
        <p:spPr>
          <a:xfrm>
            <a:off x="952500" y="4133850"/>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Impact analysis &amp; confidence scores</a:t>
            </a:r>
            <a:endParaRPr lang="en-US" sz="1800" dirty="0"/>
          </a:p>
        </p:txBody>
      </p:sp>
      <p:sp>
        <p:nvSpPr>
          <p:cNvPr id="61" name="Shape 59"/>
          <p:cNvSpPr/>
          <p:nvPr/>
        </p:nvSpPr>
        <p:spPr>
          <a:xfrm>
            <a:off x="9963150" y="4095750"/>
            <a:ext cx="3686175" cy="361950"/>
          </a:xfrm>
          <a:prstGeom prst="roundRect">
            <a:avLst>
              <a:gd name="adj" fmla="val 18421"/>
            </a:avLst>
          </a:prstGeom>
          <a:solidFill>
            <a:srgbClr val="0E7C6B"/>
          </a:solidFill>
          <a:ln/>
        </p:spPr>
      </p:sp>
      <p:sp>
        <p:nvSpPr>
          <p:cNvPr id="62" name="Text 60"/>
          <p:cNvSpPr/>
          <p:nvPr/>
        </p:nvSpPr>
        <p:spPr>
          <a:xfrm>
            <a:off x="10077450" y="41243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63" name="Shape 61"/>
          <p:cNvSpPr/>
          <p:nvPr/>
        </p:nvSpPr>
        <p:spPr>
          <a:xfrm>
            <a:off x="13108186" y="4124325"/>
            <a:ext cx="426839" cy="304800"/>
          </a:xfrm>
          <a:prstGeom prst="roundRect">
            <a:avLst>
              <a:gd name="adj" fmla="val 12500"/>
            </a:avLst>
          </a:prstGeom>
          <a:solidFill>
            <a:srgbClr val="F6F7F4"/>
          </a:solidFill>
          <a:ln/>
        </p:spPr>
      </p:sp>
      <p:sp>
        <p:nvSpPr>
          <p:cNvPr id="64" name="Text 62"/>
          <p:cNvSpPr/>
          <p:nvPr/>
        </p:nvSpPr>
        <p:spPr>
          <a:xfrm>
            <a:off x="13184386" y="41243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65" name="Text 63"/>
          <p:cNvSpPr/>
          <p:nvPr/>
        </p:nvSpPr>
        <p:spPr>
          <a:xfrm>
            <a:off x="952500" y="4514850"/>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DATA QUALITY</a:t>
            </a:r>
            <a:endParaRPr lang="en-US" sz="1800" dirty="0"/>
          </a:p>
        </p:txBody>
      </p:sp>
      <p:sp>
        <p:nvSpPr>
          <p:cNvPr id="66" name="Text 64"/>
          <p:cNvSpPr/>
          <p:nvPr/>
        </p:nvSpPr>
        <p:spPr>
          <a:xfrm>
            <a:off x="952500" y="481965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In-stream checks — service &amp; Kafka layer</a:t>
            </a:r>
            <a:endParaRPr lang="en-US" sz="1800" dirty="0"/>
          </a:p>
        </p:txBody>
      </p:sp>
      <p:sp>
        <p:nvSpPr>
          <p:cNvPr id="67" name="Shape 65"/>
          <p:cNvSpPr/>
          <p:nvPr/>
        </p:nvSpPr>
        <p:spPr>
          <a:xfrm>
            <a:off x="6276975" y="4924425"/>
            <a:ext cx="4914900" cy="361950"/>
          </a:xfrm>
          <a:prstGeom prst="roundRect">
            <a:avLst>
              <a:gd name="adj" fmla="val 18421"/>
            </a:avLst>
          </a:prstGeom>
          <a:solidFill>
            <a:srgbClr val="0E7C6B"/>
          </a:solidFill>
          <a:ln/>
        </p:spPr>
      </p:sp>
      <p:sp>
        <p:nvSpPr>
          <p:cNvPr id="68" name="Text 66"/>
          <p:cNvSpPr/>
          <p:nvPr/>
        </p:nvSpPr>
        <p:spPr>
          <a:xfrm>
            <a:off x="6391275" y="49530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m1–m5</a:t>
            </a:r>
            <a:endParaRPr lang="en-US" sz="1800" dirty="0"/>
          </a:p>
        </p:txBody>
      </p:sp>
      <p:sp>
        <p:nvSpPr>
          <p:cNvPr id="69" name="Shape 67"/>
          <p:cNvSpPr/>
          <p:nvPr/>
        </p:nvSpPr>
        <p:spPr>
          <a:xfrm>
            <a:off x="10650736" y="4953000"/>
            <a:ext cx="426839" cy="304800"/>
          </a:xfrm>
          <a:prstGeom prst="roundRect">
            <a:avLst>
              <a:gd name="adj" fmla="val 12500"/>
            </a:avLst>
          </a:prstGeom>
          <a:solidFill>
            <a:srgbClr val="F6F7F4"/>
          </a:solidFill>
          <a:ln/>
        </p:spPr>
      </p:sp>
      <p:sp>
        <p:nvSpPr>
          <p:cNvPr id="70" name="Text 68"/>
          <p:cNvSpPr/>
          <p:nvPr/>
        </p:nvSpPr>
        <p:spPr>
          <a:xfrm>
            <a:off x="10726936" y="49530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71" name="Text 69"/>
          <p:cNvSpPr/>
          <p:nvPr/>
        </p:nvSpPr>
        <p:spPr>
          <a:xfrm>
            <a:off x="952500" y="539115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At-rest &amp; batch checks — learn from history</a:t>
            </a:r>
            <a:endParaRPr lang="en-US" sz="1800" dirty="0"/>
          </a:p>
        </p:txBody>
      </p:sp>
      <p:sp>
        <p:nvSpPr>
          <p:cNvPr id="72" name="Shape 70"/>
          <p:cNvSpPr/>
          <p:nvPr/>
        </p:nvSpPr>
        <p:spPr>
          <a:xfrm>
            <a:off x="6276975" y="5495925"/>
            <a:ext cx="3686175" cy="361950"/>
          </a:xfrm>
          <a:prstGeom prst="roundRect">
            <a:avLst>
              <a:gd name="adj" fmla="val 18421"/>
            </a:avLst>
          </a:prstGeom>
          <a:solidFill>
            <a:srgbClr val="0E7C6B"/>
          </a:solidFill>
          <a:ln/>
        </p:spPr>
      </p:sp>
      <p:sp>
        <p:nvSpPr>
          <p:cNvPr id="73" name="Text 71"/>
          <p:cNvSpPr/>
          <p:nvPr/>
        </p:nvSpPr>
        <p:spPr>
          <a:xfrm>
            <a:off x="6391275" y="55245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m1–m4</a:t>
            </a:r>
            <a:endParaRPr lang="en-US" sz="1800" dirty="0"/>
          </a:p>
        </p:txBody>
      </p:sp>
      <p:sp>
        <p:nvSpPr>
          <p:cNvPr id="74" name="Shape 72"/>
          <p:cNvSpPr/>
          <p:nvPr/>
        </p:nvSpPr>
        <p:spPr>
          <a:xfrm>
            <a:off x="9422011" y="5524500"/>
            <a:ext cx="426839" cy="304800"/>
          </a:xfrm>
          <a:prstGeom prst="roundRect">
            <a:avLst>
              <a:gd name="adj" fmla="val 12500"/>
            </a:avLst>
          </a:prstGeom>
          <a:solidFill>
            <a:srgbClr val="F6F7F4"/>
          </a:solidFill>
          <a:ln/>
        </p:spPr>
      </p:sp>
      <p:sp>
        <p:nvSpPr>
          <p:cNvPr id="75" name="Text 73"/>
          <p:cNvSpPr/>
          <p:nvPr/>
        </p:nvSpPr>
        <p:spPr>
          <a:xfrm>
            <a:off x="9498211" y="55245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M2</a:t>
            </a:r>
            <a:endParaRPr lang="en-US" sz="1800" dirty="0"/>
          </a:p>
        </p:txBody>
      </p:sp>
      <p:sp>
        <p:nvSpPr>
          <p:cNvPr id="76" name="Text 74"/>
          <p:cNvSpPr/>
          <p:nvPr/>
        </p:nvSpPr>
        <p:spPr>
          <a:xfrm>
            <a:off x="952500" y="596265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Certification gate — build → shadow → block</a:t>
            </a:r>
            <a:endParaRPr lang="en-US" sz="1800" dirty="0"/>
          </a:p>
        </p:txBody>
      </p:sp>
      <p:sp>
        <p:nvSpPr>
          <p:cNvPr id="77" name="Shape 75"/>
          <p:cNvSpPr/>
          <p:nvPr/>
        </p:nvSpPr>
        <p:spPr>
          <a:xfrm>
            <a:off x="9963150" y="6067425"/>
            <a:ext cx="4914900" cy="361950"/>
          </a:xfrm>
          <a:prstGeom prst="roundRect">
            <a:avLst>
              <a:gd name="adj" fmla="val 18421"/>
            </a:avLst>
          </a:prstGeom>
          <a:solidFill>
            <a:srgbClr val="1B2530"/>
          </a:solidFill>
          <a:ln/>
        </p:spPr>
      </p:sp>
      <p:sp>
        <p:nvSpPr>
          <p:cNvPr id="78" name="Text 76"/>
          <p:cNvSpPr/>
          <p:nvPr/>
        </p:nvSpPr>
        <p:spPr>
          <a:xfrm>
            <a:off x="10077450" y="6096000"/>
            <a:ext cx="30175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m4–m8 · shadow first</a:t>
            </a:r>
            <a:endParaRPr lang="en-US" sz="1800" dirty="0"/>
          </a:p>
        </p:txBody>
      </p:sp>
      <p:sp>
        <p:nvSpPr>
          <p:cNvPr id="79" name="Shape 77"/>
          <p:cNvSpPr/>
          <p:nvPr/>
        </p:nvSpPr>
        <p:spPr>
          <a:xfrm>
            <a:off x="14336911" y="6096000"/>
            <a:ext cx="426839" cy="304800"/>
          </a:xfrm>
          <a:prstGeom prst="roundRect">
            <a:avLst>
              <a:gd name="adj" fmla="val 12500"/>
            </a:avLst>
          </a:prstGeom>
          <a:solidFill>
            <a:srgbClr val="FBF3E4"/>
          </a:solidFill>
          <a:ln/>
        </p:spPr>
      </p:sp>
      <p:sp>
        <p:nvSpPr>
          <p:cNvPr id="80" name="Text 78"/>
          <p:cNvSpPr/>
          <p:nvPr/>
        </p:nvSpPr>
        <p:spPr>
          <a:xfrm>
            <a:off x="14413111" y="60960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81" name="Text 79"/>
          <p:cNvSpPr/>
          <p:nvPr/>
        </p:nvSpPr>
        <p:spPr>
          <a:xfrm>
            <a:off x="952500" y="6591300"/>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ONBOARDING &amp; EXPERIENCE</a:t>
            </a:r>
            <a:endParaRPr lang="en-US" sz="1800" dirty="0"/>
          </a:p>
        </p:txBody>
      </p:sp>
      <p:sp>
        <p:nvSpPr>
          <p:cNvPr id="82" name="Text 80"/>
          <p:cNvSpPr/>
          <p:nvPr/>
        </p:nvSpPr>
        <p:spPr>
          <a:xfrm>
            <a:off x="952500" y="689610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Health surface — one shared dashboard</a:t>
            </a:r>
            <a:endParaRPr lang="en-US" sz="1800" dirty="0"/>
          </a:p>
        </p:txBody>
      </p:sp>
      <p:sp>
        <p:nvSpPr>
          <p:cNvPr id="83" name="Shape 81"/>
          <p:cNvSpPr/>
          <p:nvPr/>
        </p:nvSpPr>
        <p:spPr>
          <a:xfrm>
            <a:off x="6276975" y="7000875"/>
            <a:ext cx="4914900" cy="361950"/>
          </a:xfrm>
          <a:prstGeom prst="roundRect">
            <a:avLst>
              <a:gd name="adj" fmla="val 18421"/>
            </a:avLst>
          </a:prstGeom>
          <a:solidFill>
            <a:srgbClr val="1B2530"/>
          </a:solidFill>
          <a:ln/>
        </p:spPr>
      </p:sp>
      <p:sp>
        <p:nvSpPr>
          <p:cNvPr id="84" name="Text 82"/>
          <p:cNvSpPr/>
          <p:nvPr/>
        </p:nvSpPr>
        <p:spPr>
          <a:xfrm>
            <a:off x="6391275" y="702945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m1–m5</a:t>
            </a:r>
            <a:endParaRPr lang="en-US" sz="1800" dirty="0"/>
          </a:p>
        </p:txBody>
      </p:sp>
      <p:sp>
        <p:nvSpPr>
          <p:cNvPr id="85" name="Shape 83"/>
          <p:cNvSpPr/>
          <p:nvPr/>
        </p:nvSpPr>
        <p:spPr>
          <a:xfrm>
            <a:off x="10239375" y="7029450"/>
            <a:ext cx="838200" cy="304800"/>
          </a:xfrm>
          <a:prstGeom prst="roundRect">
            <a:avLst>
              <a:gd name="adj" fmla="val 12500"/>
            </a:avLst>
          </a:prstGeom>
          <a:solidFill>
            <a:srgbClr val="F6F7F4"/>
          </a:solidFill>
          <a:ln/>
        </p:spPr>
      </p:sp>
      <p:sp>
        <p:nvSpPr>
          <p:cNvPr id="86" name="Text 84"/>
          <p:cNvSpPr/>
          <p:nvPr/>
        </p:nvSpPr>
        <p:spPr>
          <a:xfrm>
            <a:off x="10315575" y="7029450"/>
            <a:ext cx="7696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v0 M3</a:t>
            </a:r>
            <a:endParaRPr lang="en-US" sz="1800" dirty="0"/>
          </a:p>
        </p:txBody>
      </p:sp>
      <p:sp>
        <p:nvSpPr>
          <p:cNvPr id="87" name="Text 85"/>
          <p:cNvSpPr/>
          <p:nvPr/>
        </p:nvSpPr>
        <p:spPr>
          <a:xfrm>
            <a:off x="952500" y="746760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Health reporting → action &amp; runbooks</a:t>
            </a:r>
            <a:endParaRPr lang="en-US" sz="1800" dirty="0"/>
          </a:p>
        </p:txBody>
      </p:sp>
      <p:sp>
        <p:nvSpPr>
          <p:cNvPr id="88" name="Shape 86"/>
          <p:cNvSpPr/>
          <p:nvPr/>
        </p:nvSpPr>
        <p:spPr>
          <a:xfrm>
            <a:off x="9963150" y="7572375"/>
            <a:ext cx="3686175" cy="361950"/>
          </a:xfrm>
          <a:prstGeom prst="roundRect">
            <a:avLst>
              <a:gd name="adj" fmla="val 18421"/>
            </a:avLst>
          </a:prstGeom>
          <a:solidFill>
            <a:srgbClr val="0E7C6B"/>
          </a:solidFill>
          <a:ln/>
        </p:spPr>
      </p:sp>
      <p:sp>
        <p:nvSpPr>
          <p:cNvPr id="89" name="Text 87"/>
          <p:cNvSpPr/>
          <p:nvPr/>
        </p:nvSpPr>
        <p:spPr>
          <a:xfrm>
            <a:off x="10077450" y="760095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90" name="Shape 88"/>
          <p:cNvSpPr/>
          <p:nvPr/>
        </p:nvSpPr>
        <p:spPr>
          <a:xfrm>
            <a:off x="13108186" y="7600950"/>
            <a:ext cx="426839" cy="304800"/>
          </a:xfrm>
          <a:prstGeom prst="roundRect">
            <a:avLst>
              <a:gd name="adj" fmla="val 12500"/>
            </a:avLst>
          </a:prstGeom>
          <a:solidFill>
            <a:srgbClr val="F6F7F4"/>
          </a:solidFill>
          <a:ln/>
        </p:spPr>
      </p:sp>
      <p:sp>
        <p:nvSpPr>
          <p:cNvPr id="91" name="Text 89"/>
          <p:cNvSpPr/>
          <p:nvPr/>
        </p:nvSpPr>
        <p:spPr>
          <a:xfrm>
            <a:off x="13184386" y="760095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92" name="Text 90"/>
          <p:cNvSpPr/>
          <p:nvPr/>
        </p:nvSpPr>
        <p:spPr>
          <a:xfrm>
            <a:off x="952500" y="8039100"/>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Assisted onboarding — DQ &amp; monitoring tooling</a:t>
            </a:r>
            <a:endParaRPr lang="en-US" sz="1800" dirty="0"/>
          </a:p>
        </p:txBody>
      </p:sp>
      <p:sp>
        <p:nvSpPr>
          <p:cNvPr id="93" name="Shape 91"/>
          <p:cNvSpPr/>
          <p:nvPr/>
        </p:nvSpPr>
        <p:spPr>
          <a:xfrm>
            <a:off x="11191875" y="8143875"/>
            <a:ext cx="4914900" cy="361950"/>
          </a:xfrm>
          <a:prstGeom prst="roundRect">
            <a:avLst>
              <a:gd name="adj" fmla="val 18421"/>
            </a:avLst>
          </a:prstGeom>
          <a:solidFill>
            <a:srgbClr val="0E7C6B"/>
          </a:solidFill>
          <a:ln/>
        </p:spPr>
      </p:sp>
      <p:sp>
        <p:nvSpPr>
          <p:cNvPr id="94" name="Text 92"/>
          <p:cNvSpPr/>
          <p:nvPr/>
        </p:nvSpPr>
        <p:spPr>
          <a:xfrm>
            <a:off x="11306175" y="817245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m5–m9</a:t>
            </a:r>
            <a:endParaRPr lang="en-US" sz="1800" dirty="0"/>
          </a:p>
        </p:txBody>
      </p:sp>
      <p:sp>
        <p:nvSpPr>
          <p:cNvPr id="95" name="Shape 93"/>
          <p:cNvSpPr/>
          <p:nvPr/>
        </p:nvSpPr>
        <p:spPr>
          <a:xfrm>
            <a:off x="15565636" y="8172450"/>
            <a:ext cx="426839" cy="304800"/>
          </a:xfrm>
          <a:prstGeom prst="roundRect">
            <a:avLst>
              <a:gd name="adj" fmla="val 12500"/>
            </a:avLst>
          </a:prstGeom>
          <a:solidFill>
            <a:srgbClr val="FBF3E4"/>
          </a:solidFill>
          <a:ln/>
        </p:spPr>
      </p:sp>
      <p:sp>
        <p:nvSpPr>
          <p:cNvPr id="96" name="Text 94"/>
          <p:cNvSpPr/>
          <p:nvPr/>
        </p:nvSpPr>
        <p:spPr>
          <a:xfrm>
            <a:off x="15641836" y="817245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97" name="Shape 95"/>
          <p:cNvSpPr/>
          <p:nvPr/>
        </p:nvSpPr>
        <p:spPr>
          <a:xfrm>
            <a:off x="952500" y="8639175"/>
            <a:ext cx="16383000" cy="1266825"/>
          </a:xfrm>
          <a:prstGeom prst="roundRect">
            <a:avLst>
              <a:gd name="adj" fmla="val 9023"/>
            </a:avLst>
          </a:prstGeom>
          <a:solidFill>
            <a:srgbClr val="F5EAD8"/>
          </a:solidFill>
          <a:ln/>
        </p:spPr>
      </p:sp>
      <p:sp>
        <p:nvSpPr>
          <p:cNvPr id="98" name="Text 96"/>
          <p:cNvSpPr/>
          <p:nvPr/>
        </p:nvSpPr>
        <p:spPr>
          <a:xfrm>
            <a:off x="1257300" y="8782050"/>
            <a:ext cx="290701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BARS, NOT MOMENTS</a:t>
            </a:r>
            <a:endParaRPr lang="en-US" sz="1800" dirty="0"/>
          </a:p>
        </p:txBody>
      </p:sp>
      <p:sp>
        <p:nvSpPr>
          <p:cNvPr id="99" name="Text 97"/>
          <p:cNvSpPr/>
          <p:nvPr/>
        </p:nvSpPr>
        <p:spPr>
          <a:xfrm>
            <a:off x="4128641" y="8772525"/>
            <a:ext cx="13289121"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 milestone is the demo at the end of a body of work, not a one-month build — baseline lineage is a 3-month build, incremental lineage lands at month 5, the gate shadows before it blocks. Everything runs in parallel and joins at M5 on UC1.</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4000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APPROACH · WORKED EXAMPLE</a:t>
            </a:r>
            <a:endParaRPr lang="en-US" sz="1800" dirty="0"/>
          </a:p>
        </p:txBody>
      </p:sp>
      <p:sp>
        <p:nvSpPr>
          <p:cNvPr id="3" name="Text 1"/>
          <p:cNvSpPr/>
          <p:nvPr/>
        </p:nvSpPr>
        <p:spPr>
          <a:xfrm>
            <a:off x="952500" y="81915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Convergence, by example</a:t>
            </a:r>
            <a:endParaRPr lang="en-US" sz="4200" dirty="0"/>
          </a:p>
        </p:txBody>
      </p:sp>
      <p:sp>
        <p:nvSpPr>
          <p:cNvPr id="4" name="Shape 2"/>
          <p:cNvSpPr/>
          <p:nvPr/>
        </p:nvSpPr>
        <p:spPr>
          <a:xfrm>
            <a:off x="952500" y="1504950"/>
            <a:ext cx="16383000" cy="914400"/>
          </a:xfrm>
          <a:prstGeom prst="roundRect">
            <a:avLst>
              <a:gd name="adj" fmla="val 10417"/>
            </a:avLst>
          </a:prstGeom>
          <a:solidFill>
            <a:srgbClr val="FDFDFB"/>
          </a:solidFill>
          <a:ln w="9525">
            <a:solidFill>
              <a:srgbClr val="D9DED7"/>
            </a:solidFill>
            <a:prstDash val="solid"/>
          </a:ln>
        </p:spPr>
      </p:sp>
      <p:sp>
        <p:nvSpPr>
          <p:cNvPr id="5" name="Text 3"/>
          <p:cNvSpPr/>
          <p:nvPr/>
        </p:nvSpPr>
        <p:spPr>
          <a:xfrm>
            <a:off x="1171575" y="1809750"/>
            <a:ext cx="135798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THE EVENT</a:t>
            </a:r>
            <a:endParaRPr lang="en-US" sz="1800" dirty="0"/>
          </a:p>
        </p:txBody>
      </p:sp>
      <p:sp>
        <p:nvSpPr>
          <p:cNvPr id="6" name="Text 4"/>
          <p:cNvSpPr/>
          <p:nvPr/>
        </p:nvSpPr>
        <p:spPr>
          <a:xfrm>
            <a:off x="2558504" y="1628775"/>
            <a:ext cx="14994658"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payments-svc ships v3.17 at 09:58 — customer_id starts arriving NULL on the orders topic. Nothing blocks; data keeps flowing.</a:t>
            </a:r>
            <a:endParaRPr lang="en-US" sz="1950" dirty="0"/>
          </a:p>
        </p:txBody>
      </p:sp>
      <p:sp>
        <p:nvSpPr>
          <p:cNvPr id="7" name="Shape 5"/>
          <p:cNvSpPr/>
          <p:nvPr/>
        </p:nvSpPr>
        <p:spPr>
          <a:xfrm>
            <a:off x="952500" y="2495550"/>
            <a:ext cx="16383000" cy="790575"/>
          </a:xfrm>
          <a:prstGeom prst="roundRect">
            <a:avLst>
              <a:gd name="adj" fmla="val 12048"/>
            </a:avLst>
          </a:prstGeom>
          <a:solidFill>
            <a:srgbClr val="1B2530"/>
          </a:solidFill>
          <a:ln/>
        </p:spPr>
      </p:sp>
      <p:sp>
        <p:nvSpPr>
          <p:cNvPr id="8" name="Text 6"/>
          <p:cNvSpPr/>
          <p:nvPr/>
        </p:nvSpPr>
        <p:spPr>
          <a:xfrm>
            <a:off x="1162050" y="2738438"/>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ONE CONTEXT SCHEMA</a:t>
            </a:r>
            <a:endParaRPr lang="en-US" sz="1800" dirty="0"/>
          </a:p>
        </p:txBody>
      </p:sp>
      <p:sp>
        <p:nvSpPr>
          <p:cNvPr id="9" name="Text 7"/>
          <p:cNvSpPr/>
          <p:nvPr/>
        </p:nvSpPr>
        <p:spPr>
          <a:xfrm>
            <a:off x="4049316" y="2738438"/>
            <a:ext cx="63369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CE3E8"/>
                </a:solidFill>
                <a:latin typeface="IBM Plex Mono" pitchFamily="34" charset="0"/>
                <a:ea typeface="IBM Plex Mono" pitchFamily="34" charset="-122"/>
                <a:cs typeface="IBM Plex Mono" pitchFamily="34" charset="-120"/>
              </a:rPr>
              <a:t>{ asset · type · at · trace_id · payload }</a:t>
            </a:r>
            <a:endParaRPr lang="en-US" sz="1800" dirty="0"/>
          </a:p>
        </p:txBody>
      </p:sp>
      <p:sp>
        <p:nvSpPr>
          <p:cNvPr id="10" name="Text 8"/>
          <p:cNvSpPr/>
          <p:nvPr/>
        </p:nvSpPr>
        <p:spPr>
          <a:xfrm>
            <a:off x="9767274" y="2590800"/>
            <a:ext cx="7358676" cy="638175"/>
          </a:xfrm>
          <a:prstGeom prst="rect">
            <a:avLst/>
          </a:prstGeom>
          <a:noFill/>
          <a:ln/>
        </p:spPr>
        <p:txBody>
          <a:bodyPr wrap="square" lIns="25400" tIns="25400" rIns="25400" bIns="25400" rtlCol="0" anchor="t">
            <a:normAutofit/>
          </a:bodyPr>
          <a:lstStyle/>
          <a:p>
            <a:pPr algn="r"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every record from every mission — asset = registry URN: </a:t>
            </a:r>
            <a:pPr algn="r" indent="0" marL="0">
              <a:lnSpc>
                <a:spcPct val="94545"/>
              </a:lnSpc>
              <a:buNone/>
            </a:pPr>
            <a:r>
              <a:rPr lang="en-US" sz="1800" dirty="0">
                <a:solidFill>
                  <a:srgbClr val="DCE3E8"/>
                </a:solidFill>
                <a:latin typeface="IBM Plex Mono" pitchFamily="34" charset="0"/>
                <a:ea typeface="IBM Plex Mono" pitchFamily="34" charset="-122"/>
                <a:cs typeface="IBM Plex Mono" pitchFamily="34" charset="-120"/>
              </a:rPr>
              <a:t>urn:dp:orders:order_created:v1</a:t>
            </a:r>
            <a:endParaRPr lang="en-US" sz="1800" dirty="0"/>
          </a:p>
        </p:txBody>
      </p:sp>
      <p:sp>
        <p:nvSpPr>
          <p:cNvPr id="11" name="Shape 9"/>
          <p:cNvSpPr/>
          <p:nvPr/>
        </p:nvSpPr>
        <p:spPr>
          <a:xfrm>
            <a:off x="952500" y="3400425"/>
            <a:ext cx="5321201" cy="4591050"/>
          </a:xfrm>
          <a:prstGeom prst="roundRect">
            <a:avLst>
              <a:gd name="adj" fmla="val 2490"/>
            </a:avLst>
          </a:prstGeom>
          <a:solidFill>
            <a:srgbClr val="FDFDFB"/>
          </a:solidFill>
          <a:ln w="9525">
            <a:solidFill>
              <a:srgbClr val="D9DED7"/>
            </a:solidFill>
            <a:prstDash val="solid"/>
          </a:ln>
        </p:spPr>
      </p:sp>
      <p:sp>
        <p:nvSpPr>
          <p:cNvPr id="12" name="Text 10"/>
          <p:cNvSpPr/>
          <p:nvPr/>
        </p:nvSpPr>
        <p:spPr>
          <a:xfrm>
            <a:off x="1209675" y="3619500"/>
            <a:ext cx="528753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DATA QUALITY SEES IT</a:t>
            </a:r>
            <a:endParaRPr lang="en-US" sz="1800" dirty="0"/>
          </a:p>
        </p:txBody>
      </p:sp>
      <p:sp>
        <p:nvSpPr>
          <p:cNvPr id="13" name="Text 11"/>
          <p:cNvSpPr/>
          <p:nvPr/>
        </p:nvSpPr>
        <p:spPr>
          <a:xfrm>
            <a:off x="1209675" y="4019550"/>
            <a:ext cx="528753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check fires</a:t>
            </a:r>
            <a:endParaRPr lang="en-US" sz="2100" dirty="0"/>
          </a:p>
        </p:txBody>
      </p:sp>
      <p:sp>
        <p:nvSpPr>
          <p:cNvPr id="14" name="Text 12"/>
          <p:cNvSpPr/>
          <p:nvPr/>
        </p:nvSpPr>
        <p:spPr>
          <a:xfrm>
            <a:off x="1209675" y="4419600"/>
            <a:ext cx="4951056"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check on the topic spots the NULL spike at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 it.</a:t>
            </a:r>
            <a:endParaRPr lang="en-US" sz="1875" dirty="0"/>
          </a:p>
        </p:txBody>
      </p:sp>
      <p:sp>
        <p:nvSpPr>
          <p:cNvPr id="15" name="Text 13"/>
          <p:cNvSpPr/>
          <p:nvPr/>
        </p:nvSpPr>
        <p:spPr>
          <a:xfrm>
            <a:off x="1209675" y="5943600"/>
            <a:ext cx="528753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16" name="Shape 14"/>
          <p:cNvSpPr/>
          <p:nvPr/>
        </p:nvSpPr>
        <p:spPr>
          <a:xfrm>
            <a:off x="1209675" y="6305550"/>
            <a:ext cx="4806851" cy="1466850"/>
          </a:xfrm>
          <a:prstGeom prst="roundRect">
            <a:avLst>
              <a:gd name="adj" fmla="val 5195"/>
            </a:avLst>
          </a:prstGeom>
          <a:solidFill>
            <a:srgbClr val="F0F3EF"/>
          </a:solidFill>
          <a:ln w="9525">
            <a:solidFill>
              <a:srgbClr val="D9DED7"/>
            </a:solidFill>
            <a:prstDash val="solid"/>
          </a:ln>
        </p:spPr>
      </p:sp>
      <p:sp>
        <p:nvSpPr>
          <p:cNvPr id="17" name="Text 15"/>
          <p:cNvSpPr/>
          <p:nvPr/>
        </p:nvSpPr>
        <p:spPr>
          <a:xfrm>
            <a:off x="1352550" y="6410325"/>
            <a:ext cx="4656734"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asset: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urn:dp:orders:order_created:v1</a:t>
            </a:r>
            <a:endParaRPr lang="en-US" sz="1800" dirty="0"/>
          </a:p>
        </p:txBody>
      </p:sp>
      <p:sp>
        <p:nvSpPr>
          <p:cNvPr id="18" name="Text 16"/>
          <p:cNvSpPr/>
          <p:nvPr/>
        </p:nvSpPr>
        <p:spPr>
          <a:xfrm>
            <a:off x="1352550" y="7038975"/>
            <a:ext cx="497321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type: FAIL → DQ_BREACH</a:t>
            </a:r>
            <a:endParaRPr lang="en-US" sz="1800" dirty="0"/>
          </a:p>
        </p:txBody>
      </p:sp>
      <p:sp>
        <p:nvSpPr>
          <p:cNvPr id="19" name="Text 17"/>
          <p:cNvSpPr/>
          <p:nvPr/>
        </p:nvSpPr>
        <p:spPr>
          <a:xfrm>
            <a:off x="1352550" y="7362825"/>
            <a:ext cx="497321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payload: cust_id null 34%</a:t>
            </a:r>
            <a:endParaRPr lang="en-US" sz="1800" dirty="0"/>
          </a:p>
        </p:txBody>
      </p:sp>
      <p:sp>
        <p:nvSpPr>
          <p:cNvPr id="20" name="Shape 18"/>
          <p:cNvSpPr/>
          <p:nvPr/>
        </p:nvSpPr>
        <p:spPr>
          <a:xfrm>
            <a:off x="6483251" y="3400425"/>
            <a:ext cx="5321350" cy="4591050"/>
          </a:xfrm>
          <a:prstGeom prst="roundRect">
            <a:avLst>
              <a:gd name="adj" fmla="val 2490"/>
            </a:avLst>
          </a:prstGeom>
          <a:solidFill>
            <a:srgbClr val="FDFDFB"/>
          </a:solidFill>
          <a:ln w="9525">
            <a:solidFill>
              <a:srgbClr val="D9DED7"/>
            </a:solidFill>
            <a:prstDash val="solid"/>
          </a:ln>
        </p:spPr>
      </p:sp>
      <p:sp>
        <p:nvSpPr>
          <p:cNvPr id="21" name="Text 19"/>
          <p:cNvSpPr/>
          <p:nvPr/>
        </p:nvSpPr>
        <p:spPr>
          <a:xfrm>
            <a:off x="6740426" y="3619500"/>
            <a:ext cx="52877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LINEAGE EXPLAINS IT</a:t>
            </a:r>
            <a:endParaRPr lang="en-US" sz="1800" dirty="0"/>
          </a:p>
        </p:txBody>
      </p:sp>
      <p:sp>
        <p:nvSpPr>
          <p:cNvPr id="22" name="Text 20"/>
          <p:cNvSpPr/>
          <p:nvPr/>
        </p:nvSpPr>
        <p:spPr>
          <a:xfrm>
            <a:off x="6740426" y="4019550"/>
            <a:ext cx="52877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map names the cause</a:t>
            </a:r>
            <a:endParaRPr lang="en-US" sz="2100" dirty="0"/>
          </a:p>
        </p:txBody>
      </p:sp>
      <p:sp>
        <p:nvSpPr>
          <p:cNvPr id="23" name="Text 21"/>
          <p:cNvSpPr/>
          <p:nvPr/>
        </p:nvSpPr>
        <p:spPr>
          <a:xfrm>
            <a:off x="6740426" y="4419600"/>
            <a:ext cx="4951210"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joined map ties the failing check to the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09:58 deploy of v3.17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and walks downstream: finance report exposed.</a:t>
            </a:r>
            <a:endParaRPr lang="en-US" sz="1875" dirty="0"/>
          </a:p>
        </p:txBody>
      </p:sp>
      <p:sp>
        <p:nvSpPr>
          <p:cNvPr id="24" name="Text 22"/>
          <p:cNvSpPr/>
          <p:nvPr/>
        </p:nvSpPr>
        <p:spPr>
          <a:xfrm>
            <a:off x="6740426" y="6248400"/>
            <a:ext cx="52877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25" name="Shape 23"/>
          <p:cNvSpPr/>
          <p:nvPr/>
        </p:nvSpPr>
        <p:spPr>
          <a:xfrm>
            <a:off x="6740426" y="6610350"/>
            <a:ext cx="4807000" cy="1162050"/>
          </a:xfrm>
          <a:prstGeom prst="roundRect">
            <a:avLst>
              <a:gd name="adj" fmla="val 6557"/>
            </a:avLst>
          </a:prstGeom>
          <a:solidFill>
            <a:srgbClr val="F0F3EF"/>
          </a:solidFill>
          <a:ln w="9525">
            <a:solidFill>
              <a:srgbClr val="D9DED7"/>
            </a:solidFill>
            <a:prstDash val="solid"/>
          </a:ln>
        </p:spPr>
      </p:sp>
      <p:sp>
        <p:nvSpPr>
          <p:cNvPr id="26" name="Text 24"/>
          <p:cNvSpPr/>
          <p:nvPr/>
        </p:nvSpPr>
        <p:spPr>
          <a:xfrm>
            <a:off x="6883301" y="6715125"/>
            <a:ext cx="497337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asset: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same URN </a:t>
            </a:r>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 causal graph</a:t>
            </a:r>
            <a:endParaRPr lang="en-US" sz="1800" dirty="0"/>
          </a:p>
        </p:txBody>
      </p:sp>
      <p:sp>
        <p:nvSpPr>
          <p:cNvPr id="27" name="Text 25"/>
          <p:cNvSpPr/>
          <p:nvPr/>
        </p:nvSpPr>
        <p:spPr>
          <a:xfrm>
            <a:off x="6883301" y="7038975"/>
            <a:ext cx="497337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type: deploy + lineage edges</a:t>
            </a:r>
            <a:endParaRPr lang="en-US" sz="1800" dirty="0"/>
          </a:p>
        </p:txBody>
      </p:sp>
      <p:sp>
        <p:nvSpPr>
          <p:cNvPr id="28" name="Text 26"/>
          <p:cNvSpPr/>
          <p:nvPr/>
        </p:nvSpPr>
        <p:spPr>
          <a:xfrm>
            <a:off x="6883301" y="7362825"/>
            <a:ext cx="497337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payload: v3.17 → 3 downstream</a:t>
            </a:r>
            <a:endParaRPr lang="en-US" sz="1800" dirty="0"/>
          </a:p>
        </p:txBody>
      </p:sp>
      <p:sp>
        <p:nvSpPr>
          <p:cNvPr id="29" name="Shape 27"/>
          <p:cNvSpPr/>
          <p:nvPr/>
        </p:nvSpPr>
        <p:spPr>
          <a:xfrm>
            <a:off x="12014150" y="3400425"/>
            <a:ext cx="5321201" cy="4591050"/>
          </a:xfrm>
          <a:prstGeom prst="roundRect">
            <a:avLst>
              <a:gd name="adj" fmla="val 2490"/>
            </a:avLst>
          </a:prstGeom>
          <a:solidFill>
            <a:srgbClr val="FDFDFB"/>
          </a:solidFill>
          <a:ln w="9525">
            <a:solidFill>
              <a:srgbClr val="D9DED7"/>
            </a:solidFill>
            <a:prstDash val="solid"/>
          </a:ln>
        </p:spPr>
      </p:sp>
      <p:sp>
        <p:nvSpPr>
          <p:cNvPr id="30" name="Text 28"/>
          <p:cNvSpPr/>
          <p:nvPr/>
        </p:nvSpPr>
        <p:spPr>
          <a:xfrm>
            <a:off x="12271325" y="3619500"/>
            <a:ext cx="528753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ONBOARDING ACTS ON IT</a:t>
            </a:r>
            <a:endParaRPr lang="en-US" sz="1800" dirty="0"/>
          </a:p>
        </p:txBody>
      </p:sp>
      <p:sp>
        <p:nvSpPr>
          <p:cNvPr id="31" name="Text 29"/>
          <p:cNvSpPr/>
          <p:nvPr/>
        </p:nvSpPr>
        <p:spPr>
          <a:xfrm>
            <a:off x="12271325" y="4019550"/>
            <a:ext cx="528753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Two functions, one save</a:t>
            </a:r>
            <a:endParaRPr lang="en-US" sz="2100" dirty="0"/>
          </a:p>
        </p:txBody>
      </p:sp>
      <p:sp>
        <p:nvSpPr>
          <p:cNvPr id="32" name="Text 30"/>
          <p:cNvSpPr/>
          <p:nvPr/>
        </p:nvSpPr>
        <p:spPr>
          <a:xfrm>
            <a:off x="12271325" y="4419600"/>
            <a:ext cx="4951056" cy="17526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Onboards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thread onto the DQ + monitoring tooling — why the check existed.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Health view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renders incident #1042, drives the action, then verifies the fix and flips the asset green.</a:t>
            </a:r>
            <a:endParaRPr lang="en-US" sz="1875" dirty="0"/>
          </a:p>
        </p:txBody>
      </p:sp>
      <p:sp>
        <p:nvSpPr>
          <p:cNvPr id="33" name="Text 31"/>
          <p:cNvSpPr/>
          <p:nvPr/>
        </p:nvSpPr>
        <p:spPr>
          <a:xfrm>
            <a:off x="12271325" y="6248400"/>
            <a:ext cx="528753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 + ALERTING JOIN</a:t>
            </a:r>
            <a:endParaRPr lang="en-US" sz="1800" dirty="0"/>
          </a:p>
        </p:txBody>
      </p:sp>
      <p:sp>
        <p:nvSpPr>
          <p:cNvPr id="34" name="Shape 32"/>
          <p:cNvSpPr/>
          <p:nvPr/>
        </p:nvSpPr>
        <p:spPr>
          <a:xfrm>
            <a:off x="12271325" y="6610350"/>
            <a:ext cx="4806851" cy="1162050"/>
          </a:xfrm>
          <a:prstGeom prst="roundRect">
            <a:avLst>
              <a:gd name="adj" fmla="val 6557"/>
            </a:avLst>
          </a:prstGeom>
          <a:solidFill>
            <a:srgbClr val="F0F3EF"/>
          </a:solidFill>
          <a:ln w="9525">
            <a:solidFill>
              <a:srgbClr val="D9DED7"/>
            </a:solidFill>
            <a:prstDash val="solid"/>
          </a:ln>
        </p:spPr>
      </p:sp>
      <p:sp>
        <p:nvSpPr>
          <p:cNvPr id="35" name="Text 33"/>
          <p:cNvSpPr/>
          <p:nvPr/>
        </p:nvSpPr>
        <p:spPr>
          <a:xfrm>
            <a:off x="12414200" y="6715125"/>
            <a:ext cx="497321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join: asset + trace_id →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#1042</a:t>
            </a:r>
            <a:endParaRPr lang="en-US" sz="1800" dirty="0"/>
          </a:p>
        </p:txBody>
      </p:sp>
      <p:sp>
        <p:nvSpPr>
          <p:cNvPr id="36" name="Text 34"/>
          <p:cNvSpPr/>
          <p:nvPr/>
        </p:nvSpPr>
        <p:spPr>
          <a:xfrm>
            <a:off x="12414200" y="7038975"/>
            <a:ext cx="497321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cause: graph (deploy → signal)</a:t>
            </a:r>
            <a:endParaRPr lang="en-US" sz="1800" dirty="0"/>
          </a:p>
        </p:txBody>
      </p:sp>
      <p:sp>
        <p:nvSpPr>
          <p:cNvPr id="37" name="Text 35"/>
          <p:cNvSpPr/>
          <p:nvPr/>
        </p:nvSpPr>
        <p:spPr>
          <a:xfrm>
            <a:off x="12414200" y="7362825"/>
            <a:ext cx="497321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act → verify → re-present green</a:t>
            </a:r>
            <a:endParaRPr lang="en-US" sz="1800" dirty="0"/>
          </a:p>
        </p:txBody>
      </p:sp>
      <p:sp>
        <p:nvSpPr>
          <p:cNvPr id="38" name="Text 36"/>
          <p:cNvSpPr/>
          <p:nvPr/>
        </p:nvSpPr>
        <p:spPr>
          <a:xfrm>
            <a:off x="6290965" y="8010525"/>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39" name="Text 37"/>
          <p:cNvSpPr/>
          <p:nvPr/>
        </p:nvSpPr>
        <p:spPr>
          <a:xfrm>
            <a:off x="9081939" y="8010525"/>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0" name="Text 38"/>
          <p:cNvSpPr/>
          <p:nvPr/>
        </p:nvSpPr>
        <p:spPr>
          <a:xfrm>
            <a:off x="11872913" y="8010525"/>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1" name="Shape 39"/>
          <p:cNvSpPr/>
          <p:nvPr/>
        </p:nvSpPr>
        <p:spPr>
          <a:xfrm>
            <a:off x="952500" y="8277225"/>
            <a:ext cx="16383000" cy="2952750"/>
          </a:xfrm>
          <a:prstGeom prst="roundRect">
            <a:avLst>
              <a:gd name="adj" fmla="val 4516"/>
            </a:avLst>
          </a:prstGeom>
          <a:solidFill>
            <a:srgbClr val="1B2530"/>
          </a:solidFill>
          <a:ln/>
        </p:spPr>
      </p:sp>
      <p:sp>
        <p:nvSpPr>
          <p:cNvPr id="42" name="Shape 40"/>
          <p:cNvSpPr/>
          <p:nvPr/>
        </p:nvSpPr>
        <p:spPr>
          <a:xfrm>
            <a:off x="1238250" y="8448675"/>
            <a:ext cx="2148929" cy="381000"/>
          </a:xfrm>
          <a:prstGeom prst="roundRect">
            <a:avLst>
              <a:gd name="adj" fmla="val 12500"/>
            </a:avLst>
          </a:prstGeom>
          <a:solidFill>
            <a:srgbClr val="3A2A28"/>
          </a:solidFill>
          <a:ln/>
        </p:spPr>
      </p:sp>
      <p:sp>
        <p:nvSpPr>
          <p:cNvPr id="43" name="Text 41"/>
          <p:cNvSpPr/>
          <p:nvPr/>
        </p:nvSpPr>
        <p:spPr>
          <a:xfrm>
            <a:off x="1352550" y="8486775"/>
            <a:ext cx="19965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INCIDENT #1042</a:t>
            </a:r>
            <a:endParaRPr lang="en-US" sz="1800" dirty="0"/>
          </a:p>
        </p:txBody>
      </p:sp>
      <p:sp>
        <p:nvSpPr>
          <p:cNvPr id="44" name="Text 42"/>
          <p:cNvSpPr/>
          <p:nvPr/>
        </p:nvSpPr>
        <p:spPr>
          <a:xfrm>
            <a:off x="3520529" y="8482013"/>
            <a:ext cx="31432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orders.order_created</a:t>
            </a:r>
            <a:endParaRPr lang="en-US" sz="1875" dirty="0"/>
          </a:p>
        </p:txBody>
      </p:sp>
      <p:sp>
        <p:nvSpPr>
          <p:cNvPr id="45" name="Text 43"/>
          <p:cNvSpPr/>
          <p:nvPr/>
        </p:nvSpPr>
        <p:spPr>
          <a:xfrm>
            <a:off x="12111930" y="8486775"/>
            <a:ext cx="54316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one record — three missions wrote it</a:t>
            </a:r>
            <a:endParaRPr lang="en-US" sz="1800" dirty="0"/>
          </a:p>
        </p:txBody>
      </p:sp>
      <p:sp>
        <p:nvSpPr>
          <p:cNvPr id="46" name="Text 44"/>
          <p:cNvSpPr/>
          <p:nvPr/>
        </p:nvSpPr>
        <p:spPr>
          <a:xfrm>
            <a:off x="1238250" y="8982075"/>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WHAT BROKE</a:t>
            </a:r>
            <a:endParaRPr lang="en-US" sz="1800" dirty="0"/>
          </a:p>
        </p:txBody>
      </p:sp>
      <p:sp>
        <p:nvSpPr>
          <p:cNvPr id="47" name="Text 45"/>
          <p:cNvSpPr/>
          <p:nvPr/>
        </p:nvSpPr>
        <p:spPr>
          <a:xfrm>
            <a:off x="1238250" y="9344025"/>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NULL spike, caught +2 min</a:t>
            </a:r>
            <a:endParaRPr lang="en-US" sz="1875" dirty="0"/>
          </a:p>
        </p:txBody>
      </p:sp>
      <p:sp>
        <p:nvSpPr>
          <p:cNvPr id="48" name="Text 46"/>
          <p:cNvSpPr/>
          <p:nvPr/>
        </p:nvSpPr>
        <p:spPr>
          <a:xfrm>
            <a:off x="1238250" y="9715500"/>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DQ_BREACH signal</a:t>
            </a:r>
            <a:endParaRPr lang="en-US" sz="1800" dirty="0"/>
          </a:p>
        </p:txBody>
      </p:sp>
      <p:sp>
        <p:nvSpPr>
          <p:cNvPr id="49" name="Text 47"/>
          <p:cNvSpPr/>
          <p:nvPr/>
        </p:nvSpPr>
        <p:spPr>
          <a:xfrm>
            <a:off x="5233988" y="8982075"/>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WHY</a:t>
            </a:r>
            <a:endParaRPr lang="en-US" sz="1800" dirty="0"/>
          </a:p>
        </p:txBody>
      </p:sp>
      <p:sp>
        <p:nvSpPr>
          <p:cNvPr id="50" name="Text 48"/>
          <p:cNvSpPr/>
          <p:nvPr/>
        </p:nvSpPr>
        <p:spPr>
          <a:xfrm>
            <a:off x="5233988" y="9344025"/>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payments-svc v3.17, 09:58</a:t>
            </a:r>
            <a:endParaRPr lang="en-US" sz="1875" dirty="0"/>
          </a:p>
        </p:txBody>
      </p:sp>
      <p:sp>
        <p:nvSpPr>
          <p:cNvPr id="51" name="Text 49"/>
          <p:cNvSpPr/>
          <p:nvPr/>
        </p:nvSpPr>
        <p:spPr>
          <a:xfrm>
            <a:off x="5233988" y="9715500"/>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deploy node</a:t>
            </a:r>
            <a:endParaRPr lang="en-US" sz="1800" dirty="0"/>
          </a:p>
        </p:txBody>
      </p:sp>
      <p:sp>
        <p:nvSpPr>
          <p:cNvPr id="52" name="Text 50"/>
          <p:cNvSpPr/>
          <p:nvPr/>
        </p:nvSpPr>
        <p:spPr>
          <a:xfrm>
            <a:off x="9229725" y="8982075"/>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53" name="Text 51"/>
          <p:cNvSpPr/>
          <p:nvPr/>
        </p:nvSpPr>
        <p:spPr>
          <a:xfrm>
            <a:off x="9229725" y="9344025"/>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finance report + 2 tables</a:t>
            </a:r>
            <a:endParaRPr lang="en-US" sz="1875" dirty="0"/>
          </a:p>
        </p:txBody>
      </p:sp>
      <p:sp>
        <p:nvSpPr>
          <p:cNvPr id="54" name="Text 52"/>
          <p:cNvSpPr/>
          <p:nvPr/>
        </p:nvSpPr>
        <p:spPr>
          <a:xfrm>
            <a:off x="9229725" y="9715500"/>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lineage edges</a:t>
            </a:r>
            <a:endParaRPr lang="en-US" sz="1800" dirty="0"/>
          </a:p>
        </p:txBody>
      </p:sp>
      <p:sp>
        <p:nvSpPr>
          <p:cNvPr id="55" name="Text 53"/>
          <p:cNvSpPr/>
          <p:nvPr/>
        </p:nvSpPr>
        <p:spPr>
          <a:xfrm>
            <a:off x="13225463" y="8982075"/>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ACTION</a:t>
            </a:r>
            <a:endParaRPr lang="en-US" sz="1800" dirty="0"/>
          </a:p>
        </p:txBody>
      </p:sp>
      <p:sp>
        <p:nvSpPr>
          <p:cNvPr id="56" name="Text 54"/>
          <p:cNvSpPr/>
          <p:nvPr/>
        </p:nvSpPr>
        <p:spPr>
          <a:xfrm>
            <a:off x="13225463" y="9344025"/>
            <a:ext cx="3939016"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1 team paged · gate holds the batch</a:t>
            </a:r>
            <a:endParaRPr lang="en-US" sz="1875" dirty="0"/>
          </a:p>
        </p:txBody>
      </p:sp>
      <p:sp>
        <p:nvSpPr>
          <p:cNvPr id="57" name="Text 55"/>
          <p:cNvSpPr/>
          <p:nvPr/>
        </p:nvSpPr>
        <p:spPr>
          <a:xfrm>
            <a:off x="13225463" y="1002982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alerting engine</a:t>
            </a:r>
            <a:endParaRPr lang="en-US" sz="1800" dirty="0"/>
          </a:p>
        </p:txBody>
      </p:sp>
      <p:sp>
        <p:nvSpPr>
          <p:cNvPr id="58" name="Text 56"/>
          <p:cNvSpPr/>
          <p:nvPr/>
        </p:nvSpPr>
        <p:spPr>
          <a:xfrm>
            <a:off x="1238250" y="10429875"/>
            <a:ext cx="1628584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B9C4CC"/>
                </a:solidFill>
                <a:latin typeface="Source Serif 4" pitchFamily="34" charset="0"/>
                <a:ea typeface="Source Serif 4" pitchFamily="34" charset="-122"/>
                <a:cs typeface="Source Serif 4" pitchFamily="34" charset="-120"/>
              </a:rPr>
              <a:t>Four fields, three writers, </a:t>
            </a:r>
            <a:pPr algn="l" indent="0" marL="0">
              <a:lnSpc>
                <a:spcPct val="101818"/>
              </a:lnSpc>
              <a:buNone/>
            </a:pPr>
            <a:r>
              <a:rPr lang="en-US" sz="1800" b="1" dirty="0">
                <a:solidFill>
                  <a:srgbClr val="F6F7F4"/>
                </a:solidFill>
                <a:latin typeface="Source Serif 4" pitchFamily="34" charset="0"/>
                <a:ea typeface="Source Serif 4" pitchFamily="34" charset="-122"/>
                <a:cs typeface="Source Serif 4" pitchFamily="34" charset="-120"/>
              </a:rPr>
              <a:t>one context schema </a:t>
            </a:r>
            <a:pPr algn="l" indent="0" marL="0">
              <a:lnSpc>
                <a:spcPct val="101818"/>
              </a:lnSpc>
              <a:buNone/>
            </a:pPr>
            <a:r>
              <a:rPr lang="en-US" sz="1800" dirty="0">
                <a:solidFill>
                  <a:srgbClr val="B9C4CC"/>
                </a:solidFill>
                <a:latin typeface="Source Serif 4" pitchFamily="34" charset="0"/>
                <a:ea typeface="Source Serif 4" pitchFamily="34" charset="-122"/>
                <a:cs typeface="Source Serif 4" pitchFamily="34" charset="-120"/>
              </a:rPr>
              <a:t>— the join is free because every record shares the same envelope, URN, and trace. That is the convergence.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Phase 0, then eight demo milestones</a:t>
            </a:r>
            <a:endParaRPr lang="en-US" sz="4200" dirty="0"/>
          </a:p>
        </p:txBody>
      </p:sp>
      <p:sp>
        <p:nvSpPr>
          <p:cNvPr id="4" name="Shape 2"/>
          <p:cNvSpPr/>
          <p:nvPr/>
        </p:nvSpPr>
        <p:spPr>
          <a:xfrm>
            <a:off x="952500" y="2257425"/>
            <a:ext cx="9260086" cy="28575"/>
          </a:xfrm>
          <a:prstGeom prst="rect">
            <a:avLst/>
          </a:prstGeom>
          <a:solidFill>
            <a:srgbClr val="1B2530"/>
          </a:solidFill>
          <a:ln/>
        </p:spPr>
      </p:sp>
      <p:sp>
        <p:nvSpPr>
          <p:cNvPr id="5" name="Text 3"/>
          <p:cNvSpPr/>
          <p:nvPr/>
        </p:nvSpPr>
        <p:spPr>
          <a:xfrm>
            <a:off x="952500" y="1862138"/>
            <a:ext cx="163449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IBM Plex Mono" pitchFamily="34" charset="0"/>
                <a:ea typeface="IBM Plex Mono" pitchFamily="34" charset="-122"/>
                <a:cs typeface="IBM Plex Mono" pitchFamily="34" charset="-120"/>
              </a:rPr>
              <a:t>NOW · m0–9</a:t>
            </a:r>
            <a:endParaRPr lang="en-US" sz="1950" dirty="0"/>
          </a:p>
        </p:txBody>
      </p:sp>
      <p:sp>
        <p:nvSpPr>
          <p:cNvPr id="6" name="Text 4"/>
          <p:cNvSpPr/>
          <p:nvPr/>
        </p:nvSpPr>
        <p:spPr>
          <a:xfrm>
            <a:off x="2571750" y="1866900"/>
            <a:ext cx="1999729"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the commitment</a:t>
            </a:r>
            <a:endParaRPr lang="en-US" sz="1800" dirty="0"/>
          </a:p>
        </p:txBody>
      </p:sp>
      <p:sp>
        <p:nvSpPr>
          <p:cNvPr id="7" name="Shape 5"/>
          <p:cNvSpPr/>
          <p:nvPr/>
        </p:nvSpPr>
        <p:spPr>
          <a:xfrm>
            <a:off x="10269736" y="2257425"/>
            <a:ext cx="4601617" cy="28575"/>
          </a:xfrm>
          <a:prstGeom prst="rect">
            <a:avLst/>
          </a:prstGeom>
          <a:solidFill>
            <a:srgbClr val="B97417"/>
          </a:solidFill>
          <a:ln/>
        </p:spPr>
      </p:sp>
      <p:sp>
        <p:nvSpPr>
          <p:cNvPr id="8" name="Text 6"/>
          <p:cNvSpPr/>
          <p:nvPr/>
        </p:nvSpPr>
        <p:spPr>
          <a:xfrm>
            <a:off x="10269736" y="1862138"/>
            <a:ext cx="2124968"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B97417"/>
                </a:solidFill>
                <a:latin typeface="IBM Plex Mono" pitchFamily="34" charset="0"/>
                <a:ea typeface="IBM Plex Mono" pitchFamily="34" charset="-122"/>
                <a:cs typeface="IBM Plex Mono" pitchFamily="34" charset="-120"/>
              </a:rPr>
              <a:t>NEXT · m10–13</a:t>
            </a:r>
            <a:endParaRPr lang="en-US" sz="1950" dirty="0"/>
          </a:p>
        </p:txBody>
      </p:sp>
      <p:sp>
        <p:nvSpPr>
          <p:cNvPr id="9" name="Text 7"/>
          <p:cNvSpPr/>
          <p:nvPr/>
        </p:nvSpPr>
        <p:spPr>
          <a:xfrm>
            <a:off x="12334875" y="1866900"/>
            <a:ext cx="1364531"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via the gate</a:t>
            </a:r>
            <a:endParaRPr lang="en-US" sz="1800" dirty="0"/>
          </a:p>
        </p:txBody>
      </p:sp>
      <p:sp>
        <p:nvSpPr>
          <p:cNvPr id="10" name="Shape 8"/>
          <p:cNvSpPr/>
          <p:nvPr/>
        </p:nvSpPr>
        <p:spPr>
          <a:xfrm>
            <a:off x="14928503" y="2257425"/>
            <a:ext cx="2406848" cy="28575"/>
          </a:xfrm>
          <a:prstGeom prst="rect">
            <a:avLst/>
          </a:prstGeom>
          <a:solidFill>
            <a:srgbClr val="B9C2AC"/>
          </a:solidFill>
          <a:ln/>
        </p:spPr>
      </p:sp>
      <p:sp>
        <p:nvSpPr>
          <p:cNvPr id="11" name="Text 9"/>
          <p:cNvSpPr/>
          <p:nvPr/>
        </p:nvSpPr>
        <p:spPr>
          <a:xfrm>
            <a:off x="14928503" y="1862138"/>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5B6873"/>
                </a:solidFill>
                <a:latin typeface="IBM Plex Mono" pitchFamily="34" charset="0"/>
                <a:ea typeface="IBM Plex Mono" pitchFamily="34" charset="-122"/>
                <a:cs typeface="IBM Plex Mono" pitchFamily="34" charset="-120"/>
              </a:rPr>
              <a:t>HORIZON · m13+</a:t>
            </a:r>
            <a:endParaRPr lang="en-US" sz="1950" dirty="0"/>
          </a:p>
        </p:txBody>
      </p:sp>
      <p:sp>
        <p:nvSpPr>
          <p:cNvPr id="12" name="Shape 10"/>
          <p:cNvSpPr/>
          <p:nvPr/>
        </p:nvSpPr>
        <p:spPr>
          <a:xfrm>
            <a:off x="1000125" y="2324100"/>
            <a:ext cx="1457623" cy="3267075"/>
          </a:xfrm>
          <a:prstGeom prst="roundRect">
            <a:avLst>
              <a:gd name="adj" fmla="val 6535"/>
            </a:avLst>
          </a:prstGeom>
          <a:solidFill>
            <a:srgbClr val="FDFDFB"/>
          </a:solidFill>
          <a:ln w="9525">
            <a:solidFill>
              <a:srgbClr val="D9DED7"/>
            </a:solidFill>
            <a:prstDash val="solid"/>
          </a:ln>
        </p:spPr>
      </p:sp>
      <p:sp>
        <p:nvSpPr>
          <p:cNvPr id="13" name="Text 11"/>
          <p:cNvSpPr/>
          <p:nvPr/>
        </p:nvSpPr>
        <p:spPr>
          <a:xfrm>
            <a:off x="1143000" y="24479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 · m0–1</a:t>
            </a:r>
            <a:endParaRPr lang="en-US" sz="1800" dirty="0"/>
          </a:p>
        </p:txBody>
      </p:sp>
      <p:sp>
        <p:nvSpPr>
          <p:cNvPr id="14" name="Text 12"/>
          <p:cNvSpPr/>
          <p:nvPr/>
        </p:nvSpPr>
        <p:spPr>
          <a:xfrm>
            <a:off x="1143000" y="3105150"/>
            <a:ext cx="1248073" cy="24003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Teams formed; URN registry decided; history capture starts</a:t>
            </a:r>
            <a:endParaRPr lang="en-US" sz="1800" dirty="0"/>
          </a:p>
        </p:txBody>
      </p:sp>
      <p:sp>
        <p:nvSpPr>
          <p:cNvPr id="15" name="Shape 13"/>
          <p:cNvSpPr/>
          <p:nvPr/>
        </p:nvSpPr>
        <p:spPr>
          <a:xfrm>
            <a:off x="4105870" y="3219450"/>
            <a:ext cx="1457623" cy="2371725"/>
          </a:xfrm>
          <a:prstGeom prst="roundRect">
            <a:avLst>
              <a:gd name="adj" fmla="val 6535"/>
            </a:avLst>
          </a:prstGeom>
          <a:solidFill>
            <a:srgbClr val="FDFDFB"/>
          </a:solidFill>
          <a:ln w="9525">
            <a:solidFill>
              <a:srgbClr val="D9DED7"/>
            </a:solidFill>
            <a:prstDash val="solid"/>
          </a:ln>
        </p:spPr>
      </p:sp>
      <p:sp>
        <p:nvSpPr>
          <p:cNvPr id="16" name="Text 14"/>
          <p:cNvSpPr/>
          <p:nvPr/>
        </p:nvSpPr>
        <p:spPr>
          <a:xfrm>
            <a:off x="4248745" y="3343275"/>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M2 · m4</a:t>
            </a:r>
            <a:endParaRPr lang="en-US" sz="1800" dirty="0"/>
          </a:p>
        </p:txBody>
      </p:sp>
      <p:sp>
        <p:nvSpPr>
          <p:cNvPr id="17" name="Text 15"/>
          <p:cNvSpPr/>
          <p:nvPr/>
        </p:nvSpPr>
        <p:spPr>
          <a:xfrm>
            <a:off x="4248745" y="3695700"/>
            <a:ext cx="1248073"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At-rest checks learn "normal" from history</a:t>
            </a:r>
            <a:endParaRPr lang="en-US" sz="1800" dirty="0"/>
          </a:p>
        </p:txBody>
      </p:sp>
      <p:sp>
        <p:nvSpPr>
          <p:cNvPr id="18" name="Shape 16"/>
          <p:cNvSpPr/>
          <p:nvPr/>
        </p:nvSpPr>
        <p:spPr>
          <a:xfrm>
            <a:off x="7211616" y="2619375"/>
            <a:ext cx="1457623" cy="2971800"/>
          </a:xfrm>
          <a:prstGeom prst="roundRect">
            <a:avLst>
              <a:gd name="adj" fmla="val 6535"/>
            </a:avLst>
          </a:prstGeom>
          <a:solidFill>
            <a:srgbClr val="FDFDFB"/>
          </a:solidFill>
          <a:ln w="9525">
            <a:solidFill>
              <a:srgbClr val="D9DED7"/>
            </a:solidFill>
            <a:prstDash val="solid"/>
          </a:ln>
        </p:spPr>
      </p:sp>
      <p:sp>
        <p:nvSpPr>
          <p:cNvPr id="19" name="Text 17"/>
          <p:cNvSpPr/>
          <p:nvPr/>
        </p:nvSpPr>
        <p:spPr>
          <a:xfrm>
            <a:off x="7354491" y="274320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 · m6–7</a:t>
            </a:r>
            <a:endParaRPr lang="en-US" sz="1800" dirty="0"/>
          </a:p>
        </p:txBody>
      </p:sp>
      <p:sp>
        <p:nvSpPr>
          <p:cNvPr id="20" name="Text 18"/>
          <p:cNvSpPr/>
          <p:nvPr/>
        </p:nvSpPr>
        <p:spPr>
          <a:xfrm>
            <a:off x="7354491" y="3400425"/>
            <a:ext cx="1248073" cy="21050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Causal graph joins deploys to checks; blast radius live</a:t>
            </a:r>
            <a:endParaRPr lang="en-US" sz="1800" dirty="0"/>
          </a:p>
        </p:txBody>
      </p:sp>
      <p:sp>
        <p:nvSpPr>
          <p:cNvPr id="21" name="Shape 19"/>
          <p:cNvSpPr/>
          <p:nvPr/>
        </p:nvSpPr>
        <p:spPr>
          <a:xfrm>
            <a:off x="10317361" y="3505200"/>
            <a:ext cx="1457623" cy="2085975"/>
          </a:xfrm>
          <a:prstGeom prst="roundRect">
            <a:avLst>
              <a:gd name="adj" fmla="val 6535"/>
            </a:avLst>
          </a:prstGeom>
          <a:solidFill>
            <a:srgbClr val="FDFDFB"/>
          </a:solidFill>
          <a:ln w="9525">
            <a:solidFill>
              <a:srgbClr val="D9DED7"/>
            </a:solidFill>
            <a:prstDash val="solid"/>
          </a:ln>
        </p:spPr>
      </p:sp>
      <p:sp>
        <p:nvSpPr>
          <p:cNvPr id="22" name="Text 20"/>
          <p:cNvSpPr/>
          <p:nvPr/>
        </p:nvSpPr>
        <p:spPr>
          <a:xfrm>
            <a:off x="10460236" y="36290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M6 · m10–11</a:t>
            </a:r>
            <a:endParaRPr lang="en-US" sz="1800" dirty="0"/>
          </a:p>
        </p:txBody>
      </p:sp>
      <p:sp>
        <p:nvSpPr>
          <p:cNvPr id="23" name="Text 21"/>
          <p:cNvSpPr/>
          <p:nvPr/>
        </p:nvSpPr>
        <p:spPr>
          <a:xfrm>
            <a:off x="10460236" y="4286250"/>
            <a:ext cx="1248073"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First producer-accepted contract</a:t>
            </a:r>
            <a:endParaRPr lang="en-US" sz="1800" dirty="0"/>
          </a:p>
        </p:txBody>
      </p:sp>
      <p:sp>
        <p:nvSpPr>
          <p:cNvPr id="24" name="Shape 22"/>
          <p:cNvSpPr/>
          <p:nvPr/>
        </p:nvSpPr>
        <p:spPr>
          <a:xfrm>
            <a:off x="13423106" y="2914650"/>
            <a:ext cx="1457771" cy="2676525"/>
          </a:xfrm>
          <a:prstGeom prst="roundRect">
            <a:avLst>
              <a:gd name="adj" fmla="val 6534"/>
            </a:avLst>
          </a:prstGeom>
          <a:solidFill>
            <a:srgbClr val="FDFDFB"/>
          </a:solidFill>
          <a:ln w="9525">
            <a:solidFill>
              <a:srgbClr val="D9DED7"/>
            </a:solidFill>
            <a:prstDash val="solid"/>
          </a:ln>
        </p:spPr>
      </p:sp>
      <p:sp>
        <p:nvSpPr>
          <p:cNvPr id="25" name="Text 23"/>
          <p:cNvSpPr/>
          <p:nvPr/>
        </p:nvSpPr>
        <p:spPr>
          <a:xfrm>
            <a:off x="13565981" y="3038475"/>
            <a:ext cx="1248221"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M8 · m12–13</a:t>
            </a:r>
            <a:endParaRPr lang="en-US" sz="1800" dirty="0"/>
          </a:p>
        </p:txBody>
      </p:sp>
      <p:sp>
        <p:nvSpPr>
          <p:cNvPr id="26" name="Text 24"/>
          <p:cNvSpPr/>
          <p:nvPr/>
        </p:nvSpPr>
        <p:spPr>
          <a:xfrm>
            <a:off x="13565981" y="3695700"/>
            <a:ext cx="1248221"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UC2 onboards on the paved road: 6 wks → 2</a:t>
            </a:r>
            <a:endParaRPr lang="en-US" sz="1800" dirty="0"/>
          </a:p>
        </p:txBody>
      </p:sp>
      <p:sp>
        <p:nvSpPr>
          <p:cNvPr id="27" name="Shape 25"/>
          <p:cNvSpPr/>
          <p:nvPr/>
        </p:nvSpPr>
        <p:spPr>
          <a:xfrm>
            <a:off x="952500" y="5876925"/>
            <a:ext cx="690711" cy="38100"/>
          </a:xfrm>
          <a:prstGeom prst="rect">
            <a:avLst/>
          </a:prstGeom>
          <a:solidFill>
            <a:srgbClr val="C7CEC6"/>
          </a:solidFill>
          <a:ln/>
        </p:spPr>
      </p:sp>
      <p:sp>
        <p:nvSpPr>
          <p:cNvPr id="28" name="Shape 26"/>
          <p:cNvSpPr/>
          <p:nvPr/>
        </p:nvSpPr>
        <p:spPr>
          <a:xfrm>
            <a:off x="1643211" y="5810250"/>
            <a:ext cx="171450" cy="171450"/>
          </a:xfrm>
          <a:prstGeom prst="ellipse">
            <a:avLst/>
          </a:prstGeom>
          <a:solidFill>
            <a:srgbClr val="0E7C6B"/>
          </a:solidFill>
          <a:ln/>
        </p:spPr>
      </p:sp>
      <p:sp>
        <p:nvSpPr>
          <p:cNvPr id="29" name="Shape 27"/>
          <p:cNvSpPr/>
          <p:nvPr/>
        </p:nvSpPr>
        <p:spPr>
          <a:xfrm>
            <a:off x="1814661" y="5876925"/>
            <a:ext cx="690711" cy="38100"/>
          </a:xfrm>
          <a:prstGeom prst="rect">
            <a:avLst/>
          </a:prstGeom>
          <a:solidFill>
            <a:srgbClr val="C7CEC6"/>
          </a:solidFill>
          <a:ln/>
        </p:spPr>
      </p:sp>
      <p:sp>
        <p:nvSpPr>
          <p:cNvPr id="30" name="Shape 28"/>
          <p:cNvSpPr/>
          <p:nvPr/>
        </p:nvSpPr>
        <p:spPr>
          <a:xfrm>
            <a:off x="2505373" y="5876925"/>
            <a:ext cx="690711" cy="38100"/>
          </a:xfrm>
          <a:prstGeom prst="rect">
            <a:avLst/>
          </a:prstGeom>
          <a:solidFill>
            <a:srgbClr val="C7CEC6"/>
          </a:solidFill>
          <a:ln/>
        </p:spPr>
      </p:sp>
      <p:sp>
        <p:nvSpPr>
          <p:cNvPr id="31" name="Shape 29"/>
          <p:cNvSpPr/>
          <p:nvPr/>
        </p:nvSpPr>
        <p:spPr>
          <a:xfrm>
            <a:off x="3196084" y="5810250"/>
            <a:ext cx="171450" cy="171450"/>
          </a:xfrm>
          <a:prstGeom prst="ellipse">
            <a:avLst/>
          </a:prstGeom>
          <a:solidFill>
            <a:srgbClr val="0E7C6B"/>
          </a:solidFill>
          <a:ln/>
        </p:spPr>
      </p:sp>
      <p:sp>
        <p:nvSpPr>
          <p:cNvPr id="32" name="Shape 30"/>
          <p:cNvSpPr/>
          <p:nvPr/>
        </p:nvSpPr>
        <p:spPr>
          <a:xfrm>
            <a:off x="3367534" y="5876925"/>
            <a:ext cx="690711" cy="38100"/>
          </a:xfrm>
          <a:prstGeom prst="rect">
            <a:avLst/>
          </a:prstGeom>
          <a:solidFill>
            <a:srgbClr val="C7CEC6"/>
          </a:solidFill>
          <a:ln/>
        </p:spPr>
      </p:sp>
      <p:sp>
        <p:nvSpPr>
          <p:cNvPr id="33" name="Shape 31"/>
          <p:cNvSpPr/>
          <p:nvPr/>
        </p:nvSpPr>
        <p:spPr>
          <a:xfrm>
            <a:off x="4058245" y="5876925"/>
            <a:ext cx="690711" cy="38100"/>
          </a:xfrm>
          <a:prstGeom prst="rect">
            <a:avLst/>
          </a:prstGeom>
          <a:solidFill>
            <a:srgbClr val="C7CEC6"/>
          </a:solidFill>
          <a:ln/>
        </p:spPr>
      </p:sp>
      <p:sp>
        <p:nvSpPr>
          <p:cNvPr id="34" name="Shape 32"/>
          <p:cNvSpPr/>
          <p:nvPr/>
        </p:nvSpPr>
        <p:spPr>
          <a:xfrm>
            <a:off x="4748957" y="5810250"/>
            <a:ext cx="171450" cy="171450"/>
          </a:xfrm>
          <a:prstGeom prst="ellipse">
            <a:avLst/>
          </a:prstGeom>
          <a:solidFill>
            <a:srgbClr val="0E7C6B"/>
          </a:solidFill>
          <a:ln/>
        </p:spPr>
      </p:sp>
      <p:sp>
        <p:nvSpPr>
          <p:cNvPr id="35" name="Shape 33"/>
          <p:cNvSpPr/>
          <p:nvPr/>
        </p:nvSpPr>
        <p:spPr>
          <a:xfrm>
            <a:off x="4920407" y="5876925"/>
            <a:ext cx="690711" cy="38100"/>
          </a:xfrm>
          <a:prstGeom prst="rect">
            <a:avLst/>
          </a:prstGeom>
          <a:solidFill>
            <a:srgbClr val="C7CEC6"/>
          </a:solidFill>
          <a:ln/>
        </p:spPr>
      </p:sp>
      <p:sp>
        <p:nvSpPr>
          <p:cNvPr id="36" name="Shape 34"/>
          <p:cNvSpPr/>
          <p:nvPr/>
        </p:nvSpPr>
        <p:spPr>
          <a:xfrm>
            <a:off x="5611118" y="5876925"/>
            <a:ext cx="690711" cy="38100"/>
          </a:xfrm>
          <a:prstGeom prst="rect">
            <a:avLst/>
          </a:prstGeom>
          <a:solidFill>
            <a:srgbClr val="C7CEC6"/>
          </a:solidFill>
          <a:ln/>
        </p:spPr>
      </p:sp>
      <p:sp>
        <p:nvSpPr>
          <p:cNvPr id="37" name="Shape 35"/>
          <p:cNvSpPr/>
          <p:nvPr/>
        </p:nvSpPr>
        <p:spPr>
          <a:xfrm>
            <a:off x="6301829" y="5810250"/>
            <a:ext cx="171450" cy="171450"/>
          </a:xfrm>
          <a:prstGeom prst="ellipse">
            <a:avLst/>
          </a:prstGeom>
          <a:solidFill>
            <a:srgbClr val="0E7C6B"/>
          </a:solidFill>
          <a:ln/>
        </p:spPr>
      </p:sp>
      <p:sp>
        <p:nvSpPr>
          <p:cNvPr id="38" name="Shape 36"/>
          <p:cNvSpPr/>
          <p:nvPr/>
        </p:nvSpPr>
        <p:spPr>
          <a:xfrm>
            <a:off x="6473279" y="5876925"/>
            <a:ext cx="690711" cy="38100"/>
          </a:xfrm>
          <a:prstGeom prst="rect">
            <a:avLst/>
          </a:prstGeom>
          <a:solidFill>
            <a:srgbClr val="C7CEC6"/>
          </a:solidFill>
          <a:ln/>
        </p:spPr>
      </p:sp>
      <p:sp>
        <p:nvSpPr>
          <p:cNvPr id="39" name="Shape 37"/>
          <p:cNvSpPr/>
          <p:nvPr/>
        </p:nvSpPr>
        <p:spPr>
          <a:xfrm>
            <a:off x="7163991" y="5876925"/>
            <a:ext cx="690711" cy="38100"/>
          </a:xfrm>
          <a:prstGeom prst="rect">
            <a:avLst/>
          </a:prstGeom>
          <a:solidFill>
            <a:srgbClr val="C7CEC6"/>
          </a:solidFill>
          <a:ln/>
        </p:spPr>
      </p:sp>
      <p:sp>
        <p:nvSpPr>
          <p:cNvPr id="40" name="Shape 38"/>
          <p:cNvSpPr/>
          <p:nvPr/>
        </p:nvSpPr>
        <p:spPr>
          <a:xfrm>
            <a:off x="7854702" y="5810250"/>
            <a:ext cx="171450" cy="171450"/>
          </a:xfrm>
          <a:prstGeom prst="ellipse">
            <a:avLst/>
          </a:prstGeom>
          <a:solidFill>
            <a:srgbClr val="0E7C6B"/>
          </a:solidFill>
          <a:ln/>
        </p:spPr>
      </p:sp>
      <p:sp>
        <p:nvSpPr>
          <p:cNvPr id="41" name="Shape 39"/>
          <p:cNvSpPr/>
          <p:nvPr/>
        </p:nvSpPr>
        <p:spPr>
          <a:xfrm>
            <a:off x="8026152" y="5876925"/>
            <a:ext cx="690711" cy="38100"/>
          </a:xfrm>
          <a:prstGeom prst="rect">
            <a:avLst/>
          </a:prstGeom>
          <a:solidFill>
            <a:srgbClr val="C7CEC6"/>
          </a:solidFill>
          <a:ln/>
        </p:spPr>
      </p:sp>
      <p:sp>
        <p:nvSpPr>
          <p:cNvPr id="42" name="Shape 40"/>
          <p:cNvSpPr/>
          <p:nvPr/>
        </p:nvSpPr>
        <p:spPr>
          <a:xfrm>
            <a:off x="8716863" y="5876925"/>
            <a:ext cx="652611" cy="38100"/>
          </a:xfrm>
          <a:prstGeom prst="rect">
            <a:avLst/>
          </a:prstGeom>
          <a:solidFill>
            <a:srgbClr val="E8D9BD"/>
          </a:solidFill>
          <a:ln/>
        </p:spPr>
      </p:sp>
      <p:sp>
        <p:nvSpPr>
          <p:cNvPr id="43" name="Shape 41"/>
          <p:cNvSpPr/>
          <p:nvPr/>
        </p:nvSpPr>
        <p:spPr>
          <a:xfrm rot="2700000">
            <a:off x="9369475" y="5772150"/>
            <a:ext cx="247650" cy="247650"/>
          </a:xfrm>
          <a:prstGeom prst="roundRect">
            <a:avLst>
              <a:gd name="adj" fmla="val 15385"/>
            </a:avLst>
          </a:prstGeom>
          <a:solidFill>
            <a:srgbClr val="B97417"/>
          </a:solidFill>
          <a:ln/>
        </p:spPr>
      </p:sp>
      <p:sp>
        <p:nvSpPr>
          <p:cNvPr id="44" name="Shape 42"/>
          <p:cNvSpPr/>
          <p:nvPr/>
        </p:nvSpPr>
        <p:spPr>
          <a:xfrm>
            <a:off x="9617125" y="5876925"/>
            <a:ext cx="652611" cy="38100"/>
          </a:xfrm>
          <a:prstGeom prst="rect">
            <a:avLst/>
          </a:prstGeom>
          <a:solidFill>
            <a:srgbClr val="E8D9BD"/>
          </a:solidFill>
          <a:ln/>
        </p:spPr>
      </p:sp>
      <p:sp>
        <p:nvSpPr>
          <p:cNvPr id="45" name="Shape 43"/>
          <p:cNvSpPr/>
          <p:nvPr/>
        </p:nvSpPr>
        <p:spPr>
          <a:xfrm>
            <a:off x="10269736" y="5876925"/>
            <a:ext cx="690711" cy="38100"/>
          </a:xfrm>
          <a:prstGeom prst="rect">
            <a:avLst/>
          </a:prstGeom>
          <a:solidFill>
            <a:srgbClr val="E8D9BD"/>
          </a:solidFill>
          <a:ln/>
        </p:spPr>
      </p:sp>
      <p:sp>
        <p:nvSpPr>
          <p:cNvPr id="46" name="Shape 44"/>
          <p:cNvSpPr/>
          <p:nvPr/>
        </p:nvSpPr>
        <p:spPr>
          <a:xfrm>
            <a:off x="10960447" y="5810250"/>
            <a:ext cx="171450" cy="171450"/>
          </a:xfrm>
          <a:prstGeom prst="ellipse">
            <a:avLst/>
          </a:prstGeom>
          <a:solidFill>
            <a:srgbClr val="FDFDFB"/>
          </a:solidFill>
          <a:ln w="38100">
            <a:solidFill>
              <a:srgbClr val="B97417"/>
            </a:solidFill>
            <a:prstDash val="solid"/>
          </a:ln>
        </p:spPr>
      </p:sp>
      <p:sp>
        <p:nvSpPr>
          <p:cNvPr id="47" name="Shape 45"/>
          <p:cNvSpPr/>
          <p:nvPr/>
        </p:nvSpPr>
        <p:spPr>
          <a:xfrm>
            <a:off x="11131897" y="5876925"/>
            <a:ext cx="690711" cy="38100"/>
          </a:xfrm>
          <a:prstGeom prst="rect">
            <a:avLst/>
          </a:prstGeom>
          <a:solidFill>
            <a:srgbClr val="E8D9BD"/>
          </a:solidFill>
          <a:ln/>
        </p:spPr>
      </p:sp>
      <p:sp>
        <p:nvSpPr>
          <p:cNvPr id="48" name="Shape 46"/>
          <p:cNvSpPr/>
          <p:nvPr/>
        </p:nvSpPr>
        <p:spPr>
          <a:xfrm>
            <a:off x="11822609" y="5876925"/>
            <a:ext cx="690711" cy="38100"/>
          </a:xfrm>
          <a:prstGeom prst="rect">
            <a:avLst/>
          </a:prstGeom>
          <a:solidFill>
            <a:srgbClr val="E8D9BD"/>
          </a:solidFill>
          <a:ln/>
        </p:spPr>
      </p:sp>
      <p:sp>
        <p:nvSpPr>
          <p:cNvPr id="49" name="Shape 47"/>
          <p:cNvSpPr/>
          <p:nvPr/>
        </p:nvSpPr>
        <p:spPr>
          <a:xfrm>
            <a:off x="12513320" y="5810250"/>
            <a:ext cx="171450" cy="171450"/>
          </a:xfrm>
          <a:prstGeom prst="ellipse">
            <a:avLst/>
          </a:prstGeom>
          <a:solidFill>
            <a:srgbClr val="FDFDFB"/>
          </a:solidFill>
          <a:ln w="38100">
            <a:solidFill>
              <a:srgbClr val="B97417"/>
            </a:solidFill>
            <a:prstDash val="solid"/>
          </a:ln>
        </p:spPr>
      </p:sp>
      <p:sp>
        <p:nvSpPr>
          <p:cNvPr id="50" name="Shape 48"/>
          <p:cNvSpPr/>
          <p:nvPr/>
        </p:nvSpPr>
        <p:spPr>
          <a:xfrm>
            <a:off x="12684770" y="5876925"/>
            <a:ext cx="690711" cy="38100"/>
          </a:xfrm>
          <a:prstGeom prst="rect">
            <a:avLst/>
          </a:prstGeom>
          <a:solidFill>
            <a:srgbClr val="E8D9BD"/>
          </a:solidFill>
          <a:ln/>
        </p:spPr>
      </p:sp>
      <p:sp>
        <p:nvSpPr>
          <p:cNvPr id="51" name="Shape 49"/>
          <p:cNvSpPr/>
          <p:nvPr/>
        </p:nvSpPr>
        <p:spPr>
          <a:xfrm>
            <a:off x="13375481" y="5876925"/>
            <a:ext cx="690860" cy="38100"/>
          </a:xfrm>
          <a:prstGeom prst="rect">
            <a:avLst/>
          </a:prstGeom>
          <a:solidFill>
            <a:srgbClr val="E8D9BD"/>
          </a:solidFill>
          <a:ln/>
        </p:spPr>
      </p:sp>
      <p:sp>
        <p:nvSpPr>
          <p:cNvPr id="52" name="Shape 50"/>
          <p:cNvSpPr/>
          <p:nvPr/>
        </p:nvSpPr>
        <p:spPr>
          <a:xfrm>
            <a:off x="14066341" y="5810250"/>
            <a:ext cx="171450" cy="171450"/>
          </a:xfrm>
          <a:prstGeom prst="ellipse">
            <a:avLst/>
          </a:prstGeom>
          <a:solidFill>
            <a:srgbClr val="FDFDFB"/>
          </a:solidFill>
          <a:ln w="38100">
            <a:solidFill>
              <a:srgbClr val="B97417"/>
            </a:solidFill>
            <a:prstDash val="solid"/>
          </a:ln>
        </p:spPr>
      </p:sp>
      <p:sp>
        <p:nvSpPr>
          <p:cNvPr id="53" name="Shape 51"/>
          <p:cNvSpPr/>
          <p:nvPr/>
        </p:nvSpPr>
        <p:spPr>
          <a:xfrm>
            <a:off x="14237791" y="5876925"/>
            <a:ext cx="690860" cy="38100"/>
          </a:xfrm>
          <a:prstGeom prst="rect">
            <a:avLst/>
          </a:prstGeom>
          <a:solidFill>
            <a:srgbClr val="E8D9BD"/>
          </a:solidFill>
          <a:ln/>
        </p:spPr>
      </p:sp>
      <p:sp>
        <p:nvSpPr>
          <p:cNvPr id="54" name="Shape 52"/>
          <p:cNvSpPr/>
          <p:nvPr/>
        </p:nvSpPr>
        <p:spPr>
          <a:xfrm>
            <a:off x="14928503" y="5876925"/>
            <a:ext cx="2406848" cy="38100"/>
          </a:xfrm>
          <a:prstGeom prst="rect">
            <a:avLst/>
          </a:prstGeom>
          <a:solidFill>
            <a:srgbClr val="C7CEC6"/>
          </a:solidFill>
          <a:ln/>
        </p:spPr>
      </p:sp>
      <p:sp>
        <p:nvSpPr>
          <p:cNvPr id="55" name="Shape 53"/>
          <p:cNvSpPr/>
          <p:nvPr/>
        </p:nvSpPr>
        <p:spPr>
          <a:xfrm>
            <a:off x="2552998" y="6200775"/>
            <a:ext cx="1457623" cy="3257550"/>
          </a:xfrm>
          <a:prstGeom prst="roundRect">
            <a:avLst>
              <a:gd name="adj" fmla="val 6535"/>
            </a:avLst>
          </a:prstGeom>
          <a:solidFill>
            <a:srgbClr val="FDFDFB"/>
          </a:solidFill>
          <a:ln w="9525">
            <a:solidFill>
              <a:srgbClr val="D9DED7"/>
            </a:solidFill>
            <a:prstDash val="solid"/>
          </a:ln>
        </p:spPr>
      </p:sp>
      <p:sp>
        <p:nvSpPr>
          <p:cNvPr id="56" name="Text 54"/>
          <p:cNvSpPr/>
          <p:nvPr/>
        </p:nvSpPr>
        <p:spPr>
          <a:xfrm>
            <a:off x="2695873" y="6324600"/>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 · m3</a:t>
            </a:r>
            <a:endParaRPr lang="en-US" sz="1800" dirty="0"/>
          </a:p>
        </p:txBody>
      </p:sp>
      <p:sp>
        <p:nvSpPr>
          <p:cNvPr id="57" name="Text 55"/>
          <p:cNvSpPr/>
          <p:nvPr/>
        </p:nvSpPr>
        <p:spPr>
          <a:xfrm>
            <a:off x="2695873" y="6677025"/>
            <a:ext cx="1248073" cy="26955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 + registry live — first records in the context schema; baseline map done</a:t>
            </a:r>
            <a:endParaRPr lang="en-US" sz="1800" dirty="0"/>
          </a:p>
        </p:txBody>
      </p:sp>
      <p:sp>
        <p:nvSpPr>
          <p:cNvPr id="58" name="Shape 56"/>
          <p:cNvSpPr/>
          <p:nvPr/>
        </p:nvSpPr>
        <p:spPr>
          <a:xfrm>
            <a:off x="5658743" y="6200775"/>
            <a:ext cx="1457623" cy="2962275"/>
          </a:xfrm>
          <a:prstGeom prst="roundRect">
            <a:avLst>
              <a:gd name="adj" fmla="val 6535"/>
            </a:avLst>
          </a:prstGeom>
          <a:solidFill>
            <a:srgbClr val="FDFDFB"/>
          </a:solidFill>
          <a:ln w="9525">
            <a:solidFill>
              <a:srgbClr val="D9DED7"/>
            </a:solidFill>
            <a:prstDash val="solid"/>
          </a:ln>
        </p:spPr>
      </p:sp>
      <p:sp>
        <p:nvSpPr>
          <p:cNvPr id="59" name="Text 57"/>
          <p:cNvSpPr/>
          <p:nvPr/>
        </p:nvSpPr>
        <p:spPr>
          <a:xfrm>
            <a:off x="5801618" y="6324600"/>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M3 · m5</a:t>
            </a:r>
            <a:endParaRPr lang="en-US" sz="1800" dirty="0"/>
          </a:p>
        </p:txBody>
      </p:sp>
      <p:sp>
        <p:nvSpPr>
          <p:cNvPr id="60" name="Text 58"/>
          <p:cNvSpPr/>
          <p:nvPr/>
        </p:nvSpPr>
        <p:spPr>
          <a:xfrm>
            <a:off x="5801618" y="6677025"/>
            <a:ext cx="1248073" cy="24003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Streaming checks + live-refresh map; a replayed incident caught</a:t>
            </a:r>
            <a:endParaRPr lang="en-US" sz="1800" dirty="0"/>
          </a:p>
        </p:txBody>
      </p:sp>
      <p:sp>
        <p:nvSpPr>
          <p:cNvPr id="61" name="Shape 59"/>
          <p:cNvSpPr/>
          <p:nvPr/>
        </p:nvSpPr>
        <p:spPr>
          <a:xfrm>
            <a:off x="8764488" y="6200775"/>
            <a:ext cx="1457623" cy="2971800"/>
          </a:xfrm>
          <a:prstGeom prst="roundRect">
            <a:avLst>
              <a:gd name="adj" fmla="val 6535"/>
            </a:avLst>
          </a:prstGeom>
          <a:solidFill>
            <a:srgbClr val="B97417"/>
          </a:solidFill>
          <a:ln w="9525">
            <a:solidFill>
              <a:srgbClr val="B97417"/>
            </a:solidFill>
            <a:prstDash val="solid"/>
          </a:ln>
        </p:spPr>
      </p:sp>
      <p:sp>
        <p:nvSpPr>
          <p:cNvPr id="62" name="Text 60"/>
          <p:cNvSpPr/>
          <p:nvPr/>
        </p:nvSpPr>
        <p:spPr>
          <a:xfrm>
            <a:off x="8907363" y="632460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BM Plex Mono" pitchFamily="34" charset="0"/>
                <a:ea typeface="IBM Plex Mono" pitchFamily="34" charset="-122"/>
                <a:cs typeface="IBM Plex Mono" pitchFamily="34" charset="-120"/>
              </a:rPr>
              <a:t>M5 · m8–9</a:t>
            </a:r>
            <a:endParaRPr lang="en-US" sz="1800" dirty="0"/>
          </a:p>
        </p:txBody>
      </p:sp>
      <p:sp>
        <p:nvSpPr>
          <p:cNvPr id="63" name="Text 61"/>
          <p:cNvSpPr/>
          <p:nvPr/>
        </p:nvSpPr>
        <p:spPr>
          <a:xfrm>
            <a:off x="8907363" y="6981825"/>
            <a:ext cx="1248073" cy="21050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FFF8EE"/>
                </a:solidFill>
                <a:latin typeface="Source Serif 4" pitchFamily="34" charset="0"/>
                <a:ea typeface="Source Serif 4" pitchFamily="34" charset="-122"/>
                <a:cs typeface="Source Serif 4" pitchFamily="34" charset="-120"/>
              </a:rPr>
              <a:t>UC1 live — one incident joined on URN + trace · GO/NO-GO</a:t>
            </a:r>
            <a:endParaRPr lang="en-US" sz="1800" dirty="0"/>
          </a:p>
        </p:txBody>
      </p:sp>
      <p:sp>
        <p:nvSpPr>
          <p:cNvPr id="64" name="Shape 62"/>
          <p:cNvSpPr/>
          <p:nvPr/>
        </p:nvSpPr>
        <p:spPr>
          <a:xfrm>
            <a:off x="11870234" y="6200775"/>
            <a:ext cx="1457623" cy="2381250"/>
          </a:xfrm>
          <a:prstGeom prst="roundRect">
            <a:avLst>
              <a:gd name="adj" fmla="val 6535"/>
            </a:avLst>
          </a:prstGeom>
          <a:solidFill>
            <a:srgbClr val="FDFDFB"/>
          </a:solidFill>
          <a:ln w="9525">
            <a:solidFill>
              <a:srgbClr val="D9DED7"/>
            </a:solidFill>
            <a:prstDash val="solid"/>
          </a:ln>
        </p:spPr>
      </p:sp>
      <p:sp>
        <p:nvSpPr>
          <p:cNvPr id="65" name="Text 63"/>
          <p:cNvSpPr/>
          <p:nvPr/>
        </p:nvSpPr>
        <p:spPr>
          <a:xfrm>
            <a:off x="12013109" y="632460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M7 · m11–12</a:t>
            </a:r>
            <a:endParaRPr lang="en-US" sz="1800" dirty="0"/>
          </a:p>
        </p:txBody>
      </p:sp>
      <p:sp>
        <p:nvSpPr>
          <p:cNvPr id="66" name="Text 64"/>
          <p:cNvSpPr/>
          <p:nvPr/>
        </p:nvSpPr>
        <p:spPr>
          <a:xfrm>
            <a:off x="12013109" y="6981825"/>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Gate's first real block — zero consumer exposure</a:t>
            </a:r>
            <a:endParaRPr lang="en-US" sz="1800" dirty="0"/>
          </a:p>
        </p:txBody>
      </p:sp>
      <p:sp>
        <p:nvSpPr>
          <p:cNvPr id="67" name="Shape 65"/>
          <p:cNvSpPr/>
          <p:nvPr/>
        </p:nvSpPr>
        <p:spPr>
          <a:xfrm>
            <a:off x="14985653" y="6200775"/>
            <a:ext cx="2349698" cy="3724275"/>
          </a:xfrm>
          <a:prstGeom prst="roundRect">
            <a:avLst>
              <a:gd name="adj" fmla="val 4054"/>
            </a:avLst>
          </a:prstGeom>
          <a:solidFill>
            <a:srgbClr val="F6F7F4"/>
          </a:solidFill>
          <a:ln w="9525">
            <a:solidFill>
              <a:srgbClr val="C7CEC6"/>
            </a:solidFill>
            <a:prstDash val="dash"/>
          </a:ln>
        </p:spPr>
      </p:sp>
      <p:sp>
        <p:nvSpPr>
          <p:cNvPr id="68" name="Text 66"/>
          <p:cNvSpPr/>
          <p:nvPr/>
        </p:nvSpPr>
        <p:spPr>
          <a:xfrm>
            <a:off x="15128528" y="6324600"/>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Impact simulation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trust-scored map</a:t>
            </a:r>
            <a:endParaRPr lang="en-US" sz="1800" dirty="0"/>
          </a:p>
        </p:txBody>
      </p:sp>
      <p:sp>
        <p:nvSpPr>
          <p:cNvPr id="69" name="Text 67"/>
          <p:cNvSpPr/>
          <p:nvPr/>
        </p:nvSpPr>
        <p:spPr>
          <a:xfrm>
            <a:off x="15128528" y="7286625"/>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In-path asserts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recurring violation</a:t>
            </a:r>
            <a:endParaRPr lang="en-US" sz="1800" dirty="0"/>
          </a:p>
        </p:txBody>
      </p:sp>
      <p:sp>
        <p:nvSpPr>
          <p:cNvPr id="70" name="Text 68"/>
          <p:cNvSpPr/>
          <p:nvPr/>
        </p:nvSpPr>
        <p:spPr>
          <a:xfrm>
            <a:off x="15128528" y="8248650"/>
            <a:ext cx="2140148"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Auto onboarding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two manual UCs</a:t>
            </a:r>
            <a:endParaRPr lang="en-US" sz="1800" dirty="0"/>
          </a:p>
        </p:txBody>
      </p:sp>
      <p:sp>
        <p:nvSpPr>
          <p:cNvPr id="71" name="Text 69"/>
          <p:cNvSpPr/>
          <p:nvPr/>
        </p:nvSpPr>
        <p:spPr>
          <a:xfrm>
            <a:off x="15128528" y="8915400"/>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Column-level lineage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incidents demand</a:t>
            </a:r>
            <a:endParaRPr lang="en-US" sz="1800" dirty="0"/>
          </a:p>
        </p:txBody>
      </p:sp>
      <p:sp>
        <p:nvSpPr>
          <p:cNvPr id="72" name="Shape 70"/>
          <p:cNvSpPr/>
          <p:nvPr/>
        </p:nvSpPr>
        <p:spPr>
          <a:xfrm>
            <a:off x="952500" y="8896350"/>
            <a:ext cx="16383000" cy="971550"/>
          </a:xfrm>
          <a:prstGeom prst="roundRect">
            <a:avLst>
              <a:gd name="adj" fmla="val 11765"/>
            </a:avLst>
          </a:prstGeom>
          <a:solidFill>
            <a:srgbClr val="F5EAD8"/>
          </a:solidFill>
          <a:ln/>
        </p:spPr>
      </p:sp>
      <p:sp>
        <p:nvSpPr>
          <p:cNvPr id="73" name="Text 71"/>
          <p:cNvSpPr/>
          <p:nvPr/>
        </p:nvSpPr>
        <p:spPr>
          <a:xfrm>
            <a:off x="1257300" y="9058275"/>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PACING IS HONEST</a:t>
            </a:r>
            <a:endParaRPr lang="en-US" sz="1800" dirty="0"/>
          </a:p>
        </p:txBody>
      </p:sp>
      <p:sp>
        <p:nvSpPr>
          <p:cNvPr id="74" name="Text 72"/>
          <p:cNvSpPr/>
          <p:nvPr/>
        </p:nvSpPr>
        <p:spPr>
          <a:xfrm>
            <a:off x="3973116" y="9048750"/>
            <a:ext cx="1344931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Baselines need 4–6 weeks of history · contracts need 90 days observed · the gate blocks only after shadow mode. Every milestone is the demo at the end of an initiative bar — never a one-month build.</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What is actually ready, when</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Every pillar moves along the same maturity track — islands today, connected at the month-9 gate, running itself at 15, preventing at 24.</a:t>
            </a:r>
            <a:endParaRPr lang="en-US" sz="1950" dirty="0"/>
          </a:p>
        </p:txBody>
      </p:sp>
      <p:sp>
        <p:nvSpPr>
          <p:cNvPr id="5" name="Shape 3"/>
          <p:cNvSpPr/>
          <p:nvPr/>
        </p:nvSpPr>
        <p:spPr>
          <a:xfrm>
            <a:off x="952500" y="3371850"/>
            <a:ext cx="3143250" cy="28575"/>
          </a:xfrm>
          <a:prstGeom prst="rect">
            <a:avLst/>
          </a:prstGeom>
          <a:solidFill>
            <a:srgbClr val="1B2530"/>
          </a:solidFill>
          <a:ln/>
        </p:spPr>
      </p:sp>
      <p:sp>
        <p:nvSpPr>
          <p:cNvPr id="6" name="Text 4"/>
          <p:cNvSpPr/>
          <p:nvPr/>
        </p:nvSpPr>
        <p:spPr>
          <a:xfrm>
            <a:off x="952500" y="2990850"/>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PILLAR · MISSION</a:t>
            </a:r>
            <a:endParaRPr lang="en-US" sz="1800" dirty="0"/>
          </a:p>
        </p:txBody>
      </p:sp>
      <p:sp>
        <p:nvSpPr>
          <p:cNvPr id="7" name="Shape 5"/>
          <p:cNvSpPr/>
          <p:nvPr/>
        </p:nvSpPr>
        <p:spPr>
          <a:xfrm>
            <a:off x="4095750" y="3371850"/>
            <a:ext cx="3309938" cy="28575"/>
          </a:xfrm>
          <a:prstGeom prst="rect">
            <a:avLst/>
          </a:prstGeom>
          <a:solidFill>
            <a:srgbClr val="1B2530"/>
          </a:solidFill>
          <a:ln/>
        </p:spPr>
      </p:sp>
      <p:sp>
        <p:nvSpPr>
          <p:cNvPr id="8" name="Text 6"/>
          <p:cNvSpPr/>
          <p:nvPr/>
        </p:nvSpPr>
        <p:spPr>
          <a:xfrm>
            <a:off x="5407819" y="26479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TODAY</a:t>
            </a:r>
            <a:endParaRPr lang="en-US" sz="1800" dirty="0"/>
          </a:p>
        </p:txBody>
      </p:sp>
      <p:sp>
        <p:nvSpPr>
          <p:cNvPr id="9" name="Text 7"/>
          <p:cNvSpPr/>
          <p:nvPr/>
        </p:nvSpPr>
        <p:spPr>
          <a:xfrm>
            <a:off x="4695974" y="2971800"/>
            <a:ext cx="232027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islands / in build</a:t>
            </a:r>
            <a:endParaRPr lang="en-US" sz="2100" dirty="0"/>
          </a:p>
        </p:txBody>
      </p:sp>
      <p:sp>
        <p:nvSpPr>
          <p:cNvPr id="10" name="Shape 8"/>
          <p:cNvSpPr/>
          <p:nvPr/>
        </p:nvSpPr>
        <p:spPr>
          <a:xfrm>
            <a:off x="7405688" y="2571750"/>
            <a:ext cx="3309938" cy="828675"/>
          </a:xfrm>
          <a:prstGeom prst="rect">
            <a:avLst/>
          </a:prstGeom>
          <a:solidFill>
            <a:srgbClr val="FBF3E4"/>
          </a:solidFill>
          <a:ln/>
        </p:spPr>
      </p:sp>
      <p:sp>
        <p:nvSpPr>
          <p:cNvPr id="11" name="Shape 9"/>
          <p:cNvSpPr/>
          <p:nvPr/>
        </p:nvSpPr>
        <p:spPr>
          <a:xfrm>
            <a:off x="7405688" y="3371850"/>
            <a:ext cx="3309938" cy="28575"/>
          </a:xfrm>
          <a:prstGeom prst="rect">
            <a:avLst/>
          </a:prstGeom>
          <a:solidFill>
            <a:srgbClr val="B97417"/>
          </a:solidFill>
          <a:ln/>
        </p:spPr>
      </p:sp>
      <p:sp>
        <p:nvSpPr>
          <p:cNvPr id="12" name="Text 10"/>
          <p:cNvSpPr/>
          <p:nvPr/>
        </p:nvSpPr>
        <p:spPr>
          <a:xfrm>
            <a:off x="8100417" y="2647950"/>
            <a:ext cx="211236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MONTH 9 · GATE</a:t>
            </a:r>
            <a:endParaRPr lang="en-US" sz="1800" dirty="0"/>
          </a:p>
        </p:txBody>
      </p:sp>
      <p:sp>
        <p:nvSpPr>
          <p:cNvPr id="13" name="Text 11"/>
          <p:cNvSpPr/>
          <p:nvPr/>
        </p:nvSpPr>
        <p:spPr>
          <a:xfrm>
            <a:off x="8365778" y="2971800"/>
            <a:ext cx="1528569"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B97417"/>
                </a:solidFill>
                <a:latin typeface="Bricolage Grotesque" pitchFamily="34" charset="0"/>
                <a:ea typeface="Bricolage Grotesque" pitchFamily="34" charset="-122"/>
                <a:cs typeface="Bricolage Grotesque" pitchFamily="34" charset="-120"/>
              </a:rPr>
              <a:t>connected</a:t>
            </a:r>
            <a:endParaRPr lang="en-US" sz="2100" dirty="0"/>
          </a:p>
        </p:txBody>
      </p:sp>
      <p:sp>
        <p:nvSpPr>
          <p:cNvPr id="14" name="Shape 12"/>
          <p:cNvSpPr/>
          <p:nvPr/>
        </p:nvSpPr>
        <p:spPr>
          <a:xfrm>
            <a:off x="10715625" y="3371850"/>
            <a:ext cx="3309938" cy="28575"/>
          </a:xfrm>
          <a:prstGeom prst="rect">
            <a:avLst/>
          </a:prstGeom>
          <a:solidFill>
            <a:srgbClr val="1B2530"/>
          </a:solidFill>
          <a:ln/>
        </p:spPr>
      </p:sp>
      <p:sp>
        <p:nvSpPr>
          <p:cNvPr id="15" name="Text 13"/>
          <p:cNvSpPr/>
          <p:nvPr/>
        </p:nvSpPr>
        <p:spPr>
          <a:xfrm>
            <a:off x="11821864" y="2647950"/>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15</a:t>
            </a:r>
            <a:endParaRPr lang="en-US" sz="1800" dirty="0"/>
          </a:p>
        </p:txBody>
      </p:sp>
      <p:sp>
        <p:nvSpPr>
          <p:cNvPr id="16" name="Text 14"/>
          <p:cNvSpPr/>
          <p:nvPr/>
        </p:nvSpPr>
        <p:spPr>
          <a:xfrm>
            <a:off x="11711583" y="2971800"/>
            <a:ext cx="1449824"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runs itself</a:t>
            </a:r>
            <a:endParaRPr lang="en-US" sz="2100" dirty="0"/>
          </a:p>
        </p:txBody>
      </p:sp>
      <p:sp>
        <p:nvSpPr>
          <p:cNvPr id="17" name="Shape 15"/>
          <p:cNvSpPr/>
          <p:nvPr/>
        </p:nvSpPr>
        <p:spPr>
          <a:xfrm>
            <a:off x="14025563" y="3371850"/>
            <a:ext cx="3309938" cy="28575"/>
          </a:xfrm>
          <a:prstGeom prst="rect">
            <a:avLst/>
          </a:prstGeom>
          <a:solidFill>
            <a:srgbClr val="1B2530"/>
          </a:solidFill>
          <a:ln/>
        </p:spPr>
      </p:sp>
      <p:sp>
        <p:nvSpPr>
          <p:cNvPr id="18" name="Text 16"/>
          <p:cNvSpPr/>
          <p:nvPr/>
        </p:nvSpPr>
        <p:spPr>
          <a:xfrm>
            <a:off x="15131802" y="2647950"/>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24</a:t>
            </a:r>
            <a:endParaRPr lang="en-US" sz="1800" dirty="0"/>
          </a:p>
        </p:txBody>
      </p:sp>
      <p:sp>
        <p:nvSpPr>
          <p:cNvPr id="19" name="Text 17"/>
          <p:cNvSpPr/>
          <p:nvPr/>
        </p:nvSpPr>
        <p:spPr>
          <a:xfrm>
            <a:off x="15099506" y="2971800"/>
            <a:ext cx="1238101"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prevents</a:t>
            </a:r>
            <a:endParaRPr lang="en-US" sz="2100" dirty="0"/>
          </a:p>
        </p:txBody>
      </p:sp>
      <p:sp>
        <p:nvSpPr>
          <p:cNvPr id="20" name="Shape 18"/>
          <p:cNvSpPr/>
          <p:nvPr/>
        </p:nvSpPr>
        <p:spPr>
          <a:xfrm>
            <a:off x="4076700" y="3400425"/>
            <a:ext cx="19050" cy="1352550"/>
          </a:xfrm>
          <a:prstGeom prst="rect">
            <a:avLst/>
          </a:prstGeom>
          <a:solidFill>
            <a:srgbClr val="1B2530"/>
          </a:solidFill>
          <a:ln/>
        </p:spPr>
      </p:sp>
      <p:sp>
        <p:nvSpPr>
          <p:cNvPr id="21" name="Text 19"/>
          <p:cNvSpPr/>
          <p:nvPr/>
        </p:nvSpPr>
        <p:spPr>
          <a:xfrm>
            <a:off x="952500" y="34575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Platform substrate</a:t>
            </a:r>
            <a:endParaRPr lang="en-US" sz="1950" dirty="0"/>
          </a:p>
        </p:txBody>
      </p:sp>
      <p:sp>
        <p:nvSpPr>
          <p:cNvPr id="22" name="Text 20"/>
          <p:cNvSpPr/>
          <p:nvPr/>
        </p:nvSpPr>
        <p:spPr>
          <a:xfrm>
            <a:off x="952500" y="3781425"/>
            <a:ext cx="3060954" cy="9525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STREAM · REGISTRY · GATE — BUILT BY MISSION SQUADS</a:t>
            </a:r>
            <a:endParaRPr lang="en-US" sz="1800" dirty="0"/>
          </a:p>
        </p:txBody>
      </p:sp>
      <p:sp>
        <p:nvSpPr>
          <p:cNvPr id="23" name="Shape 21"/>
          <p:cNvSpPr/>
          <p:nvPr/>
        </p:nvSpPr>
        <p:spPr>
          <a:xfrm>
            <a:off x="5674519" y="3819525"/>
            <a:ext cx="152400" cy="152400"/>
          </a:xfrm>
          <a:prstGeom prst="ellipse">
            <a:avLst/>
          </a:prstGeom>
          <a:solidFill>
            <a:srgbClr val="8B99A4"/>
          </a:solidFill>
          <a:ln/>
        </p:spPr>
      </p:sp>
      <p:sp>
        <p:nvSpPr>
          <p:cNvPr id="24" name="Shape 22"/>
          <p:cNvSpPr/>
          <p:nvPr/>
        </p:nvSpPr>
        <p:spPr>
          <a:xfrm>
            <a:off x="5826919" y="3881438"/>
            <a:ext cx="1502569" cy="28575"/>
          </a:xfrm>
          <a:prstGeom prst="rect">
            <a:avLst/>
          </a:prstGeom>
          <a:solidFill>
            <a:srgbClr val="C7CEC6"/>
          </a:solidFill>
          <a:ln/>
        </p:spPr>
      </p:sp>
      <p:sp>
        <p:nvSpPr>
          <p:cNvPr id="25" name="Text 23"/>
          <p:cNvSpPr/>
          <p:nvPr/>
        </p:nvSpPr>
        <p:spPr>
          <a:xfrm>
            <a:off x="4014073"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not built — starts M0</a:t>
            </a:r>
            <a:endParaRPr lang="en-US" sz="1800" dirty="0"/>
          </a:p>
        </p:txBody>
      </p:sp>
      <p:sp>
        <p:nvSpPr>
          <p:cNvPr id="26" name="Shape 24"/>
          <p:cNvSpPr/>
          <p:nvPr/>
        </p:nvSpPr>
        <p:spPr>
          <a:xfrm>
            <a:off x="7405688" y="3400425"/>
            <a:ext cx="3309938" cy="1352550"/>
          </a:xfrm>
          <a:prstGeom prst="rect">
            <a:avLst/>
          </a:prstGeom>
          <a:solidFill>
            <a:srgbClr val="FBF3E4"/>
          </a:solidFill>
          <a:ln/>
        </p:spPr>
      </p:sp>
      <p:sp>
        <p:nvSpPr>
          <p:cNvPr id="27" name="Shape 25"/>
          <p:cNvSpPr/>
          <p:nvPr/>
        </p:nvSpPr>
        <p:spPr>
          <a:xfrm>
            <a:off x="7481887" y="3738563"/>
            <a:ext cx="1473994" cy="28575"/>
          </a:xfrm>
          <a:prstGeom prst="rect">
            <a:avLst/>
          </a:prstGeom>
          <a:solidFill>
            <a:srgbClr val="C7CEC6"/>
          </a:solidFill>
          <a:ln/>
        </p:spPr>
      </p:sp>
      <p:sp>
        <p:nvSpPr>
          <p:cNvPr id="28" name="Shape 26"/>
          <p:cNvSpPr/>
          <p:nvPr/>
        </p:nvSpPr>
        <p:spPr>
          <a:xfrm rot="2700000">
            <a:off x="8955881" y="3648075"/>
            <a:ext cx="209550" cy="209550"/>
          </a:xfrm>
          <a:prstGeom prst="roundRect">
            <a:avLst>
              <a:gd name="adj" fmla="val 18182"/>
            </a:avLst>
          </a:prstGeom>
          <a:solidFill>
            <a:srgbClr val="B97417"/>
          </a:solidFill>
          <a:ln/>
        </p:spPr>
      </p:sp>
      <p:sp>
        <p:nvSpPr>
          <p:cNvPr id="29" name="Shape 27"/>
          <p:cNvSpPr/>
          <p:nvPr/>
        </p:nvSpPr>
        <p:spPr>
          <a:xfrm>
            <a:off x="9165431" y="3738563"/>
            <a:ext cx="1473994" cy="28575"/>
          </a:xfrm>
          <a:prstGeom prst="rect">
            <a:avLst/>
          </a:prstGeom>
          <a:solidFill>
            <a:srgbClr val="C7CEC6"/>
          </a:solidFill>
          <a:ln/>
        </p:spPr>
      </p:sp>
      <p:sp>
        <p:nvSpPr>
          <p:cNvPr id="30" name="Text 28"/>
          <p:cNvSpPr/>
          <p:nvPr/>
        </p:nvSpPr>
        <p:spPr>
          <a:xfrm>
            <a:off x="7434524" y="39338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stream, registry, join live; gate in shadow</a:t>
            </a:r>
            <a:endParaRPr lang="en-US" sz="1800" dirty="0"/>
          </a:p>
        </p:txBody>
      </p:sp>
      <p:sp>
        <p:nvSpPr>
          <p:cNvPr id="31" name="Shape 29"/>
          <p:cNvSpPr/>
          <p:nvPr/>
        </p:nvSpPr>
        <p:spPr>
          <a:xfrm>
            <a:off x="10791825" y="3881438"/>
            <a:ext cx="1502569" cy="28575"/>
          </a:xfrm>
          <a:prstGeom prst="rect">
            <a:avLst/>
          </a:prstGeom>
          <a:solidFill>
            <a:srgbClr val="C7CEC6"/>
          </a:solidFill>
          <a:ln/>
        </p:spPr>
      </p:sp>
      <p:sp>
        <p:nvSpPr>
          <p:cNvPr id="32" name="Shape 30"/>
          <p:cNvSpPr/>
          <p:nvPr/>
        </p:nvSpPr>
        <p:spPr>
          <a:xfrm>
            <a:off x="12294394" y="3819525"/>
            <a:ext cx="152400" cy="152400"/>
          </a:xfrm>
          <a:prstGeom prst="ellipse">
            <a:avLst/>
          </a:prstGeom>
          <a:solidFill>
            <a:srgbClr val="FDFDFB"/>
          </a:solidFill>
          <a:ln w="38100">
            <a:solidFill>
              <a:srgbClr val="0E7C6B"/>
            </a:solidFill>
            <a:prstDash val="solid"/>
          </a:ln>
        </p:spPr>
      </p:sp>
      <p:sp>
        <p:nvSpPr>
          <p:cNvPr id="33" name="Shape 31"/>
          <p:cNvSpPr/>
          <p:nvPr/>
        </p:nvSpPr>
        <p:spPr>
          <a:xfrm>
            <a:off x="12446794" y="3881438"/>
            <a:ext cx="1502569" cy="28575"/>
          </a:xfrm>
          <a:prstGeom prst="rect">
            <a:avLst/>
          </a:prstGeom>
          <a:solidFill>
            <a:srgbClr val="C7CEC6"/>
          </a:solidFill>
          <a:ln/>
        </p:spPr>
      </p:sp>
      <p:sp>
        <p:nvSpPr>
          <p:cNvPr id="34" name="Text 32"/>
          <p:cNvSpPr/>
          <p:nvPr/>
        </p:nvSpPr>
        <p:spPr>
          <a:xfrm>
            <a:off x="10633948"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hardened; self-serve APIs</a:t>
            </a:r>
            <a:endParaRPr lang="en-US" sz="1800" dirty="0"/>
          </a:p>
        </p:txBody>
      </p:sp>
      <p:sp>
        <p:nvSpPr>
          <p:cNvPr id="35" name="Shape 33"/>
          <p:cNvSpPr/>
          <p:nvPr/>
        </p:nvSpPr>
        <p:spPr>
          <a:xfrm>
            <a:off x="14101763" y="3881438"/>
            <a:ext cx="1493044" cy="28575"/>
          </a:xfrm>
          <a:prstGeom prst="rect">
            <a:avLst/>
          </a:prstGeom>
          <a:solidFill>
            <a:srgbClr val="C7CEC6"/>
          </a:solidFill>
          <a:ln/>
        </p:spPr>
      </p:sp>
      <p:sp>
        <p:nvSpPr>
          <p:cNvPr id="36" name="Shape 34"/>
          <p:cNvSpPr/>
          <p:nvPr/>
        </p:nvSpPr>
        <p:spPr>
          <a:xfrm>
            <a:off x="15594806" y="3810000"/>
            <a:ext cx="171450" cy="171450"/>
          </a:xfrm>
          <a:prstGeom prst="ellipse">
            <a:avLst/>
          </a:prstGeom>
          <a:solidFill>
            <a:srgbClr val="0E7C6B"/>
          </a:solidFill>
          <a:ln/>
        </p:spPr>
      </p:sp>
      <p:sp>
        <p:nvSpPr>
          <p:cNvPr id="37" name="Text 35"/>
          <p:cNvSpPr/>
          <p:nvPr/>
        </p:nvSpPr>
        <p:spPr>
          <a:xfrm>
            <a:off x="13943886" y="4057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enforcing at scale</a:t>
            </a:r>
            <a:endParaRPr lang="en-US" sz="1800" dirty="0"/>
          </a:p>
        </p:txBody>
      </p:sp>
      <p:sp>
        <p:nvSpPr>
          <p:cNvPr id="38" name="Shape 36"/>
          <p:cNvSpPr/>
          <p:nvPr/>
        </p:nvSpPr>
        <p:spPr>
          <a:xfrm>
            <a:off x="4076700" y="4752975"/>
            <a:ext cx="19050" cy="914400"/>
          </a:xfrm>
          <a:prstGeom prst="rect">
            <a:avLst/>
          </a:prstGeom>
          <a:solidFill>
            <a:srgbClr val="1B2530"/>
          </a:solidFill>
          <a:ln/>
        </p:spPr>
      </p:sp>
      <p:sp>
        <p:nvSpPr>
          <p:cNvPr id="39" name="Text 37"/>
          <p:cNvSpPr/>
          <p:nvPr/>
        </p:nvSpPr>
        <p:spPr>
          <a:xfrm>
            <a:off x="952500" y="4895850"/>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Batch data quality</a:t>
            </a:r>
            <a:endParaRPr lang="en-US" sz="1950" dirty="0"/>
          </a:p>
        </p:txBody>
      </p:sp>
      <p:sp>
        <p:nvSpPr>
          <p:cNvPr id="40" name="Text 38"/>
          <p:cNvSpPr/>
          <p:nvPr/>
        </p:nvSpPr>
        <p:spPr>
          <a:xfrm>
            <a:off x="952500" y="5219700"/>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41" name="Shape 39"/>
          <p:cNvSpPr/>
          <p:nvPr/>
        </p:nvSpPr>
        <p:spPr>
          <a:xfrm>
            <a:off x="5674519" y="4810125"/>
            <a:ext cx="152400" cy="152400"/>
          </a:xfrm>
          <a:prstGeom prst="ellipse">
            <a:avLst/>
          </a:prstGeom>
          <a:solidFill>
            <a:srgbClr val="8B99A4"/>
          </a:solidFill>
          <a:ln/>
        </p:spPr>
      </p:sp>
      <p:sp>
        <p:nvSpPr>
          <p:cNvPr id="42" name="Shape 40"/>
          <p:cNvSpPr/>
          <p:nvPr/>
        </p:nvSpPr>
        <p:spPr>
          <a:xfrm>
            <a:off x="5826919" y="4872038"/>
            <a:ext cx="1502569" cy="28575"/>
          </a:xfrm>
          <a:prstGeom prst="rect">
            <a:avLst/>
          </a:prstGeom>
          <a:solidFill>
            <a:srgbClr val="C7CEC6"/>
          </a:solidFill>
          <a:ln/>
        </p:spPr>
      </p:sp>
      <p:sp>
        <p:nvSpPr>
          <p:cNvPr id="43" name="Text 41"/>
          <p:cNvSpPr/>
          <p:nvPr/>
        </p:nvSpPr>
        <p:spPr>
          <a:xfrm>
            <a:off x="4124587" y="50387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per-team checks, no shared view</a:t>
            </a:r>
            <a:endParaRPr lang="en-US" sz="1800" dirty="0"/>
          </a:p>
        </p:txBody>
      </p:sp>
      <p:sp>
        <p:nvSpPr>
          <p:cNvPr id="44" name="Shape 42"/>
          <p:cNvSpPr/>
          <p:nvPr/>
        </p:nvSpPr>
        <p:spPr>
          <a:xfrm>
            <a:off x="7405688" y="4752975"/>
            <a:ext cx="3309938" cy="914400"/>
          </a:xfrm>
          <a:prstGeom prst="rect">
            <a:avLst/>
          </a:prstGeom>
          <a:solidFill>
            <a:srgbClr val="FBF3E4"/>
          </a:solidFill>
          <a:ln/>
        </p:spPr>
      </p:sp>
      <p:sp>
        <p:nvSpPr>
          <p:cNvPr id="45" name="Shape 43"/>
          <p:cNvSpPr/>
          <p:nvPr/>
        </p:nvSpPr>
        <p:spPr>
          <a:xfrm>
            <a:off x="7481887" y="5014913"/>
            <a:ext cx="1473994" cy="28575"/>
          </a:xfrm>
          <a:prstGeom prst="rect">
            <a:avLst/>
          </a:prstGeom>
          <a:solidFill>
            <a:srgbClr val="C7CEC6"/>
          </a:solidFill>
          <a:ln/>
        </p:spPr>
      </p:sp>
      <p:sp>
        <p:nvSpPr>
          <p:cNvPr id="46" name="Shape 44"/>
          <p:cNvSpPr/>
          <p:nvPr/>
        </p:nvSpPr>
        <p:spPr>
          <a:xfrm rot="2700000">
            <a:off x="8955881" y="4924425"/>
            <a:ext cx="209550" cy="209550"/>
          </a:xfrm>
          <a:prstGeom prst="roundRect">
            <a:avLst>
              <a:gd name="adj" fmla="val 18182"/>
            </a:avLst>
          </a:prstGeom>
          <a:solidFill>
            <a:srgbClr val="B97417"/>
          </a:solidFill>
          <a:ln/>
        </p:spPr>
      </p:sp>
      <p:sp>
        <p:nvSpPr>
          <p:cNvPr id="47" name="Shape 45"/>
          <p:cNvSpPr/>
          <p:nvPr/>
        </p:nvSpPr>
        <p:spPr>
          <a:xfrm>
            <a:off x="9165431" y="5014913"/>
            <a:ext cx="1473994" cy="28575"/>
          </a:xfrm>
          <a:prstGeom prst="rect">
            <a:avLst/>
          </a:prstGeom>
          <a:solidFill>
            <a:srgbClr val="C7CEC6"/>
          </a:solidFill>
          <a:ln/>
        </p:spPr>
      </p:sp>
      <p:sp>
        <p:nvSpPr>
          <p:cNvPr id="48" name="Text 46"/>
          <p:cNvSpPr/>
          <p:nvPr/>
        </p:nvSpPr>
        <p:spPr>
          <a:xfrm>
            <a:off x="7324011" y="5210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federated — one pane</a:t>
            </a:r>
            <a:endParaRPr lang="en-US" sz="1800" dirty="0"/>
          </a:p>
        </p:txBody>
      </p:sp>
      <p:sp>
        <p:nvSpPr>
          <p:cNvPr id="49" name="Shape 47"/>
          <p:cNvSpPr/>
          <p:nvPr/>
        </p:nvSpPr>
        <p:spPr>
          <a:xfrm>
            <a:off x="10791825" y="5014913"/>
            <a:ext cx="1502569" cy="28575"/>
          </a:xfrm>
          <a:prstGeom prst="rect">
            <a:avLst/>
          </a:prstGeom>
          <a:solidFill>
            <a:srgbClr val="C7CEC6"/>
          </a:solidFill>
          <a:ln/>
        </p:spPr>
      </p:sp>
      <p:sp>
        <p:nvSpPr>
          <p:cNvPr id="50" name="Shape 48"/>
          <p:cNvSpPr/>
          <p:nvPr/>
        </p:nvSpPr>
        <p:spPr>
          <a:xfrm>
            <a:off x="12294394" y="4953000"/>
            <a:ext cx="152400" cy="152400"/>
          </a:xfrm>
          <a:prstGeom prst="ellipse">
            <a:avLst/>
          </a:prstGeom>
          <a:solidFill>
            <a:srgbClr val="FDFDFB"/>
          </a:solidFill>
          <a:ln w="38100">
            <a:solidFill>
              <a:srgbClr val="0E7C6B"/>
            </a:solidFill>
            <a:prstDash val="solid"/>
          </a:ln>
        </p:spPr>
      </p:sp>
      <p:sp>
        <p:nvSpPr>
          <p:cNvPr id="51" name="Shape 49"/>
          <p:cNvSpPr/>
          <p:nvPr/>
        </p:nvSpPr>
        <p:spPr>
          <a:xfrm>
            <a:off x="12446794" y="5014913"/>
            <a:ext cx="1502569" cy="28575"/>
          </a:xfrm>
          <a:prstGeom prst="rect">
            <a:avLst/>
          </a:prstGeom>
          <a:solidFill>
            <a:srgbClr val="C7CEC6"/>
          </a:solidFill>
          <a:ln/>
        </p:spPr>
      </p:sp>
      <p:sp>
        <p:nvSpPr>
          <p:cNvPr id="52" name="Text 50"/>
          <p:cNvSpPr/>
          <p:nvPr/>
        </p:nvSpPr>
        <p:spPr>
          <a:xfrm>
            <a:off x="10633948" y="51816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auto-tuned</a:t>
            </a:r>
            <a:endParaRPr lang="en-US" sz="1800" dirty="0"/>
          </a:p>
        </p:txBody>
      </p:sp>
      <p:sp>
        <p:nvSpPr>
          <p:cNvPr id="53" name="Shape 51"/>
          <p:cNvSpPr/>
          <p:nvPr/>
        </p:nvSpPr>
        <p:spPr>
          <a:xfrm>
            <a:off x="14101763" y="5014913"/>
            <a:ext cx="1493044" cy="28575"/>
          </a:xfrm>
          <a:prstGeom prst="rect">
            <a:avLst/>
          </a:prstGeom>
          <a:solidFill>
            <a:srgbClr val="C7CEC6"/>
          </a:solidFill>
          <a:ln/>
        </p:spPr>
      </p:sp>
      <p:sp>
        <p:nvSpPr>
          <p:cNvPr id="54" name="Shape 52"/>
          <p:cNvSpPr/>
          <p:nvPr/>
        </p:nvSpPr>
        <p:spPr>
          <a:xfrm>
            <a:off x="15594806" y="4943475"/>
            <a:ext cx="171450" cy="171450"/>
          </a:xfrm>
          <a:prstGeom prst="ellipse">
            <a:avLst/>
          </a:prstGeom>
          <a:solidFill>
            <a:srgbClr val="0E7C6B"/>
          </a:solidFill>
          <a:ln/>
        </p:spPr>
      </p:sp>
      <p:sp>
        <p:nvSpPr>
          <p:cNvPr id="55" name="Text 53"/>
          <p:cNvSpPr/>
          <p:nvPr/>
        </p:nvSpPr>
        <p:spPr>
          <a:xfrm>
            <a:off x="13943886" y="5191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blocks bad batches</a:t>
            </a:r>
            <a:endParaRPr lang="en-US" sz="1800" dirty="0"/>
          </a:p>
        </p:txBody>
      </p:sp>
      <p:sp>
        <p:nvSpPr>
          <p:cNvPr id="56" name="Shape 54"/>
          <p:cNvSpPr/>
          <p:nvPr/>
        </p:nvSpPr>
        <p:spPr>
          <a:xfrm>
            <a:off x="4076700" y="5667375"/>
            <a:ext cx="19050" cy="742950"/>
          </a:xfrm>
          <a:prstGeom prst="rect">
            <a:avLst/>
          </a:prstGeom>
          <a:solidFill>
            <a:srgbClr val="1B2530"/>
          </a:solidFill>
          <a:ln/>
        </p:spPr>
      </p:sp>
      <p:sp>
        <p:nvSpPr>
          <p:cNvPr id="57" name="Text 55"/>
          <p:cNvSpPr/>
          <p:nvPr/>
        </p:nvSpPr>
        <p:spPr>
          <a:xfrm>
            <a:off x="952500" y="57245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At-rest checks</a:t>
            </a:r>
            <a:endParaRPr lang="en-US" sz="1950" dirty="0"/>
          </a:p>
        </p:txBody>
      </p:sp>
      <p:sp>
        <p:nvSpPr>
          <p:cNvPr id="58" name="Text 56"/>
          <p:cNvSpPr/>
          <p:nvPr/>
        </p:nvSpPr>
        <p:spPr>
          <a:xfrm>
            <a:off x="952500" y="60483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59" name="Shape 57"/>
          <p:cNvSpPr/>
          <p:nvPr/>
        </p:nvSpPr>
        <p:spPr>
          <a:xfrm>
            <a:off x="5674519" y="5781675"/>
            <a:ext cx="152400" cy="152400"/>
          </a:xfrm>
          <a:prstGeom prst="ellipse">
            <a:avLst/>
          </a:prstGeom>
          <a:solidFill>
            <a:srgbClr val="8B99A4"/>
          </a:solidFill>
          <a:ln/>
        </p:spPr>
      </p:sp>
      <p:sp>
        <p:nvSpPr>
          <p:cNvPr id="60" name="Shape 58"/>
          <p:cNvSpPr/>
          <p:nvPr/>
        </p:nvSpPr>
        <p:spPr>
          <a:xfrm>
            <a:off x="5826919" y="5843588"/>
            <a:ext cx="1502569" cy="28575"/>
          </a:xfrm>
          <a:prstGeom prst="rect">
            <a:avLst/>
          </a:prstGeom>
          <a:solidFill>
            <a:srgbClr val="C7CEC6"/>
          </a:solidFill>
          <a:ln/>
        </p:spPr>
      </p:sp>
      <p:sp>
        <p:nvSpPr>
          <p:cNvPr id="61" name="Text 59"/>
          <p:cNvSpPr/>
          <p:nvPr/>
        </p:nvSpPr>
        <p:spPr>
          <a:xfrm>
            <a:off x="4014073"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 build</a:t>
            </a:r>
            <a:endParaRPr lang="en-US" sz="1800" dirty="0"/>
          </a:p>
        </p:txBody>
      </p:sp>
      <p:sp>
        <p:nvSpPr>
          <p:cNvPr id="62" name="Shape 60"/>
          <p:cNvSpPr/>
          <p:nvPr/>
        </p:nvSpPr>
        <p:spPr>
          <a:xfrm>
            <a:off x="7405688" y="5667375"/>
            <a:ext cx="3309938" cy="742950"/>
          </a:xfrm>
          <a:prstGeom prst="rect">
            <a:avLst/>
          </a:prstGeom>
          <a:solidFill>
            <a:srgbClr val="FBF3E4"/>
          </a:solidFill>
          <a:ln/>
        </p:spPr>
      </p:sp>
      <p:sp>
        <p:nvSpPr>
          <p:cNvPr id="63" name="Shape 61"/>
          <p:cNvSpPr/>
          <p:nvPr/>
        </p:nvSpPr>
        <p:spPr>
          <a:xfrm>
            <a:off x="7481887" y="5843588"/>
            <a:ext cx="1473994" cy="28575"/>
          </a:xfrm>
          <a:prstGeom prst="rect">
            <a:avLst/>
          </a:prstGeom>
          <a:solidFill>
            <a:srgbClr val="C7CEC6"/>
          </a:solidFill>
          <a:ln/>
        </p:spPr>
      </p:sp>
      <p:sp>
        <p:nvSpPr>
          <p:cNvPr id="64" name="Shape 62"/>
          <p:cNvSpPr/>
          <p:nvPr/>
        </p:nvSpPr>
        <p:spPr>
          <a:xfrm rot="2700000">
            <a:off x="8955881" y="5753100"/>
            <a:ext cx="209550" cy="209550"/>
          </a:xfrm>
          <a:prstGeom prst="roundRect">
            <a:avLst>
              <a:gd name="adj" fmla="val 18182"/>
            </a:avLst>
          </a:prstGeom>
          <a:solidFill>
            <a:srgbClr val="B97417"/>
          </a:solidFill>
          <a:ln/>
        </p:spPr>
      </p:sp>
      <p:sp>
        <p:nvSpPr>
          <p:cNvPr id="65" name="Shape 63"/>
          <p:cNvSpPr/>
          <p:nvPr/>
        </p:nvSpPr>
        <p:spPr>
          <a:xfrm>
            <a:off x="9165431" y="5843588"/>
            <a:ext cx="1473994" cy="28575"/>
          </a:xfrm>
          <a:prstGeom prst="rect">
            <a:avLst/>
          </a:prstGeom>
          <a:solidFill>
            <a:srgbClr val="C7CEC6"/>
          </a:solidFill>
          <a:ln/>
        </p:spPr>
      </p:sp>
      <p:sp>
        <p:nvSpPr>
          <p:cNvPr id="66" name="Text 64"/>
          <p:cNvSpPr/>
          <p:nvPr/>
        </p:nvSpPr>
        <p:spPr>
          <a:xfrm>
            <a:off x="7324011" y="60388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learned baselines live</a:t>
            </a:r>
            <a:endParaRPr lang="en-US" sz="1800" dirty="0"/>
          </a:p>
        </p:txBody>
      </p:sp>
      <p:sp>
        <p:nvSpPr>
          <p:cNvPr id="67" name="Shape 65"/>
          <p:cNvSpPr/>
          <p:nvPr/>
        </p:nvSpPr>
        <p:spPr>
          <a:xfrm>
            <a:off x="10791825" y="5843588"/>
            <a:ext cx="1502569" cy="28575"/>
          </a:xfrm>
          <a:prstGeom prst="rect">
            <a:avLst/>
          </a:prstGeom>
          <a:solidFill>
            <a:srgbClr val="C7CEC6"/>
          </a:solidFill>
          <a:ln/>
        </p:spPr>
      </p:sp>
      <p:sp>
        <p:nvSpPr>
          <p:cNvPr id="68" name="Shape 66"/>
          <p:cNvSpPr/>
          <p:nvPr/>
        </p:nvSpPr>
        <p:spPr>
          <a:xfrm>
            <a:off x="12294394" y="5781675"/>
            <a:ext cx="152400" cy="152400"/>
          </a:xfrm>
          <a:prstGeom prst="ellipse">
            <a:avLst/>
          </a:prstGeom>
          <a:solidFill>
            <a:srgbClr val="FDFDFB"/>
          </a:solidFill>
          <a:ln w="38100">
            <a:solidFill>
              <a:srgbClr val="0E7C6B"/>
            </a:solidFill>
            <a:prstDash val="solid"/>
          </a:ln>
        </p:spPr>
      </p:sp>
      <p:sp>
        <p:nvSpPr>
          <p:cNvPr id="69" name="Shape 67"/>
          <p:cNvSpPr/>
          <p:nvPr/>
        </p:nvSpPr>
        <p:spPr>
          <a:xfrm>
            <a:off x="12446794" y="5843588"/>
            <a:ext cx="1502569" cy="28575"/>
          </a:xfrm>
          <a:prstGeom prst="rect">
            <a:avLst/>
          </a:prstGeom>
          <a:solidFill>
            <a:srgbClr val="C7CEC6"/>
          </a:solidFill>
          <a:ln/>
        </p:spPr>
      </p:sp>
      <p:sp>
        <p:nvSpPr>
          <p:cNvPr id="70" name="Text 68"/>
          <p:cNvSpPr/>
          <p:nvPr/>
        </p:nvSpPr>
        <p:spPr>
          <a:xfrm>
            <a:off x="10633948"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estate-wide</a:t>
            </a:r>
            <a:endParaRPr lang="en-US" sz="1800" dirty="0"/>
          </a:p>
        </p:txBody>
      </p:sp>
      <p:sp>
        <p:nvSpPr>
          <p:cNvPr id="71" name="Shape 69"/>
          <p:cNvSpPr/>
          <p:nvPr/>
        </p:nvSpPr>
        <p:spPr>
          <a:xfrm>
            <a:off x="14101763" y="5843588"/>
            <a:ext cx="1493044" cy="28575"/>
          </a:xfrm>
          <a:prstGeom prst="rect">
            <a:avLst/>
          </a:prstGeom>
          <a:solidFill>
            <a:srgbClr val="C7CEC6"/>
          </a:solidFill>
          <a:ln/>
        </p:spPr>
      </p:sp>
      <p:sp>
        <p:nvSpPr>
          <p:cNvPr id="72" name="Shape 70"/>
          <p:cNvSpPr/>
          <p:nvPr/>
        </p:nvSpPr>
        <p:spPr>
          <a:xfrm>
            <a:off x="15594806" y="5772150"/>
            <a:ext cx="171450" cy="171450"/>
          </a:xfrm>
          <a:prstGeom prst="ellipse">
            <a:avLst/>
          </a:prstGeom>
          <a:solidFill>
            <a:srgbClr val="0E7C6B"/>
          </a:solidFill>
          <a:ln/>
        </p:spPr>
      </p:sp>
      <p:sp>
        <p:nvSpPr>
          <p:cNvPr id="73" name="Text 71"/>
          <p:cNvSpPr/>
          <p:nvPr/>
        </p:nvSpPr>
        <p:spPr>
          <a:xfrm>
            <a:off x="13943886" y="6019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feeds the gate</a:t>
            </a:r>
            <a:endParaRPr lang="en-US" sz="1800" dirty="0"/>
          </a:p>
        </p:txBody>
      </p:sp>
      <p:sp>
        <p:nvSpPr>
          <p:cNvPr id="74" name="Shape 72"/>
          <p:cNvSpPr/>
          <p:nvPr/>
        </p:nvSpPr>
        <p:spPr>
          <a:xfrm>
            <a:off x="4076700" y="6410325"/>
            <a:ext cx="19050" cy="742950"/>
          </a:xfrm>
          <a:prstGeom prst="rect">
            <a:avLst/>
          </a:prstGeom>
          <a:solidFill>
            <a:srgbClr val="1B2530"/>
          </a:solidFill>
          <a:ln/>
        </p:spPr>
      </p:sp>
      <p:sp>
        <p:nvSpPr>
          <p:cNvPr id="75" name="Text 73"/>
          <p:cNvSpPr/>
          <p:nvPr/>
        </p:nvSpPr>
        <p:spPr>
          <a:xfrm>
            <a:off x="952500" y="64674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Streaming checks</a:t>
            </a:r>
            <a:endParaRPr lang="en-US" sz="1950" dirty="0"/>
          </a:p>
        </p:txBody>
      </p:sp>
      <p:sp>
        <p:nvSpPr>
          <p:cNvPr id="76" name="Text 74"/>
          <p:cNvSpPr/>
          <p:nvPr/>
        </p:nvSpPr>
        <p:spPr>
          <a:xfrm>
            <a:off x="952500" y="67913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77" name="Shape 75"/>
          <p:cNvSpPr/>
          <p:nvPr/>
        </p:nvSpPr>
        <p:spPr>
          <a:xfrm>
            <a:off x="5674519" y="6524625"/>
            <a:ext cx="152400" cy="152400"/>
          </a:xfrm>
          <a:prstGeom prst="ellipse">
            <a:avLst/>
          </a:prstGeom>
          <a:solidFill>
            <a:srgbClr val="8B99A4"/>
          </a:solidFill>
          <a:ln/>
        </p:spPr>
      </p:sp>
      <p:sp>
        <p:nvSpPr>
          <p:cNvPr id="78" name="Shape 76"/>
          <p:cNvSpPr/>
          <p:nvPr/>
        </p:nvSpPr>
        <p:spPr>
          <a:xfrm>
            <a:off x="5826919" y="6586538"/>
            <a:ext cx="1502569" cy="28575"/>
          </a:xfrm>
          <a:prstGeom prst="rect">
            <a:avLst/>
          </a:prstGeom>
          <a:solidFill>
            <a:srgbClr val="C7CEC6"/>
          </a:solidFill>
          <a:ln/>
        </p:spPr>
      </p:sp>
      <p:sp>
        <p:nvSpPr>
          <p:cNvPr id="79" name="Text 77"/>
          <p:cNvSpPr/>
          <p:nvPr/>
        </p:nvSpPr>
        <p:spPr>
          <a:xfrm>
            <a:off x="4014073"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pilot topic in build</a:t>
            </a:r>
            <a:endParaRPr lang="en-US" sz="1800" dirty="0"/>
          </a:p>
        </p:txBody>
      </p:sp>
      <p:sp>
        <p:nvSpPr>
          <p:cNvPr id="80" name="Shape 78"/>
          <p:cNvSpPr/>
          <p:nvPr/>
        </p:nvSpPr>
        <p:spPr>
          <a:xfrm>
            <a:off x="7405688" y="6410325"/>
            <a:ext cx="3309938" cy="742950"/>
          </a:xfrm>
          <a:prstGeom prst="rect">
            <a:avLst/>
          </a:prstGeom>
          <a:solidFill>
            <a:srgbClr val="FBF3E4"/>
          </a:solidFill>
          <a:ln/>
        </p:spPr>
      </p:sp>
      <p:sp>
        <p:nvSpPr>
          <p:cNvPr id="81" name="Shape 79"/>
          <p:cNvSpPr/>
          <p:nvPr/>
        </p:nvSpPr>
        <p:spPr>
          <a:xfrm>
            <a:off x="7481887" y="6586538"/>
            <a:ext cx="1473994" cy="28575"/>
          </a:xfrm>
          <a:prstGeom prst="rect">
            <a:avLst/>
          </a:prstGeom>
          <a:solidFill>
            <a:srgbClr val="C7CEC6"/>
          </a:solidFill>
          <a:ln/>
        </p:spPr>
      </p:sp>
      <p:sp>
        <p:nvSpPr>
          <p:cNvPr id="82" name="Shape 80"/>
          <p:cNvSpPr/>
          <p:nvPr/>
        </p:nvSpPr>
        <p:spPr>
          <a:xfrm rot="2700000">
            <a:off x="8955881" y="6496050"/>
            <a:ext cx="209550" cy="209550"/>
          </a:xfrm>
          <a:prstGeom prst="roundRect">
            <a:avLst>
              <a:gd name="adj" fmla="val 18182"/>
            </a:avLst>
          </a:prstGeom>
          <a:solidFill>
            <a:srgbClr val="B97417"/>
          </a:solidFill>
          <a:ln/>
        </p:spPr>
      </p:sp>
      <p:sp>
        <p:nvSpPr>
          <p:cNvPr id="83" name="Shape 81"/>
          <p:cNvSpPr/>
          <p:nvPr/>
        </p:nvSpPr>
        <p:spPr>
          <a:xfrm>
            <a:off x="9165431" y="6586538"/>
            <a:ext cx="1473994" cy="28575"/>
          </a:xfrm>
          <a:prstGeom prst="rect">
            <a:avLst/>
          </a:prstGeom>
          <a:solidFill>
            <a:srgbClr val="C7CEC6"/>
          </a:solidFill>
          <a:ln/>
        </p:spPr>
      </p:sp>
      <p:sp>
        <p:nvSpPr>
          <p:cNvPr id="84" name="Text 82"/>
          <p:cNvSpPr/>
          <p:nvPr/>
        </p:nvSpPr>
        <p:spPr>
          <a:xfrm>
            <a:off x="7324011" y="6781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live alerts, pre-consumption</a:t>
            </a:r>
            <a:endParaRPr lang="en-US" sz="1800" dirty="0"/>
          </a:p>
        </p:txBody>
      </p:sp>
      <p:sp>
        <p:nvSpPr>
          <p:cNvPr id="85" name="Shape 83"/>
          <p:cNvSpPr/>
          <p:nvPr/>
        </p:nvSpPr>
        <p:spPr>
          <a:xfrm>
            <a:off x="10791825" y="6586538"/>
            <a:ext cx="1502569" cy="28575"/>
          </a:xfrm>
          <a:prstGeom prst="rect">
            <a:avLst/>
          </a:prstGeom>
          <a:solidFill>
            <a:srgbClr val="C7CEC6"/>
          </a:solidFill>
          <a:ln/>
        </p:spPr>
      </p:sp>
      <p:sp>
        <p:nvSpPr>
          <p:cNvPr id="86" name="Shape 84"/>
          <p:cNvSpPr/>
          <p:nvPr/>
        </p:nvSpPr>
        <p:spPr>
          <a:xfrm>
            <a:off x="12294394" y="6524625"/>
            <a:ext cx="152400" cy="152400"/>
          </a:xfrm>
          <a:prstGeom prst="ellipse">
            <a:avLst/>
          </a:prstGeom>
          <a:solidFill>
            <a:srgbClr val="FDFDFB"/>
          </a:solidFill>
          <a:ln w="38100">
            <a:solidFill>
              <a:srgbClr val="0E7C6B"/>
            </a:solidFill>
            <a:prstDash val="solid"/>
          </a:ln>
        </p:spPr>
      </p:sp>
      <p:sp>
        <p:nvSpPr>
          <p:cNvPr id="87" name="Shape 85"/>
          <p:cNvSpPr/>
          <p:nvPr/>
        </p:nvSpPr>
        <p:spPr>
          <a:xfrm>
            <a:off x="12446794" y="6586538"/>
            <a:ext cx="1502569" cy="28575"/>
          </a:xfrm>
          <a:prstGeom prst="rect">
            <a:avLst/>
          </a:prstGeom>
          <a:solidFill>
            <a:srgbClr val="C7CEC6"/>
          </a:solidFill>
          <a:ln/>
        </p:spPr>
      </p:sp>
      <p:sp>
        <p:nvSpPr>
          <p:cNvPr id="88" name="Text 86"/>
          <p:cNvSpPr/>
          <p:nvPr/>
        </p:nvSpPr>
        <p:spPr>
          <a:xfrm>
            <a:off x="10633948"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wider topics, self-running</a:t>
            </a:r>
            <a:endParaRPr lang="en-US" sz="1800" dirty="0"/>
          </a:p>
        </p:txBody>
      </p:sp>
      <p:sp>
        <p:nvSpPr>
          <p:cNvPr id="89" name="Shape 87"/>
          <p:cNvSpPr/>
          <p:nvPr/>
        </p:nvSpPr>
        <p:spPr>
          <a:xfrm>
            <a:off x="14101763" y="6586538"/>
            <a:ext cx="1493044" cy="28575"/>
          </a:xfrm>
          <a:prstGeom prst="rect">
            <a:avLst/>
          </a:prstGeom>
          <a:solidFill>
            <a:srgbClr val="C7CEC6"/>
          </a:solidFill>
          <a:ln/>
        </p:spPr>
      </p:sp>
      <p:sp>
        <p:nvSpPr>
          <p:cNvPr id="90" name="Shape 88"/>
          <p:cNvSpPr/>
          <p:nvPr/>
        </p:nvSpPr>
        <p:spPr>
          <a:xfrm>
            <a:off x="15594806" y="6515100"/>
            <a:ext cx="171450" cy="171450"/>
          </a:xfrm>
          <a:prstGeom prst="ellipse">
            <a:avLst/>
          </a:prstGeom>
          <a:solidFill>
            <a:srgbClr val="0E7C6B"/>
          </a:solidFill>
          <a:ln/>
        </p:spPr>
      </p:sp>
      <p:sp>
        <p:nvSpPr>
          <p:cNvPr id="91" name="Text 89"/>
          <p:cNvSpPr/>
          <p:nvPr/>
        </p:nvSpPr>
        <p:spPr>
          <a:xfrm>
            <a:off x="13943886" y="6762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in-path asserts, Tier-1</a:t>
            </a:r>
            <a:endParaRPr lang="en-US" sz="1800" dirty="0"/>
          </a:p>
        </p:txBody>
      </p:sp>
      <p:sp>
        <p:nvSpPr>
          <p:cNvPr id="92" name="Shape 90"/>
          <p:cNvSpPr/>
          <p:nvPr/>
        </p:nvSpPr>
        <p:spPr>
          <a:xfrm>
            <a:off x="4076700" y="7153275"/>
            <a:ext cx="19050" cy="742950"/>
          </a:xfrm>
          <a:prstGeom prst="rect">
            <a:avLst/>
          </a:prstGeom>
          <a:solidFill>
            <a:srgbClr val="1B2530"/>
          </a:solidFill>
          <a:ln/>
        </p:spPr>
      </p:sp>
      <p:sp>
        <p:nvSpPr>
          <p:cNvPr id="93" name="Text 91"/>
          <p:cNvSpPr/>
          <p:nvPr/>
        </p:nvSpPr>
        <p:spPr>
          <a:xfrm>
            <a:off x="952500" y="72104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Lineage — the map</a:t>
            </a:r>
            <a:endParaRPr lang="en-US" sz="1950" dirty="0"/>
          </a:p>
        </p:txBody>
      </p:sp>
      <p:sp>
        <p:nvSpPr>
          <p:cNvPr id="94" name="Text 92"/>
          <p:cNvSpPr/>
          <p:nvPr/>
        </p:nvSpPr>
        <p:spPr>
          <a:xfrm>
            <a:off x="952500" y="75342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LINEAGE &amp; CONFIDENCE</a:t>
            </a:r>
            <a:endParaRPr lang="en-US" sz="1800" dirty="0"/>
          </a:p>
        </p:txBody>
      </p:sp>
      <p:sp>
        <p:nvSpPr>
          <p:cNvPr id="95" name="Shape 93"/>
          <p:cNvSpPr/>
          <p:nvPr/>
        </p:nvSpPr>
        <p:spPr>
          <a:xfrm>
            <a:off x="5674519" y="7267575"/>
            <a:ext cx="152400" cy="152400"/>
          </a:xfrm>
          <a:prstGeom prst="ellipse">
            <a:avLst/>
          </a:prstGeom>
          <a:solidFill>
            <a:srgbClr val="8B99A4"/>
          </a:solidFill>
          <a:ln/>
        </p:spPr>
      </p:sp>
      <p:sp>
        <p:nvSpPr>
          <p:cNvPr id="96" name="Shape 94"/>
          <p:cNvSpPr/>
          <p:nvPr/>
        </p:nvSpPr>
        <p:spPr>
          <a:xfrm>
            <a:off x="5826919" y="7329488"/>
            <a:ext cx="1502569" cy="28575"/>
          </a:xfrm>
          <a:prstGeom prst="rect">
            <a:avLst/>
          </a:prstGeom>
          <a:solidFill>
            <a:srgbClr val="C7CEC6"/>
          </a:solidFill>
          <a:ln/>
        </p:spPr>
      </p:sp>
      <p:sp>
        <p:nvSpPr>
          <p:cNvPr id="97" name="Text 95"/>
          <p:cNvSpPr/>
          <p:nvPr/>
        </p:nvSpPr>
        <p:spPr>
          <a:xfrm>
            <a:off x="4014073"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capture in build</a:t>
            </a:r>
            <a:endParaRPr lang="en-US" sz="1800" dirty="0"/>
          </a:p>
        </p:txBody>
      </p:sp>
      <p:sp>
        <p:nvSpPr>
          <p:cNvPr id="98" name="Shape 96"/>
          <p:cNvSpPr/>
          <p:nvPr/>
        </p:nvSpPr>
        <p:spPr>
          <a:xfrm>
            <a:off x="7405688" y="7153275"/>
            <a:ext cx="3309938" cy="742950"/>
          </a:xfrm>
          <a:prstGeom prst="rect">
            <a:avLst/>
          </a:prstGeom>
          <a:solidFill>
            <a:srgbClr val="FBF3E4"/>
          </a:solidFill>
          <a:ln/>
        </p:spPr>
      </p:sp>
      <p:sp>
        <p:nvSpPr>
          <p:cNvPr id="99" name="Shape 97"/>
          <p:cNvSpPr/>
          <p:nvPr/>
        </p:nvSpPr>
        <p:spPr>
          <a:xfrm>
            <a:off x="7481887" y="7329488"/>
            <a:ext cx="1473994" cy="28575"/>
          </a:xfrm>
          <a:prstGeom prst="rect">
            <a:avLst/>
          </a:prstGeom>
          <a:solidFill>
            <a:srgbClr val="C7CEC6"/>
          </a:solidFill>
          <a:ln/>
        </p:spPr>
      </p:sp>
      <p:sp>
        <p:nvSpPr>
          <p:cNvPr id="100" name="Shape 98"/>
          <p:cNvSpPr/>
          <p:nvPr/>
        </p:nvSpPr>
        <p:spPr>
          <a:xfrm rot="2700000">
            <a:off x="8955881" y="7239000"/>
            <a:ext cx="209550" cy="209550"/>
          </a:xfrm>
          <a:prstGeom prst="roundRect">
            <a:avLst>
              <a:gd name="adj" fmla="val 18182"/>
            </a:avLst>
          </a:prstGeom>
          <a:solidFill>
            <a:srgbClr val="B97417"/>
          </a:solidFill>
          <a:ln/>
        </p:spPr>
      </p:sp>
      <p:sp>
        <p:nvSpPr>
          <p:cNvPr id="101" name="Shape 99"/>
          <p:cNvSpPr/>
          <p:nvPr/>
        </p:nvSpPr>
        <p:spPr>
          <a:xfrm>
            <a:off x="9165431" y="7329488"/>
            <a:ext cx="1473994" cy="28575"/>
          </a:xfrm>
          <a:prstGeom prst="rect">
            <a:avLst/>
          </a:prstGeom>
          <a:solidFill>
            <a:srgbClr val="C7CEC6"/>
          </a:solidFill>
          <a:ln/>
        </p:spPr>
      </p:sp>
      <p:sp>
        <p:nvSpPr>
          <p:cNvPr id="102" name="Text 100"/>
          <p:cNvSpPr/>
          <p:nvPr/>
        </p:nvSpPr>
        <p:spPr>
          <a:xfrm>
            <a:off x="7324011" y="7524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joined + blast radius</a:t>
            </a:r>
            <a:endParaRPr lang="en-US" sz="1800" dirty="0"/>
          </a:p>
        </p:txBody>
      </p:sp>
      <p:sp>
        <p:nvSpPr>
          <p:cNvPr id="103" name="Shape 101"/>
          <p:cNvSpPr/>
          <p:nvPr/>
        </p:nvSpPr>
        <p:spPr>
          <a:xfrm>
            <a:off x="10791825" y="7329488"/>
            <a:ext cx="1502569" cy="28575"/>
          </a:xfrm>
          <a:prstGeom prst="rect">
            <a:avLst/>
          </a:prstGeom>
          <a:solidFill>
            <a:srgbClr val="C7CEC6"/>
          </a:solidFill>
          <a:ln/>
        </p:spPr>
      </p:sp>
      <p:sp>
        <p:nvSpPr>
          <p:cNvPr id="104" name="Shape 102"/>
          <p:cNvSpPr/>
          <p:nvPr/>
        </p:nvSpPr>
        <p:spPr>
          <a:xfrm>
            <a:off x="12294394" y="7267575"/>
            <a:ext cx="152400" cy="152400"/>
          </a:xfrm>
          <a:prstGeom prst="ellipse">
            <a:avLst/>
          </a:prstGeom>
          <a:solidFill>
            <a:srgbClr val="FDFDFB"/>
          </a:solidFill>
          <a:ln w="38100">
            <a:solidFill>
              <a:srgbClr val="0E7C6B"/>
            </a:solidFill>
            <a:prstDash val="solid"/>
          </a:ln>
        </p:spPr>
      </p:sp>
      <p:sp>
        <p:nvSpPr>
          <p:cNvPr id="105" name="Shape 103"/>
          <p:cNvSpPr/>
          <p:nvPr/>
        </p:nvSpPr>
        <p:spPr>
          <a:xfrm>
            <a:off x="12446794" y="7329488"/>
            <a:ext cx="1502569" cy="28575"/>
          </a:xfrm>
          <a:prstGeom prst="rect">
            <a:avLst/>
          </a:prstGeom>
          <a:solidFill>
            <a:srgbClr val="C7CEC6"/>
          </a:solidFill>
          <a:ln/>
        </p:spPr>
      </p:sp>
      <p:sp>
        <p:nvSpPr>
          <p:cNvPr id="106" name="Text 104"/>
          <p:cNvSpPr/>
          <p:nvPr/>
        </p:nvSpPr>
        <p:spPr>
          <a:xfrm>
            <a:off x="10633948"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trust-scored, self-refreshing</a:t>
            </a:r>
            <a:endParaRPr lang="en-US" sz="1800" dirty="0"/>
          </a:p>
        </p:txBody>
      </p:sp>
      <p:sp>
        <p:nvSpPr>
          <p:cNvPr id="107" name="Shape 105"/>
          <p:cNvSpPr/>
          <p:nvPr/>
        </p:nvSpPr>
        <p:spPr>
          <a:xfrm>
            <a:off x="14101763" y="7329488"/>
            <a:ext cx="1493044" cy="28575"/>
          </a:xfrm>
          <a:prstGeom prst="rect">
            <a:avLst/>
          </a:prstGeom>
          <a:solidFill>
            <a:srgbClr val="C7CEC6"/>
          </a:solidFill>
          <a:ln/>
        </p:spPr>
      </p:sp>
      <p:sp>
        <p:nvSpPr>
          <p:cNvPr id="108" name="Shape 106"/>
          <p:cNvSpPr/>
          <p:nvPr/>
        </p:nvSpPr>
        <p:spPr>
          <a:xfrm>
            <a:off x="15594806" y="7258050"/>
            <a:ext cx="171450" cy="171450"/>
          </a:xfrm>
          <a:prstGeom prst="ellipse">
            <a:avLst/>
          </a:prstGeom>
          <a:solidFill>
            <a:srgbClr val="0E7C6B"/>
          </a:solidFill>
          <a:ln/>
        </p:spPr>
      </p:sp>
      <p:sp>
        <p:nvSpPr>
          <p:cNvPr id="109" name="Text 107"/>
          <p:cNvSpPr/>
          <p:nvPr/>
        </p:nvSpPr>
        <p:spPr>
          <a:xfrm>
            <a:off x="13943886" y="7505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column-level + simulation</a:t>
            </a:r>
            <a:endParaRPr lang="en-US" sz="1800" dirty="0"/>
          </a:p>
        </p:txBody>
      </p:sp>
      <p:sp>
        <p:nvSpPr>
          <p:cNvPr id="110" name="Shape 108"/>
          <p:cNvSpPr/>
          <p:nvPr/>
        </p:nvSpPr>
        <p:spPr>
          <a:xfrm>
            <a:off x="4076700" y="7896225"/>
            <a:ext cx="19050" cy="742950"/>
          </a:xfrm>
          <a:prstGeom prst="rect">
            <a:avLst/>
          </a:prstGeom>
          <a:solidFill>
            <a:srgbClr val="1B2530"/>
          </a:solidFill>
          <a:ln/>
        </p:spPr>
      </p:sp>
      <p:sp>
        <p:nvSpPr>
          <p:cNvPr id="111" name="Text 109"/>
          <p:cNvSpPr/>
          <p:nvPr/>
        </p:nvSpPr>
        <p:spPr>
          <a:xfrm>
            <a:off x="952500" y="79533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Data contracts</a:t>
            </a:r>
            <a:endParaRPr lang="en-US" sz="1950" dirty="0"/>
          </a:p>
        </p:txBody>
      </p:sp>
      <p:sp>
        <p:nvSpPr>
          <p:cNvPr id="112" name="Text 110"/>
          <p:cNvSpPr/>
          <p:nvPr/>
        </p:nvSpPr>
        <p:spPr>
          <a:xfrm>
            <a:off x="952500" y="82772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113" name="Shape 111"/>
          <p:cNvSpPr/>
          <p:nvPr/>
        </p:nvSpPr>
        <p:spPr>
          <a:xfrm>
            <a:off x="5674519" y="8010525"/>
            <a:ext cx="152400" cy="152400"/>
          </a:xfrm>
          <a:prstGeom prst="ellipse">
            <a:avLst/>
          </a:prstGeom>
          <a:solidFill>
            <a:srgbClr val="8B99A4"/>
          </a:solidFill>
          <a:ln/>
        </p:spPr>
      </p:sp>
      <p:sp>
        <p:nvSpPr>
          <p:cNvPr id="114" name="Shape 112"/>
          <p:cNvSpPr/>
          <p:nvPr/>
        </p:nvSpPr>
        <p:spPr>
          <a:xfrm>
            <a:off x="5826919" y="8072438"/>
            <a:ext cx="1502569" cy="28575"/>
          </a:xfrm>
          <a:prstGeom prst="rect">
            <a:avLst/>
          </a:prstGeom>
          <a:solidFill>
            <a:srgbClr val="C7CEC6"/>
          </a:solidFill>
          <a:ln/>
        </p:spPr>
      </p:sp>
      <p:sp>
        <p:nvSpPr>
          <p:cNvPr id="115" name="Text 113"/>
          <p:cNvSpPr/>
          <p:nvPr/>
        </p:nvSpPr>
        <p:spPr>
          <a:xfrm>
            <a:off x="4014073"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design only</a:t>
            </a:r>
            <a:endParaRPr lang="en-US" sz="1800" dirty="0"/>
          </a:p>
        </p:txBody>
      </p:sp>
      <p:sp>
        <p:nvSpPr>
          <p:cNvPr id="116" name="Shape 114"/>
          <p:cNvSpPr/>
          <p:nvPr/>
        </p:nvSpPr>
        <p:spPr>
          <a:xfrm>
            <a:off x="7405688" y="7896225"/>
            <a:ext cx="3309938" cy="742950"/>
          </a:xfrm>
          <a:prstGeom prst="rect">
            <a:avLst/>
          </a:prstGeom>
          <a:solidFill>
            <a:srgbClr val="FBF3E4"/>
          </a:solidFill>
          <a:ln/>
        </p:spPr>
      </p:sp>
      <p:sp>
        <p:nvSpPr>
          <p:cNvPr id="117" name="Shape 115"/>
          <p:cNvSpPr/>
          <p:nvPr/>
        </p:nvSpPr>
        <p:spPr>
          <a:xfrm>
            <a:off x="7481887" y="8072438"/>
            <a:ext cx="1473994" cy="28575"/>
          </a:xfrm>
          <a:prstGeom prst="rect">
            <a:avLst/>
          </a:prstGeom>
          <a:solidFill>
            <a:srgbClr val="C7CEC6"/>
          </a:solidFill>
          <a:ln/>
        </p:spPr>
      </p:sp>
      <p:sp>
        <p:nvSpPr>
          <p:cNvPr id="118" name="Shape 116"/>
          <p:cNvSpPr/>
          <p:nvPr/>
        </p:nvSpPr>
        <p:spPr>
          <a:xfrm rot="2700000">
            <a:off x="8955881" y="7981950"/>
            <a:ext cx="209550" cy="209550"/>
          </a:xfrm>
          <a:prstGeom prst="roundRect">
            <a:avLst>
              <a:gd name="adj" fmla="val 18182"/>
            </a:avLst>
          </a:prstGeom>
          <a:solidFill>
            <a:srgbClr val="B97417"/>
          </a:solidFill>
          <a:ln/>
        </p:spPr>
      </p:sp>
      <p:sp>
        <p:nvSpPr>
          <p:cNvPr id="119" name="Shape 117"/>
          <p:cNvSpPr/>
          <p:nvPr/>
        </p:nvSpPr>
        <p:spPr>
          <a:xfrm>
            <a:off x="9165431" y="8072438"/>
            <a:ext cx="1473994" cy="28575"/>
          </a:xfrm>
          <a:prstGeom prst="rect">
            <a:avLst/>
          </a:prstGeom>
          <a:solidFill>
            <a:srgbClr val="C7CEC6"/>
          </a:solidFill>
          <a:ln/>
        </p:spPr>
      </p:sp>
      <p:sp>
        <p:nvSpPr>
          <p:cNvPr id="120" name="Text 118"/>
          <p:cNvSpPr/>
          <p:nvPr/>
        </p:nvSpPr>
        <p:spPr>
          <a:xfrm>
            <a:off x="7324011" y="8267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format + registry ready</a:t>
            </a:r>
            <a:endParaRPr lang="en-US" sz="1800" dirty="0"/>
          </a:p>
        </p:txBody>
      </p:sp>
      <p:sp>
        <p:nvSpPr>
          <p:cNvPr id="121" name="Shape 119"/>
          <p:cNvSpPr/>
          <p:nvPr/>
        </p:nvSpPr>
        <p:spPr>
          <a:xfrm>
            <a:off x="10791825" y="8072438"/>
            <a:ext cx="1502569" cy="28575"/>
          </a:xfrm>
          <a:prstGeom prst="rect">
            <a:avLst/>
          </a:prstGeom>
          <a:solidFill>
            <a:srgbClr val="C7CEC6"/>
          </a:solidFill>
          <a:ln/>
        </p:spPr>
      </p:sp>
      <p:sp>
        <p:nvSpPr>
          <p:cNvPr id="122" name="Shape 120"/>
          <p:cNvSpPr/>
          <p:nvPr/>
        </p:nvSpPr>
        <p:spPr>
          <a:xfrm>
            <a:off x="12294394" y="8010525"/>
            <a:ext cx="152400" cy="152400"/>
          </a:xfrm>
          <a:prstGeom prst="ellipse">
            <a:avLst/>
          </a:prstGeom>
          <a:solidFill>
            <a:srgbClr val="FDFDFB"/>
          </a:solidFill>
          <a:ln w="38100">
            <a:solidFill>
              <a:srgbClr val="0E7C6B"/>
            </a:solidFill>
            <a:prstDash val="solid"/>
          </a:ln>
        </p:spPr>
      </p:sp>
      <p:sp>
        <p:nvSpPr>
          <p:cNvPr id="123" name="Shape 121"/>
          <p:cNvSpPr/>
          <p:nvPr/>
        </p:nvSpPr>
        <p:spPr>
          <a:xfrm>
            <a:off x="12446794" y="8072438"/>
            <a:ext cx="1502569" cy="28575"/>
          </a:xfrm>
          <a:prstGeom prst="rect">
            <a:avLst/>
          </a:prstGeom>
          <a:solidFill>
            <a:srgbClr val="C7CEC6"/>
          </a:solidFill>
          <a:ln/>
        </p:spPr>
      </p:sp>
      <p:sp>
        <p:nvSpPr>
          <p:cNvPr id="124" name="Text 122"/>
          <p:cNvSpPr/>
          <p:nvPr/>
        </p:nvSpPr>
        <p:spPr>
          <a:xfrm>
            <a:off x="10633948"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producer-accepted, enforced</a:t>
            </a:r>
            <a:endParaRPr lang="en-US" sz="1800" dirty="0"/>
          </a:p>
        </p:txBody>
      </p:sp>
      <p:sp>
        <p:nvSpPr>
          <p:cNvPr id="125" name="Shape 123"/>
          <p:cNvSpPr/>
          <p:nvPr/>
        </p:nvSpPr>
        <p:spPr>
          <a:xfrm>
            <a:off x="14101763" y="8072438"/>
            <a:ext cx="1493044" cy="28575"/>
          </a:xfrm>
          <a:prstGeom prst="rect">
            <a:avLst/>
          </a:prstGeom>
          <a:solidFill>
            <a:srgbClr val="C7CEC6"/>
          </a:solidFill>
          <a:ln/>
        </p:spPr>
      </p:sp>
      <p:sp>
        <p:nvSpPr>
          <p:cNvPr id="126" name="Shape 124"/>
          <p:cNvSpPr/>
          <p:nvPr/>
        </p:nvSpPr>
        <p:spPr>
          <a:xfrm>
            <a:off x="15594806" y="8001000"/>
            <a:ext cx="171450" cy="171450"/>
          </a:xfrm>
          <a:prstGeom prst="ellipse">
            <a:avLst/>
          </a:prstGeom>
          <a:solidFill>
            <a:srgbClr val="0E7C6B"/>
          </a:solidFill>
          <a:ln/>
        </p:spPr>
      </p:sp>
      <p:sp>
        <p:nvSpPr>
          <p:cNvPr id="127" name="Text 125"/>
          <p:cNvSpPr/>
          <p:nvPr/>
        </p:nvSpPr>
        <p:spPr>
          <a:xfrm>
            <a:off x="13943886" y="8248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gate + in-path, Tier-1</a:t>
            </a:r>
            <a:endParaRPr lang="en-US" sz="1800" dirty="0"/>
          </a:p>
        </p:txBody>
      </p:sp>
      <p:sp>
        <p:nvSpPr>
          <p:cNvPr id="128" name="Shape 126"/>
          <p:cNvSpPr/>
          <p:nvPr/>
        </p:nvSpPr>
        <p:spPr>
          <a:xfrm>
            <a:off x="4076700" y="8639175"/>
            <a:ext cx="19050" cy="1343025"/>
          </a:xfrm>
          <a:prstGeom prst="rect">
            <a:avLst/>
          </a:prstGeom>
          <a:solidFill>
            <a:srgbClr val="1B2530"/>
          </a:solidFill>
          <a:ln/>
        </p:spPr>
      </p:sp>
      <p:sp>
        <p:nvSpPr>
          <p:cNvPr id="129" name="Text 127"/>
          <p:cNvSpPr/>
          <p:nvPr/>
        </p:nvSpPr>
        <p:spPr>
          <a:xfrm>
            <a:off x="952500" y="8696325"/>
            <a:ext cx="3060954"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Dashboard + onboarding</a:t>
            </a:r>
            <a:endParaRPr lang="en-US" sz="1950" dirty="0"/>
          </a:p>
        </p:txBody>
      </p:sp>
      <p:sp>
        <p:nvSpPr>
          <p:cNvPr id="130" name="Text 128"/>
          <p:cNvSpPr/>
          <p:nvPr/>
        </p:nvSpPr>
        <p:spPr>
          <a:xfrm>
            <a:off x="952500" y="9315450"/>
            <a:ext cx="3060954" cy="6477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ONBOARDING &amp; EXPERIENCE</a:t>
            </a:r>
            <a:endParaRPr lang="en-US" sz="1800" dirty="0"/>
          </a:p>
        </p:txBody>
      </p:sp>
      <p:sp>
        <p:nvSpPr>
          <p:cNvPr id="131" name="Shape 129"/>
          <p:cNvSpPr/>
          <p:nvPr/>
        </p:nvSpPr>
        <p:spPr>
          <a:xfrm>
            <a:off x="5674519" y="9053513"/>
            <a:ext cx="152400" cy="152400"/>
          </a:xfrm>
          <a:prstGeom prst="ellipse">
            <a:avLst/>
          </a:prstGeom>
          <a:solidFill>
            <a:srgbClr val="8B99A4"/>
          </a:solidFill>
          <a:ln/>
        </p:spPr>
      </p:sp>
      <p:sp>
        <p:nvSpPr>
          <p:cNvPr id="132" name="Shape 130"/>
          <p:cNvSpPr/>
          <p:nvPr/>
        </p:nvSpPr>
        <p:spPr>
          <a:xfrm>
            <a:off x="5826919" y="9115425"/>
            <a:ext cx="1502569" cy="28575"/>
          </a:xfrm>
          <a:prstGeom prst="rect">
            <a:avLst/>
          </a:prstGeom>
          <a:solidFill>
            <a:srgbClr val="C7CEC6"/>
          </a:solidFill>
          <a:ln/>
        </p:spPr>
      </p:sp>
      <p:sp>
        <p:nvSpPr>
          <p:cNvPr id="133" name="Text 131"/>
          <p:cNvSpPr/>
          <p:nvPr/>
        </p:nvSpPr>
        <p:spPr>
          <a:xfrm>
            <a:off x="4014073"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hand-run pilot</a:t>
            </a:r>
            <a:endParaRPr lang="en-US" sz="1800" dirty="0"/>
          </a:p>
        </p:txBody>
      </p:sp>
      <p:sp>
        <p:nvSpPr>
          <p:cNvPr id="134" name="Shape 132"/>
          <p:cNvSpPr/>
          <p:nvPr/>
        </p:nvSpPr>
        <p:spPr>
          <a:xfrm>
            <a:off x="7405688" y="8639175"/>
            <a:ext cx="3309938" cy="1343025"/>
          </a:xfrm>
          <a:prstGeom prst="rect">
            <a:avLst/>
          </a:prstGeom>
          <a:solidFill>
            <a:srgbClr val="FBF3E4"/>
          </a:solidFill>
          <a:ln/>
        </p:spPr>
      </p:sp>
      <p:sp>
        <p:nvSpPr>
          <p:cNvPr id="135" name="Shape 133"/>
          <p:cNvSpPr/>
          <p:nvPr/>
        </p:nvSpPr>
        <p:spPr>
          <a:xfrm>
            <a:off x="7481887" y="9115425"/>
            <a:ext cx="1473994" cy="28575"/>
          </a:xfrm>
          <a:prstGeom prst="rect">
            <a:avLst/>
          </a:prstGeom>
          <a:solidFill>
            <a:srgbClr val="C7CEC6"/>
          </a:solidFill>
          <a:ln/>
        </p:spPr>
      </p:sp>
      <p:sp>
        <p:nvSpPr>
          <p:cNvPr id="136" name="Shape 134"/>
          <p:cNvSpPr/>
          <p:nvPr/>
        </p:nvSpPr>
        <p:spPr>
          <a:xfrm rot="2700000">
            <a:off x="8955881" y="9024937"/>
            <a:ext cx="209550" cy="209550"/>
          </a:xfrm>
          <a:prstGeom prst="roundRect">
            <a:avLst>
              <a:gd name="adj" fmla="val 18182"/>
            </a:avLst>
          </a:prstGeom>
          <a:solidFill>
            <a:srgbClr val="B97417"/>
          </a:solidFill>
          <a:ln/>
        </p:spPr>
      </p:sp>
      <p:sp>
        <p:nvSpPr>
          <p:cNvPr id="137" name="Shape 135"/>
          <p:cNvSpPr/>
          <p:nvPr/>
        </p:nvSpPr>
        <p:spPr>
          <a:xfrm>
            <a:off x="9165431" y="9115425"/>
            <a:ext cx="1473994" cy="28575"/>
          </a:xfrm>
          <a:prstGeom prst="rect">
            <a:avLst/>
          </a:prstGeom>
          <a:solidFill>
            <a:srgbClr val="C7CEC6"/>
          </a:solidFill>
          <a:ln/>
        </p:spPr>
      </p:sp>
      <p:sp>
        <p:nvSpPr>
          <p:cNvPr id="138" name="Text 136"/>
          <p:cNvSpPr/>
          <p:nvPr/>
        </p:nvSpPr>
        <p:spPr>
          <a:xfrm>
            <a:off x="7324011" y="931068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one pane + causal view</a:t>
            </a:r>
            <a:endParaRPr lang="en-US" sz="1800" dirty="0"/>
          </a:p>
        </p:txBody>
      </p:sp>
      <p:sp>
        <p:nvSpPr>
          <p:cNvPr id="139" name="Shape 137"/>
          <p:cNvSpPr/>
          <p:nvPr/>
        </p:nvSpPr>
        <p:spPr>
          <a:xfrm>
            <a:off x="10791825" y="9115425"/>
            <a:ext cx="1502569" cy="28575"/>
          </a:xfrm>
          <a:prstGeom prst="rect">
            <a:avLst/>
          </a:prstGeom>
          <a:solidFill>
            <a:srgbClr val="C7CEC6"/>
          </a:solidFill>
          <a:ln/>
        </p:spPr>
      </p:sp>
      <p:sp>
        <p:nvSpPr>
          <p:cNvPr id="140" name="Shape 138"/>
          <p:cNvSpPr/>
          <p:nvPr/>
        </p:nvSpPr>
        <p:spPr>
          <a:xfrm>
            <a:off x="12294394" y="9053513"/>
            <a:ext cx="152400" cy="152400"/>
          </a:xfrm>
          <a:prstGeom prst="ellipse">
            <a:avLst/>
          </a:prstGeom>
          <a:solidFill>
            <a:srgbClr val="FDFDFB"/>
          </a:solidFill>
          <a:ln w="38100">
            <a:solidFill>
              <a:srgbClr val="0E7C6B"/>
            </a:solidFill>
            <a:prstDash val="solid"/>
          </a:ln>
        </p:spPr>
      </p:sp>
      <p:sp>
        <p:nvSpPr>
          <p:cNvPr id="141" name="Shape 139"/>
          <p:cNvSpPr/>
          <p:nvPr/>
        </p:nvSpPr>
        <p:spPr>
          <a:xfrm>
            <a:off x="12446794" y="9115425"/>
            <a:ext cx="1502569" cy="28575"/>
          </a:xfrm>
          <a:prstGeom prst="rect">
            <a:avLst/>
          </a:prstGeom>
          <a:solidFill>
            <a:srgbClr val="C7CEC6"/>
          </a:solidFill>
          <a:ln/>
        </p:spPr>
      </p:sp>
      <p:sp>
        <p:nvSpPr>
          <p:cNvPr id="142" name="Text 140"/>
          <p:cNvSpPr/>
          <p:nvPr/>
        </p:nvSpPr>
        <p:spPr>
          <a:xfrm>
            <a:off x="10633948"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templated, ≤ 2 wks</a:t>
            </a:r>
            <a:endParaRPr lang="en-US" sz="1800" dirty="0"/>
          </a:p>
        </p:txBody>
      </p:sp>
      <p:sp>
        <p:nvSpPr>
          <p:cNvPr id="143" name="Shape 141"/>
          <p:cNvSpPr/>
          <p:nvPr/>
        </p:nvSpPr>
        <p:spPr>
          <a:xfrm>
            <a:off x="14101763" y="9115425"/>
            <a:ext cx="1493044" cy="28575"/>
          </a:xfrm>
          <a:prstGeom prst="rect">
            <a:avLst/>
          </a:prstGeom>
          <a:solidFill>
            <a:srgbClr val="C7CEC6"/>
          </a:solidFill>
          <a:ln/>
        </p:spPr>
      </p:sp>
      <p:sp>
        <p:nvSpPr>
          <p:cNvPr id="144" name="Shape 142"/>
          <p:cNvSpPr/>
          <p:nvPr/>
        </p:nvSpPr>
        <p:spPr>
          <a:xfrm>
            <a:off x="15594806" y="9043988"/>
            <a:ext cx="171450" cy="171450"/>
          </a:xfrm>
          <a:prstGeom prst="ellipse">
            <a:avLst/>
          </a:prstGeom>
          <a:solidFill>
            <a:srgbClr val="0E7C6B"/>
          </a:solidFill>
          <a:ln/>
        </p:spPr>
      </p:sp>
      <p:sp>
        <p:nvSpPr>
          <p:cNvPr id="145" name="Text 143"/>
          <p:cNvSpPr/>
          <p:nvPr/>
        </p:nvSpPr>
        <p:spPr>
          <a:xfrm>
            <a:off x="13943886" y="929163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self-serve + posture</a:t>
            </a:r>
            <a:endParaRPr lang="en-US" sz="1800" dirty="0"/>
          </a:p>
        </p:txBody>
      </p:sp>
      <p:sp>
        <p:nvSpPr>
          <p:cNvPr id="146" name="Shape 144"/>
          <p:cNvSpPr/>
          <p:nvPr/>
        </p:nvSpPr>
        <p:spPr>
          <a:xfrm>
            <a:off x="952500" y="9639300"/>
            <a:ext cx="133350" cy="133350"/>
          </a:xfrm>
          <a:prstGeom prst="ellipse">
            <a:avLst/>
          </a:prstGeom>
          <a:solidFill>
            <a:srgbClr val="8B99A4"/>
          </a:solidFill>
          <a:ln/>
        </p:spPr>
      </p:sp>
      <p:sp>
        <p:nvSpPr>
          <p:cNvPr id="147" name="Text 145"/>
          <p:cNvSpPr/>
          <p:nvPr/>
        </p:nvSpPr>
        <p:spPr>
          <a:xfrm>
            <a:off x="1181100" y="955357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today</a:t>
            </a:r>
            <a:endParaRPr lang="en-US" sz="1800" dirty="0"/>
          </a:p>
        </p:txBody>
      </p:sp>
      <p:sp>
        <p:nvSpPr>
          <p:cNvPr id="148" name="Shape 146"/>
          <p:cNvSpPr/>
          <p:nvPr/>
        </p:nvSpPr>
        <p:spPr>
          <a:xfrm rot="2700000">
            <a:off x="2133600" y="9629775"/>
            <a:ext cx="152400" cy="152400"/>
          </a:xfrm>
          <a:prstGeom prst="roundRect">
            <a:avLst>
              <a:gd name="adj" fmla="val 18750"/>
            </a:avLst>
          </a:prstGeom>
          <a:solidFill>
            <a:srgbClr val="B97417"/>
          </a:solidFill>
          <a:ln/>
        </p:spPr>
      </p:sp>
      <p:sp>
        <p:nvSpPr>
          <p:cNvPr id="149" name="Text 147"/>
          <p:cNvSpPr/>
          <p:nvPr/>
        </p:nvSpPr>
        <p:spPr>
          <a:xfrm>
            <a:off x="2381250" y="9553575"/>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 go/no-go gate</a:t>
            </a:r>
            <a:endParaRPr lang="en-US" sz="1800" dirty="0"/>
          </a:p>
        </p:txBody>
      </p:sp>
      <p:sp>
        <p:nvSpPr>
          <p:cNvPr id="150" name="Shape 148"/>
          <p:cNvSpPr/>
          <p:nvPr/>
        </p:nvSpPr>
        <p:spPr>
          <a:xfrm>
            <a:off x="4842570" y="9639300"/>
            <a:ext cx="133350" cy="133350"/>
          </a:xfrm>
          <a:prstGeom prst="ellipse">
            <a:avLst/>
          </a:prstGeom>
          <a:solidFill>
            <a:srgbClr val="FDFDFB"/>
          </a:solidFill>
          <a:ln w="38100">
            <a:solidFill>
              <a:srgbClr val="0E7C6B"/>
            </a:solidFill>
            <a:prstDash val="solid"/>
          </a:ln>
        </p:spPr>
      </p:sp>
      <p:sp>
        <p:nvSpPr>
          <p:cNvPr id="151" name="Text 149"/>
          <p:cNvSpPr/>
          <p:nvPr/>
        </p:nvSpPr>
        <p:spPr>
          <a:xfrm>
            <a:off x="5071170" y="9553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via the gate</a:t>
            </a:r>
            <a:endParaRPr lang="en-US" sz="1800" dirty="0"/>
          </a:p>
        </p:txBody>
      </p:sp>
      <p:sp>
        <p:nvSpPr>
          <p:cNvPr id="152" name="Shape 150"/>
          <p:cNvSpPr/>
          <p:nvPr/>
        </p:nvSpPr>
        <p:spPr>
          <a:xfrm>
            <a:off x="6983909" y="9629775"/>
            <a:ext cx="152400" cy="152400"/>
          </a:xfrm>
          <a:prstGeom prst="ellipse">
            <a:avLst/>
          </a:prstGeom>
          <a:solidFill>
            <a:srgbClr val="0E7C6B"/>
          </a:solidFill>
          <a:ln/>
        </p:spPr>
      </p:sp>
      <p:sp>
        <p:nvSpPr>
          <p:cNvPr id="153" name="Text 151"/>
          <p:cNvSpPr/>
          <p:nvPr/>
        </p:nvSpPr>
        <p:spPr>
          <a:xfrm>
            <a:off x="7231559" y="9553575"/>
            <a:ext cx="13579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end state</a:t>
            </a:r>
            <a:endParaRPr lang="en-US" sz="1800" dirty="0"/>
          </a:p>
        </p:txBody>
      </p:sp>
      <p:sp>
        <p:nvSpPr>
          <p:cNvPr id="154" name="Text 152"/>
          <p:cNvSpPr/>
          <p:nvPr/>
        </p:nvSpPr>
        <p:spPr>
          <a:xfrm>
            <a:off x="9720858" y="9544050"/>
            <a:ext cx="8376106" cy="361950"/>
          </a:xfrm>
          <a:prstGeom prst="rect">
            <a:avLst/>
          </a:prstGeom>
          <a:noFill/>
          <a:ln/>
        </p:spPr>
        <p:txBody>
          <a:bodyPr wrap="square" lIns="25400" tIns="25400" rIns="25400" bIns="25400" rtlCol="0" anchor="t">
            <a:normAutofit/>
          </a:bodyPr>
          <a:lstStyle/>
          <a:p>
            <a:pPr algn="l" indent="0" marL="0">
              <a:buNone/>
            </a:pPr>
            <a:r>
              <a:rPr lang="en-US" sz="1875" i="1" dirty="0">
                <a:solidFill>
                  <a:srgbClr val="5B6873"/>
                </a:solidFill>
                <a:latin typeface="Source Serif 4" pitchFamily="34" charset="0"/>
                <a:ea typeface="Source Serif 4" pitchFamily="34" charset="-122"/>
                <a:cs typeface="Source Serif 4" pitchFamily="34" charset="-120"/>
              </a:rPr>
              <a:t>No pillar jumps two levels in a phase; depth is matched to asset tier.</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EXECUTION</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Three missions of ten, converging on one platform</a:t>
            </a:r>
            <a:endParaRPr lang="en-US" sz="4800" dirty="0"/>
          </a:p>
        </p:txBody>
      </p:sp>
      <p:sp>
        <p:nvSpPr>
          <p:cNvPr id="4" name="Shape 2"/>
          <p:cNvSpPr/>
          <p:nvPr/>
        </p:nvSpPr>
        <p:spPr>
          <a:xfrm>
            <a:off x="952500" y="2447925"/>
            <a:ext cx="5295900" cy="5572125"/>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2858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1</a:t>
            </a:r>
            <a:endParaRPr lang="en-US" sz="1800" dirty="0"/>
          </a:p>
        </p:txBody>
      </p:sp>
      <p:sp>
        <p:nvSpPr>
          <p:cNvPr id="6" name="Text 4"/>
          <p:cNvSpPr/>
          <p:nvPr/>
        </p:nvSpPr>
        <p:spPr>
          <a:xfrm>
            <a:off x="55294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7" name="Text 5"/>
          <p:cNvSpPr/>
          <p:nvPr/>
        </p:nvSpPr>
        <p:spPr>
          <a:xfrm>
            <a:off x="12858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550" dirty="0"/>
          </a:p>
        </p:txBody>
      </p:sp>
      <p:sp>
        <p:nvSpPr>
          <p:cNvPr id="8" name="Text 6"/>
          <p:cNvSpPr/>
          <p:nvPr/>
        </p:nvSpPr>
        <p:spPr>
          <a:xfrm>
            <a:off x="1285875" y="3838575"/>
            <a:ext cx="4768025"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The platform core: capture → join → score → simulate. Owns the evidence stream and the naming registry.</a:t>
            </a:r>
            <a:endParaRPr lang="en-US" sz="1950" dirty="0"/>
          </a:p>
        </p:txBody>
      </p:sp>
      <p:sp>
        <p:nvSpPr>
          <p:cNvPr id="9" name="Shape 7"/>
          <p:cNvSpPr/>
          <p:nvPr/>
        </p:nvSpPr>
        <p:spPr>
          <a:xfrm>
            <a:off x="1285875" y="6162675"/>
            <a:ext cx="4629150" cy="9525"/>
          </a:xfrm>
          <a:prstGeom prst="rect">
            <a:avLst/>
          </a:prstGeom>
          <a:solidFill>
            <a:srgbClr val="D9DED7"/>
          </a:solidFill>
          <a:ln/>
        </p:spPr>
      </p:sp>
      <p:sp>
        <p:nvSpPr>
          <p:cNvPr id="10" name="Text 8"/>
          <p:cNvSpPr/>
          <p:nvPr/>
        </p:nvSpPr>
        <p:spPr>
          <a:xfrm>
            <a:off x="1285875" y="634365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1" name="Text 9"/>
          <p:cNvSpPr/>
          <p:nvPr/>
        </p:nvSpPr>
        <p:spPr>
          <a:xfrm>
            <a:off x="1285875" y="6705600"/>
            <a:ext cx="476802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Platform-core squad (3)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evidence stream + naming registry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live M1, the join key everything lands in.</a:t>
            </a:r>
            <a:endParaRPr lang="en-US" sz="1875" dirty="0"/>
          </a:p>
        </p:txBody>
      </p:sp>
      <p:sp>
        <p:nvSpPr>
          <p:cNvPr id="12" name="Shape 10"/>
          <p:cNvSpPr/>
          <p:nvPr/>
        </p:nvSpPr>
        <p:spPr>
          <a:xfrm>
            <a:off x="6496050" y="2447925"/>
            <a:ext cx="5295900" cy="5572125"/>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682942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2</a:t>
            </a:r>
            <a:endParaRPr lang="en-US" sz="1800" dirty="0"/>
          </a:p>
        </p:txBody>
      </p:sp>
      <p:sp>
        <p:nvSpPr>
          <p:cNvPr id="14" name="Text 12"/>
          <p:cNvSpPr/>
          <p:nvPr/>
        </p:nvSpPr>
        <p:spPr>
          <a:xfrm>
            <a:off x="1107296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15" name="Text 13"/>
          <p:cNvSpPr/>
          <p:nvPr/>
        </p:nvSpPr>
        <p:spPr>
          <a:xfrm>
            <a:off x="682942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Data Quality</a:t>
            </a:r>
            <a:endParaRPr lang="en-US" sz="2550" dirty="0"/>
          </a:p>
        </p:txBody>
      </p:sp>
      <p:sp>
        <p:nvSpPr>
          <p:cNvPr id="16" name="Text 14"/>
          <p:cNvSpPr/>
          <p:nvPr/>
        </p:nvSpPr>
        <p:spPr>
          <a:xfrm>
            <a:off x="6829425" y="3838575"/>
            <a:ext cx="4768025"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Detection → prevention: checks at rest, in-stream monitoring, then contracts and the gate.</a:t>
            </a:r>
            <a:endParaRPr lang="en-US" sz="1950" dirty="0"/>
          </a:p>
        </p:txBody>
      </p:sp>
      <p:sp>
        <p:nvSpPr>
          <p:cNvPr id="17" name="Shape 15"/>
          <p:cNvSpPr/>
          <p:nvPr/>
        </p:nvSpPr>
        <p:spPr>
          <a:xfrm>
            <a:off x="6829425" y="6162675"/>
            <a:ext cx="4629150" cy="9525"/>
          </a:xfrm>
          <a:prstGeom prst="rect">
            <a:avLst/>
          </a:prstGeom>
          <a:solidFill>
            <a:srgbClr val="D9DED7"/>
          </a:solidFill>
          <a:ln/>
        </p:spPr>
      </p:sp>
      <p:sp>
        <p:nvSpPr>
          <p:cNvPr id="18" name="Text 16"/>
          <p:cNvSpPr/>
          <p:nvPr/>
        </p:nvSpPr>
        <p:spPr>
          <a:xfrm>
            <a:off x="6829425" y="634365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9" name="Text 17"/>
          <p:cNvSpPr/>
          <p:nvPr/>
        </p:nvSpPr>
        <p:spPr>
          <a:xfrm>
            <a:off x="6829425" y="6705600"/>
            <a:ext cx="476802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Contracts &amp; gate squad (2→4)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certification gate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shadow mode by M5, first real block M7.</a:t>
            </a:r>
            <a:endParaRPr lang="en-US" sz="1875" dirty="0"/>
          </a:p>
        </p:txBody>
      </p:sp>
      <p:sp>
        <p:nvSpPr>
          <p:cNvPr id="20" name="Shape 18"/>
          <p:cNvSpPr/>
          <p:nvPr/>
        </p:nvSpPr>
        <p:spPr>
          <a:xfrm>
            <a:off x="12039600" y="2447925"/>
            <a:ext cx="5295900" cy="5572125"/>
          </a:xfrm>
          <a:prstGeom prst="roundRect">
            <a:avLst>
              <a:gd name="adj" fmla="val 2518"/>
            </a:avLst>
          </a:prstGeom>
          <a:solidFill>
            <a:srgbClr val="FDFDFB"/>
          </a:solidFill>
          <a:ln w="9525">
            <a:solidFill>
              <a:srgbClr val="D9DED7"/>
            </a:solidFill>
            <a:prstDash val="solid"/>
          </a:ln>
        </p:spPr>
      </p:sp>
      <p:sp>
        <p:nvSpPr>
          <p:cNvPr id="21" name="Text 19"/>
          <p:cNvSpPr/>
          <p:nvPr/>
        </p:nvSpPr>
        <p:spPr>
          <a:xfrm>
            <a:off x="123729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3</a:t>
            </a:r>
            <a:endParaRPr lang="en-US" sz="1800" dirty="0"/>
          </a:p>
        </p:txBody>
      </p:sp>
      <p:sp>
        <p:nvSpPr>
          <p:cNvPr id="22" name="Text 20"/>
          <p:cNvSpPr/>
          <p:nvPr/>
        </p:nvSpPr>
        <p:spPr>
          <a:xfrm>
            <a:off x="166165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23" name="Text 21"/>
          <p:cNvSpPr/>
          <p:nvPr/>
        </p:nvSpPr>
        <p:spPr>
          <a:xfrm>
            <a:off x="123729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550" dirty="0"/>
          </a:p>
        </p:txBody>
      </p:sp>
      <p:sp>
        <p:nvSpPr>
          <p:cNvPr id="24" name="Text 22"/>
          <p:cNvSpPr/>
          <p:nvPr/>
        </p:nvSpPr>
        <p:spPr>
          <a:xfrm>
            <a:off x="12372975" y="3838575"/>
            <a:ext cx="4768025"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Adoption &amp; the surface: health dashboard, paved road, saves ledger, the M5 gate pack.</a:t>
            </a:r>
            <a:endParaRPr lang="en-US" sz="1950" dirty="0"/>
          </a:p>
        </p:txBody>
      </p:sp>
      <p:sp>
        <p:nvSpPr>
          <p:cNvPr id="25" name="Shape 23"/>
          <p:cNvSpPr/>
          <p:nvPr/>
        </p:nvSpPr>
        <p:spPr>
          <a:xfrm>
            <a:off x="12372975" y="6162675"/>
            <a:ext cx="4629150" cy="9525"/>
          </a:xfrm>
          <a:prstGeom prst="rect">
            <a:avLst/>
          </a:prstGeom>
          <a:solidFill>
            <a:srgbClr val="D9DED7"/>
          </a:solidFill>
          <a:ln/>
        </p:spPr>
      </p:sp>
      <p:sp>
        <p:nvSpPr>
          <p:cNvPr id="26" name="Text 24"/>
          <p:cNvSpPr/>
          <p:nvPr/>
        </p:nvSpPr>
        <p:spPr>
          <a:xfrm>
            <a:off x="12372975" y="634365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27" name="Text 25"/>
          <p:cNvSpPr/>
          <p:nvPr/>
        </p:nvSpPr>
        <p:spPr>
          <a:xfrm>
            <a:off x="12372975" y="6705600"/>
            <a:ext cx="476802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Dashboard squad (5)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health surface + paved road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every view reads only the evidence stream.</a:t>
            </a:r>
            <a:endParaRPr lang="en-US" sz="1875" dirty="0"/>
          </a:p>
        </p:txBody>
      </p:sp>
      <p:sp>
        <p:nvSpPr>
          <p:cNvPr id="28" name="Shape 26"/>
          <p:cNvSpPr/>
          <p:nvPr/>
        </p:nvSpPr>
        <p:spPr>
          <a:xfrm>
            <a:off x="952500" y="8362950"/>
            <a:ext cx="16383000" cy="1162050"/>
          </a:xfrm>
          <a:prstGeom prst="roundRect">
            <a:avLst>
              <a:gd name="adj" fmla="val 9836"/>
            </a:avLst>
          </a:prstGeom>
          <a:solidFill>
            <a:srgbClr val="1B2530"/>
          </a:solidFill>
          <a:ln/>
        </p:spPr>
      </p:sp>
      <p:sp>
        <p:nvSpPr>
          <p:cNvPr id="29" name="Text 27"/>
          <p:cNvSpPr/>
          <p:nvPr/>
        </p:nvSpPr>
        <p:spPr>
          <a:xfrm>
            <a:off x="1295400" y="8620125"/>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30" name="Text 28"/>
          <p:cNvSpPr/>
          <p:nvPr/>
        </p:nvSpPr>
        <p:spPr>
          <a:xfrm>
            <a:off x="3389412" y="8591550"/>
            <a:ext cx="14011284"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One evidence stream · one pilot thread · one scorecard. The platform is built inside the missions — islands today, connected at the M5 gate, running itself at month 15, preventing at month 24.</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DEEP DIVE · 1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Lineage &amp; Confidence — the platform core</a:t>
            </a:r>
            <a:endParaRPr lang="en-US" sz="4500" dirty="0"/>
          </a:p>
        </p:txBody>
      </p:sp>
      <p:sp>
        <p:nvSpPr>
          <p:cNvPr id="4" name="Shape 2"/>
          <p:cNvSpPr/>
          <p:nvPr/>
        </p:nvSpPr>
        <p:spPr>
          <a:xfrm>
            <a:off x="952500" y="2295525"/>
            <a:ext cx="2926110" cy="1962150"/>
          </a:xfrm>
          <a:prstGeom prst="roundRect">
            <a:avLst>
              <a:gd name="adj" fmla="val 4854"/>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Capture</a:t>
            </a:r>
            <a:endParaRPr lang="en-US" sz="1875" dirty="0"/>
          </a:p>
        </p:txBody>
      </p:sp>
      <p:sp>
        <p:nvSpPr>
          <p:cNvPr id="6" name="Text 4"/>
          <p:cNvSpPr/>
          <p:nvPr/>
        </p:nvSpPr>
        <p:spPr>
          <a:xfrm>
            <a:off x="1152525" y="2819400"/>
            <a:ext cx="2602260"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 for every layer, then incremental on each change</a:t>
            </a:r>
            <a:endParaRPr lang="en-US" sz="1800" dirty="0"/>
          </a:p>
        </p:txBody>
      </p:sp>
      <p:sp>
        <p:nvSpPr>
          <p:cNvPr id="7" name="Text 5"/>
          <p:cNvSpPr/>
          <p:nvPr/>
        </p:nvSpPr>
        <p:spPr>
          <a:xfrm>
            <a:off x="395481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962150"/>
          </a:xfrm>
          <a:prstGeom prst="roundRect">
            <a:avLst>
              <a:gd name="adj" fmla="val 4854"/>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Name</a:t>
            </a:r>
            <a:endParaRPr lang="en-US" sz="1875" dirty="0"/>
          </a:p>
        </p:txBody>
      </p:sp>
      <p:sp>
        <p:nvSpPr>
          <p:cNvPr id="10" name="Text 8"/>
          <p:cNvSpPr/>
          <p:nvPr/>
        </p:nvSpPr>
        <p:spPr>
          <a:xfrm>
            <a:off x="451678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everything mapped to registry names</a:t>
            </a:r>
            <a:endParaRPr lang="en-US" sz="1800" dirty="0"/>
          </a:p>
        </p:txBody>
      </p:sp>
      <p:sp>
        <p:nvSpPr>
          <p:cNvPr id="11" name="Text 9"/>
          <p:cNvSpPr/>
          <p:nvPr/>
        </p:nvSpPr>
        <p:spPr>
          <a:xfrm>
            <a:off x="731907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962150"/>
          </a:xfrm>
          <a:prstGeom prst="roundRect">
            <a:avLst>
              <a:gd name="adj" fmla="val 4854"/>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Join</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check results + deploys fused onto the map</a:t>
            </a:r>
            <a:endParaRPr lang="en-US" sz="1800" dirty="0"/>
          </a:p>
        </p:txBody>
      </p:sp>
      <p:sp>
        <p:nvSpPr>
          <p:cNvPr id="15" name="Text 13"/>
          <p:cNvSpPr/>
          <p:nvPr/>
        </p:nvSpPr>
        <p:spPr>
          <a:xfrm>
            <a:off x="1068332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962150"/>
          </a:xfrm>
          <a:prstGeom prst="roundRect">
            <a:avLst>
              <a:gd name="adj" fmla="val 4854"/>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Score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trust per edge: declared vs observed</a:t>
            </a:r>
            <a:endParaRPr lang="en-US" sz="1800" dirty="0"/>
          </a:p>
        </p:txBody>
      </p:sp>
      <p:sp>
        <p:nvSpPr>
          <p:cNvPr id="19" name="Text 17"/>
          <p:cNvSpPr/>
          <p:nvPr/>
        </p:nvSpPr>
        <p:spPr>
          <a:xfrm>
            <a:off x="1404758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962150"/>
          </a:xfrm>
          <a:prstGeom prst="roundRect">
            <a:avLst>
              <a:gd name="adj" fmla="val 4854"/>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Serve</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blast radius + impact analysis</a:t>
            </a:r>
            <a:endParaRPr lang="en-US" sz="1800" dirty="0"/>
          </a:p>
        </p:txBody>
      </p:sp>
      <p:sp>
        <p:nvSpPr>
          <p:cNvPr id="23" name="Shape 21"/>
          <p:cNvSpPr/>
          <p:nvPr/>
        </p:nvSpPr>
        <p:spPr>
          <a:xfrm>
            <a:off x="952500" y="4524375"/>
            <a:ext cx="6945957" cy="4048125"/>
          </a:xfrm>
          <a:prstGeom prst="roundRect">
            <a:avLst>
              <a:gd name="adj" fmla="val 2824"/>
            </a:avLst>
          </a:prstGeom>
          <a:solidFill>
            <a:srgbClr val="FDFDFB"/>
          </a:solidFill>
          <a:ln w="9525">
            <a:solidFill>
              <a:srgbClr val="D9DED7"/>
            </a:solidFill>
            <a:prstDash val="solid"/>
          </a:ln>
        </p:spPr>
      </p:sp>
      <p:sp>
        <p:nvSpPr>
          <p:cNvPr id="24" name="Text 22"/>
          <p:cNvSpPr/>
          <p:nvPr/>
        </p:nvSpPr>
        <p:spPr>
          <a:xfrm>
            <a:off x="1247775" y="478155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6143625"/>
            <a:ext cx="6355407" cy="9525"/>
          </a:xfrm>
          <a:prstGeom prst="rect">
            <a:avLst/>
          </a:prstGeom>
          <a:solidFill>
            <a:srgbClr val="D9DED7"/>
          </a:solidFill>
          <a:ln/>
        </p:spPr>
      </p:sp>
      <p:sp>
        <p:nvSpPr>
          <p:cNvPr id="26" name="Text 24"/>
          <p:cNvSpPr/>
          <p:nvPr/>
        </p:nvSpPr>
        <p:spPr>
          <a:xfrm>
            <a:off x="1247775" y="5314950"/>
            <a:ext cx="6171575"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Platform core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evidence stream + registry, live M1</a:t>
            </a:r>
            <a:endParaRPr lang="en-US" sz="1950" dirty="0"/>
          </a:p>
        </p:txBody>
      </p:sp>
      <p:sp>
        <p:nvSpPr>
          <p:cNvPr id="27" name="Text 25"/>
          <p:cNvSpPr/>
          <p:nvPr/>
        </p:nvSpPr>
        <p:spPr>
          <a:xfrm>
            <a:off x="7430095" y="53054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8" name="Shape 26"/>
          <p:cNvSpPr/>
          <p:nvPr/>
        </p:nvSpPr>
        <p:spPr>
          <a:xfrm>
            <a:off x="1247775" y="6791325"/>
            <a:ext cx="6355407" cy="9525"/>
          </a:xfrm>
          <a:prstGeom prst="rect">
            <a:avLst/>
          </a:prstGeom>
          <a:solidFill>
            <a:srgbClr val="D9DED7"/>
          </a:solidFill>
          <a:ln/>
        </p:spPr>
      </p:sp>
      <p:sp>
        <p:nvSpPr>
          <p:cNvPr id="29" name="Text 27"/>
          <p:cNvSpPr/>
          <p:nvPr/>
        </p:nvSpPr>
        <p:spPr>
          <a:xfrm>
            <a:off x="1247775" y="6305550"/>
            <a:ext cx="505457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Collectors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emitters, runtime capture</a:t>
            </a:r>
            <a:endParaRPr lang="en-US" sz="1950" dirty="0"/>
          </a:p>
        </p:txBody>
      </p:sp>
      <p:sp>
        <p:nvSpPr>
          <p:cNvPr id="30" name="Text 28"/>
          <p:cNvSpPr/>
          <p:nvPr/>
        </p:nvSpPr>
        <p:spPr>
          <a:xfrm>
            <a:off x="7424886" y="6296025"/>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953250"/>
            <a:ext cx="532895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Join &amp; confidence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provenance, scoring</a:t>
            </a:r>
            <a:endParaRPr lang="en-US" sz="1950" dirty="0"/>
          </a:p>
        </p:txBody>
      </p:sp>
      <p:sp>
        <p:nvSpPr>
          <p:cNvPr id="32" name="Text 30"/>
          <p:cNvSpPr/>
          <p:nvPr/>
        </p:nvSpPr>
        <p:spPr>
          <a:xfrm>
            <a:off x="7430095" y="69437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33" name="Shape 31"/>
          <p:cNvSpPr/>
          <p:nvPr/>
        </p:nvSpPr>
        <p:spPr>
          <a:xfrm>
            <a:off x="8165157" y="4524375"/>
            <a:ext cx="9170343" cy="4048125"/>
          </a:xfrm>
          <a:prstGeom prst="roundRect">
            <a:avLst>
              <a:gd name="adj" fmla="val 2824"/>
            </a:avLst>
          </a:prstGeom>
          <a:solidFill>
            <a:srgbClr val="FDFDFB"/>
          </a:solidFill>
          <a:ln w="9525">
            <a:solidFill>
              <a:srgbClr val="D9DED7"/>
            </a:solidFill>
            <a:prstDash val="solid"/>
          </a:ln>
        </p:spPr>
      </p:sp>
      <p:sp>
        <p:nvSpPr>
          <p:cNvPr id="34" name="Text 32"/>
          <p:cNvSpPr/>
          <p:nvPr/>
        </p:nvSpPr>
        <p:spPr>
          <a:xfrm>
            <a:off x="8460432" y="478155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6096000"/>
            <a:ext cx="8579793" cy="9525"/>
          </a:xfrm>
          <a:prstGeom prst="rect">
            <a:avLst/>
          </a:prstGeom>
          <a:solidFill>
            <a:srgbClr val="D9DED7"/>
          </a:solidFill>
          <a:ln/>
        </p:spPr>
      </p:sp>
      <p:sp>
        <p:nvSpPr>
          <p:cNvPr id="36" name="Text 34"/>
          <p:cNvSpPr/>
          <p:nvPr/>
        </p:nvSpPr>
        <p:spPr>
          <a:xfrm>
            <a:off x="8460432" y="53054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5295900"/>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Evidence stream + registry live at m3; pilot edges captured end-to-end</a:t>
            </a:r>
            <a:endParaRPr lang="en-US" sz="1875" dirty="0"/>
          </a:p>
        </p:txBody>
      </p:sp>
      <p:sp>
        <p:nvSpPr>
          <p:cNvPr id="38" name="Text 36"/>
          <p:cNvSpPr/>
          <p:nvPr/>
        </p:nvSpPr>
        <p:spPr>
          <a:xfrm>
            <a:off x="16765786" y="5305425"/>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39" name="Shape 37"/>
          <p:cNvSpPr/>
          <p:nvPr/>
        </p:nvSpPr>
        <p:spPr>
          <a:xfrm>
            <a:off x="8460432" y="7038975"/>
            <a:ext cx="8579793" cy="9525"/>
          </a:xfrm>
          <a:prstGeom prst="rect">
            <a:avLst/>
          </a:prstGeom>
          <a:solidFill>
            <a:srgbClr val="D9DED7"/>
          </a:solidFill>
          <a:ln/>
        </p:spPr>
      </p:sp>
      <p:sp>
        <p:nvSpPr>
          <p:cNvPr id="40" name="Text 38"/>
          <p:cNvSpPr/>
          <p:nvPr/>
        </p:nvSpPr>
        <p:spPr>
          <a:xfrm>
            <a:off x="8460432" y="62484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6238875"/>
            <a:ext cx="6737686"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join: checks × map × deploys; provenance on every edge; blast radius live</a:t>
            </a:r>
            <a:endParaRPr lang="en-US" sz="1875" dirty="0"/>
          </a:p>
        </p:txBody>
      </p:sp>
      <p:sp>
        <p:nvSpPr>
          <p:cNvPr id="42" name="Text 40"/>
          <p:cNvSpPr/>
          <p:nvPr/>
        </p:nvSpPr>
        <p:spPr>
          <a:xfrm>
            <a:off x="16354425" y="62484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43" name="Text 41"/>
          <p:cNvSpPr/>
          <p:nvPr/>
        </p:nvSpPr>
        <p:spPr>
          <a:xfrm>
            <a:off x="8460432" y="71913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7181850"/>
            <a:ext cx="6313831"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Trust scoring GA — the map runs itself; simulation + PR-time diff and column-level by trigger — preventing by m24</a:t>
            </a:r>
            <a:endParaRPr lang="en-US" sz="1875" dirty="0"/>
          </a:p>
        </p:txBody>
      </p:sp>
      <p:sp>
        <p:nvSpPr>
          <p:cNvPr id="45" name="Text 43"/>
          <p:cNvSpPr/>
          <p:nvPr/>
        </p:nvSpPr>
        <p:spPr>
          <a:xfrm>
            <a:off x="15942915" y="7191375"/>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triggers</a:t>
            </a:r>
            <a:endParaRPr lang="en-US" sz="1800" dirty="0"/>
          </a:p>
        </p:txBody>
      </p:sp>
      <p:sp>
        <p:nvSpPr>
          <p:cNvPr id="46" name="Shape 44"/>
          <p:cNvSpPr/>
          <p:nvPr/>
        </p:nvSpPr>
        <p:spPr>
          <a:xfrm>
            <a:off x="952500" y="8839200"/>
            <a:ext cx="8077200" cy="1381125"/>
          </a:xfrm>
          <a:prstGeom prst="roundRect">
            <a:avLst>
              <a:gd name="adj" fmla="val 8276"/>
            </a:avLst>
          </a:prstGeom>
          <a:solidFill>
            <a:srgbClr val="E3EFEA"/>
          </a:solidFill>
          <a:ln/>
        </p:spPr>
      </p:sp>
      <p:sp>
        <p:nvSpPr>
          <p:cNvPr id="47" name="Text 45"/>
          <p:cNvSpPr/>
          <p:nvPr/>
        </p:nvSpPr>
        <p:spPr>
          <a:xfrm>
            <a:off x="1238250" y="903922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902970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An edge exists only when it is in the evidence stream, registry-named, and provenance-tagged.</a:t>
            </a:r>
            <a:endParaRPr lang="en-US" sz="1875" dirty="0"/>
          </a:p>
        </p:txBody>
      </p:sp>
      <p:sp>
        <p:nvSpPr>
          <p:cNvPr id="49" name="Shape 47"/>
          <p:cNvSpPr/>
          <p:nvPr/>
        </p:nvSpPr>
        <p:spPr>
          <a:xfrm>
            <a:off x="9258300" y="8839200"/>
            <a:ext cx="8077200" cy="1381125"/>
          </a:xfrm>
          <a:prstGeom prst="roundRect">
            <a:avLst>
              <a:gd name="adj" fmla="val 8276"/>
            </a:avLst>
          </a:prstGeom>
          <a:solidFill>
            <a:srgbClr val="F3E4DF"/>
          </a:solidFill>
          <a:ln/>
        </p:spPr>
      </p:sp>
      <p:sp>
        <p:nvSpPr>
          <p:cNvPr id="50" name="Text 48"/>
          <p:cNvSpPr/>
          <p:nvPr/>
        </p:nvSpPr>
        <p:spPr>
          <a:xfrm>
            <a:off x="9544050" y="903922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902970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"Map everything" crawls; column-level before incidents demand it.</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1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map,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pilot thread as Lineage &amp; Confidence sees it — every edge named in the registry, scored, and ready for the impact walk.</a:t>
            </a:r>
            <a:endParaRPr lang="en-US" sz="1950" dirty="0"/>
          </a:p>
        </p:txBody>
      </p:sp>
      <p:sp>
        <p:nvSpPr>
          <p:cNvPr id="5" name="Shape 3"/>
          <p:cNvSpPr/>
          <p:nvPr/>
        </p:nvSpPr>
        <p:spPr>
          <a:xfrm>
            <a:off x="952500" y="2857500"/>
            <a:ext cx="2618929" cy="1362075"/>
          </a:xfrm>
          <a:prstGeom prst="roundRect">
            <a:avLst>
              <a:gd name="adj" fmla="val 8392"/>
            </a:avLst>
          </a:prstGeom>
          <a:solidFill>
            <a:srgbClr val="FDFDFB"/>
          </a:solidFill>
          <a:ln w="9525">
            <a:solidFill>
              <a:srgbClr val="D9DED7"/>
            </a:solidFill>
            <a:prstDash val="solid"/>
          </a:ln>
        </p:spPr>
      </p:sp>
      <p:sp>
        <p:nvSpPr>
          <p:cNvPr id="6" name="Text 4"/>
          <p:cNvSpPr/>
          <p:nvPr/>
        </p:nvSpPr>
        <p:spPr>
          <a:xfrm>
            <a:off x="1133475"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payments-svc</a:t>
            </a:r>
            <a:endParaRPr lang="en-US" sz="1875" dirty="0"/>
          </a:p>
        </p:txBody>
      </p:sp>
      <p:sp>
        <p:nvSpPr>
          <p:cNvPr id="7" name="Text 5"/>
          <p:cNvSpPr/>
          <p:nvPr/>
        </p:nvSpPr>
        <p:spPr>
          <a:xfrm>
            <a:off x="1133475"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service</a:t>
            </a:r>
            <a:endParaRPr lang="en-US" sz="1800" dirty="0"/>
          </a:p>
        </p:txBody>
      </p:sp>
      <p:sp>
        <p:nvSpPr>
          <p:cNvPr id="8" name="Shape 6"/>
          <p:cNvSpPr/>
          <p:nvPr/>
        </p:nvSpPr>
        <p:spPr>
          <a:xfrm>
            <a:off x="1095375" y="2695575"/>
            <a:ext cx="1893689" cy="381000"/>
          </a:xfrm>
          <a:prstGeom prst="roundRect">
            <a:avLst>
              <a:gd name="adj" fmla="val 15000"/>
            </a:avLst>
          </a:prstGeom>
          <a:solidFill>
            <a:srgbClr val="F5EAD8"/>
          </a:solidFill>
          <a:ln w="9525">
            <a:solidFill>
              <a:srgbClr val="B97417"/>
            </a:solidFill>
            <a:prstDash val="solid"/>
          </a:ln>
        </p:spPr>
      </p:sp>
      <p:sp>
        <p:nvSpPr>
          <p:cNvPr id="9" name="Text 7"/>
          <p:cNvSpPr/>
          <p:nvPr/>
        </p:nvSpPr>
        <p:spPr>
          <a:xfrm>
            <a:off x="1219200" y="2733675"/>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10" name="Text 8"/>
          <p:cNvSpPr/>
          <p:nvPr/>
        </p:nvSpPr>
        <p:spPr>
          <a:xfrm>
            <a:off x="3855244"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1" name="Shape 9"/>
          <p:cNvSpPr/>
          <p:nvPr/>
        </p:nvSpPr>
        <p:spPr>
          <a:xfrm>
            <a:off x="3628579" y="3571875"/>
            <a:ext cx="739229" cy="342900"/>
          </a:xfrm>
          <a:prstGeom prst="roundRect">
            <a:avLst>
              <a:gd name="adj" fmla="val 13889"/>
            </a:avLst>
          </a:prstGeom>
          <a:solidFill>
            <a:srgbClr val="E3EFEA"/>
          </a:solidFill>
          <a:ln/>
        </p:spPr>
      </p:sp>
      <p:sp>
        <p:nvSpPr>
          <p:cNvPr id="12" name="Text 10"/>
          <p:cNvSpPr/>
          <p:nvPr/>
        </p:nvSpPr>
        <p:spPr>
          <a:xfrm>
            <a:off x="3723829"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3" name="Shape 11"/>
          <p:cNvSpPr/>
          <p:nvPr/>
        </p:nvSpPr>
        <p:spPr>
          <a:xfrm>
            <a:off x="4424958" y="2857500"/>
            <a:ext cx="2630239" cy="1362075"/>
          </a:xfrm>
          <a:prstGeom prst="roundRect">
            <a:avLst>
              <a:gd name="adj" fmla="val 8392"/>
            </a:avLst>
          </a:prstGeom>
          <a:solidFill>
            <a:srgbClr val="FDFDFB"/>
          </a:solidFill>
          <a:ln w="9525">
            <a:solidFill>
              <a:srgbClr val="D9DED7"/>
            </a:solidFill>
            <a:prstDash val="solid"/>
          </a:ln>
        </p:spPr>
      </p:sp>
      <p:sp>
        <p:nvSpPr>
          <p:cNvPr id="14" name="Text 12"/>
          <p:cNvSpPr/>
          <p:nvPr/>
        </p:nvSpPr>
        <p:spPr>
          <a:xfrm>
            <a:off x="4605933" y="3038475"/>
            <a:ext cx="249511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orders topic</a:t>
            </a:r>
            <a:endParaRPr lang="en-US" sz="1875" dirty="0"/>
          </a:p>
        </p:txBody>
      </p:sp>
      <p:sp>
        <p:nvSpPr>
          <p:cNvPr id="15" name="Text 13"/>
          <p:cNvSpPr/>
          <p:nvPr/>
        </p:nvSpPr>
        <p:spPr>
          <a:xfrm>
            <a:off x="4605933" y="3409950"/>
            <a:ext cx="234448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Kafka · orders.order_created</a:t>
            </a:r>
            <a:endParaRPr lang="en-US" sz="1800" dirty="0"/>
          </a:p>
        </p:txBody>
      </p:sp>
      <p:sp>
        <p:nvSpPr>
          <p:cNvPr id="16" name="Text 14"/>
          <p:cNvSpPr/>
          <p:nvPr/>
        </p:nvSpPr>
        <p:spPr>
          <a:xfrm>
            <a:off x="7339012"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7" name="Shape 15"/>
          <p:cNvSpPr/>
          <p:nvPr/>
        </p:nvSpPr>
        <p:spPr>
          <a:xfrm>
            <a:off x="7112347" y="3571875"/>
            <a:ext cx="739229" cy="342900"/>
          </a:xfrm>
          <a:prstGeom prst="roundRect">
            <a:avLst>
              <a:gd name="adj" fmla="val 13889"/>
            </a:avLst>
          </a:prstGeom>
          <a:solidFill>
            <a:srgbClr val="E3EFEA"/>
          </a:solidFill>
          <a:ln/>
        </p:spPr>
      </p:sp>
      <p:sp>
        <p:nvSpPr>
          <p:cNvPr id="18" name="Text 16"/>
          <p:cNvSpPr/>
          <p:nvPr/>
        </p:nvSpPr>
        <p:spPr>
          <a:xfrm>
            <a:off x="7207597"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9" name="Shape 17"/>
          <p:cNvSpPr/>
          <p:nvPr/>
        </p:nvSpPr>
        <p:spPr>
          <a:xfrm>
            <a:off x="7908727" y="2857500"/>
            <a:ext cx="2618929" cy="1362075"/>
          </a:xfrm>
          <a:prstGeom prst="roundRect">
            <a:avLst>
              <a:gd name="adj" fmla="val 8392"/>
            </a:avLst>
          </a:prstGeom>
          <a:solidFill>
            <a:srgbClr val="FDFDFB"/>
          </a:solidFill>
          <a:ln w="9525">
            <a:solidFill>
              <a:srgbClr val="D9DED7"/>
            </a:solidFill>
            <a:prstDash val="solid"/>
          </a:ln>
        </p:spPr>
      </p:sp>
      <p:sp>
        <p:nvSpPr>
          <p:cNvPr id="20" name="Text 18"/>
          <p:cNvSpPr/>
          <p:nvPr/>
        </p:nvSpPr>
        <p:spPr>
          <a:xfrm>
            <a:off x="8089702"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enrichment job</a:t>
            </a:r>
            <a:endParaRPr lang="en-US" sz="1875" dirty="0"/>
          </a:p>
        </p:txBody>
      </p:sp>
      <p:sp>
        <p:nvSpPr>
          <p:cNvPr id="21" name="Text 19"/>
          <p:cNvSpPr/>
          <p:nvPr/>
        </p:nvSpPr>
        <p:spPr>
          <a:xfrm>
            <a:off x="8089702"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Spark pipeline</a:t>
            </a:r>
            <a:endParaRPr lang="en-US" sz="1800" dirty="0"/>
          </a:p>
        </p:txBody>
      </p:sp>
      <p:sp>
        <p:nvSpPr>
          <p:cNvPr id="22" name="Text 20"/>
          <p:cNvSpPr/>
          <p:nvPr/>
        </p:nvSpPr>
        <p:spPr>
          <a:xfrm>
            <a:off x="10742861"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3" name="Shape 21"/>
          <p:cNvSpPr/>
          <p:nvPr/>
        </p:nvSpPr>
        <p:spPr>
          <a:xfrm>
            <a:off x="10584805" y="3571875"/>
            <a:ext cx="602010" cy="342900"/>
          </a:xfrm>
          <a:prstGeom prst="roundRect">
            <a:avLst>
              <a:gd name="adj" fmla="val 13889"/>
            </a:avLst>
          </a:prstGeom>
          <a:solidFill>
            <a:srgbClr val="F5EAD8"/>
          </a:solidFill>
          <a:ln/>
        </p:spPr>
      </p:sp>
      <p:sp>
        <p:nvSpPr>
          <p:cNvPr id="24" name="Text 22"/>
          <p:cNvSpPr/>
          <p:nvPr/>
        </p:nvSpPr>
        <p:spPr>
          <a:xfrm>
            <a:off x="10680055" y="3590925"/>
            <a:ext cx="47171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MED</a:t>
            </a:r>
            <a:endParaRPr lang="en-US" sz="1800" dirty="0"/>
          </a:p>
        </p:txBody>
      </p:sp>
      <p:sp>
        <p:nvSpPr>
          <p:cNvPr id="25" name="Shape 23"/>
          <p:cNvSpPr/>
          <p:nvPr/>
        </p:nvSpPr>
        <p:spPr>
          <a:xfrm>
            <a:off x="11243965" y="2857500"/>
            <a:ext cx="2618929" cy="1362075"/>
          </a:xfrm>
          <a:prstGeom prst="roundRect">
            <a:avLst>
              <a:gd name="adj" fmla="val 8392"/>
            </a:avLst>
          </a:prstGeom>
          <a:solidFill>
            <a:srgbClr val="FDFDFB"/>
          </a:solidFill>
          <a:ln w="9525">
            <a:solidFill>
              <a:srgbClr val="D9DED7"/>
            </a:solidFill>
            <a:prstDash val="solid"/>
          </a:ln>
        </p:spPr>
      </p:sp>
      <p:sp>
        <p:nvSpPr>
          <p:cNvPr id="26" name="Text 24"/>
          <p:cNvSpPr/>
          <p:nvPr/>
        </p:nvSpPr>
        <p:spPr>
          <a:xfrm>
            <a:off x="11424940"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gold.orders_enr</a:t>
            </a:r>
            <a:endParaRPr lang="en-US" sz="1875" dirty="0"/>
          </a:p>
        </p:txBody>
      </p:sp>
      <p:sp>
        <p:nvSpPr>
          <p:cNvPr id="27" name="Text 25"/>
          <p:cNvSpPr/>
          <p:nvPr/>
        </p:nvSpPr>
        <p:spPr>
          <a:xfrm>
            <a:off x="11424940"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curated table</a:t>
            </a:r>
            <a:endParaRPr lang="en-US" sz="1800" dirty="0"/>
          </a:p>
        </p:txBody>
      </p:sp>
      <p:sp>
        <p:nvSpPr>
          <p:cNvPr id="28" name="Text 26"/>
          <p:cNvSpPr/>
          <p:nvPr/>
        </p:nvSpPr>
        <p:spPr>
          <a:xfrm>
            <a:off x="14146709"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9" name="Shape 27"/>
          <p:cNvSpPr/>
          <p:nvPr/>
        </p:nvSpPr>
        <p:spPr>
          <a:xfrm>
            <a:off x="13920043" y="3571875"/>
            <a:ext cx="739229" cy="342900"/>
          </a:xfrm>
          <a:prstGeom prst="roundRect">
            <a:avLst>
              <a:gd name="adj" fmla="val 13889"/>
            </a:avLst>
          </a:prstGeom>
          <a:solidFill>
            <a:srgbClr val="E3EFEA"/>
          </a:solidFill>
          <a:ln/>
        </p:spPr>
      </p:sp>
      <p:sp>
        <p:nvSpPr>
          <p:cNvPr id="30" name="Text 28"/>
          <p:cNvSpPr/>
          <p:nvPr/>
        </p:nvSpPr>
        <p:spPr>
          <a:xfrm>
            <a:off x="14015293"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31" name="Shape 29"/>
          <p:cNvSpPr/>
          <p:nvPr/>
        </p:nvSpPr>
        <p:spPr>
          <a:xfrm>
            <a:off x="14716423" y="2857500"/>
            <a:ext cx="2618929" cy="1362075"/>
          </a:xfrm>
          <a:prstGeom prst="roundRect">
            <a:avLst>
              <a:gd name="adj" fmla="val 8392"/>
            </a:avLst>
          </a:prstGeom>
          <a:solidFill>
            <a:srgbClr val="F3E4DF"/>
          </a:solidFill>
          <a:ln w="9525">
            <a:solidFill>
              <a:srgbClr val="A3442E"/>
            </a:solidFill>
            <a:prstDash val="solid"/>
          </a:ln>
        </p:spPr>
      </p:sp>
      <p:sp>
        <p:nvSpPr>
          <p:cNvPr id="32" name="Text 30"/>
          <p:cNvSpPr/>
          <p:nvPr/>
        </p:nvSpPr>
        <p:spPr>
          <a:xfrm>
            <a:off x="14897398"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finance report</a:t>
            </a:r>
            <a:endParaRPr lang="en-US" sz="1875" dirty="0"/>
          </a:p>
        </p:txBody>
      </p:sp>
      <p:sp>
        <p:nvSpPr>
          <p:cNvPr id="33" name="Text 31"/>
          <p:cNvSpPr/>
          <p:nvPr/>
        </p:nvSpPr>
        <p:spPr>
          <a:xfrm>
            <a:off x="14897398" y="3409950"/>
            <a:ext cx="233317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consumer — impacted</a:t>
            </a:r>
            <a:endParaRPr lang="en-US" sz="1800" dirty="0"/>
          </a:p>
        </p:txBody>
      </p:sp>
      <p:sp>
        <p:nvSpPr>
          <p:cNvPr id="34" name="Shape 32"/>
          <p:cNvSpPr/>
          <p:nvPr/>
        </p:nvSpPr>
        <p:spPr>
          <a:xfrm>
            <a:off x="952500" y="4714875"/>
            <a:ext cx="5308550" cy="3819525"/>
          </a:xfrm>
          <a:prstGeom prst="roundRect">
            <a:avLst>
              <a:gd name="adj" fmla="val 2993"/>
            </a:avLst>
          </a:prstGeom>
          <a:solidFill>
            <a:srgbClr val="FDFDFB"/>
          </a:solidFill>
          <a:ln w="9525">
            <a:solidFill>
              <a:srgbClr val="D9DED7"/>
            </a:solidFill>
            <a:prstDash val="solid"/>
          </a:ln>
        </p:spPr>
      </p:sp>
      <p:sp>
        <p:nvSpPr>
          <p:cNvPr id="35" name="Text 33"/>
          <p:cNvSpPr/>
          <p:nvPr/>
        </p:nvSpPr>
        <p:spPr>
          <a:xfrm>
            <a:off x="122872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BASELINE · M1</a:t>
            </a:r>
            <a:endParaRPr lang="en-US" sz="1800" dirty="0"/>
          </a:p>
        </p:txBody>
      </p:sp>
      <p:sp>
        <p:nvSpPr>
          <p:cNvPr id="36" name="Text 34"/>
          <p:cNvSpPr/>
          <p:nvPr/>
        </p:nvSpPr>
        <p:spPr>
          <a:xfrm>
            <a:off x="122872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scan maps every layer — services, topics, jobs, tables, reports — into registry-named edges.</a:t>
            </a:r>
            <a:endParaRPr lang="en-US" sz="1950" dirty="0"/>
          </a:p>
        </p:txBody>
      </p:sp>
      <p:sp>
        <p:nvSpPr>
          <p:cNvPr id="37" name="Shape 35"/>
          <p:cNvSpPr/>
          <p:nvPr/>
        </p:nvSpPr>
        <p:spPr>
          <a:xfrm>
            <a:off x="6489650" y="4714875"/>
            <a:ext cx="5308550" cy="3819525"/>
          </a:xfrm>
          <a:prstGeom prst="roundRect">
            <a:avLst>
              <a:gd name="adj" fmla="val 2993"/>
            </a:avLst>
          </a:prstGeom>
          <a:solidFill>
            <a:srgbClr val="FDFDFB"/>
          </a:solidFill>
          <a:ln w="9525">
            <a:solidFill>
              <a:srgbClr val="D9DED7"/>
            </a:solidFill>
            <a:prstDash val="solid"/>
          </a:ln>
        </p:spPr>
      </p:sp>
      <p:sp>
        <p:nvSpPr>
          <p:cNvPr id="38" name="Text 36"/>
          <p:cNvSpPr/>
          <p:nvPr/>
        </p:nvSpPr>
        <p:spPr>
          <a:xfrm>
            <a:off x="676587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INCREMENTAL · ON EVERY CHANGE</a:t>
            </a:r>
            <a:endParaRPr lang="en-US" sz="1800" dirty="0"/>
          </a:p>
        </p:txBody>
      </p:sp>
      <p:sp>
        <p:nvSpPr>
          <p:cNvPr id="39" name="Text 37"/>
          <p:cNvSpPr/>
          <p:nvPr/>
        </p:nvSpPr>
        <p:spPr>
          <a:xfrm>
            <a:off x="676587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v3.17 merge re-emits its edges in minutes. The map updates itself — it never goes stale between scans.</a:t>
            </a:r>
            <a:endParaRPr lang="en-US" sz="1950" dirty="0"/>
          </a:p>
        </p:txBody>
      </p:sp>
      <p:sp>
        <p:nvSpPr>
          <p:cNvPr id="40" name="Shape 38"/>
          <p:cNvSpPr/>
          <p:nvPr/>
        </p:nvSpPr>
        <p:spPr>
          <a:xfrm>
            <a:off x="12026801" y="4714875"/>
            <a:ext cx="5308699" cy="3819525"/>
          </a:xfrm>
          <a:prstGeom prst="roundRect">
            <a:avLst>
              <a:gd name="adj" fmla="val 2993"/>
            </a:avLst>
          </a:prstGeom>
          <a:solidFill>
            <a:srgbClr val="FDFDFB"/>
          </a:solidFill>
          <a:ln w="9525">
            <a:solidFill>
              <a:srgbClr val="D9DED7"/>
            </a:solidFill>
            <a:prstDash val="solid"/>
          </a:ln>
        </p:spPr>
      </p:sp>
      <p:sp>
        <p:nvSpPr>
          <p:cNvPr id="41" name="Text 39"/>
          <p:cNvSpPr/>
          <p:nvPr/>
        </p:nvSpPr>
        <p:spPr>
          <a:xfrm>
            <a:off x="12303026" y="4953000"/>
            <a:ext cx="5231874"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CONFIDENCE + IMPACT</a:t>
            </a:r>
            <a:endParaRPr lang="en-US" sz="1800" dirty="0"/>
          </a:p>
        </p:txBody>
      </p:sp>
      <p:sp>
        <p:nvSpPr>
          <p:cNvPr id="42" name="Text 40"/>
          <p:cNvSpPr/>
          <p:nvPr/>
        </p:nvSpPr>
        <p:spPr>
          <a:xfrm>
            <a:off x="12303026" y="5353050"/>
            <a:ext cx="4898937"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Each edge scored declared-vs-observed — the MED edge is honest about dynamic SQL. The impact walk ranks exposure: finance report first.</a:t>
            </a:r>
            <a:endParaRPr lang="en-US" sz="1950" dirty="0"/>
          </a:p>
        </p:txBody>
      </p:sp>
      <p:sp>
        <p:nvSpPr>
          <p:cNvPr id="43" name="Shape 41"/>
          <p:cNvSpPr/>
          <p:nvPr/>
        </p:nvSpPr>
        <p:spPr>
          <a:xfrm>
            <a:off x="952500" y="8801100"/>
            <a:ext cx="16383000" cy="1028700"/>
          </a:xfrm>
          <a:prstGeom prst="roundRect">
            <a:avLst>
              <a:gd name="adj" fmla="val 11111"/>
            </a:avLst>
          </a:prstGeom>
          <a:solidFill>
            <a:srgbClr val="1B2530"/>
          </a:solidFill>
          <a:ln/>
        </p:spPr>
      </p:sp>
      <p:sp>
        <p:nvSpPr>
          <p:cNvPr id="44" name="Text 42"/>
          <p:cNvSpPr/>
          <p:nvPr/>
        </p:nvSpPr>
        <p:spPr>
          <a:xfrm>
            <a:off x="1257300" y="8991600"/>
            <a:ext cx="239394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WHY IT MATTERS</a:t>
            </a:r>
            <a:endParaRPr lang="en-US" sz="1800" dirty="0"/>
          </a:p>
        </p:txBody>
      </p:sp>
      <p:sp>
        <p:nvSpPr>
          <p:cNvPr id="45" name="Text 43"/>
          <p:cNvSpPr/>
          <p:nvPr/>
        </p:nvSpPr>
        <p:spPr>
          <a:xfrm>
            <a:off x="3662214" y="8972550"/>
            <a:ext cx="1376954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When the NULL spike fires, this map is what turns a symptom into a named cause and a ranked blast radius — in one hop, not a war room.</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DEEP DIVE · 2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Data Quality — detection to prevention</a:t>
            </a:r>
            <a:endParaRPr lang="en-US" sz="4500" dirty="0"/>
          </a:p>
        </p:txBody>
      </p:sp>
      <p:sp>
        <p:nvSpPr>
          <p:cNvPr id="4" name="Shape 2"/>
          <p:cNvSpPr/>
          <p:nvPr/>
        </p:nvSpPr>
        <p:spPr>
          <a:xfrm>
            <a:off x="952500" y="2295525"/>
            <a:ext cx="2926110" cy="1647825"/>
          </a:xfrm>
          <a:prstGeom prst="roundRect">
            <a:avLst>
              <a:gd name="adj" fmla="val 5780"/>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Learn</a:t>
            </a:r>
            <a:endParaRPr lang="en-US" sz="1875" dirty="0"/>
          </a:p>
        </p:txBody>
      </p:sp>
      <p:sp>
        <p:nvSpPr>
          <p:cNvPr id="6" name="Text 4"/>
          <p:cNvSpPr/>
          <p:nvPr/>
        </p:nvSpPr>
        <p:spPr>
          <a:xfrm>
            <a:off x="115252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baselines from 4–6 wks of history</a:t>
            </a:r>
            <a:endParaRPr lang="en-US" sz="1800" dirty="0"/>
          </a:p>
        </p:txBody>
      </p:sp>
      <p:sp>
        <p:nvSpPr>
          <p:cNvPr id="7" name="Text 5"/>
          <p:cNvSpPr/>
          <p:nvPr/>
        </p:nvSpPr>
        <p:spPr>
          <a:xfrm>
            <a:off x="395481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647825"/>
          </a:xfrm>
          <a:prstGeom prst="roundRect">
            <a:avLst>
              <a:gd name="adj" fmla="val 5780"/>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Detect</a:t>
            </a:r>
            <a:endParaRPr lang="en-US" sz="1875" dirty="0"/>
          </a:p>
        </p:txBody>
      </p:sp>
      <p:sp>
        <p:nvSpPr>
          <p:cNvPr id="10" name="Text 8"/>
          <p:cNvSpPr/>
          <p:nvPr/>
        </p:nvSpPr>
        <p:spPr>
          <a:xfrm>
            <a:off x="4516785" y="2819400"/>
            <a:ext cx="2602260"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batch, at-rest, in-stream — at the service &amp; Kafka layer</a:t>
            </a:r>
            <a:endParaRPr lang="en-US" sz="1800" dirty="0"/>
          </a:p>
        </p:txBody>
      </p:sp>
      <p:sp>
        <p:nvSpPr>
          <p:cNvPr id="11" name="Text 9"/>
          <p:cNvSpPr/>
          <p:nvPr/>
        </p:nvSpPr>
        <p:spPr>
          <a:xfrm>
            <a:off x="731907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647825"/>
          </a:xfrm>
          <a:prstGeom prst="roundRect">
            <a:avLst>
              <a:gd name="adj" fmla="val 5780"/>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Publish</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 result into the evidence stream</a:t>
            </a:r>
            <a:endParaRPr lang="en-US" sz="1800" dirty="0"/>
          </a:p>
        </p:txBody>
      </p:sp>
      <p:sp>
        <p:nvSpPr>
          <p:cNvPr id="15" name="Text 13"/>
          <p:cNvSpPr/>
          <p:nvPr/>
        </p:nvSpPr>
        <p:spPr>
          <a:xfrm>
            <a:off x="1068332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647825"/>
          </a:xfrm>
          <a:prstGeom prst="roundRect">
            <a:avLst>
              <a:gd name="adj" fmla="val 5780"/>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Decide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 compare; gate holds or passes</a:t>
            </a:r>
            <a:endParaRPr lang="en-US" sz="1800" dirty="0"/>
          </a:p>
        </p:txBody>
      </p:sp>
      <p:sp>
        <p:nvSpPr>
          <p:cNvPr id="19" name="Text 17"/>
          <p:cNvSpPr/>
          <p:nvPr/>
        </p:nvSpPr>
        <p:spPr>
          <a:xfrm>
            <a:off x="1404758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647825"/>
          </a:xfrm>
          <a:prstGeom prst="roundRect">
            <a:avLst>
              <a:gd name="adj" fmla="val 5780"/>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Prevent</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contracts; in-path asserts on Tier-1</a:t>
            </a:r>
            <a:endParaRPr lang="en-US" sz="1800" dirty="0"/>
          </a:p>
        </p:txBody>
      </p:sp>
      <p:sp>
        <p:nvSpPr>
          <p:cNvPr id="23" name="Shape 21"/>
          <p:cNvSpPr/>
          <p:nvPr/>
        </p:nvSpPr>
        <p:spPr>
          <a:xfrm>
            <a:off x="952500" y="4210050"/>
            <a:ext cx="6945957" cy="4048125"/>
          </a:xfrm>
          <a:prstGeom prst="roundRect">
            <a:avLst>
              <a:gd name="adj" fmla="val 2824"/>
            </a:avLst>
          </a:prstGeom>
          <a:solidFill>
            <a:srgbClr val="FDFDFB"/>
          </a:solidFill>
          <a:ln w="9525">
            <a:solidFill>
              <a:srgbClr val="D9DED7"/>
            </a:solidFill>
            <a:prstDash val="solid"/>
          </a:ln>
        </p:spPr>
      </p:sp>
      <p:sp>
        <p:nvSpPr>
          <p:cNvPr id="24" name="Text 22"/>
          <p:cNvSpPr/>
          <p:nvPr/>
        </p:nvSpPr>
        <p:spPr>
          <a:xfrm>
            <a:off x="1247775" y="4467225"/>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5486400"/>
            <a:ext cx="6355407" cy="9525"/>
          </a:xfrm>
          <a:prstGeom prst="rect">
            <a:avLst/>
          </a:prstGeom>
          <a:solidFill>
            <a:srgbClr val="D9DED7"/>
          </a:solidFill>
          <a:ln/>
        </p:spPr>
      </p:sp>
      <p:sp>
        <p:nvSpPr>
          <p:cNvPr id="26" name="Text 24"/>
          <p:cNvSpPr/>
          <p:nvPr/>
        </p:nvSpPr>
        <p:spPr>
          <a:xfrm>
            <a:off x="1247775" y="5000625"/>
            <a:ext cx="5396731"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Async / post-write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federation, profiling</a:t>
            </a:r>
            <a:endParaRPr lang="en-US" sz="1950" dirty="0"/>
          </a:p>
        </p:txBody>
      </p:sp>
      <p:sp>
        <p:nvSpPr>
          <p:cNvPr id="27" name="Text 25"/>
          <p:cNvSpPr/>
          <p:nvPr/>
        </p:nvSpPr>
        <p:spPr>
          <a:xfrm>
            <a:off x="7424886" y="49911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28" name="Shape 26"/>
          <p:cNvSpPr/>
          <p:nvPr/>
        </p:nvSpPr>
        <p:spPr>
          <a:xfrm>
            <a:off x="1247775" y="6134100"/>
            <a:ext cx="6355407" cy="9525"/>
          </a:xfrm>
          <a:prstGeom prst="rect">
            <a:avLst/>
          </a:prstGeom>
          <a:solidFill>
            <a:srgbClr val="D9DED7"/>
          </a:solidFill>
          <a:ln/>
        </p:spPr>
      </p:sp>
      <p:sp>
        <p:nvSpPr>
          <p:cNvPr id="29" name="Text 27"/>
          <p:cNvSpPr/>
          <p:nvPr/>
        </p:nvSpPr>
        <p:spPr>
          <a:xfrm>
            <a:off x="1247775" y="5648325"/>
            <a:ext cx="5961370"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Sync / streaming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monitor at the chokepoint</a:t>
            </a:r>
            <a:endParaRPr lang="en-US" sz="1950" dirty="0"/>
          </a:p>
        </p:txBody>
      </p:sp>
      <p:sp>
        <p:nvSpPr>
          <p:cNvPr id="30" name="Text 28"/>
          <p:cNvSpPr/>
          <p:nvPr/>
        </p:nvSpPr>
        <p:spPr>
          <a:xfrm>
            <a:off x="7424886" y="56388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305550"/>
            <a:ext cx="5694527"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Contracts &amp; gate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certification gate, shadow M5 → blocks M7</a:t>
            </a:r>
            <a:endParaRPr lang="en-US" sz="1950" dirty="0"/>
          </a:p>
        </p:txBody>
      </p:sp>
      <p:sp>
        <p:nvSpPr>
          <p:cNvPr id="32" name="Text 30"/>
          <p:cNvSpPr/>
          <p:nvPr/>
        </p:nvSpPr>
        <p:spPr>
          <a:xfrm>
            <a:off x="6966942" y="6286500"/>
            <a:ext cx="71244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2→4</a:t>
            </a:r>
            <a:endParaRPr lang="en-US" sz="2250" dirty="0"/>
          </a:p>
        </p:txBody>
      </p:sp>
      <p:sp>
        <p:nvSpPr>
          <p:cNvPr id="33" name="Shape 31"/>
          <p:cNvSpPr/>
          <p:nvPr/>
        </p:nvSpPr>
        <p:spPr>
          <a:xfrm>
            <a:off x="8165157" y="4210050"/>
            <a:ext cx="9170343" cy="4048125"/>
          </a:xfrm>
          <a:prstGeom prst="roundRect">
            <a:avLst>
              <a:gd name="adj" fmla="val 2824"/>
            </a:avLst>
          </a:prstGeom>
          <a:solidFill>
            <a:srgbClr val="FDFDFB"/>
          </a:solidFill>
          <a:ln w="9525">
            <a:solidFill>
              <a:srgbClr val="D9DED7"/>
            </a:solidFill>
            <a:prstDash val="solid"/>
          </a:ln>
        </p:spPr>
      </p:sp>
      <p:sp>
        <p:nvSpPr>
          <p:cNvPr id="34" name="Text 32"/>
          <p:cNvSpPr/>
          <p:nvPr/>
        </p:nvSpPr>
        <p:spPr>
          <a:xfrm>
            <a:off x="8460432" y="4467225"/>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5781675"/>
            <a:ext cx="8579793" cy="9525"/>
          </a:xfrm>
          <a:prstGeom prst="rect">
            <a:avLst/>
          </a:prstGeom>
          <a:solidFill>
            <a:srgbClr val="D9DED7"/>
          </a:solidFill>
          <a:ln/>
        </p:spPr>
      </p:sp>
      <p:sp>
        <p:nvSpPr>
          <p:cNvPr id="36" name="Text 34"/>
          <p:cNvSpPr/>
          <p:nvPr/>
        </p:nvSpPr>
        <p:spPr>
          <a:xfrm>
            <a:off x="8460432" y="49911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4981575"/>
            <a:ext cx="6737686"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Batch federated m3 → baselines learned m4 → streaming monitor live m5 — staggered so each step feeds the next</a:t>
            </a:r>
            <a:endParaRPr lang="en-US" sz="1875" dirty="0"/>
          </a:p>
        </p:txBody>
      </p:sp>
      <p:sp>
        <p:nvSpPr>
          <p:cNvPr id="38" name="Text 36"/>
          <p:cNvSpPr/>
          <p:nvPr/>
        </p:nvSpPr>
        <p:spPr>
          <a:xfrm>
            <a:off x="16354425" y="49911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M1–M3</a:t>
            </a:r>
            <a:endParaRPr lang="en-US" sz="1800" dirty="0"/>
          </a:p>
        </p:txBody>
      </p:sp>
      <p:sp>
        <p:nvSpPr>
          <p:cNvPr id="39" name="Shape 37"/>
          <p:cNvSpPr/>
          <p:nvPr/>
        </p:nvSpPr>
        <p:spPr>
          <a:xfrm>
            <a:off x="8460432" y="6724650"/>
            <a:ext cx="8579793" cy="9525"/>
          </a:xfrm>
          <a:prstGeom prst="rect">
            <a:avLst/>
          </a:prstGeom>
          <a:solidFill>
            <a:srgbClr val="D9DED7"/>
          </a:solidFill>
          <a:ln/>
        </p:spPr>
      </p:sp>
      <p:sp>
        <p:nvSpPr>
          <p:cNvPr id="40" name="Text 38"/>
          <p:cNvSpPr/>
          <p:nvPr/>
        </p:nvSpPr>
        <p:spPr>
          <a:xfrm>
            <a:off x="8460432" y="59340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5924550"/>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Check tuning on real traffic; gate in shadow mode — logs what it would hold, holds nothing, earns trust</a:t>
            </a:r>
            <a:endParaRPr lang="en-US" sz="1875" dirty="0"/>
          </a:p>
        </p:txBody>
      </p:sp>
      <p:sp>
        <p:nvSpPr>
          <p:cNvPr id="42" name="Text 40"/>
          <p:cNvSpPr/>
          <p:nvPr/>
        </p:nvSpPr>
        <p:spPr>
          <a:xfrm>
            <a:off x="16765786" y="5934075"/>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M5</a:t>
            </a:r>
            <a:endParaRPr lang="en-US" sz="1800" dirty="0"/>
          </a:p>
        </p:txBody>
      </p:sp>
      <p:sp>
        <p:nvSpPr>
          <p:cNvPr id="43" name="Text 41"/>
          <p:cNvSpPr/>
          <p:nvPr/>
        </p:nvSpPr>
        <p:spPr>
          <a:xfrm>
            <a:off x="8460432" y="687705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6867525"/>
            <a:ext cx="673768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First contract accepted m10–11 (90 days observed); first real block m11–12; checks auto-tune to run themselves by m15 — preventing at m24, in-path Tier-1 only</a:t>
            </a:r>
            <a:endParaRPr lang="en-US" sz="1875" dirty="0"/>
          </a:p>
        </p:txBody>
      </p:sp>
      <p:sp>
        <p:nvSpPr>
          <p:cNvPr id="45" name="Text 43"/>
          <p:cNvSpPr/>
          <p:nvPr/>
        </p:nvSpPr>
        <p:spPr>
          <a:xfrm>
            <a:off x="16354425" y="68770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M6–M7</a:t>
            </a:r>
            <a:endParaRPr lang="en-US" sz="1800" dirty="0"/>
          </a:p>
        </p:txBody>
      </p:sp>
      <p:sp>
        <p:nvSpPr>
          <p:cNvPr id="46" name="Shape 44"/>
          <p:cNvSpPr/>
          <p:nvPr/>
        </p:nvSpPr>
        <p:spPr>
          <a:xfrm>
            <a:off x="952500" y="8524875"/>
            <a:ext cx="8077200" cy="1381125"/>
          </a:xfrm>
          <a:prstGeom prst="roundRect">
            <a:avLst>
              <a:gd name="adj" fmla="val 8276"/>
            </a:avLst>
          </a:prstGeom>
          <a:solidFill>
            <a:srgbClr val="E3EFEA"/>
          </a:solidFill>
          <a:ln/>
        </p:spPr>
      </p:sp>
      <p:sp>
        <p:nvSpPr>
          <p:cNvPr id="47" name="Text 45"/>
          <p:cNvSpPr/>
          <p:nvPr/>
        </p:nvSpPr>
        <p:spPr>
          <a:xfrm>
            <a:off x="1238250" y="8724900"/>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8715375"/>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 check exists only when its result lands in the evidence stream under registry names.</a:t>
            </a:r>
            <a:endParaRPr lang="en-US" sz="1875" dirty="0"/>
          </a:p>
        </p:txBody>
      </p:sp>
      <p:sp>
        <p:nvSpPr>
          <p:cNvPr id="49" name="Shape 47"/>
          <p:cNvSpPr/>
          <p:nvPr/>
        </p:nvSpPr>
        <p:spPr>
          <a:xfrm>
            <a:off x="9258300" y="8524875"/>
            <a:ext cx="8077200" cy="1381125"/>
          </a:xfrm>
          <a:prstGeom prst="roundRect">
            <a:avLst>
              <a:gd name="adj" fmla="val 8276"/>
            </a:avLst>
          </a:prstGeom>
          <a:solidFill>
            <a:srgbClr val="F3E4DF"/>
          </a:solidFill>
          <a:ln/>
        </p:spPr>
      </p:sp>
      <p:sp>
        <p:nvSpPr>
          <p:cNvPr id="50" name="Text 48"/>
          <p:cNvSpPr/>
          <p:nvPr/>
        </p:nvSpPr>
        <p:spPr>
          <a:xfrm>
            <a:off x="9544050" y="8724900"/>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8715375"/>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Blocking on anomaly scores; estate-wide enforcement mandates.</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2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checks,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same broken deploy, seen by all three check layers — every result lands in one stream, so the gate makes one decision.</a:t>
            </a:r>
            <a:endParaRPr lang="en-US" sz="1950" dirty="0"/>
          </a:p>
        </p:txBody>
      </p:sp>
      <p:sp>
        <p:nvSpPr>
          <p:cNvPr id="5" name="Shape 3"/>
          <p:cNvSpPr/>
          <p:nvPr/>
        </p:nvSpPr>
        <p:spPr>
          <a:xfrm>
            <a:off x="952500" y="2590800"/>
            <a:ext cx="5308550" cy="5162550"/>
          </a:xfrm>
          <a:prstGeom prst="roundRect">
            <a:avLst>
              <a:gd name="adj" fmla="val 2214"/>
            </a:avLst>
          </a:prstGeom>
          <a:solidFill>
            <a:srgbClr val="FDFDFB"/>
          </a:solidFill>
          <a:ln w="9525">
            <a:solidFill>
              <a:srgbClr val="D9DED7"/>
            </a:solidFill>
            <a:prstDash val="solid"/>
          </a:ln>
        </p:spPr>
      </p:sp>
      <p:sp>
        <p:nvSpPr>
          <p:cNvPr id="6" name="Text 4"/>
          <p:cNvSpPr/>
          <p:nvPr/>
        </p:nvSpPr>
        <p:spPr>
          <a:xfrm>
            <a:off x="120967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IN-STREAM · SERVICE &amp; KAFKA</a:t>
            </a:r>
            <a:endParaRPr lang="en-US" sz="1800" dirty="0"/>
          </a:p>
        </p:txBody>
      </p:sp>
      <p:sp>
        <p:nvSpPr>
          <p:cNvPr id="7" name="Text 5"/>
          <p:cNvSpPr/>
          <p:nvPr/>
        </p:nvSpPr>
        <p:spPr>
          <a:xfrm>
            <a:off x="120967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NULL spike caught</a:t>
            </a:r>
            <a:endParaRPr lang="en-US" sz="2100" dirty="0"/>
          </a:p>
        </p:txBody>
      </p:sp>
      <p:sp>
        <p:nvSpPr>
          <p:cNvPr id="8" name="Text 6"/>
          <p:cNvSpPr/>
          <p:nvPr/>
        </p:nvSpPr>
        <p:spPr>
          <a:xfrm>
            <a:off x="1209675"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customer_id null-rate jumps 0.1% → 8% on the orders topic — flagged at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a:t>
            </a:r>
            <a:endParaRPr lang="en-US" sz="1875" dirty="0"/>
          </a:p>
        </p:txBody>
      </p:sp>
      <p:sp>
        <p:nvSpPr>
          <p:cNvPr id="9" name="Text 7"/>
          <p:cNvSpPr/>
          <p:nvPr/>
        </p:nvSpPr>
        <p:spPr>
          <a:xfrm>
            <a:off x="120967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0" name="Shape 8"/>
          <p:cNvSpPr/>
          <p:nvPr/>
        </p:nvSpPr>
        <p:spPr>
          <a:xfrm>
            <a:off x="6489650" y="2590800"/>
            <a:ext cx="5308550" cy="5162550"/>
          </a:xfrm>
          <a:prstGeom prst="roundRect">
            <a:avLst>
              <a:gd name="adj" fmla="val 2214"/>
            </a:avLst>
          </a:prstGeom>
          <a:solidFill>
            <a:srgbClr val="FDFDFB"/>
          </a:solidFill>
          <a:ln w="9525">
            <a:solidFill>
              <a:srgbClr val="D9DED7"/>
            </a:solidFill>
            <a:prstDash val="solid"/>
          </a:ln>
        </p:spPr>
      </p:sp>
      <p:sp>
        <p:nvSpPr>
          <p:cNvPr id="11" name="Text 9"/>
          <p:cNvSpPr/>
          <p:nvPr/>
        </p:nvSpPr>
        <p:spPr>
          <a:xfrm>
            <a:off x="674682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AT-REST · POST-WRITE</a:t>
            </a:r>
            <a:endParaRPr lang="en-US" sz="1800" dirty="0"/>
          </a:p>
        </p:txBody>
      </p:sp>
      <p:sp>
        <p:nvSpPr>
          <p:cNvPr id="12" name="Text 10"/>
          <p:cNvSpPr/>
          <p:nvPr/>
        </p:nvSpPr>
        <p:spPr>
          <a:xfrm>
            <a:off x="674682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Baseline breach</a:t>
            </a:r>
            <a:endParaRPr lang="en-US" sz="2100" dirty="0"/>
          </a:p>
        </p:txBody>
      </p:sp>
      <p:sp>
        <p:nvSpPr>
          <p:cNvPr id="13" name="Text 11"/>
          <p:cNvSpPr/>
          <p:nvPr/>
        </p:nvSpPr>
        <p:spPr>
          <a:xfrm>
            <a:off x="6746825" y="3590925"/>
            <a:ext cx="4938026"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gold.orders_enr lands 40% below its learned volume baseline — freshness and volume checks auto-generated from history.</a:t>
            </a:r>
            <a:endParaRPr lang="en-US" sz="1875" dirty="0"/>
          </a:p>
        </p:txBody>
      </p:sp>
      <p:sp>
        <p:nvSpPr>
          <p:cNvPr id="14" name="Text 12"/>
          <p:cNvSpPr/>
          <p:nvPr/>
        </p:nvSpPr>
        <p:spPr>
          <a:xfrm>
            <a:off x="674682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5" name="Shape 13"/>
          <p:cNvSpPr/>
          <p:nvPr/>
        </p:nvSpPr>
        <p:spPr>
          <a:xfrm>
            <a:off x="12026801" y="2590800"/>
            <a:ext cx="5308550" cy="5162550"/>
          </a:xfrm>
          <a:prstGeom prst="roundRect">
            <a:avLst>
              <a:gd name="adj" fmla="val 2214"/>
            </a:avLst>
          </a:prstGeom>
          <a:solidFill>
            <a:srgbClr val="FDFDFB"/>
          </a:solidFill>
          <a:ln w="9525">
            <a:solidFill>
              <a:srgbClr val="D9DED7"/>
            </a:solidFill>
            <a:prstDash val="solid"/>
          </a:ln>
        </p:spPr>
      </p:sp>
      <p:sp>
        <p:nvSpPr>
          <p:cNvPr id="16" name="Text 14"/>
          <p:cNvSpPr/>
          <p:nvPr/>
        </p:nvSpPr>
        <p:spPr>
          <a:xfrm>
            <a:off x="12283976"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BATCH · FEDERATED</a:t>
            </a:r>
            <a:endParaRPr lang="en-US" sz="1800" dirty="0"/>
          </a:p>
        </p:txBody>
      </p:sp>
      <p:sp>
        <p:nvSpPr>
          <p:cNvPr id="17" name="Text 15"/>
          <p:cNvSpPr/>
          <p:nvPr/>
        </p:nvSpPr>
        <p:spPr>
          <a:xfrm>
            <a:off x="12283976"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Existing check, new home</a:t>
            </a:r>
            <a:endParaRPr lang="en-US" sz="2100" dirty="0"/>
          </a:p>
        </p:txBody>
      </p:sp>
      <p:sp>
        <p:nvSpPr>
          <p:cNvPr id="18" name="Text 16"/>
          <p:cNvSpPr/>
          <p:nvPr/>
        </p:nvSpPr>
        <p:spPr>
          <a:xfrm>
            <a:off x="12283976"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finance team's own row-count check fails — unchanged, but now visible in the same pane as everything else.</a:t>
            </a:r>
            <a:endParaRPr lang="en-US" sz="1875" dirty="0"/>
          </a:p>
        </p:txBody>
      </p:sp>
      <p:sp>
        <p:nvSpPr>
          <p:cNvPr id="19" name="Text 17"/>
          <p:cNvSpPr/>
          <p:nvPr/>
        </p:nvSpPr>
        <p:spPr>
          <a:xfrm>
            <a:off x="12283976"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20" name="Shape 18"/>
          <p:cNvSpPr/>
          <p:nvPr/>
        </p:nvSpPr>
        <p:spPr>
          <a:xfrm>
            <a:off x="952500" y="7981950"/>
            <a:ext cx="16383000" cy="704850"/>
          </a:xfrm>
          <a:prstGeom prst="roundRect">
            <a:avLst>
              <a:gd name="adj" fmla="val 16216"/>
            </a:avLst>
          </a:prstGeom>
          <a:solidFill>
            <a:srgbClr val="1B2530"/>
          </a:solidFill>
          <a:ln/>
        </p:spPr>
      </p:sp>
      <p:sp>
        <p:nvSpPr>
          <p:cNvPr id="21" name="Text 19"/>
          <p:cNvSpPr/>
          <p:nvPr/>
        </p:nvSpPr>
        <p:spPr>
          <a:xfrm>
            <a:off x="1238250" y="8181975"/>
            <a:ext cx="25650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EVIDENCE STREAM</a:t>
            </a:r>
            <a:endParaRPr lang="en-US" sz="1800" dirty="0"/>
          </a:p>
        </p:txBody>
      </p:sp>
      <p:sp>
        <p:nvSpPr>
          <p:cNvPr id="22" name="Shape 20"/>
          <p:cNvSpPr/>
          <p:nvPr/>
        </p:nvSpPr>
        <p:spPr>
          <a:xfrm>
            <a:off x="3779639" y="8134350"/>
            <a:ext cx="2423220" cy="400050"/>
          </a:xfrm>
          <a:prstGeom prst="roundRect">
            <a:avLst>
              <a:gd name="adj" fmla="val 11905"/>
            </a:avLst>
          </a:prstGeom>
          <a:solidFill>
            <a:srgbClr val="3A2A28"/>
          </a:solidFill>
          <a:ln/>
        </p:spPr>
      </p:sp>
      <p:sp>
        <p:nvSpPr>
          <p:cNvPr id="23" name="Text 21"/>
          <p:cNvSpPr/>
          <p:nvPr/>
        </p:nvSpPr>
        <p:spPr>
          <a:xfrm>
            <a:off x="3893939"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null-rate</a:t>
            </a:r>
            <a:endParaRPr lang="en-US" sz="1800" dirty="0"/>
          </a:p>
        </p:txBody>
      </p:sp>
      <p:sp>
        <p:nvSpPr>
          <p:cNvPr id="24" name="Shape 22"/>
          <p:cNvSpPr/>
          <p:nvPr/>
        </p:nvSpPr>
        <p:spPr>
          <a:xfrm>
            <a:off x="6412409" y="8134350"/>
            <a:ext cx="2011710" cy="400050"/>
          </a:xfrm>
          <a:prstGeom prst="roundRect">
            <a:avLst>
              <a:gd name="adj" fmla="val 11905"/>
            </a:avLst>
          </a:prstGeom>
          <a:solidFill>
            <a:srgbClr val="33291A"/>
          </a:solidFill>
          <a:ln/>
        </p:spPr>
      </p:sp>
      <p:sp>
        <p:nvSpPr>
          <p:cNvPr id="25" name="Text 23"/>
          <p:cNvSpPr/>
          <p:nvPr/>
        </p:nvSpPr>
        <p:spPr>
          <a:xfrm>
            <a:off x="6526709" y="8181975"/>
            <a:ext cx="18593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WARN · volume</a:t>
            </a:r>
            <a:endParaRPr lang="en-US" sz="1800" dirty="0"/>
          </a:p>
        </p:txBody>
      </p:sp>
      <p:sp>
        <p:nvSpPr>
          <p:cNvPr id="26" name="Shape 24"/>
          <p:cNvSpPr/>
          <p:nvPr/>
        </p:nvSpPr>
        <p:spPr>
          <a:xfrm>
            <a:off x="8633668" y="8134350"/>
            <a:ext cx="2423220" cy="400050"/>
          </a:xfrm>
          <a:prstGeom prst="roundRect">
            <a:avLst>
              <a:gd name="adj" fmla="val 11905"/>
            </a:avLst>
          </a:prstGeom>
          <a:solidFill>
            <a:srgbClr val="3A2A28"/>
          </a:solidFill>
          <a:ln/>
        </p:spPr>
      </p:sp>
      <p:sp>
        <p:nvSpPr>
          <p:cNvPr id="27" name="Text 25"/>
          <p:cNvSpPr/>
          <p:nvPr/>
        </p:nvSpPr>
        <p:spPr>
          <a:xfrm>
            <a:off x="8747968"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row-count</a:t>
            </a:r>
            <a:endParaRPr lang="en-US" sz="1800" dirty="0"/>
          </a:p>
        </p:txBody>
      </p:sp>
      <p:sp>
        <p:nvSpPr>
          <p:cNvPr id="28" name="Text 26"/>
          <p:cNvSpPr/>
          <p:nvPr/>
        </p:nvSpPr>
        <p:spPr>
          <a:xfrm>
            <a:off x="12934950" y="8181975"/>
            <a:ext cx="45262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all under orders.order_created</a:t>
            </a:r>
            <a:endParaRPr lang="en-US" sz="1800" dirty="0"/>
          </a:p>
        </p:txBody>
      </p:sp>
      <p:sp>
        <p:nvSpPr>
          <p:cNvPr id="29" name="Shape 27"/>
          <p:cNvSpPr/>
          <p:nvPr/>
        </p:nvSpPr>
        <p:spPr>
          <a:xfrm>
            <a:off x="952500" y="8820150"/>
            <a:ext cx="16383000" cy="1009650"/>
          </a:xfrm>
          <a:prstGeom prst="roundRect">
            <a:avLst>
              <a:gd name="adj" fmla="val 11321"/>
            </a:avLst>
          </a:prstGeom>
          <a:solidFill>
            <a:srgbClr val="FBF3E4"/>
          </a:solidFill>
          <a:ln w="9525">
            <a:solidFill>
              <a:srgbClr val="B97417"/>
            </a:solidFill>
            <a:prstDash val="solid"/>
          </a:ln>
        </p:spPr>
      </p:sp>
      <p:sp>
        <p:nvSpPr>
          <p:cNvPr id="30" name="Shape 28"/>
          <p:cNvSpPr/>
          <p:nvPr/>
        </p:nvSpPr>
        <p:spPr>
          <a:xfrm rot="2700000">
            <a:off x="1247775" y="9220200"/>
            <a:ext cx="209550" cy="209550"/>
          </a:xfrm>
          <a:prstGeom prst="roundRect">
            <a:avLst>
              <a:gd name="adj" fmla="val 18182"/>
            </a:avLst>
          </a:prstGeom>
          <a:solidFill>
            <a:srgbClr val="B97417"/>
          </a:solidFill>
          <a:ln/>
        </p:spPr>
      </p:sp>
      <p:sp>
        <p:nvSpPr>
          <p:cNvPr id="31" name="Text 29"/>
          <p:cNvSpPr/>
          <p:nvPr/>
        </p:nvSpPr>
        <p:spPr>
          <a:xfrm>
            <a:off x="1666875" y="8982075"/>
            <a:ext cx="1583455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1B2530"/>
                </a:solidFill>
                <a:latin typeface="Source Serif 4" pitchFamily="34" charset="0"/>
                <a:ea typeface="Source Serif 4" pitchFamily="34" charset="-122"/>
                <a:cs typeface="Source Serif 4" pitchFamily="34" charset="-120"/>
              </a:rPr>
              <a:t>The gate decides once: </a:t>
            </a:r>
            <a:pPr algn="l" indent="0" marL="0">
              <a:lnSpc>
                <a:spcPct val="101111"/>
              </a:lnSpc>
              <a:buNone/>
            </a:pPr>
            <a:r>
              <a:rPr lang="en-US" sz="1950" dirty="0">
                <a:solidFill>
                  <a:srgbClr val="1B2530"/>
                </a:solidFill>
                <a:latin typeface="Source Serif 4" pitchFamily="34" charset="0"/>
                <a:ea typeface="Source Serif 4" pitchFamily="34" charset="-122"/>
                <a:cs typeface="Source Serif 4" pitchFamily="34" charset="-120"/>
              </a:rPr>
              <a:t>contract compare fails → HOLD the batch; consumers keep reading last-certified data. In shadow mode until M7 — it logs what it would hold, holds nothing, earns trust.</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DEEP DIVE · 3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Onboarding &amp; Experience — adoption and proof</a:t>
            </a:r>
            <a:endParaRPr lang="en-US" sz="4500" dirty="0"/>
          </a:p>
        </p:txBody>
      </p:sp>
      <p:sp>
        <p:nvSpPr>
          <p:cNvPr id="4" name="Shape 2"/>
          <p:cNvSpPr/>
          <p:nvPr/>
        </p:nvSpPr>
        <p:spPr>
          <a:xfrm>
            <a:off x="952500" y="2295525"/>
            <a:ext cx="3767138" cy="1333500"/>
          </a:xfrm>
          <a:prstGeom prst="roundRect">
            <a:avLst>
              <a:gd name="adj" fmla="val 7143"/>
            </a:avLst>
          </a:prstGeom>
          <a:solidFill>
            <a:srgbClr val="FDFDFB"/>
          </a:solidFill>
          <a:ln w="9525">
            <a:solidFill>
              <a:srgbClr val="D9DED7"/>
            </a:solidFill>
            <a:prstDash val="solid"/>
          </a:ln>
        </p:spPr>
      </p:sp>
      <p:sp>
        <p:nvSpPr>
          <p:cNvPr id="5" name="Text 3"/>
          <p:cNvSpPr/>
          <p:nvPr/>
        </p:nvSpPr>
        <p:spPr>
          <a:xfrm>
            <a:off x="1152525"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Onboard</a:t>
            </a:r>
            <a:endParaRPr lang="en-US" sz="1875" dirty="0"/>
          </a:p>
        </p:txBody>
      </p:sp>
      <p:sp>
        <p:nvSpPr>
          <p:cNvPr id="6" name="Text 4"/>
          <p:cNvSpPr/>
          <p:nvPr/>
        </p:nvSpPr>
        <p:spPr>
          <a:xfrm>
            <a:off x="1152525"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manifest + runbook onboard onto DQ + monitoring tools</a:t>
            </a:r>
            <a:endParaRPr lang="en-US" sz="1800" dirty="0"/>
          </a:p>
        </p:txBody>
      </p:sp>
      <p:sp>
        <p:nvSpPr>
          <p:cNvPr id="7" name="Text 5"/>
          <p:cNvSpPr/>
          <p:nvPr/>
        </p:nvSpPr>
        <p:spPr>
          <a:xfrm>
            <a:off x="4795837"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5157788" y="2295525"/>
            <a:ext cx="3767138" cy="1333500"/>
          </a:xfrm>
          <a:prstGeom prst="roundRect">
            <a:avLst>
              <a:gd name="adj" fmla="val 7143"/>
            </a:avLst>
          </a:prstGeom>
          <a:solidFill>
            <a:srgbClr val="FDFDFB"/>
          </a:solidFill>
          <a:ln w="9525">
            <a:solidFill>
              <a:srgbClr val="D9DED7"/>
            </a:solidFill>
            <a:prstDash val="solid"/>
          </a:ln>
        </p:spPr>
      </p:sp>
      <p:sp>
        <p:nvSpPr>
          <p:cNvPr id="9" name="Text 7"/>
          <p:cNvSpPr/>
          <p:nvPr/>
        </p:nvSpPr>
        <p:spPr>
          <a:xfrm>
            <a:off x="5357813"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Observe</a:t>
            </a:r>
            <a:endParaRPr lang="en-US" sz="1875" dirty="0"/>
          </a:p>
        </p:txBody>
      </p:sp>
      <p:sp>
        <p:nvSpPr>
          <p:cNvPr id="10" name="Text 8"/>
          <p:cNvSpPr/>
          <p:nvPr/>
        </p:nvSpPr>
        <p:spPr>
          <a:xfrm>
            <a:off x="5357813"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health dashboard: one pane, causal view, blast radius</a:t>
            </a:r>
            <a:endParaRPr lang="en-US" sz="1800" dirty="0"/>
          </a:p>
        </p:txBody>
      </p:sp>
      <p:sp>
        <p:nvSpPr>
          <p:cNvPr id="11" name="Text 9"/>
          <p:cNvSpPr/>
          <p:nvPr/>
        </p:nvSpPr>
        <p:spPr>
          <a:xfrm>
            <a:off x="9001125"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9363075" y="2295525"/>
            <a:ext cx="3767138" cy="1333500"/>
          </a:xfrm>
          <a:prstGeom prst="roundRect">
            <a:avLst>
              <a:gd name="adj" fmla="val 7143"/>
            </a:avLst>
          </a:prstGeom>
          <a:solidFill>
            <a:srgbClr val="FDFDFB"/>
          </a:solidFill>
          <a:ln w="9525">
            <a:solidFill>
              <a:srgbClr val="D9DED7"/>
            </a:solidFill>
            <a:prstDash val="solid"/>
          </a:ln>
        </p:spPr>
      </p:sp>
      <p:sp>
        <p:nvSpPr>
          <p:cNvPr id="13" name="Text 11"/>
          <p:cNvSpPr/>
          <p:nvPr/>
        </p:nvSpPr>
        <p:spPr>
          <a:xfrm>
            <a:off x="9563100"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Act</a:t>
            </a:r>
            <a:endParaRPr lang="en-US" sz="1875" dirty="0"/>
          </a:p>
        </p:txBody>
      </p:sp>
      <p:sp>
        <p:nvSpPr>
          <p:cNvPr id="14" name="Text 12"/>
          <p:cNvSpPr/>
          <p:nvPr/>
        </p:nvSpPr>
        <p:spPr>
          <a:xfrm>
            <a:off x="9563100"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route the incident; posture fixes pushed per application</a:t>
            </a:r>
            <a:endParaRPr lang="en-US" sz="1800" dirty="0"/>
          </a:p>
        </p:txBody>
      </p:sp>
      <p:sp>
        <p:nvSpPr>
          <p:cNvPr id="15" name="Text 13"/>
          <p:cNvSpPr/>
          <p:nvPr/>
        </p:nvSpPr>
        <p:spPr>
          <a:xfrm>
            <a:off x="13206413"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3568363" y="2295525"/>
            <a:ext cx="3767138" cy="1333500"/>
          </a:xfrm>
          <a:prstGeom prst="roundRect">
            <a:avLst>
              <a:gd name="adj" fmla="val 7143"/>
            </a:avLst>
          </a:prstGeom>
          <a:solidFill>
            <a:srgbClr val="FDFDFB"/>
          </a:solidFill>
          <a:ln w="9525">
            <a:solidFill>
              <a:srgbClr val="D9DED7"/>
            </a:solidFill>
            <a:prstDash val="solid"/>
          </a:ln>
        </p:spPr>
      </p:sp>
      <p:sp>
        <p:nvSpPr>
          <p:cNvPr id="17" name="Text 15"/>
          <p:cNvSpPr/>
          <p:nvPr/>
        </p:nvSpPr>
        <p:spPr>
          <a:xfrm>
            <a:off x="13768388"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Prove</a:t>
            </a:r>
            <a:endParaRPr lang="en-US" sz="1875" dirty="0"/>
          </a:p>
        </p:txBody>
      </p:sp>
      <p:sp>
        <p:nvSpPr>
          <p:cNvPr id="18" name="Text 16"/>
          <p:cNvSpPr/>
          <p:nvPr/>
        </p:nvSpPr>
        <p:spPr>
          <a:xfrm>
            <a:off x="13768388"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saves ledger + scorecard bank the value</a:t>
            </a:r>
            <a:endParaRPr lang="en-US" sz="1800" dirty="0"/>
          </a:p>
        </p:txBody>
      </p:sp>
      <p:sp>
        <p:nvSpPr>
          <p:cNvPr id="19" name="Shape 17"/>
          <p:cNvSpPr/>
          <p:nvPr/>
        </p:nvSpPr>
        <p:spPr>
          <a:xfrm>
            <a:off x="952500" y="3895725"/>
            <a:ext cx="6945957" cy="4048125"/>
          </a:xfrm>
          <a:prstGeom prst="roundRect">
            <a:avLst>
              <a:gd name="adj" fmla="val 2824"/>
            </a:avLst>
          </a:prstGeom>
          <a:solidFill>
            <a:srgbClr val="FDFDFB"/>
          </a:solidFill>
          <a:ln w="9525">
            <a:solidFill>
              <a:srgbClr val="D9DED7"/>
            </a:solidFill>
            <a:prstDash val="solid"/>
          </a:ln>
        </p:spPr>
      </p:sp>
      <p:sp>
        <p:nvSpPr>
          <p:cNvPr id="20" name="Text 18"/>
          <p:cNvSpPr/>
          <p:nvPr/>
        </p:nvSpPr>
        <p:spPr>
          <a:xfrm>
            <a:off x="1247775" y="415290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1" name="Shape 19"/>
          <p:cNvSpPr/>
          <p:nvPr/>
        </p:nvSpPr>
        <p:spPr>
          <a:xfrm>
            <a:off x="1247775" y="5514975"/>
            <a:ext cx="6355407" cy="9525"/>
          </a:xfrm>
          <a:prstGeom prst="rect">
            <a:avLst/>
          </a:prstGeom>
          <a:solidFill>
            <a:srgbClr val="D9DED7"/>
          </a:solidFill>
          <a:ln/>
        </p:spPr>
      </p:sp>
      <p:sp>
        <p:nvSpPr>
          <p:cNvPr id="22" name="Text 20"/>
          <p:cNvSpPr/>
          <p:nvPr/>
        </p:nvSpPr>
        <p:spPr>
          <a:xfrm>
            <a:off x="1247775" y="4686300"/>
            <a:ext cx="6170349"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Data health dashboard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health surface, v0 at M3</a:t>
            </a:r>
            <a:endParaRPr lang="en-US" sz="1950" dirty="0"/>
          </a:p>
        </p:txBody>
      </p:sp>
      <p:sp>
        <p:nvSpPr>
          <p:cNvPr id="23" name="Text 21"/>
          <p:cNvSpPr/>
          <p:nvPr/>
        </p:nvSpPr>
        <p:spPr>
          <a:xfrm>
            <a:off x="7428905" y="4676775"/>
            <a:ext cx="250478"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5</a:t>
            </a:r>
            <a:endParaRPr lang="en-US" sz="2250" dirty="0"/>
          </a:p>
        </p:txBody>
      </p:sp>
      <p:sp>
        <p:nvSpPr>
          <p:cNvPr id="24" name="Shape 22"/>
          <p:cNvSpPr/>
          <p:nvPr/>
        </p:nvSpPr>
        <p:spPr>
          <a:xfrm>
            <a:off x="1247775" y="6162675"/>
            <a:ext cx="6355407" cy="9525"/>
          </a:xfrm>
          <a:prstGeom prst="rect">
            <a:avLst/>
          </a:prstGeom>
          <a:solidFill>
            <a:srgbClr val="D9DED7"/>
          </a:solidFill>
          <a:ln/>
        </p:spPr>
      </p:sp>
      <p:sp>
        <p:nvSpPr>
          <p:cNvPr id="25" name="Text 23"/>
          <p:cNvSpPr/>
          <p:nvPr/>
        </p:nvSpPr>
        <p:spPr>
          <a:xfrm>
            <a:off x="1247775" y="5676900"/>
            <a:ext cx="5519842"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Paved road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manifest, runbook, template</a:t>
            </a:r>
            <a:endParaRPr lang="en-US" sz="1950" dirty="0"/>
          </a:p>
        </p:txBody>
      </p:sp>
      <p:sp>
        <p:nvSpPr>
          <p:cNvPr id="26" name="Text 24"/>
          <p:cNvSpPr/>
          <p:nvPr/>
        </p:nvSpPr>
        <p:spPr>
          <a:xfrm>
            <a:off x="7430095" y="566737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7" name="Text 25"/>
          <p:cNvSpPr/>
          <p:nvPr/>
        </p:nvSpPr>
        <p:spPr>
          <a:xfrm>
            <a:off x="1247775" y="6324600"/>
            <a:ext cx="629861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Value governance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ledger, scorecard, gate pack</a:t>
            </a:r>
            <a:endParaRPr lang="en-US" sz="1950" dirty="0"/>
          </a:p>
        </p:txBody>
      </p:sp>
      <p:sp>
        <p:nvSpPr>
          <p:cNvPr id="28" name="Text 26"/>
          <p:cNvSpPr/>
          <p:nvPr/>
        </p:nvSpPr>
        <p:spPr>
          <a:xfrm>
            <a:off x="7430839" y="6315075"/>
            <a:ext cx="248543"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29" name="Shape 27"/>
          <p:cNvSpPr/>
          <p:nvPr/>
        </p:nvSpPr>
        <p:spPr>
          <a:xfrm>
            <a:off x="8165157" y="3895725"/>
            <a:ext cx="9170343" cy="4048125"/>
          </a:xfrm>
          <a:prstGeom prst="roundRect">
            <a:avLst>
              <a:gd name="adj" fmla="val 2824"/>
            </a:avLst>
          </a:prstGeom>
          <a:solidFill>
            <a:srgbClr val="FDFDFB"/>
          </a:solidFill>
          <a:ln w="9525">
            <a:solidFill>
              <a:srgbClr val="D9DED7"/>
            </a:solidFill>
            <a:prstDash val="solid"/>
          </a:ln>
        </p:spPr>
      </p:sp>
      <p:sp>
        <p:nvSpPr>
          <p:cNvPr id="30" name="Text 28"/>
          <p:cNvSpPr/>
          <p:nvPr/>
        </p:nvSpPr>
        <p:spPr>
          <a:xfrm>
            <a:off x="8460432" y="415290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1" name="Shape 29"/>
          <p:cNvSpPr/>
          <p:nvPr/>
        </p:nvSpPr>
        <p:spPr>
          <a:xfrm>
            <a:off x="8460432" y="5467350"/>
            <a:ext cx="8579793" cy="9525"/>
          </a:xfrm>
          <a:prstGeom prst="rect">
            <a:avLst/>
          </a:prstGeom>
          <a:solidFill>
            <a:srgbClr val="D9DED7"/>
          </a:solidFill>
          <a:ln/>
        </p:spPr>
      </p:sp>
      <p:sp>
        <p:nvSpPr>
          <p:cNvPr id="32" name="Text 30"/>
          <p:cNvSpPr/>
          <p:nvPr/>
        </p:nvSpPr>
        <p:spPr>
          <a:xfrm>
            <a:off x="8460432" y="46767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3" name="Text 31"/>
          <p:cNvSpPr/>
          <p:nvPr/>
        </p:nvSpPr>
        <p:spPr>
          <a:xfrm>
            <a:off x="9660582" y="4667250"/>
            <a:ext cx="6596350"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Pilot manifest; dashboard v0 — the whole thread in one pane m3; alert views m5; ledger + scorecard open</a:t>
            </a:r>
            <a:endParaRPr lang="en-US" sz="1875" dirty="0"/>
          </a:p>
        </p:txBody>
      </p:sp>
      <p:sp>
        <p:nvSpPr>
          <p:cNvPr id="34" name="Text 32"/>
          <p:cNvSpPr/>
          <p:nvPr/>
        </p:nvSpPr>
        <p:spPr>
          <a:xfrm>
            <a:off x="16217205" y="4676775"/>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 M3</a:t>
            </a:r>
            <a:endParaRPr lang="en-US" sz="1800" dirty="0"/>
          </a:p>
        </p:txBody>
      </p:sp>
      <p:sp>
        <p:nvSpPr>
          <p:cNvPr id="35" name="Shape 33"/>
          <p:cNvSpPr/>
          <p:nvPr/>
        </p:nvSpPr>
        <p:spPr>
          <a:xfrm>
            <a:off x="8460432" y="6410325"/>
            <a:ext cx="8579793" cy="9525"/>
          </a:xfrm>
          <a:prstGeom prst="rect">
            <a:avLst/>
          </a:prstGeom>
          <a:solidFill>
            <a:srgbClr val="D9DED7"/>
          </a:solidFill>
          <a:ln/>
        </p:spPr>
      </p:sp>
      <p:sp>
        <p:nvSpPr>
          <p:cNvPr id="36" name="Text 34"/>
          <p:cNvSpPr/>
          <p:nvPr/>
        </p:nvSpPr>
        <p:spPr>
          <a:xfrm>
            <a:off x="8460432" y="561975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37" name="Text 35"/>
          <p:cNvSpPr/>
          <p:nvPr/>
        </p:nvSpPr>
        <p:spPr>
          <a:xfrm>
            <a:off x="9660582" y="5610225"/>
            <a:ext cx="6737686"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Causal / blast-radius experience; runbook v1; the gate pack — a live incident replay, not a deck</a:t>
            </a:r>
            <a:endParaRPr lang="en-US" sz="1875" dirty="0"/>
          </a:p>
        </p:txBody>
      </p:sp>
      <p:sp>
        <p:nvSpPr>
          <p:cNvPr id="38" name="Text 36"/>
          <p:cNvSpPr/>
          <p:nvPr/>
        </p:nvSpPr>
        <p:spPr>
          <a:xfrm>
            <a:off x="16354425" y="56197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39" name="Text 37"/>
          <p:cNvSpPr/>
          <p:nvPr/>
        </p:nvSpPr>
        <p:spPr>
          <a:xfrm>
            <a:off x="8460432" y="65627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0" name="Text 38"/>
          <p:cNvSpPr/>
          <p:nvPr/>
        </p:nvSpPr>
        <p:spPr>
          <a:xfrm>
            <a:off x="9660582" y="6553200"/>
            <a:ext cx="702020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UC2 on the template (6 wks → 2) — templated onboarding runs itself by m15; then contracts &amp; certification UX, per-app posture, self-serve from UC3 by m24</a:t>
            </a:r>
            <a:endParaRPr lang="en-US" sz="1875" dirty="0"/>
          </a:p>
        </p:txBody>
      </p:sp>
      <p:sp>
        <p:nvSpPr>
          <p:cNvPr id="41" name="Text 39"/>
          <p:cNvSpPr/>
          <p:nvPr/>
        </p:nvSpPr>
        <p:spPr>
          <a:xfrm>
            <a:off x="16628715" y="6562725"/>
            <a:ext cx="4877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M8+</a:t>
            </a:r>
            <a:endParaRPr lang="en-US" sz="1800" dirty="0"/>
          </a:p>
        </p:txBody>
      </p:sp>
      <p:sp>
        <p:nvSpPr>
          <p:cNvPr id="42" name="Shape 40"/>
          <p:cNvSpPr/>
          <p:nvPr/>
        </p:nvSpPr>
        <p:spPr>
          <a:xfrm>
            <a:off x="952500" y="8210550"/>
            <a:ext cx="8077200" cy="1381125"/>
          </a:xfrm>
          <a:prstGeom prst="roundRect">
            <a:avLst>
              <a:gd name="adj" fmla="val 8276"/>
            </a:avLst>
          </a:prstGeom>
          <a:solidFill>
            <a:srgbClr val="E3EFEA"/>
          </a:solidFill>
          <a:ln/>
        </p:spPr>
      </p:sp>
      <p:sp>
        <p:nvSpPr>
          <p:cNvPr id="43" name="Text 41"/>
          <p:cNvSpPr/>
          <p:nvPr/>
        </p:nvSpPr>
        <p:spPr>
          <a:xfrm>
            <a:off x="1238250" y="841057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4" name="Text 42"/>
          <p:cNvSpPr/>
          <p:nvPr/>
        </p:nvSpPr>
        <p:spPr>
          <a:xfrm>
            <a:off x="4144566" y="840105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Every view reads only the evidence stream — if it isn't joined, it cannot be rendered.</a:t>
            </a:r>
            <a:endParaRPr lang="en-US" sz="1875" dirty="0"/>
          </a:p>
        </p:txBody>
      </p:sp>
      <p:sp>
        <p:nvSpPr>
          <p:cNvPr id="45" name="Shape 43"/>
          <p:cNvSpPr/>
          <p:nvPr/>
        </p:nvSpPr>
        <p:spPr>
          <a:xfrm>
            <a:off x="9258300" y="8210550"/>
            <a:ext cx="8077200" cy="1381125"/>
          </a:xfrm>
          <a:prstGeom prst="roundRect">
            <a:avLst>
              <a:gd name="adj" fmla="val 8276"/>
            </a:avLst>
          </a:prstGeom>
          <a:solidFill>
            <a:srgbClr val="F3E4DF"/>
          </a:solidFill>
          <a:ln/>
        </p:spPr>
      </p:sp>
      <p:sp>
        <p:nvSpPr>
          <p:cNvPr id="46" name="Text 44"/>
          <p:cNvSpPr/>
          <p:nvPr/>
        </p:nvSpPr>
        <p:spPr>
          <a:xfrm>
            <a:off x="9544050" y="841057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47" name="Text 45"/>
          <p:cNvSpPr/>
          <p:nvPr/>
        </p:nvSpPr>
        <p:spPr>
          <a:xfrm>
            <a:off x="11695956" y="840105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Automation before two manual samples; views on unjoined data.</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MISSION 3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experience, by example</a:t>
            </a:r>
            <a:endParaRPr lang="en-US" sz="4200" dirty="0"/>
          </a:p>
        </p:txBody>
      </p:sp>
      <p:sp>
        <p:nvSpPr>
          <p:cNvPr id="4" name="Text 2"/>
          <p:cNvSpPr/>
          <p:nvPr/>
        </p:nvSpPr>
        <p:spPr>
          <a:xfrm>
            <a:off x="952500" y="1638300"/>
            <a:ext cx="14668500"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A second use case joins the platform on the paved road — and what its team sees afterwards.</a:t>
            </a:r>
            <a:endParaRPr lang="en-US" sz="1950" dirty="0"/>
          </a:p>
        </p:txBody>
      </p:sp>
      <p:sp>
        <p:nvSpPr>
          <p:cNvPr id="5" name="Shape 3"/>
          <p:cNvSpPr/>
          <p:nvPr/>
        </p:nvSpPr>
        <p:spPr>
          <a:xfrm>
            <a:off x="952500" y="3552825"/>
            <a:ext cx="7825383" cy="9525"/>
          </a:xfrm>
          <a:prstGeom prst="rect">
            <a:avLst/>
          </a:prstGeom>
          <a:solidFill>
            <a:srgbClr val="D9DED7"/>
          </a:solidFill>
          <a:ln/>
        </p:spPr>
      </p:sp>
      <p:sp>
        <p:nvSpPr>
          <p:cNvPr id="6" name="Text 4"/>
          <p:cNvSpPr/>
          <p:nvPr/>
        </p:nvSpPr>
        <p:spPr>
          <a:xfrm>
            <a:off x="952500" y="23812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1</a:t>
            </a:r>
            <a:endParaRPr lang="en-US" sz="2250" dirty="0"/>
          </a:p>
        </p:txBody>
      </p:sp>
      <p:sp>
        <p:nvSpPr>
          <p:cNvPr id="7" name="Text 5"/>
          <p:cNvSpPr/>
          <p:nvPr/>
        </p:nvSpPr>
        <p:spPr>
          <a:xfrm>
            <a:off x="1543050" y="23812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Manifest — 30 minutes</a:t>
            </a:r>
            <a:endParaRPr lang="en-US" sz="2025" dirty="0"/>
          </a:p>
        </p:txBody>
      </p:sp>
      <p:sp>
        <p:nvSpPr>
          <p:cNvPr id="8" name="Text 6"/>
          <p:cNvSpPr/>
          <p:nvPr/>
        </p:nvSpPr>
        <p:spPr>
          <a:xfrm>
            <a:off x="1543050" y="2733675"/>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The team lists the app and its assets; registry names are assigned automatically.</a:t>
            </a:r>
            <a:endParaRPr lang="en-US" sz="1875" dirty="0"/>
          </a:p>
        </p:txBody>
      </p:sp>
      <p:sp>
        <p:nvSpPr>
          <p:cNvPr id="9" name="Shape 7"/>
          <p:cNvSpPr/>
          <p:nvPr/>
        </p:nvSpPr>
        <p:spPr>
          <a:xfrm>
            <a:off x="952500" y="5219700"/>
            <a:ext cx="7825383" cy="9525"/>
          </a:xfrm>
          <a:prstGeom prst="rect">
            <a:avLst/>
          </a:prstGeom>
          <a:solidFill>
            <a:srgbClr val="D9DED7"/>
          </a:solidFill>
          <a:ln/>
        </p:spPr>
      </p:sp>
      <p:sp>
        <p:nvSpPr>
          <p:cNvPr id="10" name="Text 8"/>
          <p:cNvSpPr/>
          <p:nvPr/>
        </p:nvSpPr>
        <p:spPr>
          <a:xfrm>
            <a:off x="952500" y="37147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11" name="Text 9"/>
          <p:cNvSpPr/>
          <p:nvPr/>
        </p:nvSpPr>
        <p:spPr>
          <a:xfrm>
            <a:off x="1543050" y="37147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Auto-onboard onto the tools</a:t>
            </a:r>
            <a:endParaRPr lang="en-US" sz="2025" dirty="0"/>
          </a:p>
        </p:txBody>
      </p:sp>
      <p:sp>
        <p:nvSpPr>
          <p:cNvPr id="12" name="Text 10"/>
          <p:cNvSpPr/>
          <p:nvPr/>
        </p:nvSpPr>
        <p:spPr>
          <a:xfrm>
            <a:off x="1543050" y="4067175"/>
            <a:ext cx="7451878"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DQ checks, monitoring, lineage capture, and the dashboard are wired from the manifest — no bespoke integration. UC2: 6 weeks → 2.</a:t>
            </a:r>
            <a:endParaRPr lang="en-US" sz="1875" dirty="0"/>
          </a:p>
        </p:txBody>
      </p:sp>
      <p:sp>
        <p:nvSpPr>
          <p:cNvPr id="13" name="Shape 11"/>
          <p:cNvSpPr/>
          <p:nvPr/>
        </p:nvSpPr>
        <p:spPr>
          <a:xfrm>
            <a:off x="952500" y="6553200"/>
            <a:ext cx="7825383" cy="9525"/>
          </a:xfrm>
          <a:prstGeom prst="rect">
            <a:avLst/>
          </a:prstGeom>
          <a:solidFill>
            <a:srgbClr val="D9DED7"/>
          </a:solidFill>
          <a:ln/>
        </p:spPr>
      </p:sp>
      <p:sp>
        <p:nvSpPr>
          <p:cNvPr id="14" name="Text 12"/>
          <p:cNvSpPr/>
          <p:nvPr/>
        </p:nvSpPr>
        <p:spPr>
          <a:xfrm>
            <a:off x="952500" y="53816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15" name="Text 13"/>
          <p:cNvSpPr/>
          <p:nvPr/>
        </p:nvSpPr>
        <p:spPr>
          <a:xfrm>
            <a:off x="1543050" y="53816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Report and act</a:t>
            </a:r>
            <a:endParaRPr lang="en-US" sz="2025" dirty="0"/>
          </a:p>
        </p:txBody>
      </p:sp>
      <p:sp>
        <p:nvSpPr>
          <p:cNvPr id="16" name="Text 14"/>
          <p:cNvSpPr/>
          <p:nvPr/>
        </p:nvSpPr>
        <p:spPr>
          <a:xfrm>
            <a:off x="1543050" y="57340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data-health posture arrives with routed actions — incidents page one team, with cause attached.</a:t>
            </a:r>
            <a:endParaRPr lang="en-US" sz="1875" dirty="0"/>
          </a:p>
        </p:txBody>
      </p:sp>
      <p:sp>
        <p:nvSpPr>
          <p:cNvPr id="17" name="Text 15"/>
          <p:cNvSpPr/>
          <p:nvPr/>
        </p:nvSpPr>
        <p:spPr>
          <a:xfrm>
            <a:off x="952500" y="67151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B97417"/>
                </a:solidFill>
                <a:latin typeface="Bricolage Grotesque" pitchFamily="34" charset="0"/>
                <a:ea typeface="Bricolage Grotesque" pitchFamily="34" charset="-122"/>
                <a:cs typeface="Bricolage Grotesque" pitchFamily="34" charset="-120"/>
              </a:rPr>
              <a:t>4</a:t>
            </a:r>
            <a:endParaRPr lang="en-US" sz="2250" dirty="0"/>
          </a:p>
        </p:txBody>
      </p:sp>
      <p:sp>
        <p:nvSpPr>
          <p:cNvPr id="18" name="Text 16"/>
          <p:cNvSpPr/>
          <p:nvPr/>
        </p:nvSpPr>
        <p:spPr>
          <a:xfrm>
            <a:off x="1543050" y="67151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Expand to contracts — m10+</a:t>
            </a:r>
            <a:endParaRPr lang="en-US" sz="2025" dirty="0"/>
          </a:p>
        </p:txBody>
      </p:sp>
      <p:sp>
        <p:nvSpPr>
          <p:cNvPr id="19" name="Text 17"/>
          <p:cNvSpPr/>
          <p:nvPr/>
        </p:nvSpPr>
        <p:spPr>
          <a:xfrm>
            <a:off x="1543050" y="70675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contract is auto-drafted from 90 days of observed behavior; the producer reviews it in ~20 minutes.</a:t>
            </a:r>
            <a:endParaRPr lang="en-US" sz="1875" dirty="0"/>
          </a:p>
        </p:txBody>
      </p:sp>
      <p:sp>
        <p:nvSpPr>
          <p:cNvPr id="20" name="Shape 18"/>
          <p:cNvSpPr/>
          <p:nvPr/>
        </p:nvSpPr>
        <p:spPr>
          <a:xfrm>
            <a:off x="9235083" y="2228850"/>
            <a:ext cx="8100417" cy="7600950"/>
          </a:xfrm>
          <a:prstGeom prst="roundRect">
            <a:avLst>
              <a:gd name="adj" fmla="val 2005"/>
            </a:avLst>
          </a:prstGeom>
          <a:solidFill>
            <a:srgbClr val="1B2530"/>
          </a:solidFill>
          <a:ln/>
        </p:spPr>
      </p:sp>
      <p:sp>
        <p:nvSpPr>
          <p:cNvPr id="21" name="Text 19"/>
          <p:cNvSpPr/>
          <p:nvPr/>
        </p:nvSpPr>
        <p:spPr>
          <a:xfrm>
            <a:off x="9558933" y="2590800"/>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DATA HEALTH</a:t>
            </a:r>
            <a:endParaRPr lang="en-US" sz="1800" dirty="0"/>
          </a:p>
        </p:txBody>
      </p:sp>
      <p:sp>
        <p:nvSpPr>
          <p:cNvPr id="22" name="Text 20"/>
          <p:cNvSpPr/>
          <p:nvPr/>
        </p:nvSpPr>
        <p:spPr>
          <a:xfrm>
            <a:off x="11421368" y="2581275"/>
            <a:ext cx="2671763"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finance-reporting</a:t>
            </a:r>
            <a:endParaRPr lang="en-US" sz="1875" dirty="0"/>
          </a:p>
        </p:txBody>
      </p:sp>
      <p:sp>
        <p:nvSpPr>
          <p:cNvPr id="23" name="Text 21"/>
          <p:cNvSpPr/>
          <p:nvPr/>
        </p:nvSpPr>
        <p:spPr>
          <a:xfrm>
            <a:off x="16082070" y="2476500"/>
            <a:ext cx="1005780"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34B39B"/>
                </a:solidFill>
                <a:latin typeface="Bricolage Grotesque" pitchFamily="34" charset="0"/>
                <a:ea typeface="Bricolage Grotesque" pitchFamily="34" charset="-122"/>
                <a:cs typeface="Bricolage Grotesque" pitchFamily="34" charset="-120"/>
              </a:rPr>
              <a:t>72</a:t>
            </a:r>
            <a:pPr algn="l" indent="0" marL="0">
              <a:buNone/>
            </a:pPr>
            <a:r>
              <a:rPr lang="en-US" sz="1950" b="1" dirty="0">
                <a:solidFill>
                  <a:srgbClr val="8B99A4"/>
                </a:solidFill>
                <a:latin typeface="Bricolage Grotesque" pitchFamily="34" charset="0"/>
                <a:ea typeface="Bricolage Grotesque" pitchFamily="34" charset="-122"/>
                <a:cs typeface="Bricolage Grotesque" pitchFamily="34" charset="-120"/>
              </a:rPr>
              <a:t>/100</a:t>
            </a:r>
            <a:endParaRPr lang="en-US" sz="3000" dirty="0"/>
          </a:p>
        </p:txBody>
      </p:sp>
      <p:sp>
        <p:nvSpPr>
          <p:cNvPr id="24" name="Shape 22"/>
          <p:cNvSpPr/>
          <p:nvPr/>
        </p:nvSpPr>
        <p:spPr>
          <a:xfrm>
            <a:off x="9558933" y="3581400"/>
            <a:ext cx="7452717" cy="9525"/>
          </a:xfrm>
          <a:prstGeom prst="rect">
            <a:avLst/>
          </a:prstGeom>
          <a:solidFill>
            <a:srgbClr val="2E3B47"/>
          </a:solidFill>
          <a:ln/>
        </p:spPr>
      </p:sp>
      <p:sp>
        <p:nvSpPr>
          <p:cNvPr id="25" name="Text 23"/>
          <p:cNvSpPr/>
          <p:nvPr/>
        </p:nvSpPr>
        <p:spPr>
          <a:xfrm>
            <a:off x="9558933" y="317182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26" name="Text 24"/>
          <p:cNvSpPr/>
          <p:nvPr/>
        </p:nvSpPr>
        <p:spPr>
          <a:xfrm>
            <a:off x="10035183" y="3162300"/>
            <a:ext cx="5566008"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Streaming checks on orders topic</a:t>
            </a:r>
            <a:endParaRPr lang="en-US" sz="1875" dirty="0"/>
          </a:p>
        </p:txBody>
      </p:sp>
      <p:sp>
        <p:nvSpPr>
          <p:cNvPr id="27" name="Text 25"/>
          <p:cNvSpPr/>
          <p:nvPr/>
        </p:nvSpPr>
        <p:spPr>
          <a:xfrm>
            <a:off x="15228540" y="3171825"/>
            <a:ext cx="196142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live · +2 min</a:t>
            </a:r>
            <a:endParaRPr lang="en-US" sz="1800" dirty="0"/>
          </a:p>
        </p:txBody>
      </p:sp>
      <p:sp>
        <p:nvSpPr>
          <p:cNvPr id="28" name="Shape 26"/>
          <p:cNvSpPr/>
          <p:nvPr/>
        </p:nvSpPr>
        <p:spPr>
          <a:xfrm>
            <a:off x="9558933" y="4105275"/>
            <a:ext cx="7452717" cy="9525"/>
          </a:xfrm>
          <a:prstGeom prst="rect">
            <a:avLst/>
          </a:prstGeom>
          <a:solidFill>
            <a:srgbClr val="2E3B47"/>
          </a:solidFill>
          <a:ln/>
        </p:spPr>
      </p:sp>
      <p:sp>
        <p:nvSpPr>
          <p:cNvPr id="29" name="Text 27"/>
          <p:cNvSpPr/>
          <p:nvPr/>
        </p:nvSpPr>
        <p:spPr>
          <a:xfrm>
            <a:off x="9558933" y="3695700"/>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0" name="Text 28"/>
          <p:cNvSpPr/>
          <p:nvPr/>
        </p:nvSpPr>
        <p:spPr>
          <a:xfrm>
            <a:off x="10035183" y="3686175"/>
            <a:ext cx="5264289"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At-rest baselines on gold tables</a:t>
            </a:r>
            <a:endParaRPr lang="en-US" sz="1875" dirty="0"/>
          </a:p>
        </p:txBody>
      </p:sp>
      <p:sp>
        <p:nvSpPr>
          <p:cNvPr id="31" name="Text 29"/>
          <p:cNvSpPr/>
          <p:nvPr/>
        </p:nvSpPr>
        <p:spPr>
          <a:xfrm>
            <a:off x="14954250" y="3695700"/>
            <a:ext cx="2263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learned · 6 wks</a:t>
            </a:r>
            <a:endParaRPr lang="en-US" sz="1800" dirty="0"/>
          </a:p>
        </p:txBody>
      </p:sp>
      <p:sp>
        <p:nvSpPr>
          <p:cNvPr id="32" name="Shape 30"/>
          <p:cNvSpPr/>
          <p:nvPr/>
        </p:nvSpPr>
        <p:spPr>
          <a:xfrm>
            <a:off x="9558933" y="4629150"/>
            <a:ext cx="7452717" cy="9525"/>
          </a:xfrm>
          <a:prstGeom prst="rect">
            <a:avLst/>
          </a:prstGeom>
          <a:solidFill>
            <a:srgbClr val="2E3B47"/>
          </a:solidFill>
          <a:ln/>
        </p:spPr>
      </p:sp>
      <p:sp>
        <p:nvSpPr>
          <p:cNvPr id="33" name="Text 31"/>
          <p:cNvSpPr/>
          <p:nvPr/>
        </p:nvSpPr>
        <p:spPr>
          <a:xfrm>
            <a:off x="9558933" y="421957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4" name="Text 32"/>
          <p:cNvSpPr/>
          <p:nvPr/>
        </p:nvSpPr>
        <p:spPr>
          <a:xfrm>
            <a:off x="10035183" y="4210050"/>
            <a:ext cx="571678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Lineage joined to deploys</a:t>
            </a:r>
            <a:endParaRPr lang="en-US" sz="1875" dirty="0"/>
          </a:p>
        </p:txBody>
      </p:sp>
      <p:sp>
        <p:nvSpPr>
          <p:cNvPr id="35" name="Text 33"/>
          <p:cNvSpPr/>
          <p:nvPr/>
        </p:nvSpPr>
        <p:spPr>
          <a:xfrm>
            <a:off x="15365611" y="4219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impact-ready</a:t>
            </a:r>
            <a:endParaRPr lang="en-US" sz="1800" dirty="0"/>
          </a:p>
        </p:txBody>
      </p:sp>
      <p:sp>
        <p:nvSpPr>
          <p:cNvPr id="36" name="Shape 34"/>
          <p:cNvSpPr/>
          <p:nvPr/>
        </p:nvSpPr>
        <p:spPr>
          <a:xfrm>
            <a:off x="9558933" y="5153025"/>
            <a:ext cx="7452717" cy="9525"/>
          </a:xfrm>
          <a:prstGeom prst="rect">
            <a:avLst/>
          </a:prstGeom>
          <a:solidFill>
            <a:srgbClr val="2E3B47"/>
          </a:solidFill>
          <a:ln/>
        </p:spPr>
      </p:sp>
      <p:sp>
        <p:nvSpPr>
          <p:cNvPr id="37" name="Text 35"/>
          <p:cNvSpPr/>
          <p:nvPr/>
        </p:nvSpPr>
        <p:spPr>
          <a:xfrm>
            <a:off x="9558933" y="4752975"/>
            <a:ext cx="4191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D4765F"/>
                </a:solidFill>
                <a:latin typeface="Bricolage Grotesque" pitchFamily="34" charset="0"/>
                <a:ea typeface="Bricolage Grotesque" pitchFamily="34" charset="-122"/>
                <a:cs typeface="Bricolage Grotesque" pitchFamily="34" charset="-120"/>
              </a:rPr>
              <a:t>—</a:t>
            </a:r>
            <a:endParaRPr lang="en-US" sz="1950" dirty="0"/>
          </a:p>
        </p:txBody>
      </p:sp>
      <p:sp>
        <p:nvSpPr>
          <p:cNvPr id="38" name="Text 36"/>
          <p:cNvSpPr/>
          <p:nvPr/>
        </p:nvSpPr>
        <p:spPr>
          <a:xfrm>
            <a:off x="10035183" y="4733925"/>
            <a:ext cx="647116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Data contract</a:t>
            </a:r>
            <a:endParaRPr lang="en-US" sz="1875" dirty="0"/>
          </a:p>
        </p:txBody>
      </p:sp>
      <p:sp>
        <p:nvSpPr>
          <p:cNvPr id="39" name="Text 37"/>
          <p:cNvSpPr/>
          <p:nvPr/>
        </p:nvSpPr>
        <p:spPr>
          <a:xfrm>
            <a:off x="16051411" y="47434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missing</a:t>
            </a:r>
            <a:endParaRPr lang="en-US" sz="1800" dirty="0"/>
          </a:p>
        </p:txBody>
      </p:sp>
      <p:sp>
        <p:nvSpPr>
          <p:cNvPr id="40" name="Shape 38"/>
          <p:cNvSpPr/>
          <p:nvPr/>
        </p:nvSpPr>
        <p:spPr>
          <a:xfrm>
            <a:off x="9558933" y="5314950"/>
            <a:ext cx="7452717" cy="1295400"/>
          </a:xfrm>
          <a:prstGeom prst="roundRect">
            <a:avLst>
              <a:gd name="adj" fmla="val 7353"/>
            </a:avLst>
          </a:prstGeom>
          <a:solidFill>
            <a:srgbClr val="243140"/>
          </a:solidFill>
          <a:ln/>
        </p:spPr>
      </p:sp>
      <p:sp>
        <p:nvSpPr>
          <p:cNvPr id="41" name="Text 39"/>
          <p:cNvSpPr/>
          <p:nvPr/>
        </p:nvSpPr>
        <p:spPr>
          <a:xfrm>
            <a:off x="9749433" y="5448300"/>
            <a:ext cx="777888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ACTION · closes the gap</a:t>
            </a:r>
            <a:endParaRPr lang="en-US" sz="1800" dirty="0"/>
          </a:p>
        </p:txBody>
      </p:sp>
      <p:sp>
        <p:nvSpPr>
          <p:cNvPr id="42" name="Text 40"/>
          <p:cNvSpPr/>
          <p:nvPr/>
        </p:nvSpPr>
        <p:spPr>
          <a:xfrm>
            <a:off x="9749433" y="5810250"/>
            <a:ext cx="7283869"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F6F7F4"/>
                </a:solidFill>
                <a:latin typeface="Source Serif 4" pitchFamily="34" charset="0"/>
                <a:ea typeface="Source Serif 4" pitchFamily="34" charset="-122"/>
                <a:cs typeface="Source Serif 4" pitchFamily="34" charset="-120"/>
              </a:rPr>
              <a:t>Review the auto-drafted contract — ~20 minutes, drafted from your own observed traffic.</a:t>
            </a:r>
            <a:endParaRPr lang="en-US" sz="1875" dirty="0"/>
          </a:p>
        </p:txBody>
      </p:sp>
      <p:sp>
        <p:nvSpPr>
          <p:cNvPr id="43" name="Text 41"/>
          <p:cNvSpPr/>
          <p:nvPr/>
        </p:nvSpPr>
        <p:spPr>
          <a:xfrm>
            <a:off x="9558933" y="8972550"/>
            <a:ext cx="7676299"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saves ledger: 3 banked this quarter · each with $ counterfactual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EXECUTION</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we need — producers vs. the control plane</a:t>
            </a:r>
            <a:endParaRPr lang="en-US" sz="4800" dirty="0"/>
          </a:p>
        </p:txBody>
      </p:sp>
      <p:sp>
        <p:nvSpPr>
          <p:cNvPr id="4" name="Shape 2"/>
          <p:cNvSpPr/>
          <p:nvPr/>
        </p:nvSpPr>
        <p:spPr>
          <a:xfrm>
            <a:off x="952500" y="2409825"/>
            <a:ext cx="8058150" cy="5705475"/>
          </a:xfrm>
          <a:prstGeom prst="roundRect">
            <a:avLst>
              <a:gd name="adj" fmla="val 2337"/>
            </a:avLst>
          </a:prstGeom>
          <a:solidFill>
            <a:srgbClr val="FDFDFB"/>
          </a:solidFill>
          <a:ln w="9525">
            <a:solidFill>
              <a:srgbClr val="D9DED7"/>
            </a:solidFill>
            <a:prstDash val="solid"/>
          </a:ln>
        </p:spPr>
      </p:sp>
      <p:sp>
        <p:nvSpPr>
          <p:cNvPr id="5" name="Text 3"/>
          <p:cNvSpPr/>
          <p:nvPr/>
        </p:nvSpPr>
        <p:spPr>
          <a:xfrm>
            <a:off x="128587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PRODUCERS — THE TEAMS OWNING THE REPOS</a:t>
            </a:r>
            <a:endParaRPr lang="en-US" sz="1800" dirty="0"/>
          </a:p>
        </p:txBody>
      </p:sp>
      <p:sp>
        <p:nvSpPr>
          <p:cNvPr id="6" name="Shape 4"/>
          <p:cNvSpPr/>
          <p:nvPr/>
        </p:nvSpPr>
        <p:spPr>
          <a:xfrm>
            <a:off x="1285875" y="4152900"/>
            <a:ext cx="7391400" cy="9525"/>
          </a:xfrm>
          <a:prstGeom prst="rect">
            <a:avLst/>
          </a:prstGeom>
          <a:solidFill>
            <a:srgbClr val="D9DED7"/>
          </a:solidFill>
          <a:ln/>
        </p:spPr>
      </p:sp>
      <p:sp>
        <p:nvSpPr>
          <p:cNvPr id="7" name="Text 5"/>
          <p:cNvSpPr/>
          <p:nvPr/>
        </p:nvSpPr>
        <p:spPr>
          <a:xfrm>
            <a:off x="1285875" y="33051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P0–P2</a:t>
            </a:r>
            <a:endParaRPr lang="en-US" sz="1800" dirty="0"/>
          </a:p>
        </p:txBody>
      </p:sp>
      <p:sp>
        <p:nvSpPr>
          <p:cNvPr id="8" name="Text 6"/>
          <p:cNvSpPr/>
          <p:nvPr/>
        </p:nvSpPr>
        <p:spPr>
          <a:xfrm>
            <a:off x="2695575" y="3286125"/>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Nothing.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Zero code changes — detection is out-of-band, read-only, in our account.</a:t>
            </a:r>
            <a:endParaRPr lang="en-US" sz="1950" dirty="0"/>
          </a:p>
        </p:txBody>
      </p:sp>
      <p:sp>
        <p:nvSpPr>
          <p:cNvPr id="9" name="Shape 7"/>
          <p:cNvSpPr/>
          <p:nvPr/>
        </p:nvSpPr>
        <p:spPr>
          <a:xfrm>
            <a:off x="1285875" y="5543550"/>
            <a:ext cx="7391400" cy="9525"/>
          </a:xfrm>
          <a:prstGeom prst="rect">
            <a:avLst/>
          </a:prstGeom>
          <a:solidFill>
            <a:srgbClr val="D9DED7"/>
          </a:solidFill>
          <a:ln/>
        </p:spPr>
      </p:sp>
      <p:sp>
        <p:nvSpPr>
          <p:cNvPr id="10" name="Text 8"/>
          <p:cNvSpPr/>
          <p:nvPr/>
        </p:nvSpPr>
        <p:spPr>
          <a:xfrm>
            <a:off x="1285875" y="43434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P3</a:t>
            </a:r>
            <a:endParaRPr lang="en-US" sz="1800" dirty="0"/>
          </a:p>
        </p:txBody>
      </p:sp>
      <p:sp>
        <p:nvSpPr>
          <p:cNvPr id="11" name="Text 9"/>
          <p:cNvSpPr/>
          <p:nvPr/>
        </p:nvSpPr>
        <p:spPr>
          <a:xfrm>
            <a:off x="2695575" y="4324350"/>
            <a:ext cx="616115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Review one auto-drafted contract — </a:t>
            </a:r>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~20 minutes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 drafted from 90 days of their own observed behavior.</a:t>
            </a:r>
            <a:endParaRPr lang="en-US" sz="1950" dirty="0"/>
          </a:p>
        </p:txBody>
      </p:sp>
      <p:sp>
        <p:nvSpPr>
          <p:cNvPr id="12" name="Text 10"/>
          <p:cNvSpPr/>
          <p:nvPr/>
        </p:nvSpPr>
        <p:spPr>
          <a:xfrm>
            <a:off x="1285875" y="5734050"/>
            <a:ext cx="131445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P4 · Tier-1</a:t>
            </a:r>
            <a:endParaRPr lang="en-US" sz="1800" dirty="0"/>
          </a:p>
        </p:txBody>
      </p:sp>
      <p:sp>
        <p:nvSpPr>
          <p:cNvPr id="13" name="Text 11"/>
          <p:cNvSpPr/>
          <p:nvPr/>
        </p:nvSpPr>
        <p:spPr>
          <a:xfrm>
            <a:off x="2695575" y="5715000"/>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Adopt lineage emitters / in-path asserts — Tier-1 streams only, paired with the platform team.</a:t>
            </a:r>
            <a:endParaRPr lang="en-US" sz="1950" dirty="0"/>
          </a:p>
        </p:txBody>
      </p:sp>
      <p:sp>
        <p:nvSpPr>
          <p:cNvPr id="14" name="Shape 12"/>
          <p:cNvSpPr/>
          <p:nvPr/>
        </p:nvSpPr>
        <p:spPr>
          <a:xfrm>
            <a:off x="1285875" y="6848475"/>
            <a:ext cx="7391400" cy="971550"/>
          </a:xfrm>
          <a:prstGeom prst="roundRect">
            <a:avLst>
              <a:gd name="adj" fmla="val 9804"/>
            </a:avLst>
          </a:prstGeom>
          <a:solidFill>
            <a:srgbClr val="E3EFEA"/>
          </a:solidFill>
          <a:ln/>
        </p:spPr>
      </p:sp>
      <p:sp>
        <p:nvSpPr>
          <p:cNvPr id="15" name="Text 13"/>
          <p:cNvSpPr/>
          <p:nvPr/>
        </p:nvSpPr>
        <p:spPr>
          <a:xfrm>
            <a:off x="1495425" y="7000875"/>
            <a:ext cx="719404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Adoption cost is deliberately near-zero until the platform has proven value at the gate.</a:t>
            </a:r>
            <a:endParaRPr lang="en-US" sz="1875" dirty="0"/>
          </a:p>
        </p:txBody>
      </p:sp>
      <p:sp>
        <p:nvSpPr>
          <p:cNvPr id="16" name="Shape 14"/>
          <p:cNvSpPr/>
          <p:nvPr/>
        </p:nvSpPr>
        <p:spPr>
          <a:xfrm>
            <a:off x="9277350" y="2409825"/>
            <a:ext cx="8058150" cy="5705475"/>
          </a:xfrm>
          <a:prstGeom prst="roundRect">
            <a:avLst>
              <a:gd name="adj" fmla="val 2337"/>
            </a:avLst>
          </a:prstGeom>
          <a:solidFill>
            <a:srgbClr val="FDFDFB"/>
          </a:solidFill>
          <a:ln w="9525">
            <a:solidFill>
              <a:srgbClr val="D9DED7"/>
            </a:solidFill>
            <a:prstDash val="solid"/>
          </a:ln>
        </p:spPr>
      </p:sp>
      <p:sp>
        <p:nvSpPr>
          <p:cNvPr id="17" name="Text 15"/>
          <p:cNvSpPr/>
          <p:nvPr/>
        </p:nvSpPr>
        <p:spPr>
          <a:xfrm>
            <a:off x="961072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CENTRAL TOOLING — THE CONTROL PLANE</a:t>
            </a:r>
            <a:endParaRPr lang="en-US" sz="1800" dirty="0"/>
          </a:p>
        </p:txBody>
      </p:sp>
      <p:sp>
        <p:nvSpPr>
          <p:cNvPr id="18" name="Shape 16"/>
          <p:cNvSpPr/>
          <p:nvPr/>
        </p:nvSpPr>
        <p:spPr>
          <a:xfrm>
            <a:off x="9610725" y="4095750"/>
            <a:ext cx="7391400" cy="9525"/>
          </a:xfrm>
          <a:prstGeom prst="rect">
            <a:avLst/>
          </a:prstGeom>
          <a:solidFill>
            <a:srgbClr val="D9DED7"/>
          </a:solidFill>
          <a:ln/>
        </p:spPr>
      </p:sp>
      <p:sp>
        <p:nvSpPr>
          <p:cNvPr id="19" name="Text 17"/>
          <p:cNvSpPr/>
          <p:nvPr/>
        </p:nvSpPr>
        <p:spPr>
          <a:xfrm>
            <a:off x="9610725" y="328612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P0</a:t>
            </a:r>
            <a:endParaRPr lang="en-US" sz="1800" dirty="0"/>
          </a:p>
        </p:txBody>
      </p:sp>
      <p:sp>
        <p:nvSpPr>
          <p:cNvPr id="20" name="Text 18"/>
          <p:cNvSpPr/>
          <p:nvPr/>
        </p:nvSpPr>
        <p:spPr>
          <a:xfrm>
            <a:off x="10448925" y="3267075"/>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THE decision: one naming registry as authority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pilot's ~10 assets first. Without it every join fails silently later.</a:t>
            </a:r>
            <a:endParaRPr lang="en-US" sz="1875" dirty="0"/>
          </a:p>
        </p:txBody>
      </p:sp>
      <p:sp>
        <p:nvSpPr>
          <p:cNvPr id="21" name="Shape 19"/>
          <p:cNvSpPr/>
          <p:nvPr/>
        </p:nvSpPr>
        <p:spPr>
          <a:xfrm>
            <a:off x="9610725" y="5076825"/>
            <a:ext cx="7391400" cy="9525"/>
          </a:xfrm>
          <a:prstGeom prst="rect">
            <a:avLst/>
          </a:prstGeom>
          <a:solidFill>
            <a:srgbClr val="D9DED7"/>
          </a:solidFill>
          <a:ln/>
        </p:spPr>
      </p:sp>
      <p:sp>
        <p:nvSpPr>
          <p:cNvPr id="22" name="Text 20"/>
          <p:cNvSpPr/>
          <p:nvPr/>
        </p:nvSpPr>
        <p:spPr>
          <a:xfrm>
            <a:off x="9610725" y="426720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a:t>
            </a:r>
            <a:endParaRPr lang="en-US" sz="1800" dirty="0"/>
          </a:p>
        </p:txBody>
      </p:sp>
      <p:sp>
        <p:nvSpPr>
          <p:cNvPr id="23" name="Text 21"/>
          <p:cNvSpPr/>
          <p:nvPr/>
        </p:nvSpPr>
        <p:spPr>
          <a:xfrm>
            <a:off x="10448925" y="424815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platform: read-only credentials + topic catalog + schema registry.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detect at tables.</a:t>
            </a:r>
            <a:endParaRPr lang="en-US" sz="1875" dirty="0"/>
          </a:p>
        </p:txBody>
      </p:sp>
      <p:sp>
        <p:nvSpPr>
          <p:cNvPr id="24" name="Shape 22"/>
          <p:cNvSpPr/>
          <p:nvPr/>
        </p:nvSpPr>
        <p:spPr>
          <a:xfrm>
            <a:off x="9610725" y="6057900"/>
            <a:ext cx="7391400" cy="9525"/>
          </a:xfrm>
          <a:prstGeom prst="rect">
            <a:avLst/>
          </a:prstGeom>
          <a:solidFill>
            <a:srgbClr val="D9DED7"/>
          </a:solidFill>
          <a:ln/>
        </p:spPr>
      </p:sp>
      <p:sp>
        <p:nvSpPr>
          <p:cNvPr id="25" name="Text 23"/>
          <p:cNvSpPr/>
          <p:nvPr/>
        </p:nvSpPr>
        <p:spPr>
          <a:xfrm>
            <a:off x="9610725" y="524827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a:t>
            </a:r>
            <a:endParaRPr lang="en-US" sz="1800" dirty="0"/>
          </a:p>
        </p:txBody>
      </p:sp>
      <p:sp>
        <p:nvSpPr>
          <p:cNvPr id="26" name="Text 24"/>
          <p:cNvSpPr/>
          <p:nvPr/>
        </p:nvSpPr>
        <p:spPr>
          <a:xfrm>
            <a:off x="10448925" y="5229225"/>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Central DQ tooling: read access to check results.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scheduled export, staler.</a:t>
            </a:r>
            <a:endParaRPr lang="en-US" sz="1875" dirty="0"/>
          </a:p>
        </p:txBody>
      </p:sp>
      <p:sp>
        <p:nvSpPr>
          <p:cNvPr id="27" name="Text 25"/>
          <p:cNvSpPr/>
          <p:nvPr/>
        </p:nvSpPr>
        <p:spPr>
          <a:xfrm>
            <a:off x="9610725" y="622935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a:t>
            </a:r>
            <a:endParaRPr lang="en-US" sz="1800" dirty="0"/>
          </a:p>
        </p:txBody>
      </p:sp>
      <p:sp>
        <p:nvSpPr>
          <p:cNvPr id="28" name="Text 26"/>
          <p:cNvSpPr/>
          <p:nvPr/>
        </p:nvSpPr>
        <p:spPr>
          <a:xfrm>
            <a:off x="10448925" y="621030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CI/CD: deploy events (commit + timestamp), pilot pipelines only.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infer from logs.</a:t>
            </a:r>
            <a:endParaRPr lang="en-US" sz="1875" dirty="0"/>
          </a:p>
        </p:txBody>
      </p:sp>
      <p:sp>
        <p:nvSpPr>
          <p:cNvPr id="29" name="Shape 27"/>
          <p:cNvSpPr/>
          <p:nvPr/>
        </p:nvSpPr>
        <p:spPr>
          <a:xfrm>
            <a:off x="952500" y="8420100"/>
            <a:ext cx="16383000" cy="1104900"/>
          </a:xfrm>
          <a:prstGeom prst="roundRect">
            <a:avLst>
              <a:gd name="adj" fmla="val 10345"/>
            </a:avLst>
          </a:prstGeom>
          <a:solidFill>
            <a:srgbClr val="F5EAD8"/>
          </a:solidFill>
          <a:ln/>
        </p:spPr>
      </p:sp>
      <p:sp>
        <p:nvSpPr>
          <p:cNvPr id="30" name="Text 28"/>
          <p:cNvSpPr/>
          <p:nvPr/>
        </p:nvSpPr>
        <p:spPr>
          <a:xfrm>
            <a:off x="1295400" y="8648700"/>
            <a:ext cx="170996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INTERLOCKS</a:t>
            </a:r>
            <a:endParaRPr lang="en-US" sz="1800" dirty="0"/>
          </a:p>
        </p:txBody>
      </p:sp>
      <p:sp>
        <p:nvSpPr>
          <p:cNvPr id="31" name="Text 29"/>
          <p:cNvSpPr/>
          <p:nvPr/>
        </p:nvSpPr>
        <p:spPr>
          <a:xfrm>
            <a:off x="3078510" y="8629650"/>
            <a:ext cx="14331513"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1B2530"/>
                </a:solidFill>
                <a:latin typeface="Source Serif 4" pitchFamily="34" charset="0"/>
                <a:ea typeface="Source Serif 4" pitchFamily="34" charset="-122"/>
                <a:cs typeface="Source Serif 4" pitchFamily="34" charset="-120"/>
              </a:rPr>
              <a:t>Cross-team dependencies are dated (weeks 3–4) with versioned stubs as fallback. Dependency health is a monthly scorecard item with sponsor escalation — a slip is surfaced, never absorbed silently.</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GOVERNANCE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leadership steers — and stops — this program</a:t>
            </a:r>
            <a:endParaRPr lang="en-US" sz="4800" dirty="0"/>
          </a:p>
        </p:txBody>
      </p:sp>
      <p:sp>
        <p:nvSpPr>
          <p:cNvPr id="4" name="Text 2"/>
          <p:cNvSpPr/>
          <p:nvPr/>
        </p:nvSpPr>
        <p:spPr>
          <a:xfrm>
            <a:off x="952500" y="2371725"/>
            <a:ext cx="18021300"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B6873"/>
                </a:solidFill>
                <a:latin typeface="IBM Plex Mono" pitchFamily="34" charset="0"/>
                <a:ea typeface="IBM Plex Mono" pitchFamily="34" charset="-122"/>
                <a:cs typeface="IBM Plex Mono" pitchFamily="34" charset="-120"/>
              </a:rPr>
              <a:t>THE MONTHLY SCORECARD — SIX NUMBERS, NO STATUS PROSE</a:t>
            </a:r>
            <a:endParaRPr lang="en-US" sz="1800" dirty="0"/>
          </a:p>
        </p:txBody>
      </p:sp>
      <p:sp>
        <p:nvSpPr>
          <p:cNvPr id="5" name="Shape 3"/>
          <p:cNvSpPr/>
          <p:nvPr/>
        </p:nvSpPr>
        <p:spPr>
          <a:xfrm>
            <a:off x="952500" y="2828925"/>
            <a:ext cx="2587526" cy="1695450"/>
          </a:xfrm>
          <a:prstGeom prst="roundRect">
            <a:avLst>
              <a:gd name="adj" fmla="val 5618"/>
            </a:avLst>
          </a:prstGeom>
          <a:solidFill>
            <a:srgbClr val="FDFDFB"/>
          </a:solidFill>
          <a:ln w="9525">
            <a:solidFill>
              <a:srgbClr val="D9DED7"/>
            </a:solidFill>
            <a:prstDash val="solid"/>
          </a:ln>
        </p:spPr>
      </p:sp>
      <p:sp>
        <p:nvSpPr>
          <p:cNvPr id="6" name="Text 4"/>
          <p:cNvSpPr/>
          <p:nvPr/>
        </p:nvSpPr>
        <p:spPr>
          <a:xfrm>
            <a:off x="1152525" y="30289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Time-to-detect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7" name="Text 5"/>
          <p:cNvSpPr/>
          <p:nvPr/>
        </p:nvSpPr>
        <p:spPr>
          <a:xfrm>
            <a:off x="1152525" y="3400425"/>
            <a:ext cx="2406223"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vs Phase-0 baseline</a:t>
            </a:r>
            <a:endParaRPr lang="en-US" sz="1800" dirty="0"/>
          </a:p>
        </p:txBody>
      </p:sp>
      <p:sp>
        <p:nvSpPr>
          <p:cNvPr id="8" name="Shape 6"/>
          <p:cNvSpPr/>
          <p:nvPr/>
        </p:nvSpPr>
        <p:spPr>
          <a:xfrm>
            <a:off x="3711476" y="2828925"/>
            <a:ext cx="2587675" cy="1695450"/>
          </a:xfrm>
          <a:prstGeom prst="roundRect">
            <a:avLst>
              <a:gd name="adj" fmla="val 5618"/>
            </a:avLst>
          </a:prstGeom>
          <a:solidFill>
            <a:srgbClr val="FDFDFB"/>
          </a:solidFill>
          <a:ln w="9525">
            <a:solidFill>
              <a:srgbClr val="D9DED7"/>
            </a:solidFill>
            <a:prstDash val="solid"/>
          </a:ln>
        </p:spPr>
      </p:sp>
      <p:sp>
        <p:nvSpPr>
          <p:cNvPr id="9" name="Text 7"/>
          <p:cNvSpPr/>
          <p:nvPr/>
        </p:nvSpPr>
        <p:spPr>
          <a:xfrm>
            <a:off x="3911501" y="30289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Time-to-root-cause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0" name="Text 8"/>
          <p:cNvSpPr/>
          <p:nvPr/>
        </p:nvSpPr>
        <p:spPr>
          <a:xfrm>
            <a:off x="3911501" y="36957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war room → minutes</a:t>
            </a:r>
            <a:endParaRPr lang="en-US" sz="1800" dirty="0"/>
          </a:p>
        </p:txBody>
      </p:sp>
      <p:sp>
        <p:nvSpPr>
          <p:cNvPr id="11" name="Shape 9"/>
          <p:cNvSpPr/>
          <p:nvPr/>
        </p:nvSpPr>
        <p:spPr>
          <a:xfrm>
            <a:off x="6470600" y="2828925"/>
            <a:ext cx="2587675" cy="1695450"/>
          </a:xfrm>
          <a:prstGeom prst="roundRect">
            <a:avLst>
              <a:gd name="adj" fmla="val 5618"/>
            </a:avLst>
          </a:prstGeom>
          <a:solidFill>
            <a:srgbClr val="FDFDFB"/>
          </a:solidFill>
          <a:ln w="9525">
            <a:solidFill>
              <a:srgbClr val="D9DED7"/>
            </a:solidFill>
            <a:prstDash val="solid"/>
          </a:ln>
        </p:spPr>
      </p:sp>
      <p:sp>
        <p:nvSpPr>
          <p:cNvPr id="12" name="Text 10"/>
          <p:cNvSpPr/>
          <p:nvPr/>
        </p:nvSpPr>
        <p:spPr>
          <a:xfrm>
            <a:off x="6670625" y="3028950"/>
            <a:ext cx="240638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Teams paged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3" name="Text 11"/>
          <p:cNvSpPr/>
          <p:nvPr/>
        </p:nvSpPr>
        <p:spPr>
          <a:xfrm>
            <a:off x="6670625" y="3400425"/>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per incident · target: one</a:t>
            </a:r>
            <a:endParaRPr lang="en-US" sz="1800" dirty="0"/>
          </a:p>
        </p:txBody>
      </p:sp>
      <p:sp>
        <p:nvSpPr>
          <p:cNvPr id="14" name="Shape 12"/>
          <p:cNvSpPr/>
          <p:nvPr/>
        </p:nvSpPr>
        <p:spPr>
          <a:xfrm>
            <a:off x="9229725" y="2828925"/>
            <a:ext cx="2587526" cy="1695450"/>
          </a:xfrm>
          <a:prstGeom prst="roundRect">
            <a:avLst>
              <a:gd name="adj" fmla="val 5618"/>
            </a:avLst>
          </a:prstGeom>
          <a:solidFill>
            <a:srgbClr val="FDFDFB"/>
          </a:solidFill>
          <a:ln w="9525">
            <a:solidFill>
              <a:srgbClr val="D9DED7"/>
            </a:solidFill>
            <a:prstDash val="solid"/>
          </a:ln>
        </p:spPr>
      </p:sp>
      <p:sp>
        <p:nvSpPr>
          <p:cNvPr id="15" name="Text 13"/>
          <p:cNvSpPr/>
          <p:nvPr/>
        </p:nvSpPr>
        <p:spPr>
          <a:xfrm>
            <a:off x="9429750" y="30289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Saves banked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6" name="Text 14"/>
          <p:cNvSpPr/>
          <p:nvPr/>
        </p:nvSpPr>
        <p:spPr>
          <a:xfrm>
            <a:off x="9429750" y="3400425"/>
            <a:ext cx="2263676"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each with $ counterfactual</a:t>
            </a:r>
            <a:endParaRPr lang="en-US" sz="1800" dirty="0"/>
          </a:p>
        </p:txBody>
      </p:sp>
      <p:sp>
        <p:nvSpPr>
          <p:cNvPr id="17" name="Shape 15"/>
          <p:cNvSpPr/>
          <p:nvPr/>
        </p:nvSpPr>
        <p:spPr>
          <a:xfrm>
            <a:off x="11988701" y="2828925"/>
            <a:ext cx="2587675" cy="1695450"/>
          </a:xfrm>
          <a:prstGeom prst="roundRect">
            <a:avLst>
              <a:gd name="adj" fmla="val 5618"/>
            </a:avLst>
          </a:prstGeom>
          <a:solidFill>
            <a:srgbClr val="FDFDFB"/>
          </a:solidFill>
          <a:ln w="9525">
            <a:solidFill>
              <a:srgbClr val="D9DED7"/>
            </a:solidFill>
            <a:prstDash val="solid"/>
          </a:ln>
        </p:spPr>
      </p:sp>
      <p:sp>
        <p:nvSpPr>
          <p:cNvPr id="18" name="Text 16"/>
          <p:cNvSpPr/>
          <p:nvPr/>
        </p:nvSpPr>
        <p:spPr>
          <a:xfrm>
            <a:off x="12188726" y="30289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Foundations joined</a:t>
            </a:r>
            <a:endParaRPr lang="en-US" sz="1950" dirty="0"/>
          </a:p>
        </p:txBody>
      </p:sp>
      <p:sp>
        <p:nvSpPr>
          <p:cNvPr id="19" name="Text 17"/>
          <p:cNvSpPr/>
          <p:nvPr/>
        </p:nvSpPr>
        <p:spPr>
          <a:xfrm>
            <a:off x="12188726" y="3695700"/>
            <a:ext cx="2406387"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0 → 4, on use case 1</a:t>
            </a:r>
            <a:endParaRPr lang="en-US" sz="1800" dirty="0"/>
          </a:p>
        </p:txBody>
      </p:sp>
      <p:sp>
        <p:nvSpPr>
          <p:cNvPr id="20" name="Shape 18"/>
          <p:cNvSpPr/>
          <p:nvPr/>
        </p:nvSpPr>
        <p:spPr>
          <a:xfrm>
            <a:off x="14747825" y="2828925"/>
            <a:ext cx="2587675" cy="1695450"/>
          </a:xfrm>
          <a:prstGeom prst="roundRect">
            <a:avLst>
              <a:gd name="adj" fmla="val 5618"/>
            </a:avLst>
          </a:prstGeom>
          <a:solidFill>
            <a:srgbClr val="FDFDFB"/>
          </a:solidFill>
          <a:ln w="9525">
            <a:solidFill>
              <a:srgbClr val="D9DED7"/>
            </a:solidFill>
            <a:prstDash val="solid"/>
          </a:ln>
        </p:spPr>
      </p:sp>
      <p:sp>
        <p:nvSpPr>
          <p:cNvPr id="21" name="Text 19"/>
          <p:cNvSpPr/>
          <p:nvPr/>
        </p:nvSpPr>
        <p:spPr>
          <a:xfrm>
            <a:off x="14947850" y="30289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Dependency health</a:t>
            </a:r>
            <a:endParaRPr lang="en-US" sz="1950" dirty="0"/>
          </a:p>
        </p:txBody>
      </p:sp>
      <p:sp>
        <p:nvSpPr>
          <p:cNvPr id="22" name="Text 20"/>
          <p:cNvSpPr/>
          <p:nvPr/>
        </p:nvSpPr>
        <p:spPr>
          <a:xfrm>
            <a:off x="14947850" y="36957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RAG, sponsor-escalated</a:t>
            </a:r>
            <a:endParaRPr lang="en-US" sz="1800" dirty="0"/>
          </a:p>
        </p:txBody>
      </p:sp>
      <p:sp>
        <p:nvSpPr>
          <p:cNvPr id="23" name="Shape 21"/>
          <p:cNvSpPr/>
          <p:nvPr/>
        </p:nvSpPr>
        <p:spPr>
          <a:xfrm>
            <a:off x="952500" y="4829175"/>
            <a:ext cx="5308550" cy="2781300"/>
          </a:xfrm>
          <a:prstGeom prst="roundRect">
            <a:avLst>
              <a:gd name="adj" fmla="val 4110"/>
            </a:avLst>
          </a:prstGeom>
          <a:solidFill>
            <a:srgbClr val="FDFDFB"/>
          </a:solidFill>
          <a:ln w="9525">
            <a:solidFill>
              <a:srgbClr val="D9DED7"/>
            </a:solidFill>
            <a:prstDash val="solid"/>
          </a:ln>
        </p:spPr>
      </p:sp>
      <p:sp>
        <p:nvSpPr>
          <p:cNvPr id="24" name="Text 22"/>
          <p:cNvSpPr/>
          <p:nvPr/>
        </p:nvSpPr>
        <p:spPr>
          <a:xfrm>
            <a:off x="1247775" y="50863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Reviews are live replays</a:t>
            </a:r>
            <a:endParaRPr lang="en-US" sz="2100" dirty="0"/>
          </a:p>
        </p:txBody>
      </p:sp>
      <p:sp>
        <p:nvSpPr>
          <p:cNvPr id="25" name="Text 23"/>
          <p:cNvSpPr/>
          <p:nvPr/>
        </p:nvSpPr>
        <p:spPr>
          <a:xfrm>
            <a:off x="1247775" y="5505450"/>
            <a:ext cx="4859540"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Milestone reviews replay a real incident on the pilot thread — the war room, then the causal chain. No "percent complete."</a:t>
            </a:r>
            <a:endParaRPr lang="en-US" sz="1950" dirty="0"/>
          </a:p>
        </p:txBody>
      </p:sp>
      <p:sp>
        <p:nvSpPr>
          <p:cNvPr id="26" name="Shape 24"/>
          <p:cNvSpPr/>
          <p:nvPr/>
        </p:nvSpPr>
        <p:spPr>
          <a:xfrm>
            <a:off x="6489650" y="4829175"/>
            <a:ext cx="5308550" cy="2781300"/>
          </a:xfrm>
          <a:prstGeom prst="roundRect">
            <a:avLst>
              <a:gd name="adj" fmla="val 4110"/>
            </a:avLst>
          </a:prstGeom>
          <a:solidFill>
            <a:srgbClr val="FDFDFB"/>
          </a:solidFill>
          <a:ln w="9525">
            <a:solidFill>
              <a:srgbClr val="D9DED7"/>
            </a:solidFill>
            <a:prstDash val="solid"/>
          </a:ln>
        </p:spPr>
      </p:sp>
      <p:sp>
        <p:nvSpPr>
          <p:cNvPr id="27" name="Text 25"/>
          <p:cNvSpPr/>
          <p:nvPr/>
        </p:nvSpPr>
        <p:spPr>
          <a:xfrm>
            <a:off x="6784925" y="50863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Sponsor-owned KPI</a:t>
            </a:r>
            <a:endParaRPr lang="en-US" sz="2100" dirty="0"/>
          </a:p>
        </p:txBody>
      </p:sp>
      <p:sp>
        <p:nvSpPr>
          <p:cNvPr id="28" name="Text 26"/>
          <p:cNvSpPr/>
          <p:nvPr/>
        </p:nvSpPr>
        <p:spPr>
          <a:xfrm>
            <a:off x="6784925" y="55054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The pilot thread maps to one executive sponsor's own metric — one leader personally invested in the gate demo.</a:t>
            </a:r>
            <a:endParaRPr lang="en-US" sz="1950" dirty="0"/>
          </a:p>
        </p:txBody>
      </p:sp>
      <p:sp>
        <p:nvSpPr>
          <p:cNvPr id="29" name="Shape 27"/>
          <p:cNvSpPr/>
          <p:nvPr/>
        </p:nvSpPr>
        <p:spPr>
          <a:xfrm>
            <a:off x="12026801" y="4829175"/>
            <a:ext cx="5308550" cy="2781300"/>
          </a:xfrm>
          <a:prstGeom prst="roundRect">
            <a:avLst>
              <a:gd name="adj" fmla="val 4110"/>
            </a:avLst>
          </a:prstGeom>
          <a:solidFill>
            <a:srgbClr val="FDFDFB"/>
          </a:solidFill>
          <a:ln w="9525">
            <a:solidFill>
              <a:srgbClr val="D9DED7"/>
            </a:solidFill>
            <a:prstDash val="solid"/>
          </a:ln>
        </p:spPr>
      </p:sp>
      <p:sp>
        <p:nvSpPr>
          <p:cNvPr id="30" name="Text 28"/>
          <p:cNvSpPr/>
          <p:nvPr/>
        </p:nvSpPr>
        <p:spPr>
          <a:xfrm>
            <a:off x="12322076" y="50863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Fixed cadence from month 1</a:t>
            </a:r>
            <a:endParaRPr lang="en-US" sz="2100" dirty="0"/>
          </a:p>
        </p:txBody>
      </p:sp>
      <p:sp>
        <p:nvSpPr>
          <p:cNvPr id="31" name="Text 29"/>
          <p:cNvSpPr/>
          <p:nvPr/>
        </p:nvSpPr>
        <p:spPr>
          <a:xfrm>
            <a:off x="12322076" y="55054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Silence is never read as stall. Baselines measured in Phase 0, so every number has a before.</a:t>
            </a:r>
            <a:endParaRPr lang="en-US" sz="1950" dirty="0"/>
          </a:p>
        </p:txBody>
      </p:sp>
      <p:sp>
        <p:nvSpPr>
          <p:cNvPr id="32" name="Shape 30"/>
          <p:cNvSpPr/>
          <p:nvPr/>
        </p:nvSpPr>
        <p:spPr>
          <a:xfrm>
            <a:off x="952500" y="7915275"/>
            <a:ext cx="16383000" cy="1609725"/>
          </a:xfrm>
          <a:prstGeom prst="roundRect">
            <a:avLst>
              <a:gd name="adj" fmla="val 7101"/>
            </a:avLst>
          </a:prstGeom>
          <a:solidFill>
            <a:srgbClr val="1B2530"/>
          </a:solidFill>
          <a:ln/>
        </p:spPr>
      </p:sp>
      <p:sp>
        <p:nvSpPr>
          <p:cNvPr id="33" name="Text 31"/>
          <p:cNvSpPr/>
          <p:nvPr/>
        </p:nvSpPr>
        <p:spPr>
          <a:xfrm>
            <a:off x="1295400" y="8201025"/>
            <a:ext cx="530079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4765F"/>
                </a:solidFill>
                <a:latin typeface="IBM Plex Mono" pitchFamily="34" charset="0"/>
                <a:ea typeface="IBM Plex Mono" pitchFamily="34" charset="-122"/>
                <a:cs typeface="IBM Plex Mono" pitchFamily="34" charset="-120"/>
              </a:rPr>
              <a:t>KILL CRITERIA — STATED UP FRONT</a:t>
            </a:r>
            <a:endParaRPr lang="en-US" sz="1800" dirty="0"/>
          </a:p>
        </p:txBody>
      </p:sp>
      <p:sp>
        <p:nvSpPr>
          <p:cNvPr id="34" name="Text 32"/>
          <p:cNvSpPr/>
          <p:nvPr/>
        </p:nvSpPr>
        <p:spPr>
          <a:xfrm>
            <a:off x="6342906" y="8162925"/>
            <a:ext cx="10969185" cy="1152525"/>
          </a:xfrm>
          <a:prstGeom prst="rect">
            <a:avLst/>
          </a:prstGeom>
          <a:noFill/>
          <a:ln/>
        </p:spPr>
        <p:txBody>
          <a:bodyPr wrap="square" lIns="25400" tIns="25400" rIns="25400" bIns="25400" rtlCol="0" anchor="t">
            <a:normAutofit/>
          </a:bodyPr>
          <a:lstStyle/>
          <a:p>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real saves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and 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time-to-detect improvement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by the month-9 gate → the program stops and thirty engineers redeploy. Decided on the scorecard, not on architecture progress.</a:t>
            </a:r>
            <a:endParaRPr lang="en-US" sz="20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OUTCOMES</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is live at months 9, 15, and 24</a:t>
            </a:r>
            <a:endParaRPr lang="en-US" sz="4800" dirty="0"/>
          </a:p>
        </p:txBody>
      </p:sp>
      <p:sp>
        <p:nvSpPr>
          <p:cNvPr id="4" name="Shape 2"/>
          <p:cNvSpPr/>
          <p:nvPr/>
        </p:nvSpPr>
        <p:spPr>
          <a:xfrm>
            <a:off x="952500" y="2486025"/>
            <a:ext cx="5295900" cy="5848350"/>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3049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9</a:t>
            </a:r>
            <a:endParaRPr lang="en-US" sz="4050" dirty="0"/>
          </a:p>
        </p:txBody>
      </p:sp>
      <p:sp>
        <p:nvSpPr>
          <p:cNvPr id="6" name="Text 4"/>
          <p:cNvSpPr/>
          <p:nvPr/>
        </p:nvSpPr>
        <p:spPr>
          <a:xfrm>
            <a:off x="13049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PROVEN</a:t>
            </a:r>
            <a:endParaRPr lang="en-US" sz="1950" dirty="0"/>
          </a:p>
        </p:txBody>
      </p:sp>
      <p:sp>
        <p:nvSpPr>
          <p:cNvPr id="7" name="Text 5"/>
          <p:cNvSpPr/>
          <p:nvPr/>
        </p:nvSpPr>
        <p:spPr>
          <a:xfrm>
            <a:off x="130492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Four foundations live and joined on use case 1 — health, cause, blast radius. Go/no-go gate.</a:t>
            </a:r>
            <a:endParaRPr lang="en-US" sz="2025" dirty="0"/>
          </a:p>
        </p:txBody>
      </p:sp>
      <p:sp>
        <p:nvSpPr>
          <p:cNvPr id="8" name="Shape 6"/>
          <p:cNvSpPr/>
          <p:nvPr/>
        </p:nvSpPr>
        <p:spPr>
          <a:xfrm>
            <a:off x="6496050" y="2486025"/>
            <a:ext cx="5295900" cy="5848350"/>
          </a:xfrm>
          <a:prstGeom prst="roundRect">
            <a:avLst>
              <a:gd name="adj" fmla="val 2518"/>
            </a:avLst>
          </a:prstGeom>
          <a:solidFill>
            <a:srgbClr val="FDFDFB"/>
          </a:solidFill>
          <a:ln w="9525">
            <a:solidFill>
              <a:srgbClr val="D9DED7"/>
            </a:solidFill>
            <a:prstDash val="solid"/>
          </a:ln>
        </p:spPr>
      </p:sp>
      <p:sp>
        <p:nvSpPr>
          <p:cNvPr id="9" name="Text 7"/>
          <p:cNvSpPr/>
          <p:nvPr/>
        </p:nvSpPr>
        <p:spPr>
          <a:xfrm>
            <a:off x="684847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15</a:t>
            </a:r>
            <a:endParaRPr lang="en-US" sz="4050" dirty="0"/>
          </a:p>
        </p:txBody>
      </p:sp>
      <p:sp>
        <p:nvSpPr>
          <p:cNvPr id="10" name="Text 8"/>
          <p:cNvSpPr/>
          <p:nvPr/>
        </p:nvSpPr>
        <p:spPr>
          <a:xfrm>
            <a:off x="684847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ENFORCING</a:t>
            </a:r>
            <a:endParaRPr lang="en-US" sz="1950" dirty="0"/>
          </a:p>
        </p:txBody>
      </p:sp>
      <p:sp>
        <p:nvSpPr>
          <p:cNvPr id="11" name="Text 9"/>
          <p:cNvSpPr/>
          <p:nvPr/>
        </p:nvSpPr>
        <p:spPr>
          <a:xfrm>
            <a:off x="684847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Full platform live — gating on, edges confidence-scored, multiple use cases on the paved road.</a:t>
            </a:r>
            <a:endParaRPr lang="en-US" sz="2025" dirty="0"/>
          </a:p>
        </p:txBody>
      </p:sp>
      <p:sp>
        <p:nvSpPr>
          <p:cNvPr id="12" name="Shape 10"/>
          <p:cNvSpPr/>
          <p:nvPr/>
        </p:nvSpPr>
        <p:spPr>
          <a:xfrm>
            <a:off x="12039600" y="2486025"/>
            <a:ext cx="5295900" cy="5848350"/>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123920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24</a:t>
            </a:r>
            <a:endParaRPr lang="en-US" sz="4050" dirty="0"/>
          </a:p>
        </p:txBody>
      </p:sp>
      <p:sp>
        <p:nvSpPr>
          <p:cNvPr id="14" name="Text 12"/>
          <p:cNvSpPr/>
          <p:nvPr/>
        </p:nvSpPr>
        <p:spPr>
          <a:xfrm>
            <a:off x="123920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SCALED</a:t>
            </a:r>
            <a:endParaRPr lang="en-US" sz="1950" dirty="0"/>
          </a:p>
        </p:txBody>
      </p:sp>
      <p:sp>
        <p:nvSpPr>
          <p:cNvPr id="15" name="Text 13"/>
          <p:cNvSpPr/>
          <p:nvPr/>
        </p:nvSpPr>
        <p:spPr>
          <a:xfrm>
            <a:off x="12392025" y="4048125"/>
            <a:ext cx="4728782" cy="1600200"/>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Critical use cases operating; impact simulation on Tier-1; onboarding ≤ 2 weeks; expansion priced from measured cost per use case.</a:t>
            </a:r>
            <a:endParaRPr lang="en-US" sz="2025" dirty="0"/>
          </a:p>
        </p:txBody>
      </p:sp>
      <p:sp>
        <p:nvSpPr>
          <p:cNvPr id="16" name="Shape 14"/>
          <p:cNvSpPr/>
          <p:nvPr/>
        </p:nvSpPr>
        <p:spPr>
          <a:xfrm>
            <a:off x="952500" y="8715375"/>
            <a:ext cx="16383000" cy="809625"/>
          </a:xfrm>
          <a:prstGeom prst="roundRect">
            <a:avLst>
              <a:gd name="adj" fmla="val 14118"/>
            </a:avLst>
          </a:prstGeom>
          <a:solidFill>
            <a:srgbClr val="1B2530"/>
          </a:solidFill>
          <a:ln/>
        </p:spPr>
      </p:sp>
      <p:sp>
        <p:nvSpPr>
          <p:cNvPr id="17" name="Text 15"/>
          <p:cNvSpPr/>
          <p:nvPr/>
        </p:nvSpPr>
        <p:spPr>
          <a:xfrm>
            <a:off x="1295400" y="8972550"/>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18" name="Text 16"/>
          <p:cNvSpPr/>
          <p:nvPr/>
        </p:nvSpPr>
        <p:spPr>
          <a:xfrm>
            <a:off x="3389412" y="8943975"/>
            <a:ext cx="14010873" cy="390525"/>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Three missions, one evidence stream, one pilot thread, one scorecard — one platform, not three projects.</a:t>
            </a:r>
            <a:endParaRPr lang="en-US" sz="20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3014663"/>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IBM Plex Mono" pitchFamily="34" charset="0"/>
                <a:ea typeface="IBM Plex Mono" pitchFamily="34" charset="-122"/>
                <a:cs typeface="IBM Plex Mono" pitchFamily="34" charset="-120"/>
              </a:rPr>
              <a:t>PART 2 · THE PLATFORM, BRIEFLY</a:t>
            </a:r>
            <a:endParaRPr lang="en-US" sz="1800" dirty="0"/>
          </a:p>
        </p:txBody>
      </p:sp>
      <p:sp>
        <p:nvSpPr>
          <p:cNvPr id="3" name="Text 1"/>
          <p:cNvSpPr/>
          <p:nvPr/>
        </p:nvSpPr>
        <p:spPr>
          <a:xfrm>
            <a:off x="1143000" y="3662362"/>
            <a:ext cx="14716125" cy="1924050"/>
          </a:xfrm>
          <a:prstGeom prst="rect">
            <a:avLst/>
          </a:prstGeom>
          <a:noFill/>
          <a:ln/>
        </p:spPr>
        <p:txBody>
          <a:bodyPr wrap="square" lIns="25400" tIns="25400" rIns="25400" bIns="25400" rtlCol="0" anchor="t">
            <a:normAutofit/>
          </a:bodyPr>
          <a:lstStyle/>
          <a:p>
            <a:pPr algn="l" indent="0" marL="0">
              <a:lnSpc>
                <a:spcPct val="86817"/>
              </a:lnSpc>
              <a:buNone/>
            </a:pPr>
            <a:r>
              <a:rPr lang="en-US" sz="7200" b="1" spc="-144" kern="0" dirty="0">
                <a:solidFill>
                  <a:srgbClr val="F6F7F4"/>
                </a:solidFill>
                <a:latin typeface="Bricolage Grotesque" pitchFamily="34" charset="0"/>
                <a:ea typeface="Bricolage Grotesque" pitchFamily="34" charset="-122"/>
                <a:cs typeface="Bricolage Grotesque" pitchFamily="34" charset="-120"/>
              </a:rPr>
              <a:t>The platform those missions converge into</a:t>
            </a:r>
            <a:endParaRPr lang="en-US" sz="7200" dirty="0"/>
          </a:p>
        </p:txBody>
      </p:sp>
      <p:sp>
        <p:nvSpPr>
          <p:cNvPr id="4" name="Text 2"/>
          <p:cNvSpPr/>
          <p:nvPr/>
        </p:nvSpPr>
        <p:spPr>
          <a:xfrm>
            <a:off x="1143000" y="5967413"/>
            <a:ext cx="12263438" cy="1438275"/>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Just enough of the target to make Part 1 concrete — how an incident will feel, what that is worth, the architecture in one view, and what it costs to run. Nothing here is built yet.</a:t>
            </a:r>
            <a:endParaRPr lang="en-US" sz="2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6096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PART 2 · THE EXPERIENCE</a:t>
            </a:r>
            <a:endParaRPr lang="en-US" sz="1800" dirty="0"/>
          </a:p>
        </p:txBody>
      </p:sp>
      <p:sp>
        <p:nvSpPr>
          <p:cNvPr id="3" name="Text 1"/>
          <p:cNvSpPr/>
          <p:nvPr/>
        </p:nvSpPr>
        <p:spPr>
          <a:xfrm>
            <a:off x="952500" y="10477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the experience will work</a:t>
            </a:r>
            <a:endParaRPr lang="en-US" sz="4800" dirty="0"/>
          </a:p>
        </p:txBody>
      </p:sp>
      <p:sp>
        <p:nvSpPr>
          <p:cNvPr id="4" name="Text 2"/>
          <p:cNvSpPr/>
          <p:nvPr/>
        </p:nvSpPr>
        <p:spPr>
          <a:xfrm>
            <a:off x="952500" y="1819275"/>
            <a:ext cx="14144625" cy="419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The Part 1 incident, replayed on the platform: two days becomes thirty minutes — 96× faster to truth.</a:t>
            </a:r>
            <a:endParaRPr lang="en-US" sz="2025" dirty="0"/>
          </a:p>
        </p:txBody>
      </p:sp>
      <p:sp>
        <p:nvSpPr>
          <p:cNvPr id="5" name="Shape 3"/>
          <p:cNvSpPr/>
          <p:nvPr/>
        </p:nvSpPr>
        <p:spPr>
          <a:xfrm>
            <a:off x="952500" y="3362325"/>
            <a:ext cx="8622357" cy="9525"/>
          </a:xfrm>
          <a:prstGeom prst="rect">
            <a:avLst/>
          </a:prstGeom>
          <a:solidFill>
            <a:srgbClr val="D9DED7"/>
          </a:solidFill>
          <a:ln/>
        </p:spPr>
      </p:sp>
      <p:sp>
        <p:nvSpPr>
          <p:cNvPr id="6" name="Text 4"/>
          <p:cNvSpPr/>
          <p:nvPr/>
        </p:nvSpPr>
        <p:spPr>
          <a:xfrm>
            <a:off x="952500" y="25908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T+0</a:t>
            </a:r>
            <a:endParaRPr lang="en-US" sz="1800" dirty="0"/>
          </a:p>
        </p:txBody>
      </p:sp>
      <p:sp>
        <p:nvSpPr>
          <p:cNvPr id="7" name="Text 5"/>
          <p:cNvSpPr/>
          <p:nvPr/>
        </p:nvSpPr>
        <p:spPr>
          <a:xfrm>
            <a:off x="2381250" y="257175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orders-svc deploys v3.17 — customer_id silently dropped. Nothing on the data path blocks; data keeps flowing.</a:t>
            </a:r>
            <a:endParaRPr lang="en-US" sz="1950" dirty="0"/>
          </a:p>
        </p:txBody>
      </p:sp>
      <p:sp>
        <p:nvSpPr>
          <p:cNvPr id="8" name="Shape 6"/>
          <p:cNvSpPr/>
          <p:nvPr/>
        </p:nvSpPr>
        <p:spPr>
          <a:xfrm>
            <a:off x="952500" y="4248150"/>
            <a:ext cx="8622357" cy="9525"/>
          </a:xfrm>
          <a:prstGeom prst="rect">
            <a:avLst/>
          </a:prstGeom>
          <a:solidFill>
            <a:srgbClr val="D9DED7"/>
          </a:solidFill>
          <a:ln/>
        </p:spPr>
      </p:sp>
      <p:sp>
        <p:nvSpPr>
          <p:cNvPr id="9" name="Text 7"/>
          <p:cNvSpPr/>
          <p:nvPr/>
        </p:nvSpPr>
        <p:spPr>
          <a:xfrm>
            <a:off x="952500" y="347662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+2 s</a:t>
            </a:r>
            <a:endParaRPr lang="en-US" sz="1800" dirty="0"/>
          </a:p>
        </p:txBody>
      </p:sp>
      <p:sp>
        <p:nvSpPr>
          <p:cNvPr id="10" name="Text 8"/>
          <p:cNvSpPr/>
          <p:nvPr/>
        </p:nvSpPr>
        <p:spPr>
          <a:xfrm>
            <a:off x="2381250" y="345757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Evidence: every record now fails the contract check, reason code attached, trace preserved.</a:t>
            </a:r>
            <a:endParaRPr lang="en-US" sz="1950" dirty="0"/>
          </a:p>
        </p:txBody>
      </p:sp>
      <p:sp>
        <p:nvSpPr>
          <p:cNvPr id="11" name="Shape 9"/>
          <p:cNvSpPr/>
          <p:nvPr/>
        </p:nvSpPr>
        <p:spPr>
          <a:xfrm>
            <a:off x="952500" y="5133975"/>
            <a:ext cx="8622357" cy="9525"/>
          </a:xfrm>
          <a:prstGeom prst="rect">
            <a:avLst/>
          </a:prstGeom>
          <a:solidFill>
            <a:srgbClr val="D9DED7"/>
          </a:solidFill>
          <a:ln/>
        </p:spPr>
      </p:sp>
      <p:sp>
        <p:nvSpPr>
          <p:cNvPr id="12" name="Text 10"/>
          <p:cNvSpPr/>
          <p:nvPr/>
        </p:nvSpPr>
        <p:spPr>
          <a:xfrm>
            <a:off x="952500" y="436245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+5 min</a:t>
            </a:r>
            <a:endParaRPr lang="en-US" sz="1800" dirty="0"/>
          </a:p>
        </p:txBody>
      </p:sp>
      <p:sp>
        <p:nvSpPr>
          <p:cNvPr id="13" name="Text 11"/>
          <p:cNvSpPr/>
          <p:nvPr/>
        </p:nvSpPr>
        <p:spPr>
          <a:xfrm>
            <a:off x="2381250" y="434340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Signal: compliance collapses in the window — one incident created, deploy already attached as the cause candidate.</a:t>
            </a:r>
            <a:endParaRPr lang="en-US" sz="1950" dirty="0"/>
          </a:p>
        </p:txBody>
      </p:sp>
      <p:sp>
        <p:nvSpPr>
          <p:cNvPr id="14" name="Shape 12"/>
          <p:cNvSpPr/>
          <p:nvPr/>
        </p:nvSpPr>
        <p:spPr>
          <a:xfrm>
            <a:off x="952500" y="6019800"/>
            <a:ext cx="8622357" cy="9525"/>
          </a:xfrm>
          <a:prstGeom prst="rect">
            <a:avLst/>
          </a:prstGeom>
          <a:solidFill>
            <a:srgbClr val="D9DED7"/>
          </a:solidFill>
          <a:ln/>
        </p:spPr>
      </p:sp>
      <p:sp>
        <p:nvSpPr>
          <p:cNvPr id="15" name="Text 13"/>
          <p:cNvSpPr/>
          <p:nvPr/>
        </p:nvSpPr>
        <p:spPr>
          <a:xfrm>
            <a:off x="952500" y="52482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+6 min</a:t>
            </a:r>
            <a:endParaRPr lang="en-US" sz="1800" dirty="0"/>
          </a:p>
        </p:txBody>
      </p:sp>
      <p:sp>
        <p:nvSpPr>
          <p:cNvPr id="16" name="Text 14"/>
          <p:cNvSpPr/>
          <p:nvPr/>
        </p:nvSpPr>
        <p:spPr>
          <a:xfrm>
            <a:off x="2381250" y="522922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team paged — with the answer in hand, not a war room. Downstream owners notified of exposure.</a:t>
            </a:r>
            <a:endParaRPr lang="en-US" sz="1950" dirty="0"/>
          </a:p>
        </p:txBody>
      </p:sp>
      <p:sp>
        <p:nvSpPr>
          <p:cNvPr id="17" name="Text 15"/>
          <p:cNvSpPr/>
          <p:nvPr/>
        </p:nvSpPr>
        <p:spPr>
          <a:xfrm>
            <a:off x="952500" y="61341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+30 min</a:t>
            </a:r>
            <a:endParaRPr lang="en-US" sz="1800" dirty="0"/>
          </a:p>
        </p:txBody>
      </p:sp>
      <p:sp>
        <p:nvSpPr>
          <p:cNvPr id="18" name="Text 16"/>
          <p:cNvSpPr/>
          <p:nvPr/>
        </p:nvSpPr>
        <p:spPr>
          <a:xfrm>
            <a:off x="2381250" y="6115050"/>
            <a:ext cx="7409416"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Gate holds the bad batch; consumers keep reading last-certified data. Rollback ships. No decision was made on bad data.</a:t>
            </a:r>
            <a:endParaRPr lang="en-US" sz="1950" dirty="0"/>
          </a:p>
        </p:txBody>
      </p:sp>
      <p:sp>
        <p:nvSpPr>
          <p:cNvPr id="19" name="Shape 17"/>
          <p:cNvSpPr/>
          <p:nvPr/>
        </p:nvSpPr>
        <p:spPr>
          <a:xfrm>
            <a:off x="952500" y="9191625"/>
            <a:ext cx="2617291" cy="561975"/>
          </a:xfrm>
          <a:prstGeom prst="roundRect">
            <a:avLst>
              <a:gd name="adj" fmla="val 16949"/>
            </a:avLst>
          </a:prstGeom>
          <a:solidFill>
            <a:srgbClr val="E3EFEA"/>
          </a:solidFill>
          <a:ln/>
        </p:spPr>
      </p:sp>
      <p:sp>
        <p:nvSpPr>
          <p:cNvPr id="20" name="Text 18"/>
          <p:cNvSpPr/>
          <p:nvPr/>
        </p:nvSpPr>
        <p:spPr>
          <a:xfrm>
            <a:off x="1123950" y="9286875"/>
            <a:ext cx="727472"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s</a:t>
            </a:r>
            <a:endParaRPr lang="en-US" sz="2400" dirty="0"/>
          </a:p>
        </p:txBody>
      </p:sp>
      <p:sp>
        <p:nvSpPr>
          <p:cNvPr id="21" name="Text 19"/>
          <p:cNvSpPr/>
          <p:nvPr/>
        </p:nvSpPr>
        <p:spPr>
          <a:xfrm>
            <a:off x="1889522" y="9334500"/>
            <a:ext cx="1659701"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evidence</a:t>
            </a:r>
            <a:endParaRPr lang="en-US" sz="1800" dirty="0"/>
          </a:p>
        </p:txBody>
      </p:sp>
      <p:sp>
        <p:nvSpPr>
          <p:cNvPr id="22" name="Shape 20"/>
          <p:cNvSpPr/>
          <p:nvPr/>
        </p:nvSpPr>
        <p:spPr>
          <a:xfrm>
            <a:off x="3760291" y="9191625"/>
            <a:ext cx="2744539" cy="561975"/>
          </a:xfrm>
          <a:prstGeom prst="roundRect">
            <a:avLst>
              <a:gd name="adj" fmla="val 16949"/>
            </a:avLst>
          </a:prstGeom>
          <a:solidFill>
            <a:srgbClr val="E3EFEA"/>
          </a:solidFill>
          <a:ln/>
        </p:spPr>
      </p:sp>
      <p:sp>
        <p:nvSpPr>
          <p:cNvPr id="23" name="Text 21"/>
          <p:cNvSpPr/>
          <p:nvPr/>
        </p:nvSpPr>
        <p:spPr>
          <a:xfrm>
            <a:off x="3931741" y="9286875"/>
            <a:ext cx="1129010"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5 min</a:t>
            </a:r>
            <a:endParaRPr lang="en-US" sz="2400" dirty="0"/>
          </a:p>
        </p:txBody>
      </p:sp>
      <p:sp>
        <p:nvSpPr>
          <p:cNvPr id="24" name="Text 22"/>
          <p:cNvSpPr/>
          <p:nvPr/>
        </p:nvSpPr>
        <p:spPr>
          <a:xfrm>
            <a:off x="5098852" y="9334500"/>
            <a:ext cx="1357982"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signal</a:t>
            </a:r>
            <a:endParaRPr lang="en-US" sz="1800" dirty="0"/>
          </a:p>
        </p:txBody>
      </p:sp>
      <p:sp>
        <p:nvSpPr>
          <p:cNvPr id="25" name="Shape 23"/>
          <p:cNvSpPr/>
          <p:nvPr/>
        </p:nvSpPr>
        <p:spPr>
          <a:xfrm>
            <a:off x="6695331" y="9191625"/>
            <a:ext cx="2879527" cy="561975"/>
          </a:xfrm>
          <a:prstGeom prst="roundRect">
            <a:avLst>
              <a:gd name="adj" fmla="val 16949"/>
            </a:avLst>
          </a:prstGeom>
          <a:solidFill>
            <a:srgbClr val="E3EFEA"/>
          </a:solidFill>
          <a:ln/>
        </p:spPr>
      </p:sp>
      <p:sp>
        <p:nvSpPr>
          <p:cNvPr id="26" name="Text 24"/>
          <p:cNvSpPr/>
          <p:nvPr/>
        </p:nvSpPr>
        <p:spPr>
          <a:xfrm>
            <a:off x="6866781" y="9286875"/>
            <a:ext cx="1126927"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min</a:t>
            </a:r>
            <a:endParaRPr lang="en-US" sz="2400" dirty="0"/>
          </a:p>
        </p:txBody>
      </p:sp>
      <p:sp>
        <p:nvSpPr>
          <p:cNvPr id="27" name="Text 25"/>
          <p:cNvSpPr/>
          <p:nvPr/>
        </p:nvSpPr>
        <p:spPr>
          <a:xfrm>
            <a:off x="8031807" y="9334500"/>
            <a:ext cx="1508760"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a cause</a:t>
            </a:r>
            <a:endParaRPr lang="en-US" sz="1800" dirty="0"/>
          </a:p>
        </p:txBody>
      </p:sp>
      <p:sp>
        <p:nvSpPr>
          <p:cNvPr id="28" name="Shape 26"/>
          <p:cNvSpPr/>
          <p:nvPr/>
        </p:nvSpPr>
        <p:spPr>
          <a:xfrm>
            <a:off x="9993957" y="2486025"/>
            <a:ext cx="7341543" cy="7267575"/>
          </a:xfrm>
          <a:prstGeom prst="roundRect">
            <a:avLst>
              <a:gd name="adj" fmla="val 2097"/>
            </a:avLst>
          </a:prstGeom>
          <a:solidFill>
            <a:srgbClr val="1B2530"/>
          </a:solidFill>
          <a:ln/>
        </p:spPr>
      </p:sp>
      <p:sp>
        <p:nvSpPr>
          <p:cNvPr id="29" name="Text 27"/>
          <p:cNvSpPr/>
          <p:nvPr/>
        </p:nvSpPr>
        <p:spPr>
          <a:xfrm>
            <a:off x="10336857" y="2733675"/>
            <a:ext cx="7321317"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WHAT THE ON-CALL SEES</a:t>
            </a:r>
            <a:endParaRPr lang="en-US" sz="1800" dirty="0"/>
          </a:p>
        </p:txBody>
      </p:sp>
      <p:sp>
        <p:nvSpPr>
          <p:cNvPr id="30" name="Shape 28"/>
          <p:cNvSpPr/>
          <p:nvPr/>
        </p:nvSpPr>
        <p:spPr>
          <a:xfrm>
            <a:off x="10336857" y="3209925"/>
            <a:ext cx="2286000" cy="400050"/>
          </a:xfrm>
          <a:prstGeom prst="roundRect">
            <a:avLst>
              <a:gd name="adj" fmla="val 11905"/>
            </a:avLst>
          </a:prstGeom>
          <a:solidFill>
            <a:srgbClr val="3A2A28"/>
          </a:solidFill>
          <a:ln/>
        </p:spPr>
      </p:sp>
      <p:sp>
        <p:nvSpPr>
          <p:cNvPr id="31" name="Text 29"/>
          <p:cNvSpPr/>
          <p:nvPr/>
        </p:nvSpPr>
        <p:spPr>
          <a:xfrm>
            <a:off x="10451157" y="3257550"/>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CONTRACT_BREACH</a:t>
            </a:r>
            <a:endParaRPr lang="en-US" sz="1800" dirty="0"/>
          </a:p>
        </p:txBody>
      </p:sp>
      <p:sp>
        <p:nvSpPr>
          <p:cNvPr id="32" name="Text 30"/>
          <p:cNvSpPr/>
          <p:nvPr/>
        </p:nvSpPr>
        <p:spPr>
          <a:xfrm>
            <a:off x="12756207" y="3248025"/>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DCE3E8"/>
                </a:solidFill>
                <a:latin typeface="IBM Plex Mono" pitchFamily="34" charset="0"/>
                <a:ea typeface="IBM Plex Mono" pitchFamily="34" charset="-122"/>
                <a:cs typeface="IBM Plex Mono" pitchFamily="34" charset="-120"/>
              </a:rPr>
              <a:t>orders.created</a:t>
            </a:r>
            <a:endParaRPr lang="en-US" sz="1950" dirty="0"/>
          </a:p>
        </p:txBody>
      </p:sp>
      <p:sp>
        <p:nvSpPr>
          <p:cNvPr id="33" name="Shape 31"/>
          <p:cNvSpPr/>
          <p:nvPr/>
        </p:nvSpPr>
        <p:spPr>
          <a:xfrm>
            <a:off x="10336857" y="3762375"/>
            <a:ext cx="6655743" cy="1762125"/>
          </a:xfrm>
          <a:prstGeom prst="roundRect">
            <a:avLst>
              <a:gd name="adj" fmla="val 5405"/>
            </a:avLst>
          </a:prstGeom>
          <a:solidFill>
            <a:srgbClr val="243140"/>
          </a:solidFill>
          <a:ln/>
        </p:spPr>
      </p:sp>
      <p:sp>
        <p:nvSpPr>
          <p:cNvPr id="34" name="Text 32"/>
          <p:cNvSpPr/>
          <p:nvPr/>
        </p:nvSpPr>
        <p:spPr>
          <a:xfrm>
            <a:off x="10546407" y="3895725"/>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ROOT CAUSE</a:t>
            </a:r>
            <a:endParaRPr lang="en-US" sz="1800" dirty="0"/>
          </a:p>
        </p:txBody>
      </p:sp>
      <p:sp>
        <p:nvSpPr>
          <p:cNvPr id="35" name="Text 33"/>
          <p:cNvSpPr/>
          <p:nvPr/>
        </p:nvSpPr>
        <p:spPr>
          <a:xfrm>
            <a:off x="10546407" y="4276725"/>
            <a:ext cx="6423742"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Deployment v3.17 introduced MISSING_FIELD:customer_id at 09:58:02 — last good record 09:57:59.</a:t>
            </a:r>
            <a:endParaRPr lang="en-US" sz="1950" dirty="0"/>
          </a:p>
        </p:txBody>
      </p:sp>
      <p:sp>
        <p:nvSpPr>
          <p:cNvPr id="36" name="Shape 34"/>
          <p:cNvSpPr/>
          <p:nvPr/>
        </p:nvSpPr>
        <p:spPr>
          <a:xfrm>
            <a:off x="10336857" y="5638800"/>
            <a:ext cx="6655743" cy="1409700"/>
          </a:xfrm>
          <a:prstGeom prst="roundRect">
            <a:avLst>
              <a:gd name="adj" fmla="val 6757"/>
            </a:avLst>
          </a:prstGeom>
          <a:solidFill>
            <a:srgbClr val="243140"/>
          </a:solidFill>
          <a:ln/>
        </p:spPr>
      </p:sp>
      <p:sp>
        <p:nvSpPr>
          <p:cNvPr id="37" name="Text 35"/>
          <p:cNvSpPr/>
          <p:nvPr/>
        </p:nvSpPr>
        <p:spPr>
          <a:xfrm>
            <a:off x="10546407" y="5772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38" name="Text 36"/>
          <p:cNvSpPr/>
          <p:nvPr/>
        </p:nvSpPr>
        <p:spPr>
          <a:xfrm>
            <a:off x="10546407" y="6153150"/>
            <a:ext cx="6423742" cy="800100"/>
          </a:xfrm>
          <a:prstGeom prst="rect">
            <a:avLst/>
          </a:prstGeom>
          <a:noFill/>
          <a:ln/>
        </p:spPr>
        <p:txBody>
          <a:bodyPr wrap="square" lIns="25400" tIns="25400" rIns="25400" bIns="25400" rtlCol="0" anchor="t">
            <a:normAutofit/>
          </a:bodyPr>
          <a:lstStyle/>
          <a:p>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finance-pipeline </a:t>
            </a:r>
            <a:pPr algn="l" indent="0" marL="0">
              <a:lnSpc>
                <a:spcPct val="117647"/>
              </a:lnSpc>
              <a:buNone/>
            </a:pPr>
            <a:r>
              <a:rPr lang="en-US" sz="1800" b="1" dirty="0">
                <a:solidFill>
                  <a:srgbClr val="D4765F"/>
                </a:solidFill>
                <a:latin typeface="IBM Plex Mono" pitchFamily="34" charset="0"/>
                <a:ea typeface="IBM Plex Mono" pitchFamily="34" charset="-122"/>
                <a:cs typeface="IBM Plex Mono" pitchFamily="34" charset="-120"/>
              </a:rPr>
              <a:t>HIGH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revenue-dashboard </a:t>
            </a:r>
            <a:pPr algn="l" indent="0" marL="0">
              <a:lnSpc>
                <a:spcPct val="117647"/>
              </a:lnSpc>
              <a:buNone/>
            </a:pPr>
            <a:r>
              <a:rPr lang="en-US" sz="1800" b="1" dirty="0">
                <a:solidFill>
                  <a:srgbClr val="E0A04A"/>
                </a:solidFill>
                <a:latin typeface="IBM Plex Mono" pitchFamily="34" charset="0"/>
                <a:ea typeface="IBM Plex Mono" pitchFamily="34" charset="-122"/>
                <a:cs typeface="IBM Plex Mono" pitchFamily="34" charset="-120"/>
              </a:rPr>
              <a:t>MED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audit-export </a:t>
            </a:r>
            <a:pPr algn="l" indent="0" marL="0">
              <a:lnSpc>
                <a:spcPct val="117647"/>
              </a:lnSpc>
              <a:buNone/>
            </a:pPr>
            <a:r>
              <a:rPr lang="en-US" sz="1800" b="1" dirty="0">
                <a:solidFill>
                  <a:srgbClr val="8B99A4"/>
                </a:solidFill>
                <a:latin typeface="IBM Plex Mono" pitchFamily="34" charset="0"/>
                <a:ea typeface="IBM Plex Mono" pitchFamily="34" charset="-122"/>
                <a:cs typeface="IBM Plex Mono" pitchFamily="34" charset="-120"/>
              </a:rPr>
              <a:t>LOW</a:t>
            </a:r>
            <a:endParaRPr lang="en-US" sz="1875" dirty="0"/>
          </a:p>
        </p:txBody>
      </p:sp>
      <p:sp>
        <p:nvSpPr>
          <p:cNvPr id="39" name="Shape 37"/>
          <p:cNvSpPr/>
          <p:nvPr/>
        </p:nvSpPr>
        <p:spPr>
          <a:xfrm>
            <a:off x="10336857" y="7162800"/>
            <a:ext cx="6655743" cy="1390650"/>
          </a:xfrm>
          <a:prstGeom prst="roundRect">
            <a:avLst>
              <a:gd name="adj" fmla="val 6849"/>
            </a:avLst>
          </a:prstGeom>
          <a:solidFill>
            <a:srgbClr val="243140"/>
          </a:solidFill>
          <a:ln/>
        </p:spPr>
      </p:sp>
      <p:sp>
        <p:nvSpPr>
          <p:cNvPr id="40" name="Text 38"/>
          <p:cNvSpPr/>
          <p:nvPr/>
        </p:nvSpPr>
        <p:spPr>
          <a:xfrm>
            <a:off x="10546407" y="7296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SUGGESTED ACTION</a:t>
            </a:r>
            <a:endParaRPr lang="en-US" sz="1800" dirty="0"/>
          </a:p>
        </p:txBody>
      </p:sp>
      <p:sp>
        <p:nvSpPr>
          <p:cNvPr id="41" name="Text 39"/>
          <p:cNvSpPr/>
          <p:nvPr/>
        </p:nvSpPr>
        <p:spPr>
          <a:xfrm>
            <a:off x="10546407" y="7677150"/>
            <a:ext cx="6423742" cy="78105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Roll back to v3.16 · hold gold.orders_enr at the gate until re-certified.</a:t>
            </a:r>
            <a:endParaRPr lang="en-US" sz="1950" dirty="0"/>
          </a:p>
        </p:txBody>
      </p:sp>
      <p:sp>
        <p:nvSpPr>
          <p:cNvPr id="42" name="Text 40"/>
          <p:cNvSpPr/>
          <p:nvPr/>
        </p:nvSpPr>
        <p:spPr>
          <a:xfrm>
            <a:off x="10336857" y="8820150"/>
            <a:ext cx="6855415" cy="723900"/>
          </a:xfrm>
          <a:prstGeom prst="rect">
            <a:avLst/>
          </a:prstGeom>
          <a:noFill/>
          <a:ln/>
        </p:spPr>
        <p:txBody>
          <a:bodyPr wrap="square" lIns="25400" tIns="25400" rIns="25400" bIns="25400" rtlCol="0" anchor="t">
            <a:normAutofit/>
          </a:bodyPr>
          <a:lstStyle/>
          <a:p>
            <a:pPr algn="l" indent="0" marL="0">
              <a:lnSpc>
                <a:spcPct val="109091"/>
              </a:lnSpc>
              <a:buNone/>
            </a:pPr>
            <a:r>
              <a:rPr lang="en-US" sz="1800" dirty="0">
                <a:solidFill>
                  <a:srgbClr val="8B99A4"/>
                </a:solidFill>
                <a:latin typeface="Source Serif 4" pitchFamily="34" charset="0"/>
                <a:ea typeface="Source Serif 4" pitchFamily="34" charset="-122"/>
                <a:cs typeface="Source Serif 4" pitchFamily="34" charset="-120"/>
              </a:rPr>
              <a:t>Every claim cites evidence IDs. If the map lacks an edge, the answer is "unknown" — never a guess.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PART 2 · THE EXPERIENCE, QUANTIFIED</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the experience is worth</a:t>
            </a:r>
            <a:endParaRPr lang="en-US" sz="4800" dirty="0"/>
          </a:p>
        </p:txBody>
      </p:sp>
      <p:sp>
        <p:nvSpPr>
          <p:cNvPr id="4" name="Shape 2"/>
          <p:cNvSpPr/>
          <p:nvPr/>
        </p:nvSpPr>
        <p:spPr>
          <a:xfrm>
            <a:off x="952500" y="2486025"/>
            <a:ext cx="16383000" cy="5457825"/>
          </a:xfrm>
          <a:prstGeom prst="roundRect">
            <a:avLst>
              <a:gd name="adj" fmla="val 2443"/>
            </a:avLst>
          </a:prstGeom>
          <a:solidFill>
            <a:srgbClr val="FDFDFB"/>
          </a:solidFill>
          <a:ln w="9525">
            <a:solidFill>
              <a:srgbClr val="D9DED7"/>
            </a:solidFill>
            <a:prstDash val="solid"/>
          </a:ln>
        </p:spPr>
      </p:sp>
      <p:sp>
        <p:nvSpPr>
          <p:cNvPr id="5" name="Shape 3"/>
          <p:cNvSpPr/>
          <p:nvPr/>
        </p:nvSpPr>
        <p:spPr>
          <a:xfrm>
            <a:off x="962025" y="3257550"/>
            <a:ext cx="16363950" cy="19050"/>
          </a:xfrm>
          <a:prstGeom prst="rect">
            <a:avLst/>
          </a:prstGeom>
          <a:solidFill>
            <a:srgbClr val="1B2530"/>
          </a:solidFill>
          <a:ln/>
        </p:spPr>
      </p:sp>
      <p:sp>
        <p:nvSpPr>
          <p:cNvPr id="6" name="Text 4"/>
          <p:cNvSpPr/>
          <p:nvPr/>
        </p:nvSpPr>
        <p:spPr>
          <a:xfrm>
            <a:off x="1381125" y="2724150"/>
            <a:ext cx="759029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METRIC</a:t>
            </a:r>
            <a:endParaRPr lang="en-US" sz="1800" dirty="0"/>
          </a:p>
        </p:txBody>
      </p:sp>
      <p:sp>
        <p:nvSpPr>
          <p:cNvPr id="7" name="Text 5"/>
          <p:cNvSpPr/>
          <p:nvPr/>
        </p:nvSpPr>
        <p:spPr>
          <a:xfrm>
            <a:off x="8281392"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CURRENT</a:t>
            </a:r>
            <a:endParaRPr lang="en-US" sz="1800" dirty="0"/>
          </a:p>
        </p:txBody>
      </p:sp>
      <p:sp>
        <p:nvSpPr>
          <p:cNvPr id="8" name="Text 6"/>
          <p:cNvSpPr/>
          <p:nvPr/>
        </p:nvSpPr>
        <p:spPr>
          <a:xfrm>
            <a:off x="12594134"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TARGET</a:t>
            </a:r>
            <a:endParaRPr lang="en-US" sz="1800" dirty="0"/>
          </a:p>
        </p:txBody>
      </p:sp>
      <p:sp>
        <p:nvSpPr>
          <p:cNvPr id="9" name="Shape 7"/>
          <p:cNvSpPr/>
          <p:nvPr/>
        </p:nvSpPr>
        <p:spPr>
          <a:xfrm>
            <a:off x="962025" y="4200525"/>
            <a:ext cx="16363950" cy="9525"/>
          </a:xfrm>
          <a:prstGeom prst="rect">
            <a:avLst/>
          </a:prstGeom>
          <a:solidFill>
            <a:srgbClr val="D9DED7"/>
          </a:solidFill>
          <a:ln/>
        </p:spPr>
      </p:sp>
      <p:sp>
        <p:nvSpPr>
          <p:cNvPr id="10" name="Text 8"/>
          <p:cNvSpPr/>
          <p:nvPr/>
        </p:nvSpPr>
        <p:spPr>
          <a:xfrm>
            <a:off x="1381125" y="35623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RCA query latency</a:t>
            </a:r>
            <a:endParaRPr lang="en-US" sz="2250" dirty="0"/>
          </a:p>
        </p:txBody>
      </p:sp>
      <p:sp>
        <p:nvSpPr>
          <p:cNvPr id="11" name="Text 9"/>
          <p:cNvSpPr/>
          <p:nvPr/>
        </p:nvSpPr>
        <p:spPr>
          <a:xfrm>
            <a:off x="8281392" y="35623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30–60 min</a:t>
            </a:r>
            <a:endParaRPr lang="en-US" sz="2250" dirty="0"/>
          </a:p>
        </p:txBody>
      </p:sp>
      <p:sp>
        <p:nvSpPr>
          <p:cNvPr id="12" name="Text 10"/>
          <p:cNvSpPr/>
          <p:nvPr/>
        </p:nvSpPr>
        <p:spPr>
          <a:xfrm>
            <a:off x="12594134" y="35242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min</a:t>
            </a:r>
            <a:endParaRPr lang="en-US" sz="2550" dirty="0"/>
          </a:p>
        </p:txBody>
      </p:sp>
      <p:sp>
        <p:nvSpPr>
          <p:cNvPr id="13" name="Shape 11"/>
          <p:cNvSpPr/>
          <p:nvPr/>
        </p:nvSpPr>
        <p:spPr>
          <a:xfrm>
            <a:off x="962025" y="5133975"/>
            <a:ext cx="16363950" cy="9525"/>
          </a:xfrm>
          <a:prstGeom prst="rect">
            <a:avLst/>
          </a:prstGeom>
          <a:solidFill>
            <a:srgbClr val="D9DED7"/>
          </a:solidFill>
          <a:ln/>
        </p:spPr>
      </p:sp>
      <p:sp>
        <p:nvSpPr>
          <p:cNvPr id="14" name="Text 12"/>
          <p:cNvSpPr/>
          <p:nvPr/>
        </p:nvSpPr>
        <p:spPr>
          <a:xfrm>
            <a:off x="1381125" y="44958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detect</a:t>
            </a:r>
            <a:endParaRPr lang="en-US" sz="2250" dirty="0"/>
          </a:p>
        </p:txBody>
      </p:sp>
      <p:sp>
        <p:nvSpPr>
          <p:cNvPr id="15" name="Text 13"/>
          <p:cNvSpPr/>
          <p:nvPr/>
        </p:nvSpPr>
        <p:spPr>
          <a:xfrm>
            <a:off x="8281392" y="44958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4–6 hours</a:t>
            </a:r>
            <a:endParaRPr lang="en-US" sz="2250" dirty="0"/>
          </a:p>
        </p:txBody>
      </p:sp>
      <p:sp>
        <p:nvSpPr>
          <p:cNvPr id="16" name="Text 14"/>
          <p:cNvSpPr/>
          <p:nvPr/>
        </p:nvSpPr>
        <p:spPr>
          <a:xfrm>
            <a:off x="12594134" y="44577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15 min</a:t>
            </a:r>
            <a:endParaRPr lang="en-US" sz="2550" dirty="0"/>
          </a:p>
        </p:txBody>
      </p:sp>
      <p:sp>
        <p:nvSpPr>
          <p:cNvPr id="17" name="Shape 15"/>
          <p:cNvSpPr/>
          <p:nvPr/>
        </p:nvSpPr>
        <p:spPr>
          <a:xfrm>
            <a:off x="962025" y="6067425"/>
            <a:ext cx="16363950" cy="9525"/>
          </a:xfrm>
          <a:prstGeom prst="rect">
            <a:avLst/>
          </a:prstGeom>
          <a:solidFill>
            <a:srgbClr val="D9DED7"/>
          </a:solidFill>
          <a:ln/>
        </p:spPr>
      </p:sp>
      <p:sp>
        <p:nvSpPr>
          <p:cNvPr id="18" name="Text 16"/>
          <p:cNvSpPr/>
          <p:nvPr/>
        </p:nvSpPr>
        <p:spPr>
          <a:xfrm>
            <a:off x="1381125" y="54292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resolve</a:t>
            </a:r>
            <a:endParaRPr lang="en-US" sz="2250" dirty="0"/>
          </a:p>
        </p:txBody>
      </p:sp>
      <p:sp>
        <p:nvSpPr>
          <p:cNvPr id="19" name="Text 17"/>
          <p:cNvSpPr/>
          <p:nvPr/>
        </p:nvSpPr>
        <p:spPr>
          <a:xfrm>
            <a:off x="8281392" y="54292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12+ hours</a:t>
            </a:r>
            <a:endParaRPr lang="en-US" sz="2250" dirty="0"/>
          </a:p>
        </p:txBody>
      </p:sp>
      <p:sp>
        <p:nvSpPr>
          <p:cNvPr id="20" name="Text 18"/>
          <p:cNvSpPr/>
          <p:nvPr/>
        </p:nvSpPr>
        <p:spPr>
          <a:xfrm>
            <a:off x="12594134" y="53911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hours</a:t>
            </a:r>
            <a:endParaRPr lang="en-US" sz="2550" dirty="0"/>
          </a:p>
        </p:txBody>
      </p:sp>
      <p:sp>
        <p:nvSpPr>
          <p:cNvPr id="21" name="Shape 19"/>
          <p:cNvSpPr/>
          <p:nvPr/>
        </p:nvSpPr>
        <p:spPr>
          <a:xfrm>
            <a:off x="962025" y="7000875"/>
            <a:ext cx="16363950" cy="9525"/>
          </a:xfrm>
          <a:prstGeom prst="rect">
            <a:avLst/>
          </a:prstGeom>
          <a:solidFill>
            <a:srgbClr val="D9DED7"/>
          </a:solidFill>
          <a:ln/>
        </p:spPr>
      </p:sp>
      <p:sp>
        <p:nvSpPr>
          <p:cNvPr id="22" name="Text 20"/>
          <p:cNvSpPr/>
          <p:nvPr/>
        </p:nvSpPr>
        <p:spPr>
          <a:xfrm>
            <a:off x="1381125" y="63627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False-positive alert rate</a:t>
            </a:r>
            <a:endParaRPr lang="en-US" sz="2250" dirty="0"/>
          </a:p>
        </p:txBody>
      </p:sp>
      <p:sp>
        <p:nvSpPr>
          <p:cNvPr id="23" name="Text 21"/>
          <p:cNvSpPr/>
          <p:nvPr/>
        </p:nvSpPr>
        <p:spPr>
          <a:xfrm>
            <a:off x="8281392" y="63627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60–80%</a:t>
            </a:r>
            <a:endParaRPr lang="en-US" sz="2250" dirty="0"/>
          </a:p>
        </p:txBody>
      </p:sp>
      <p:sp>
        <p:nvSpPr>
          <p:cNvPr id="24" name="Text 22"/>
          <p:cNvSpPr/>
          <p:nvPr/>
        </p:nvSpPr>
        <p:spPr>
          <a:xfrm>
            <a:off x="12594134" y="63246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20%</a:t>
            </a:r>
            <a:endParaRPr lang="en-US" sz="2550" dirty="0"/>
          </a:p>
        </p:txBody>
      </p:sp>
      <p:sp>
        <p:nvSpPr>
          <p:cNvPr id="25" name="Text 23"/>
          <p:cNvSpPr/>
          <p:nvPr/>
        </p:nvSpPr>
        <p:spPr>
          <a:xfrm>
            <a:off x="1381125" y="72961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Developer toil</a:t>
            </a:r>
            <a:endParaRPr lang="en-US" sz="2250" dirty="0"/>
          </a:p>
        </p:txBody>
      </p:sp>
      <p:sp>
        <p:nvSpPr>
          <p:cNvPr id="26" name="Text 24"/>
          <p:cNvSpPr/>
          <p:nvPr/>
        </p:nvSpPr>
        <p:spPr>
          <a:xfrm>
            <a:off x="8281392" y="72961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~20% of sprint</a:t>
            </a:r>
            <a:endParaRPr lang="en-US" sz="2250" dirty="0"/>
          </a:p>
        </p:txBody>
      </p:sp>
      <p:sp>
        <p:nvSpPr>
          <p:cNvPr id="27" name="Text 25"/>
          <p:cNvSpPr/>
          <p:nvPr/>
        </p:nvSpPr>
        <p:spPr>
          <a:xfrm>
            <a:off x="12594134" y="72580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5%</a:t>
            </a:r>
            <a:endParaRPr lang="en-US" sz="2550" dirty="0"/>
          </a:p>
        </p:txBody>
      </p:sp>
      <p:sp>
        <p:nvSpPr>
          <p:cNvPr id="28" name="Text 26"/>
          <p:cNvSpPr/>
          <p:nvPr/>
        </p:nvSpPr>
        <p:spPr>
          <a:xfrm>
            <a:off x="952500" y="8362950"/>
            <a:ext cx="1226343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Judged on time-to-detect, time-to-resolve, deterministic RCA rate, and prevented downstream impact — not PR counts, dashboards, or onboarding totals.</a:t>
            </a:r>
            <a:endParaRPr lang="en-US" sz="20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ARCHITECTURE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Architecture overview</a:t>
            </a:r>
            <a:endParaRPr lang="en-US" sz="4800" dirty="0"/>
          </a:p>
        </p:txBody>
      </p:sp>
      <p:sp>
        <p:nvSpPr>
          <p:cNvPr id="4" name="Text 2"/>
          <p:cNvSpPr/>
          <p:nvPr/>
        </p:nvSpPr>
        <p:spPr>
          <a:xfrm>
            <a:off x="952500" y="2200275"/>
            <a:ext cx="13244513"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Target state — none of this runs today. The three missions in Part 1 are building the pieces that converge into it.</a:t>
            </a:r>
            <a:endParaRPr lang="en-US" sz="2025" dirty="0"/>
          </a:p>
        </p:txBody>
      </p:sp>
      <p:sp>
        <p:nvSpPr>
          <p:cNvPr id="5" name="Shape 3"/>
          <p:cNvSpPr/>
          <p:nvPr/>
        </p:nvSpPr>
        <p:spPr>
          <a:xfrm>
            <a:off x="952500" y="3419475"/>
            <a:ext cx="2381250" cy="1162050"/>
          </a:xfrm>
          <a:prstGeom prst="roundRect">
            <a:avLst>
              <a:gd name="adj" fmla="val 8197"/>
            </a:avLst>
          </a:prstGeom>
          <a:solidFill>
            <a:srgbClr val="1B2530"/>
          </a:solidFill>
          <a:ln/>
        </p:spPr>
      </p:sp>
      <p:sp>
        <p:nvSpPr>
          <p:cNvPr id="6" name="Text 4"/>
          <p:cNvSpPr/>
          <p:nvPr/>
        </p:nvSpPr>
        <p:spPr>
          <a:xfrm>
            <a:off x="1181100" y="3609975"/>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Enforcement</a:t>
            </a:r>
            <a:endParaRPr lang="en-US" sz="1950" dirty="0"/>
          </a:p>
        </p:txBody>
      </p:sp>
      <p:sp>
        <p:nvSpPr>
          <p:cNvPr id="7" name="Shape 5"/>
          <p:cNvSpPr/>
          <p:nvPr/>
        </p:nvSpPr>
        <p:spPr>
          <a:xfrm>
            <a:off x="3486150" y="3419475"/>
            <a:ext cx="7067550" cy="1162050"/>
          </a:xfrm>
          <a:prstGeom prst="roundRect">
            <a:avLst>
              <a:gd name="adj" fmla="val 8197"/>
            </a:avLst>
          </a:prstGeom>
          <a:solidFill>
            <a:srgbClr val="FDFDFB"/>
          </a:solidFill>
          <a:ln w="9525">
            <a:solidFill>
              <a:srgbClr val="D9DED7"/>
            </a:solidFill>
            <a:prstDash val="solid"/>
          </a:ln>
        </p:spPr>
      </p:sp>
      <p:sp>
        <p:nvSpPr>
          <p:cNvPr id="8" name="Text 6"/>
          <p:cNvSpPr/>
          <p:nvPr/>
        </p:nvSpPr>
        <p:spPr>
          <a:xfrm>
            <a:off x="3724275" y="361950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Policy Enforcer</a:t>
            </a:r>
            <a:endParaRPr lang="en-US" sz="1875" dirty="0"/>
          </a:p>
        </p:txBody>
      </p:sp>
      <p:sp>
        <p:nvSpPr>
          <p:cNvPr id="9" name="Text 7"/>
          <p:cNvSpPr/>
          <p:nvPr/>
        </p:nvSpPr>
        <p:spPr>
          <a:xfrm>
            <a:off x="600075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0" name="Text 8"/>
          <p:cNvSpPr/>
          <p:nvPr/>
        </p:nvSpPr>
        <p:spPr>
          <a:xfrm>
            <a:off x="6276975" y="3619500"/>
            <a:ext cx="33004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Gateway Control Plane</a:t>
            </a:r>
            <a:endParaRPr lang="en-US" sz="1875" dirty="0"/>
          </a:p>
        </p:txBody>
      </p:sp>
      <p:sp>
        <p:nvSpPr>
          <p:cNvPr id="11" name="Text 9"/>
          <p:cNvSpPr/>
          <p:nvPr/>
        </p:nvSpPr>
        <p:spPr>
          <a:xfrm>
            <a:off x="941070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2" name="Text 10"/>
          <p:cNvSpPr/>
          <p:nvPr/>
        </p:nvSpPr>
        <p:spPr>
          <a:xfrm>
            <a:off x="3724275" y="4067175"/>
            <a:ext cx="18859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Bus</a:t>
            </a:r>
            <a:endParaRPr lang="en-US" sz="1875" dirty="0"/>
          </a:p>
        </p:txBody>
      </p:sp>
      <p:sp>
        <p:nvSpPr>
          <p:cNvPr id="13" name="Shape 11"/>
          <p:cNvSpPr/>
          <p:nvPr/>
        </p:nvSpPr>
        <p:spPr>
          <a:xfrm>
            <a:off x="952500" y="4733925"/>
            <a:ext cx="2381250" cy="714375"/>
          </a:xfrm>
          <a:prstGeom prst="roundRect">
            <a:avLst>
              <a:gd name="adj" fmla="val 13333"/>
            </a:avLst>
          </a:prstGeom>
          <a:solidFill>
            <a:srgbClr val="1B2530"/>
          </a:solidFill>
          <a:ln/>
        </p:spPr>
      </p:sp>
      <p:sp>
        <p:nvSpPr>
          <p:cNvPr id="14" name="Text 12"/>
          <p:cNvSpPr/>
          <p:nvPr/>
        </p:nvSpPr>
        <p:spPr>
          <a:xfrm>
            <a:off x="1181100" y="4924425"/>
            <a:ext cx="2000250" cy="371475"/>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Processing</a:t>
            </a:r>
            <a:endParaRPr lang="en-US" sz="1950" dirty="0"/>
          </a:p>
        </p:txBody>
      </p:sp>
      <p:sp>
        <p:nvSpPr>
          <p:cNvPr id="15" name="Shape 13"/>
          <p:cNvSpPr/>
          <p:nvPr/>
        </p:nvSpPr>
        <p:spPr>
          <a:xfrm>
            <a:off x="3486150" y="4733925"/>
            <a:ext cx="7067550" cy="714375"/>
          </a:xfrm>
          <a:prstGeom prst="roundRect">
            <a:avLst>
              <a:gd name="adj" fmla="val 13333"/>
            </a:avLst>
          </a:prstGeom>
          <a:solidFill>
            <a:srgbClr val="FDFDFB"/>
          </a:solidFill>
          <a:ln w="9525">
            <a:solidFill>
              <a:srgbClr val="D9DED7"/>
            </a:solidFill>
            <a:prstDash val="solid"/>
          </a:ln>
        </p:spPr>
      </p:sp>
      <p:sp>
        <p:nvSpPr>
          <p:cNvPr id="16" name="Text 14"/>
          <p:cNvSpPr/>
          <p:nvPr/>
        </p:nvSpPr>
        <p:spPr>
          <a:xfrm>
            <a:off x="3724275" y="4933950"/>
            <a:ext cx="267176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Signal Engines ×5</a:t>
            </a:r>
            <a:endParaRPr lang="en-US" sz="1875" dirty="0"/>
          </a:p>
        </p:txBody>
      </p:sp>
      <p:sp>
        <p:nvSpPr>
          <p:cNvPr id="17" name="Text 15"/>
          <p:cNvSpPr/>
          <p:nvPr/>
        </p:nvSpPr>
        <p:spPr>
          <a:xfrm>
            <a:off x="6286500" y="493395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8" name="Text 16"/>
          <p:cNvSpPr/>
          <p:nvPr/>
        </p:nvSpPr>
        <p:spPr>
          <a:xfrm>
            <a:off x="6562725" y="493395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Alerting Engine</a:t>
            </a:r>
            <a:endParaRPr lang="en-US" sz="1875" dirty="0"/>
          </a:p>
        </p:txBody>
      </p:sp>
      <p:sp>
        <p:nvSpPr>
          <p:cNvPr id="19" name="Shape 17"/>
          <p:cNvSpPr/>
          <p:nvPr/>
        </p:nvSpPr>
        <p:spPr>
          <a:xfrm>
            <a:off x="952500" y="5600700"/>
            <a:ext cx="2381250" cy="1162050"/>
          </a:xfrm>
          <a:prstGeom prst="roundRect">
            <a:avLst>
              <a:gd name="adj" fmla="val 8197"/>
            </a:avLst>
          </a:prstGeom>
          <a:solidFill>
            <a:srgbClr val="1B2530"/>
          </a:solidFill>
          <a:ln/>
        </p:spPr>
      </p:sp>
      <p:sp>
        <p:nvSpPr>
          <p:cNvPr id="20" name="Text 18"/>
          <p:cNvSpPr/>
          <p:nvPr/>
        </p:nvSpPr>
        <p:spPr>
          <a:xfrm>
            <a:off x="1181100" y="579120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Knowledge</a:t>
            </a:r>
            <a:endParaRPr lang="en-US" sz="1950" dirty="0"/>
          </a:p>
        </p:txBody>
      </p:sp>
      <p:sp>
        <p:nvSpPr>
          <p:cNvPr id="21" name="Shape 19"/>
          <p:cNvSpPr/>
          <p:nvPr/>
        </p:nvSpPr>
        <p:spPr>
          <a:xfrm>
            <a:off x="3486150" y="5600700"/>
            <a:ext cx="7067550" cy="1162050"/>
          </a:xfrm>
          <a:prstGeom prst="roundRect">
            <a:avLst>
              <a:gd name="adj" fmla="val 8197"/>
            </a:avLst>
          </a:prstGeom>
          <a:solidFill>
            <a:srgbClr val="FDFDFB"/>
          </a:solidFill>
          <a:ln w="9525">
            <a:solidFill>
              <a:srgbClr val="D9DED7"/>
            </a:solidFill>
            <a:prstDash val="solid"/>
          </a:ln>
        </p:spPr>
      </p:sp>
      <p:sp>
        <p:nvSpPr>
          <p:cNvPr id="22" name="Text 20"/>
          <p:cNvSpPr/>
          <p:nvPr/>
        </p:nvSpPr>
        <p:spPr>
          <a:xfrm>
            <a:off x="3724275" y="580072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Neptune graph</a:t>
            </a:r>
            <a:endParaRPr lang="en-US" sz="1875" dirty="0"/>
          </a:p>
        </p:txBody>
      </p:sp>
      <p:sp>
        <p:nvSpPr>
          <p:cNvPr id="23" name="Text 21"/>
          <p:cNvSpPr/>
          <p:nvPr/>
        </p:nvSpPr>
        <p:spPr>
          <a:xfrm>
            <a:off x="5715000"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4" name="Text 22"/>
          <p:cNvSpPr/>
          <p:nvPr/>
        </p:nvSpPr>
        <p:spPr>
          <a:xfrm>
            <a:off x="5991225" y="5800725"/>
            <a:ext cx="22002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DynamoDB state</a:t>
            </a:r>
            <a:endParaRPr lang="en-US" sz="1875" dirty="0"/>
          </a:p>
        </p:txBody>
      </p:sp>
      <p:sp>
        <p:nvSpPr>
          <p:cNvPr id="25" name="Text 23"/>
          <p:cNvSpPr/>
          <p:nvPr/>
        </p:nvSpPr>
        <p:spPr>
          <a:xfrm>
            <a:off x="8124825"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6" name="Text 24"/>
          <p:cNvSpPr/>
          <p:nvPr/>
        </p:nvSpPr>
        <p:spPr>
          <a:xfrm>
            <a:off x="3724275" y="6248400"/>
            <a:ext cx="251460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Lineage Ingestor</a:t>
            </a:r>
            <a:endParaRPr lang="en-US" sz="1875" dirty="0"/>
          </a:p>
        </p:txBody>
      </p:sp>
      <p:sp>
        <p:nvSpPr>
          <p:cNvPr id="27" name="Shape 25"/>
          <p:cNvSpPr/>
          <p:nvPr/>
        </p:nvSpPr>
        <p:spPr>
          <a:xfrm>
            <a:off x="952500" y="6915150"/>
            <a:ext cx="2381250" cy="714375"/>
          </a:xfrm>
          <a:prstGeom prst="roundRect">
            <a:avLst>
              <a:gd name="adj" fmla="val 13333"/>
            </a:avLst>
          </a:prstGeom>
          <a:solidFill>
            <a:srgbClr val="1B2530"/>
          </a:solidFill>
          <a:ln/>
        </p:spPr>
      </p:sp>
      <p:sp>
        <p:nvSpPr>
          <p:cNvPr id="28" name="Text 26"/>
          <p:cNvSpPr/>
          <p:nvPr/>
        </p:nvSpPr>
        <p:spPr>
          <a:xfrm>
            <a:off x="1181100" y="7105650"/>
            <a:ext cx="2000250" cy="371475"/>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Consumption</a:t>
            </a:r>
            <a:endParaRPr lang="en-US" sz="1950" dirty="0"/>
          </a:p>
        </p:txBody>
      </p:sp>
      <p:sp>
        <p:nvSpPr>
          <p:cNvPr id="29" name="Shape 27"/>
          <p:cNvSpPr/>
          <p:nvPr/>
        </p:nvSpPr>
        <p:spPr>
          <a:xfrm>
            <a:off x="3486150" y="6915150"/>
            <a:ext cx="7067550" cy="714375"/>
          </a:xfrm>
          <a:prstGeom prst="roundRect">
            <a:avLst>
              <a:gd name="adj" fmla="val 13333"/>
            </a:avLst>
          </a:prstGeom>
          <a:solidFill>
            <a:srgbClr val="FDFDFB"/>
          </a:solidFill>
          <a:ln w="9525">
            <a:solidFill>
              <a:srgbClr val="D9DED7"/>
            </a:solidFill>
            <a:prstDash val="solid"/>
          </a:ln>
        </p:spPr>
      </p:sp>
      <p:sp>
        <p:nvSpPr>
          <p:cNvPr id="30" name="Text 28"/>
          <p:cNvSpPr/>
          <p:nvPr/>
        </p:nvSpPr>
        <p:spPr>
          <a:xfrm>
            <a:off x="3724275" y="7115175"/>
            <a:ext cx="172878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RCA Copilot</a:t>
            </a:r>
            <a:endParaRPr lang="en-US" sz="1875" dirty="0"/>
          </a:p>
        </p:txBody>
      </p:sp>
      <p:sp>
        <p:nvSpPr>
          <p:cNvPr id="31" name="Text 29"/>
          <p:cNvSpPr/>
          <p:nvPr/>
        </p:nvSpPr>
        <p:spPr>
          <a:xfrm>
            <a:off x="5429250"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2" name="Text 30"/>
          <p:cNvSpPr/>
          <p:nvPr/>
        </p:nvSpPr>
        <p:spPr>
          <a:xfrm>
            <a:off x="5705475" y="711517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Governance UI</a:t>
            </a:r>
            <a:endParaRPr lang="en-US" sz="1875" dirty="0"/>
          </a:p>
        </p:txBody>
      </p:sp>
      <p:sp>
        <p:nvSpPr>
          <p:cNvPr id="33" name="Text 31"/>
          <p:cNvSpPr/>
          <p:nvPr/>
        </p:nvSpPr>
        <p:spPr>
          <a:xfrm>
            <a:off x="7696200"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4" name="Text 32"/>
          <p:cNvSpPr/>
          <p:nvPr/>
        </p:nvSpPr>
        <p:spPr>
          <a:xfrm>
            <a:off x="7972425" y="7115175"/>
            <a:ext cx="15716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Dashboards</a:t>
            </a:r>
            <a:endParaRPr lang="en-US" sz="1875" dirty="0"/>
          </a:p>
        </p:txBody>
      </p:sp>
      <p:sp>
        <p:nvSpPr>
          <p:cNvPr id="35" name="Shape 33"/>
          <p:cNvSpPr/>
          <p:nvPr/>
        </p:nvSpPr>
        <p:spPr>
          <a:xfrm>
            <a:off x="952500" y="7781925"/>
            <a:ext cx="2381250" cy="1162050"/>
          </a:xfrm>
          <a:prstGeom prst="roundRect">
            <a:avLst>
              <a:gd name="adj" fmla="val 8197"/>
            </a:avLst>
          </a:prstGeom>
          <a:solidFill>
            <a:srgbClr val="E3EFEA"/>
          </a:solidFill>
          <a:ln/>
        </p:spPr>
      </p:sp>
      <p:sp>
        <p:nvSpPr>
          <p:cNvPr id="36" name="Text 34"/>
          <p:cNvSpPr/>
          <p:nvPr/>
        </p:nvSpPr>
        <p:spPr>
          <a:xfrm>
            <a:off x="1181100" y="7972425"/>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Automation</a:t>
            </a:r>
            <a:endParaRPr lang="en-US" sz="1950" dirty="0"/>
          </a:p>
        </p:txBody>
      </p:sp>
      <p:sp>
        <p:nvSpPr>
          <p:cNvPr id="37" name="Shape 35"/>
          <p:cNvSpPr/>
          <p:nvPr/>
        </p:nvSpPr>
        <p:spPr>
          <a:xfrm>
            <a:off x="3486150" y="7781925"/>
            <a:ext cx="7067550" cy="1162050"/>
          </a:xfrm>
          <a:prstGeom prst="roundRect">
            <a:avLst>
              <a:gd name="adj" fmla="val 8197"/>
            </a:avLst>
          </a:prstGeom>
          <a:solidFill>
            <a:srgbClr val="FDFDFB"/>
          </a:solidFill>
          <a:ln w="9525">
            <a:solidFill>
              <a:srgbClr val="D9DED7"/>
            </a:solidFill>
            <a:prstDash val="solid"/>
          </a:ln>
        </p:spPr>
      </p:sp>
      <p:sp>
        <p:nvSpPr>
          <p:cNvPr id="38" name="Text 36"/>
          <p:cNvSpPr/>
          <p:nvPr/>
        </p:nvSpPr>
        <p:spPr>
          <a:xfrm>
            <a:off x="3724275" y="7981950"/>
            <a:ext cx="345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Autopilot Orchestrator</a:t>
            </a:r>
            <a:endParaRPr lang="en-US" sz="1875" dirty="0"/>
          </a:p>
        </p:txBody>
      </p:sp>
      <p:sp>
        <p:nvSpPr>
          <p:cNvPr id="39" name="Text 37"/>
          <p:cNvSpPr/>
          <p:nvPr/>
        </p:nvSpPr>
        <p:spPr>
          <a:xfrm>
            <a:off x="7000875" y="798195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0" name="Text 38"/>
          <p:cNvSpPr/>
          <p:nvPr/>
        </p:nvSpPr>
        <p:spPr>
          <a:xfrm>
            <a:off x="7277100" y="7981950"/>
            <a:ext cx="790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Scout</a:t>
            </a:r>
            <a:endParaRPr lang="en-US" sz="1875" dirty="0"/>
          </a:p>
        </p:txBody>
      </p:sp>
      <p:sp>
        <p:nvSpPr>
          <p:cNvPr id="41" name="Text 39"/>
          <p:cNvSpPr/>
          <p:nvPr/>
        </p:nvSpPr>
        <p:spPr>
          <a:xfrm>
            <a:off x="8124825" y="798195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2" name="Text 40"/>
          <p:cNvSpPr/>
          <p:nvPr/>
        </p:nvSpPr>
        <p:spPr>
          <a:xfrm>
            <a:off x="3724275" y="8429625"/>
            <a:ext cx="345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Author / Review agents</a:t>
            </a:r>
            <a:endParaRPr lang="en-US" sz="1875" dirty="0"/>
          </a:p>
        </p:txBody>
      </p:sp>
      <p:sp>
        <p:nvSpPr>
          <p:cNvPr id="43" name="Text 41"/>
          <p:cNvSpPr/>
          <p:nvPr/>
        </p:nvSpPr>
        <p:spPr>
          <a:xfrm>
            <a:off x="10934700" y="347662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Out-of-band by design</a:t>
            </a:r>
            <a:endParaRPr lang="en-US" sz="2250" dirty="0"/>
          </a:p>
        </p:txBody>
      </p:sp>
      <p:sp>
        <p:nvSpPr>
          <p:cNvPr id="44" name="Text 42"/>
          <p:cNvSpPr/>
          <p:nvPr/>
        </p:nvSpPr>
        <p:spPr>
          <a:xfrm>
            <a:off x="10934700" y="391477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Validation happens after publication, beside the data path. Bad data still flows; the platform produces evidence, never blocks.</a:t>
            </a:r>
            <a:endParaRPr lang="en-US" sz="1950" dirty="0"/>
          </a:p>
        </p:txBody>
      </p:sp>
      <p:sp>
        <p:nvSpPr>
          <p:cNvPr id="45" name="Text 43"/>
          <p:cNvSpPr/>
          <p:nvPr/>
        </p:nvSpPr>
        <p:spPr>
          <a:xfrm>
            <a:off x="10934700" y="5295900"/>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Three separated concerns</a:t>
            </a:r>
            <a:endParaRPr lang="en-US" sz="2250" dirty="0"/>
          </a:p>
        </p:txBody>
      </p:sp>
      <p:sp>
        <p:nvSpPr>
          <p:cNvPr id="46" name="Text 44"/>
          <p:cNvSpPr/>
          <p:nvPr/>
        </p:nvSpPr>
        <p:spPr>
          <a:xfrm>
            <a:off x="10934700" y="5734050"/>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Record truth (Enforcer), system health (Signal Engines), causal analysis (RCA over the graph). Each owned and scaled independently.</a:t>
            </a:r>
            <a:endParaRPr lang="en-US" sz="1950" dirty="0"/>
          </a:p>
        </p:txBody>
      </p:sp>
      <p:sp>
        <p:nvSpPr>
          <p:cNvPr id="47" name="Text 45"/>
          <p:cNvSpPr/>
          <p:nvPr/>
        </p:nvSpPr>
        <p:spPr>
          <a:xfrm>
            <a:off x="10934700" y="711517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Evidence as the only API</a:t>
            </a:r>
            <a:endParaRPr lang="en-US" sz="2250" dirty="0"/>
          </a:p>
        </p:txBody>
      </p:sp>
      <p:sp>
        <p:nvSpPr>
          <p:cNvPr id="48" name="Text 46"/>
          <p:cNvSpPr/>
          <p:nvPr/>
        </p:nvSpPr>
        <p:spPr>
          <a:xfrm>
            <a:off x="10934700" y="755332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Downstream systems never consume raw business topics — everything operates on the immutable Evidence Bus.</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ARCHITECTURE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Evidence flow, end to end</a:t>
            </a:r>
            <a:endParaRPr lang="en-US" sz="4800" dirty="0"/>
          </a:p>
        </p:txBody>
      </p:sp>
      <p:sp>
        <p:nvSpPr>
          <p:cNvPr id="4" name="Shape 2"/>
          <p:cNvSpPr/>
          <p:nvPr/>
        </p:nvSpPr>
        <p:spPr>
          <a:xfrm>
            <a:off x="952500" y="2714625"/>
            <a:ext cx="2800350" cy="3009900"/>
          </a:xfrm>
          <a:prstGeom prst="roundRect">
            <a:avLst>
              <a:gd name="adj" fmla="val 4082"/>
            </a:avLst>
          </a:prstGeom>
          <a:solidFill>
            <a:srgbClr val="FDFDFB"/>
          </a:solidFill>
          <a:ln w="9525">
            <a:solidFill>
              <a:srgbClr val="D9DED7"/>
            </a:solidFill>
            <a:prstDash val="solid"/>
          </a:ln>
        </p:spPr>
      </p:sp>
      <p:sp>
        <p:nvSpPr>
          <p:cNvPr id="5" name="Text 3"/>
          <p:cNvSpPr/>
          <p:nvPr/>
        </p:nvSpPr>
        <p:spPr>
          <a:xfrm>
            <a:off x="120967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PRODUCER</a:t>
            </a:r>
            <a:endParaRPr lang="en-US" sz="1800" dirty="0"/>
          </a:p>
        </p:txBody>
      </p:sp>
      <p:sp>
        <p:nvSpPr>
          <p:cNvPr id="6" name="Text 4"/>
          <p:cNvSpPr/>
          <p:nvPr/>
        </p:nvSpPr>
        <p:spPr>
          <a:xfrm>
            <a:off x="120967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Publishes to Kafka</a:t>
            </a:r>
            <a:endParaRPr lang="en-US" sz="2100" dirty="0"/>
          </a:p>
        </p:txBody>
      </p:sp>
      <p:sp>
        <p:nvSpPr>
          <p:cNvPr id="7" name="Text 5"/>
          <p:cNvSpPr/>
          <p:nvPr/>
        </p:nvSpPr>
        <p:spPr>
          <a:xfrm>
            <a:off x="120967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Unchanged. Data path stays exactly as-is.</a:t>
            </a:r>
            <a:endParaRPr lang="en-US" sz="1800" dirty="0"/>
          </a:p>
        </p:txBody>
      </p:sp>
      <p:sp>
        <p:nvSpPr>
          <p:cNvPr id="8" name="Text 6"/>
          <p:cNvSpPr/>
          <p:nvPr/>
        </p:nvSpPr>
        <p:spPr>
          <a:xfrm>
            <a:off x="384810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9" name="Shape 7"/>
          <p:cNvSpPr/>
          <p:nvPr/>
        </p:nvSpPr>
        <p:spPr>
          <a:xfrm>
            <a:off x="4267200" y="2714625"/>
            <a:ext cx="3124200" cy="3009900"/>
          </a:xfrm>
          <a:prstGeom prst="roundRect">
            <a:avLst>
              <a:gd name="adj" fmla="val 3797"/>
            </a:avLst>
          </a:prstGeom>
          <a:solidFill>
            <a:srgbClr val="1B2530"/>
          </a:solidFill>
          <a:ln/>
        </p:spPr>
      </p:sp>
      <p:sp>
        <p:nvSpPr>
          <p:cNvPr id="10" name="Text 8"/>
          <p:cNvSpPr/>
          <p:nvPr/>
        </p:nvSpPr>
        <p:spPr>
          <a:xfrm>
            <a:off x="4514850" y="2981325"/>
            <a:ext cx="289179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POLICY ENFORCER</a:t>
            </a:r>
            <a:endParaRPr lang="en-US" sz="1800" dirty="0"/>
          </a:p>
        </p:txBody>
      </p:sp>
      <p:sp>
        <p:nvSpPr>
          <p:cNvPr id="11" name="Text 9"/>
          <p:cNvSpPr/>
          <p:nvPr/>
        </p:nvSpPr>
        <p:spPr>
          <a:xfrm>
            <a:off x="4514850" y="3400425"/>
            <a:ext cx="2707767"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Runs 5 gates per record</a:t>
            </a:r>
            <a:endParaRPr lang="en-US" sz="2100" dirty="0"/>
          </a:p>
        </p:txBody>
      </p:sp>
      <p:sp>
        <p:nvSpPr>
          <p:cNvPr id="12" name="Text 10"/>
          <p:cNvSpPr/>
          <p:nvPr/>
        </p:nvSpPr>
        <p:spPr>
          <a:xfrm>
            <a:off x="4514850" y="4143375"/>
            <a:ext cx="2707767" cy="6858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B9C4CC"/>
                </a:solidFill>
                <a:latin typeface="Source Serif 4" pitchFamily="34" charset="0"/>
                <a:ea typeface="Source Serif 4" pitchFamily="34" charset="-122"/>
                <a:cs typeface="Source Serif 4" pitchFamily="34" charset="-120"/>
              </a:rPr>
              <a:t>Resolution · Identity · Schema · Contract · PII</a:t>
            </a:r>
            <a:endParaRPr lang="en-US" sz="1800" dirty="0"/>
          </a:p>
        </p:txBody>
      </p:sp>
      <p:sp>
        <p:nvSpPr>
          <p:cNvPr id="13" name="Text 11"/>
          <p:cNvSpPr/>
          <p:nvPr/>
        </p:nvSpPr>
        <p:spPr>
          <a:xfrm>
            <a:off x="74866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4" name="Shape 12"/>
          <p:cNvSpPr/>
          <p:nvPr/>
        </p:nvSpPr>
        <p:spPr>
          <a:xfrm>
            <a:off x="7905750" y="2714625"/>
            <a:ext cx="2800350" cy="3009900"/>
          </a:xfrm>
          <a:prstGeom prst="roundRect">
            <a:avLst>
              <a:gd name="adj" fmla="val 4082"/>
            </a:avLst>
          </a:prstGeom>
          <a:solidFill>
            <a:srgbClr val="FDFDFB"/>
          </a:solidFill>
          <a:ln w="9525">
            <a:solidFill>
              <a:srgbClr val="D9DED7"/>
            </a:solidFill>
            <a:prstDash val="solid"/>
          </a:ln>
        </p:spPr>
      </p:sp>
      <p:sp>
        <p:nvSpPr>
          <p:cNvPr id="15" name="Text 13"/>
          <p:cNvSpPr/>
          <p:nvPr/>
        </p:nvSpPr>
        <p:spPr>
          <a:xfrm>
            <a:off x="81629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EVIDENCE BUS</a:t>
            </a:r>
            <a:endParaRPr lang="en-US" sz="1800" dirty="0"/>
          </a:p>
        </p:txBody>
      </p:sp>
      <p:sp>
        <p:nvSpPr>
          <p:cNvPr id="16" name="Text 14"/>
          <p:cNvSpPr/>
          <p:nvPr/>
        </p:nvSpPr>
        <p:spPr>
          <a:xfrm>
            <a:off x="81629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Immutable PASS / FAIL</a:t>
            </a:r>
            <a:endParaRPr lang="en-US" sz="2100" dirty="0"/>
          </a:p>
        </p:txBody>
      </p:sp>
      <p:sp>
        <p:nvSpPr>
          <p:cNvPr id="17" name="Text 15"/>
          <p:cNvSpPr/>
          <p:nvPr/>
        </p:nvSpPr>
        <p:spPr>
          <a:xfrm>
            <a:off x="81629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Trace-anchored, replayable, archived to S3.</a:t>
            </a:r>
            <a:endParaRPr lang="en-US" sz="1800" dirty="0"/>
          </a:p>
        </p:txBody>
      </p:sp>
      <p:sp>
        <p:nvSpPr>
          <p:cNvPr id="18" name="Text 16"/>
          <p:cNvSpPr/>
          <p:nvPr/>
        </p:nvSpPr>
        <p:spPr>
          <a:xfrm>
            <a:off x="108013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9" name="Shape 17"/>
          <p:cNvSpPr/>
          <p:nvPr/>
        </p:nvSpPr>
        <p:spPr>
          <a:xfrm>
            <a:off x="11220450" y="2714625"/>
            <a:ext cx="2800350" cy="3009900"/>
          </a:xfrm>
          <a:prstGeom prst="roundRect">
            <a:avLst>
              <a:gd name="adj" fmla="val 4082"/>
            </a:avLst>
          </a:prstGeom>
          <a:solidFill>
            <a:srgbClr val="FDFDFB"/>
          </a:solidFill>
          <a:ln w="9525">
            <a:solidFill>
              <a:srgbClr val="D9DED7"/>
            </a:solidFill>
            <a:prstDash val="solid"/>
          </a:ln>
        </p:spPr>
      </p:sp>
      <p:sp>
        <p:nvSpPr>
          <p:cNvPr id="20" name="Text 18"/>
          <p:cNvSpPr/>
          <p:nvPr/>
        </p:nvSpPr>
        <p:spPr>
          <a:xfrm>
            <a:off x="114776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a:t>
            </a:r>
            <a:endParaRPr lang="en-US" sz="1800" dirty="0"/>
          </a:p>
        </p:txBody>
      </p:sp>
      <p:sp>
        <p:nvSpPr>
          <p:cNvPr id="21" name="Text 19"/>
          <p:cNvSpPr/>
          <p:nvPr/>
        </p:nvSpPr>
        <p:spPr>
          <a:xfrm>
            <a:off x="114776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Aggregate in 5-min windows</a:t>
            </a:r>
            <a:endParaRPr lang="en-US" sz="2100" dirty="0"/>
          </a:p>
        </p:txBody>
      </p:sp>
      <p:sp>
        <p:nvSpPr>
          <p:cNvPr id="22" name="Text 20"/>
          <p:cNvSpPr/>
          <p:nvPr/>
        </p:nvSpPr>
        <p:spPr>
          <a:xfrm>
            <a:off x="114776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Breaches become signals, grouped into incidents.</a:t>
            </a:r>
            <a:endParaRPr lang="en-US" sz="1800" dirty="0"/>
          </a:p>
        </p:txBody>
      </p:sp>
      <p:sp>
        <p:nvSpPr>
          <p:cNvPr id="23" name="Text 21"/>
          <p:cNvSpPr/>
          <p:nvPr/>
        </p:nvSpPr>
        <p:spPr>
          <a:xfrm>
            <a:off x="141160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24" name="Shape 22"/>
          <p:cNvSpPr/>
          <p:nvPr/>
        </p:nvSpPr>
        <p:spPr>
          <a:xfrm>
            <a:off x="14535150" y="2714625"/>
            <a:ext cx="2800350" cy="3009900"/>
          </a:xfrm>
          <a:prstGeom prst="roundRect">
            <a:avLst>
              <a:gd name="adj" fmla="val 4082"/>
            </a:avLst>
          </a:prstGeom>
          <a:solidFill>
            <a:srgbClr val="FDFDFB"/>
          </a:solidFill>
          <a:ln w="9525">
            <a:solidFill>
              <a:srgbClr val="D9DED7"/>
            </a:solidFill>
            <a:prstDash val="solid"/>
          </a:ln>
        </p:spPr>
      </p:sp>
      <p:sp>
        <p:nvSpPr>
          <p:cNvPr id="25" name="Text 23"/>
          <p:cNvSpPr/>
          <p:nvPr/>
        </p:nvSpPr>
        <p:spPr>
          <a:xfrm>
            <a:off x="147923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RCA</a:t>
            </a:r>
            <a:endParaRPr lang="en-US" sz="1800" dirty="0"/>
          </a:p>
        </p:txBody>
      </p:sp>
      <p:sp>
        <p:nvSpPr>
          <p:cNvPr id="26" name="Text 24"/>
          <p:cNvSpPr/>
          <p:nvPr/>
        </p:nvSpPr>
        <p:spPr>
          <a:xfrm>
            <a:off x="147923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Graph traversal to root cause</a:t>
            </a:r>
            <a:endParaRPr lang="en-US" sz="2100" dirty="0"/>
          </a:p>
        </p:txBody>
      </p:sp>
      <p:sp>
        <p:nvSpPr>
          <p:cNvPr id="27" name="Text 25"/>
          <p:cNvSpPr/>
          <p:nvPr/>
        </p:nvSpPr>
        <p:spPr>
          <a:xfrm>
            <a:off x="14792325" y="4152900"/>
            <a:ext cx="2362200" cy="13335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Deployment → failure → signal → incident, with blast radius.</a:t>
            </a:r>
            <a:endParaRPr lang="en-US" sz="1800" dirty="0"/>
          </a:p>
        </p:txBody>
      </p:sp>
      <p:sp>
        <p:nvSpPr>
          <p:cNvPr id="28" name="Shape 26"/>
          <p:cNvSpPr/>
          <p:nvPr/>
        </p:nvSpPr>
        <p:spPr>
          <a:xfrm>
            <a:off x="952500" y="6410325"/>
            <a:ext cx="5308550" cy="1504950"/>
          </a:xfrm>
          <a:prstGeom prst="roundRect">
            <a:avLst>
              <a:gd name="adj" fmla="val 7595"/>
            </a:avLst>
          </a:prstGeom>
          <a:solidFill>
            <a:srgbClr val="E3EFEA"/>
          </a:solidFill>
          <a:ln/>
        </p:spPr>
      </p:sp>
      <p:sp>
        <p:nvSpPr>
          <p:cNvPr id="29" name="Text 27"/>
          <p:cNvSpPr/>
          <p:nvPr/>
        </p:nvSpPr>
        <p:spPr>
          <a:xfrm>
            <a:off x="1257300" y="6657975"/>
            <a:ext cx="971699" cy="542925"/>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s</a:t>
            </a:r>
            <a:endParaRPr lang="en-US" sz="3300" dirty="0"/>
          </a:p>
        </p:txBody>
      </p:sp>
      <p:sp>
        <p:nvSpPr>
          <p:cNvPr id="30" name="Text 28"/>
          <p:cNvSpPr/>
          <p:nvPr/>
        </p:nvSpPr>
        <p:spPr>
          <a:xfrm>
            <a:off x="2343299" y="6800850"/>
            <a:ext cx="3301067"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event → evidence, p99</a:t>
            </a:r>
            <a:endParaRPr lang="en-US" sz="1875" dirty="0"/>
          </a:p>
        </p:txBody>
      </p:sp>
      <p:sp>
        <p:nvSpPr>
          <p:cNvPr id="31" name="Shape 29"/>
          <p:cNvSpPr/>
          <p:nvPr/>
        </p:nvSpPr>
        <p:spPr>
          <a:xfrm>
            <a:off x="6489650" y="6410325"/>
            <a:ext cx="5308550" cy="1504950"/>
          </a:xfrm>
          <a:prstGeom prst="roundRect">
            <a:avLst>
              <a:gd name="adj" fmla="val 7595"/>
            </a:avLst>
          </a:prstGeom>
          <a:solidFill>
            <a:srgbClr val="E3EFEA"/>
          </a:solidFill>
          <a:ln/>
        </p:spPr>
      </p:sp>
      <p:sp>
        <p:nvSpPr>
          <p:cNvPr id="32" name="Text 30"/>
          <p:cNvSpPr/>
          <p:nvPr/>
        </p:nvSpPr>
        <p:spPr>
          <a:xfrm>
            <a:off x="6794450" y="6657975"/>
            <a:ext cx="1273969"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5 min</a:t>
            </a:r>
            <a:endParaRPr lang="en-US" sz="3300" dirty="0"/>
          </a:p>
        </p:txBody>
      </p:sp>
      <p:sp>
        <p:nvSpPr>
          <p:cNvPr id="33" name="Text 31"/>
          <p:cNvSpPr/>
          <p:nvPr/>
        </p:nvSpPr>
        <p:spPr>
          <a:xfrm>
            <a:off x="8182719" y="6800850"/>
            <a:ext cx="341000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 actionable signal</a:t>
            </a:r>
            <a:endParaRPr lang="en-US" sz="1875" dirty="0"/>
          </a:p>
        </p:txBody>
      </p:sp>
      <p:sp>
        <p:nvSpPr>
          <p:cNvPr id="34" name="Shape 32"/>
          <p:cNvSpPr/>
          <p:nvPr/>
        </p:nvSpPr>
        <p:spPr>
          <a:xfrm>
            <a:off x="12026801" y="6410325"/>
            <a:ext cx="5308550" cy="1504950"/>
          </a:xfrm>
          <a:prstGeom prst="roundRect">
            <a:avLst>
              <a:gd name="adj" fmla="val 7595"/>
            </a:avLst>
          </a:prstGeom>
          <a:solidFill>
            <a:srgbClr val="E3EFEA"/>
          </a:solidFill>
          <a:ln/>
        </p:spPr>
      </p:sp>
      <p:sp>
        <p:nvSpPr>
          <p:cNvPr id="35" name="Text 33"/>
          <p:cNvSpPr/>
          <p:nvPr/>
        </p:nvSpPr>
        <p:spPr>
          <a:xfrm>
            <a:off x="12331601" y="6657975"/>
            <a:ext cx="1272183"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min</a:t>
            </a:r>
            <a:endParaRPr lang="en-US" sz="3300" dirty="0"/>
          </a:p>
        </p:txBody>
      </p:sp>
      <p:sp>
        <p:nvSpPr>
          <p:cNvPr id="36" name="Text 34"/>
          <p:cNvSpPr/>
          <p:nvPr/>
        </p:nvSpPr>
        <p:spPr>
          <a:xfrm>
            <a:off x="13718084" y="6800850"/>
            <a:ext cx="341184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incident → root cause answer</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PROGRAM VIEW</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Scale targets and cost</a:t>
            </a:r>
            <a:endParaRPr lang="en-US" sz="4800" dirty="0"/>
          </a:p>
        </p:txBody>
      </p:sp>
      <p:sp>
        <p:nvSpPr>
          <p:cNvPr id="4" name="Shape 2"/>
          <p:cNvSpPr/>
          <p:nvPr/>
        </p:nvSpPr>
        <p:spPr>
          <a:xfrm>
            <a:off x="952500" y="2447925"/>
            <a:ext cx="8454033" cy="4429125"/>
          </a:xfrm>
          <a:prstGeom prst="roundRect">
            <a:avLst>
              <a:gd name="adj" fmla="val 3011"/>
            </a:avLst>
          </a:prstGeom>
          <a:solidFill>
            <a:srgbClr val="FDFDFB"/>
          </a:solidFill>
          <a:ln w="9525">
            <a:solidFill>
              <a:srgbClr val="D9DED7"/>
            </a:solidFill>
            <a:prstDash val="solid"/>
          </a:ln>
        </p:spPr>
      </p:sp>
      <p:sp>
        <p:nvSpPr>
          <p:cNvPr id="5" name="Shape 3"/>
          <p:cNvSpPr/>
          <p:nvPr/>
        </p:nvSpPr>
        <p:spPr>
          <a:xfrm>
            <a:off x="962025" y="3143250"/>
            <a:ext cx="8434983" cy="19050"/>
          </a:xfrm>
          <a:prstGeom prst="rect">
            <a:avLst/>
          </a:prstGeom>
          <a:solidFill>
            <a:srgbClr val="1B2530"/>
          </a:solidFill>
          <a:ln/>
        </p:spPr>
      </p:sp>
      <p:sp>
        <p:nvSpPr>
          <p:cNvPr id="6" name="Text 4"/>
          <p:cNvSpPr/>
          <p:nvPr/>
        </p:nvSpPr>
        <p:spPr>
          <a:xfrm>
            <a:off x="1285875" y="2647950"/>
            <a:ext cx="3527152"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DIMENSION</a:t>
            </a:r>
            <a:endParaRPr lang="en-US" sz="1800" dirty="0"/>
          </a:p>
        </p:txBody>
      </p:sp>
      <p:sp>
        <p:nvSpPr>
          <p:cNvPr id="7" name="Text 5"/>
          <p:cNvSpPr/>
          <p:nvPr/>
        </p:nvSpPr>
        <p:spPr>
          <a:xfrm>
            <a:off x="4492377" y="2647950"/>
            <a:ext cx="2519348"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DAY 1</a:t>
            </a:r>
            <a:endParaRPr lang="en-US" sz="1800" dirty="0"/>
          </a:p>
        </p:txBody>
      </p:sp>
      <p:sp>
        <p:nvSpPr>
          <p:cNvPr id="8" name="Text 6"/>
          <p:cNvSpPr/>
          <p:nvPr/>
        </p:nvSpPr>
        <p:spPr>
          <a:xfrm>
            <a:off x="6782693" y="2647950"/>
            <a:ext cx="2519511"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MONTH 12</a:t>
            </a:r>
            <a:endParaRPr lang="en-US" sz="1800" dirty="0"/>
          </a:p>
        </p:txBody>
      </p:sp>
      <p:sp>
        <p:nvSpPr>
          <p:cNvPr id="9" name="Shape 7"/>
          <p:cNvSpPr/>
          <p:nvPr/>
        </p:nvSpPr>
        <p:spPr>
          <a:xfrm>
            <a:off x="962025" y="3895725"/>
            <a:ext cx="8434983" cy="9525"/>
          </a:xfrm>
          <a:prstGeom prst="rect">
            <a:avLst/>
          </a:prstGeom>
          <a:solidFill>
            <a:srgbClr val="D9DED7"/>
          </a:solidFill>
          <a:ln/>
        </p:spPr>
      </p:sp>
      <p:sp>
        <p:nvSpPr>
          <p:cNvPr id="10" name="Text 8"/>
          <p:cNvSpPr/>
          <p:nvPr/>
        </p:nvSpPr>
        <p:spPr>
          <a:xfrm>
            <a:off x="1285875" y="33528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Event throughput</a:t>
            </a:r>
            <a:endParaRPr lang="en-US" sz="2025" dirty="0"/>
          </a:p>
        </p:txBody>
      </p:sp>
      <p:sp>
        <p:nvSpPr>
          <p:cNvPr id="11" name="Text 9"/>
          <p:cNvSpPr/>
          <p:nvPr/>
        </p:nvSpPr>
        <p:spPr>
          <a:xfrm>
            <a:off x="4492377" y="33623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10K /sec</a:t>
            </a:r>
            <a:endParaRPr lang="en-US" sz="1950" dirty="0"/>
          </a:p>
        </p:txBody>
      </p:sp>
      <p:sp>
        <p:nvSpPr>
          <p:cNvPr id="12" name="Text 10"/>
          <p:cNvSpPr/>
          <p:nvPr/>
        </p:nvSpPr>
        <p:spPr>
          <a:xfrm>
            <a:off x="6782693" y="33528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50–500K /sec</a:t>
            </a:r>
            <a:endParaRPr lang="en-US" sz="2025" dirty="0"/>
          </a:p>
        </p:txBody>
      </p:sp>
      <p:sp>
        <p:nvSpPr>
          <p:cNvPr id="13" name="Shape 11"/>
          <p:cNvSpPr/>
          <p:nvPr/>
        </p:nvSpPr>
        <p:spPr>
          <a:xfrm>
            <a:off x="962025" y="4638675"/>
            <a:ext cx="8434983" cy="9525"/>
          </a:xfrm>
          <a:prstGeom prst="rect">
            <a:avLst/>
          </a:prstGeom>
          <a:solidFill>
            <a:srgbClr val="D9DED7"/>
          </a:solidFill>
          <a:ln/>
        </p:spPr>
      </p:sp>
      <p:sp>
        <p:nvSpPr>
          <p:cNvPr id="14" name="Text 12"/>
          <p:cNvSpPr/>
          <p:nvPr/>
        </p:nvSpPr>
        <p:spPr>
          <a:xfrm>
            <a:off x="1285875" y="40957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latency</a:t>
            </a:r>
            <a:endParaRPr lang="en-US" sz="2025" dirty="0"/>
          </a:p>
        </p:txBody>
      </p:sp>
      <p:sp>
        <p:nvSpPr>
          <p:cNvPr id="15" name="Text 13"/>
          <p:cNvSpPr/>
          <p:nvPr/>
        </p:nvSpPr>
        <p:spPr>
          <a:xfrm>
            <a:off x="4492377" y="41052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s p99</a:t>
            </a:r>
            <a:endParaRPr lang="en-US" sz="1950" dirty="0"/>
          </a:p>
        </p:txBody>
      </p:sp>
      <p:sp>
        <p:nvSpPr>
          <p:cNvPr id="16" name="Text 14"/>
          <p:cNvSpPr/>
          <p:nvPr/>
        </p:nvSpPr>
        <p:spPr>
          <a:xfrm>
            <a:off x="6782693" y="40957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17" name="Shape 15"/>
          <p:cNvSpPr/>
          <p:nvPr/>
        </p:nvSpPr>
        <p:spPr>
          <a:xfrm>
            <a:off x="962025" y="5381625"/>
            <a:ext cx="8434983" cy="9525"/>
          </a:xfrm>
          <a:prstGeom prst="rect">
            <a:avLst/>
          </a:prstGeom>
          <a:solidFill>
            <a:srgbClr val="D9DED7"/>
          </a:solidFill>
          <a:ln/>
        </p:spPr>
      </p:sp>
      <p:sp>
        <p:nvSpPr>
          <p:cNvPr id="18" name="Text 16"/>
          <p:cNvSpPr/>
          <p:nvPr/>
        </p:nvSpPr>
        <p:spPr>
          <a:xfrm>
            <a:off x="1285875" y="48387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RCA query latency</a:t>
            </a:r>
            <a:endParaRPr lang="en-US" sz="2025" dirty="0"/>
          </a:p>
        </p:txBody>
      </p:sp>
      <p:sp>
        <p:nvSpPr>
          <p:cNvPr id="19" name="Text 17"/>
          <p:cNvSpPr/>
          <p:nvPr/>
        </p:nvSpPr>
        <p:spPr>
          <a:xfrm>
            <a:off x="4492377" y="48482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min</a:t>
            </a:r>
            <a:endParaRPr lang="en-US" sz="1950" dirty="0"/>
          </a:p>
        </p:txBody>
      </p:sp>
      <p:sp>
        <p:nvSpPr>
          <p:cNvPr id="20" name="Text 18"/>
          <p:cNvSpPr/>
          <p:nvPr/>
        </p:nvSpPr>
        <p:spPr>
          <a:xfrm>
            <a:off x="6782693" y="48387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21" name="Shape 19"/>
          <p:cNvSpPr/>
          <p:nvPr/>
        </p:nvSpPr>
        <p:spPr>
          <a:xfrm>
            <a:off x="962025" y="6124575"/>
            <a:ext cx="8434983" cy="9525"/>
          </a:xfrm>
          <a:prstGeom prst="rect">
            <a:avLst/>
          </a:prstGeom>
          <a:solidFill>
            <a:srgbClr val="D9DED7"/>
          </a:solidFill>
          <a:ln/>
        </p:spPr>
      </p:sp>
      <p:sp>
        <p:nvSpPr>
          <p:cNvPr id="22" name="Text 20"/>
          <p:cNvSpPr/>
          <p:nvPr/>
        </p:nvSpPr>
        <p:spPr>
          <a:xfrm>
            <a:off x="1285875" y="55816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Bus partitions</a:t>
            </a:r>
            <a:endParaRPr lang="en-US" sz="2025" dirty="0"/>
          </a:p>
        </p:txBody>
      </p:sp>
      <p:sp>
        <p:nvSpPr>
          <p:cNvPr id="23" name="Text 21"/>
          <p:cNvSpPr/>
          <p:nvPr/>
        </p:nvSpPr>
        <p:spPr>
          <a:xfrm>
            <a:off x="4492377" y="55911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64</a:t>
            </a:r>
            <a:endParaRPr lang="en-US" sz="1950" dirty="0"/>
          </a:p>
        </p:txBody>
      </p:sp>
      <p:sp>
        <p:nvSpPr>
          <p:cNvPr id="24" name="Text 22"/>
          <p:cNvSpPr/>
          <p:nvPr/>
        </p:nvSpPr>
        <p:spPr>
          <a:xfrm>
            <a:off x="6782693" y="55816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64–256</a:t>
            </a:r>
            <a:endParaRPr lang="en-US" sz="2025" dirty="0"/>
          </a:p>
        </p:txBody>
      </p:sp>
      <p:sp>
        <p:nvSpPr>
          <p:cNvPr id="25" name="Text 23"/>
          <p:cNvSpPr/>
          <p:nvPr/>
        </p:nvSpPr>
        <p:spPr>
          <a:xfrm>
            <a:off x="1285875" y="63246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Datasets supported</a:t>
            </a:r>
            <a:endParaRPr lang="en-US" sz="2025" dirty="0"/>
          </a:p>
        </p:txBody>
      </p:sp>
      <p:sp>
        <p:nvSpPr>
          <p:cNvPr id="26" name="Text 24"/>
          <p:cNvSpPr/>
          <p:nvPr/>
        </p:nvSpPr>
        <p:spPr>
          <a:xfrm>
            <a:off x="4492377" y="63341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50 Tier-1</a:t>
            </a:r>
            <a:endParaRPr lang="en-US" sz="1950" dirty="0"/>
          </a:p>
        </p:txBody>
      </p:sp>
      <p:sp>
        <p:nvSpPr>
          <p:cNvPr id="27" name="Text 25"/>
          <p:cNvSpPr/>
          <p:nvPr/>
        </p:nvSpPr>
        <p:spPr>
          <a:xfrm>
            <a:off x="6782693" y="63246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10,000 total</a:t>
            </a:r>
            <a:endParaRPr lang="en-US" sz="2025" dirty="0"/>
          </a:p>
        </p:txBody>
      </p:sp>
      <p:sp>
        <p:nvSpPr>
          <p:cNvPr id="28" name="Shape 26"/>
          <p:cNvSpPr/>
          <p:nvPr/>
        </p:nvSpPr>
        <p:spPr>
          <a:xfrm>
            <a:off x="9825633" y="2447925"/>
            <a:ext cx="7509867" cy="7077075"/>
          </a:xfrm>
          <a:prstGeom prst="roundRect">
            <a:avLst>
              <a:gd name="adj" fmla="val 1884"/>
            </a:avLst>
          </a:prstGeom>
          <a:solidFill>
            <a:srgbClr val="1B2530"/>
          </a:solidFill>
          <a:ln/>
        </p:spPr>
      </p:sp>
      <p:sp>
        <p:nvSpPr>
          <p:cNvPr id="29" name="Text 27"/>
          <p:cNvSpPr/>
          <p:nvPr/>
        </p:nvSpPr>
        <p:spPr>
          <a:xfrm>
            <a:off x="10206633" y="2771775"/>
            <a:ext cx="7422654"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MONTHLY INFRASTRUCTURE</a:t>
            </a:r>
            <a:endParaRPr lang="en-US" sz="1800" dirty="0"/>
          </a:p>
        </p:txBody>
      </p:sp>
      <p:sp>
        <p:nvSpPr>
          <p:cNvPr id="30" name="Shape 28"/>
          <p:cNvSpPr/>
          <p:nvPr/>
        </p:nvSpPr>
        <p:spPr>
          <a:xfrm>
            <a:off x="10206633" y="3819525"/>
            <a:ext cx="6747867" cy="9525"/>
          </a:xfrm>
          <a:prstGeom prst="rect">
            <a:avLst/>
          </a:prstGeom>
          <a:solidFill>
            <a:srgbClr val="2E3B47"/>
          </a:solidFill>
          <a:ln/>
        </p:spPr>
      </p:sp>
      <p:sp>
        <p:nvSpPr>
          <p:cNvPr id="31" name="Text 29"/>
          <p:cNvSpPr/>
          <p:nvPr/>
        </p:nvSpPr>
        <p:spPr>
          <a:xfrm>
            <a:off x="10206633" y="3362325"/>
            <a:ext cx="328617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EKS — Enforcer + engines</a:t>
            </a:r>
            <a:endParaRPr lang="en-US" sz="1950" dirty="0"/>
          </a:p>
        </p:txBody>
      </p:sp>
      <p:sp>
        <p:nvSpPr>
          <p:cNvPr id="32" name="Text 30"/>
          <p:cNvSpPr/>
          <p:nvPr/>
        </p:nvSpPr>
        <p:spPr>
          <a:xfrm>
            <a:off x="16062871" y="33623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$5,000</a:t>
            </a:r>
            <a:endParaRPr lang="en-US" sz="1950" dirty="0"/>
          </a:p>
        </p:txBody>
      </p:sp>
      <p:sp>
        <p:nvSpPr>
          <p:cNvPr id="33" name="Shape 31"/>
          <p:cNvSpPr/>
          <p:nvPr/>
        </p:nvSpPr>
        <p:spPr>
          <a:xfrm>
            <a:off x="10206633" y="4400550"/>
            <a:ext cx="6747867" cy="9525"/>
          </a:xfrm>
          <a:prstGeom prst="rect">
            <a:avLst/>
          </a:prstGeom>
          <a:solidFill>
            <a:srgbClr val="2E3B47"/>
          </a:solidFill>
          <a:ln/>
        </p:spPr>
      </p:sp>
      <p:sp>
        <p:nvSpPr>
          <p:cNvPr id="34" name="Text 32"/>
          <p:cNvSpPr/>
          <p:nvPr/>
        </p:nvSpPr>
        <p:spPr>
          <a:xfrm>
            <a:off x="10206633" y="3943350"/>
            <a:ext cx="267078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MSK — Evidence Bus</a:t>
            </a:r>
            <a:endParaRPr lang="en-US" sz="1950" dirty="0"/>
          </a:p>
        </p:txBody>
      </p:sp>
      <p:sp>
        <p:nvSpPr>
          <p:cNvPr id="35" name="Text 33"/>
          <p:cNvSpPr/>
          <p:nvPr/>
        </p:nvSpPr>
        <p:spPr>
          <a:xfrm>
            <a:off x="16062871" y="39433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6" name="Shape 34"/>
          <p:cNvSpPr/>
          <p:nvPr/>
        </p:nvSpPr>
        <p:spPr>
          <a:xfrm>
            <a:off x="10206633" y="4981575"/>
            <a:ext cx="6747867" cy="9525"/>
          </a:xfrm>
          <a:prstGeom prst="rect">
            <a:avLst/>
          </a:prstGeom>
          <a:solidFill>
            <a:srgbClr val="2E3B47"/>
          </a:solidFill>
          <a:ln/>
        </p:spPr>
      </p:sp>
      <p:sp>
        <p:nvSpPr>
          <p:cNvPr id="37" name="Text 35"/>
          <p:cNvSpPr/>
          <p:nvPr/>
        </p:nvSpPr>
        <p:spPr>
          <a:xfrm>
            <a:off x="10206633" y="4524375"/>
            <a:ext cx="3101831"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Neptune — causal graph</a:t>
            </a:r>
            <a:endParaRPr lang="en-US" sz="1950" dirty="0"/>
          </a:p>
        </p:txBody>
      </p:sp>
      <p:sp>
        <p:nvSpPr>
          <p:cNvPr id="38" name="Text 36"/>
          <p:cNvSpPr/>
          <p:nvPr/>
        </p:nvSpPr>
        <p:spPr>
          <a:xfrm>
            <a:off x="16062871" y="452437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9" name="Shape 37"/>
          <p:cNvSpPr/>
          <p:nvPr/>
        </p:nvSpPr>
        <p:spPr>
          <a:xfrm>
            <a:off x="10206633" y="5562600"/>
            <a:ext cx="6747867" cy="9525"/>
          </a:xfrm>
          <a:prstGeom prst="rect">
            <a:avLst/>
          </a:prstGeom>
          <a:solidFill>
            <a:srgbClr val="2E3B47"/>
          </a:solidFill>
          <a:ln/>
        </p:spPr>
      </p:sp>
      <p:sp>
        <p:nvSpPr>
          <p:cNvPr id="40" name="Text 38"/>
          <p:cNvSpPr/>
          <p:nvPr/>
        </p:nvSpPr>
        <p:spPr>
          <a:xfrm>
            <a:off x="10206633" y="5105400"/>
            <a:ext cx="243356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DynamoDB — state</a:t>
            </a:r>
            <a:endParaRPr lang="en-US" sz="1950" dirty="0"/>
          </a:p>
        </p:txBody>
      </p:sp>
      <p:sp>
        <p:nvSpPr>
          <p:cNvPr id="41" name="Text 39"/>
          <p:cNvSpPr/>
          <p:nvPr/>
        </p:nvSpPr>
        <p:spPr>
          <a:xfrm>
            <a:off x="16062871" y="510540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2" name="Shape 40"/>
          <p:cNvSpPr/>
          <p:nvPr/>
        </p:nvSpPr>
        <p:spPr>
          <a:xfrm>
            <a:off x="10206633" y="6143625"/>
            <a:ext cx="6747867" cy="9525"/>
          </a:xfrm>
          <a:prstGeom prst="rect">
            <a:avLst/>
          </a:prstGeom>
          <a:solidFill>
            <a:srgbClr val="2E3B47"/>
          </a:solidFill>
          <a:ln/>
        </p:spPr>
      </p:sp>
      <p:sp>
        <p:nvSpPr>
          <p:cNvPr id="43" name="Text 41"/>
          <p:cNvSpPr/>
          <p:nvPr/>
        </p:nvSpPr>
        <p:spPr>
          <a:xfrm>
            <a:off x="10206633" y="5686425"/>
            <a:ext cx="300884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Bedrock — Copilot LLM</a:t>
            </a:r>
            <a:endParaRPr lang="en-US" sz="1950" dirty="0"/>
          </a:p>
        </p:txBody>
      </p:sp>
      <p:sp>
        <p:nvSpPr>
          <p:cNvPr id="44" name="Text 42"/>
          <p:cNvSpPr/>
          <p:nvPr/>
        </p:nvSpPr>
        <p:spPr>
          <a:xfrm>
            <a:off x="16062871" y="56864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$2,000</a:t>
            </a:r>
            <a:endParaRPr lang="en-US" sz="1950" dirty="0"/>
          </a:p>
        </p:txBody>
      </p:sp>
      <p:sp>
        <p:nvSpPr>
          <p:cNvPr id="45" name="Shape 43"/>
          <p:cNvSpPr/>
          <p:nvPr/>
        </p:nvSpPr>
        <p:spPr>
          <a:xfrm>
            <a:off x="10206633" y="6724650"/>
            <a:ext cx="6747867" cy="9525"/>
          </a:xfrm>
          <a:prstGeom prst="rect">
            <a:avLst/>
          </a:prstGeom>
          <a:solidFill>
            <a:srgbClr val="2E3B47"/>
          </a:solidFill>
          <a:ln/>
        </p:spPr>
      </p:sp>
      <p:sp>
        <p:nvSpPr>
          <p:cNvPr id="46" name="Text 44"/>
          <p:cNvSpPr/>
          <p:nvPr/>
        </p:nvSpPr>
        <p:spPr>
          <a:xfrm>
            <a:off x="10206633" y="6267450"/>
            <a:ext cx="3324314"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S3 archive + platform obs.</a:t>
            </a:r>
            <a:endParaRPr lang="en-US" sz="1950" dirty="0"/>
          </a:p>
        </p:txBody>
      </p:sp>
      <p:sp>
        <p:nvSpPr>
          <p:cNvPr id="47" name="Text 45"/>
          <p:cNvSpPr/>
          <p:nvPr/>
        </p:nvSpPr>
        <p:spPr>
          <a:xfrm>
            <a:off x="16062871" y="62674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8" name="Text 46"/>
          <p:cNvSpPr/>
          <p:nvPr/>
        </p:nvSpPr>
        <p:spPr>
          <a:xfrm>
            <a:off x="10206633" y="8839200"/>
            <a:ext cx="218439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Total estimated</a:t>
            </a:r>
            <a:endParaRPr lang="en-US" sz="2100" dirty="0"/>
          </a:p>
        </p:txBody>
      </p:sp>
      <p:sp>
        <p:nvSpPr>
          <p:cNvPr id="49" name="Text 47"/>
          <p:cNvSpPr/>
          <p:nvPr/>
        </p:nvSpPr>
        <p:spPr>
          <a:xfrm>
            <a:off x="14888021" y="8677275"/>
            <a:ext cx="2273126"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34B39B"/>
                </a:solidFill>
                <a:latin typeface="Bricolage Grotesque" pitchFamily="34" charset="0"/>
                <a:ea typeface="Bricolage Grotesque" pitchFamily="34" charset="-122"/>
                <a:cs typeface="Bricolage Grotesque" pitchFamily="34" charset="-120"/>
              </a:rPr>
              <a:t>~$21K/mo</a:t>
            </a:r>
            <a:endParaRPr lang="en-US" sz="3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34B39B"/>
                </a:solidFill>
                <a:latin typeface="IBM Plex Mono" pitchFamily="34" charset="0"/>
                <a:ea typeface="IBM Plex Mono" pitchFamily="34" charset="-122"/>
                <a:cs typeface="IBM Plex Mono" pitchFamily="34" charset="-120"/>
              </a:rPr>
              <a:t>CLOSE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F6F7F4"/>
                </a:solidFill>
                <a:latin typeface="Bricolage Grotesque" pitchFamily="34" charset="0"/>
                <a:ea typeface="Bricolage Grotesque" pitchFamily="34" charset="-122"/>
                <a:cs typeface="Bricolage Grotesque" pitchFamily="34" charset="-120"/>
              </a:rPr>
              <a:t>Risks and decisions needed</a:t>
            </a:r>
            <a:endParaRPr lang="en-US" sz="4800" dirty="0"/>
          </a:p>
        </p:txBody>
      </p:sp>
      <p:sp>
        <p:nvSpPr>
          <p:cNvPr id="4" name="Shape 2"/>
          <p:cNvSpPr/>
          <p:nvPr/>
        </p:nvSpPr>
        <p:spPr>
          <a:xfrm>
            <a:off x="952500" y="2447925"/>
            <a:ext cx="8291959" cy="1485900"/>
          </a:xfrm>
          <a:prstGeom prst="roundRect">
            <a:avLst>
              <a:gd name="adj" fmla="val 7692"/>
            </a:avLst>
          </a:prstGeom>
          <a:solidFill>
            <a:srgbClr val="243140"/>
          </a:solidFill>
          <a:ln/>
        </p:spPr>
      </p:sp>
      <p:sp>
        <p:nvSpPr>
          <p:cNvPr id="5" name="Text 3"/>
          <p:cNvSpPr/>
          <p:nvPr/>
        </p:nvSpPr>
        <p:spPr>
          <a:xfrm>
            <a:off x="1219200" y="26574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6" name="Text 4"/>
          <p:cNvSpPr/>
          <p:nvPr/>
        </p:nvSpPr>
        <p:spPr>
          <a:xfrm>
            <a:off x="1920329" y="2657475"/>
            <a:ext cx="4158913"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PRs generated but not merged</a:t>
            </a:r>
            <a:endParaRPr lang="en-US" sz="2025" dirty="0"/>
          </a:p>
        </p:txBody>
      </p:sp>
      <p:sp>
        <p:nvSpPr>
          <p:cNvPr id="7" name="Text 5"/>
          <p:cNvSpPr/>
          <p:nvPr/>
        </p:nvSpPr>
        <p:spPr>
          <a:xfrm>
            <a:off x="1219200" y="30384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executive-backed merge SLA, escalation path, visible scorecards.</a:t>
            </a:r>
            <a:endParaRPr lang="en-US" sz="1875" dirty="0"/>
          </a:p>
        </p:txBody>
      </p:sp>
      <p:sp>
        <p:nvSpPr>
          <p:cNvPr id="8" name="Shape 6"/>
          <p:cNvSpPr/>
          <p:nvPr/>
        </p:nvSpPr>
        <p:spPr>
          <a:xfrm>
            <a:off x="952500" y="4086225"/>
            <a:ext cx="8291959" cy="1485900"/>
          </a:xfrm>
          <a:prstGeom prst="roundRect">
            <a:avLst>
              <a:gd name="adj" fmla="val 7692"/>
            </a:avLst>
          </a:prstGeom>
          <a:solidFill>
            <a:srgbClr val="243140"/>
          </a:solidFill>
          <a:ln/>
        </p:spPr>
      </p:sp>
      <p:sp>
        <p:nvSpPr>
          <p:cNvPr id="9" name="Text 7"/>
          <p:cNvSpPr/>
          <p:nvPr/>
        </p:nvSpPr>
        <p:spPr>
          <a:xfrm>
            <a:off x="1219200" y="42957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0" name="Text 8"/>
          <p:cNvSpPr/>
          <p:nvPr/>
        </p:nvSpPr>
        <p:spPr>
          <a:xfrm>
            <a:off x="1920329" y="4295775"/>
            <a:ext cx="433473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Evidence too weak for causality</a:t>
            </a:r>
            <a:endParaRPr lang="en-US" sz="2025" dirty="0"/>
          </a:p>
        </p:txBody>
      </p:sp>
      <p:sp>
        <p:nvSpPr>
          <p:cNvPr id="11" name="Text 9"/>
          <p:cNvSpPr/>
          <p:nvPr/>
        </p:nvSpPr>
        <p:spPr>
          <a:xfrm>
            <a:off x="1219200" y="46767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trust tiers — inferred vs platform-attested vs producer-attested; "unknown" is a valid RCA output.</a:t>
            </a:r>
            <a:endParaRPr lang="en-US" sz="1875" dirty="0"/>
          </a:p>
        </p:txBody>
      </p:sp>
      <p:sp>
        <p:nvSpPr>
          <p:cNvPr id="12" name="Shape 10"/>
          <p:cNvSpPr/>
          <p:nvPr/>
        </p:nvSpPr>
        <p:spPr>
          <a:xfrm>
            <a:off x="952500" y="5724525"/>
            <a:ext cx="8291959" cy="1485900"/>
          </a:xfrm>
          <a:prstGeom prst="roundRect">
            <a:avLst>
              <a:gd name="adj" fmla="val 7692"/>
            </a:avLst>
          </a:prstGeom>
          <a:solidFill>
            <a:srgbClr val="243140"/>
          </a:solidFill>
          <a:ln/>
        </p:spPr>
      </p:sp>
      <p:sp>
        <p:nvSpPr>
          <p:cNvPr id="13" name="Text 11"/>
          <p:cNvSpPr/>
          <p:nvPr/>
        </p:nvSpPr>
        <p:spPr>
          <a:xfrm>
            <a:off x="1219200" y="59340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4" name="Text 12"/>
          <p:cNvSpPr/>
          <p:nvPr/>
        </p:nvSpPr>
        <p:spPr>
          <a:xfrm>
            <a:off x="1920329" y="5934075"/>
            <a:ext cx="556142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The platform becomes its own blind spot</a:t>
            </a:r>
            <a:endParaRPr lang="en-US" sz="2025" dirty="0"/>
          </a:p>
        </p:txBody>
      </p:sp>
      <p:sp>
        <p:nvSpPr>
          <p:cNvPr id="15" name="Text 13"/>
          <p:cNvSpPr/>
          <p:nvPr/>
        </p:nvSpPr>
        <p:spPr>
          <a:xfrm>
            <a:off x="1219200" y="63150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observability-of-observability — evidence-gap alerts, lag monitoring, runbooks from day one.</a:t>
            </a:r>
            <a:endParaRPr lang="en-US" sz="1875" dirty="0"/>
          </a:p>
        </p:txBody>
      </p:sp>
      <p:sp>
        <p:nvSpPr>
          <p:cNvPr id="16" name="Shape 14"/>
          <p:cNvSpPr/>
          <p:nvPr/>
        </p:nvSpPr>
        <p:spPr>
          <a:xfrm>
            <a:off x="952500" y="7362825"/>
            <a:ext cx="8291959" cy="1485900"/>
          </a:xfrm>
          <a:prstGeom prst="roundRect">
            <a:avLst>
              <a:gd name="adj" fmla="val 7692"/>
            </a:avLst>
          </a:prstGeom>
          <a:solidFill>
            <a:srgbClr val="243140"/>
          </a:solidFill>
          <a:ln/>
        </p:spPr>
      </p:sp>
      <p:sp>
        <p:nvSpPr>
          <p:cNvPr id="17" name="Text 15"/>
          <p:cNvSpPr/>
          <p:nvPr/>
        </p:nvSpPr>
        <p:spPr>
          <a:xfrm>
            <a:off x="1219200" y="75723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8" name="Text 16"/>
          <p:cNvSpPr/>
          <p:nvPr/>
        </p:nvSpPr>
        <p:spPr>
          <a:xfrm>
            <a:off x="1920329" y="7572375"/>
            <a:ext cx="5171137"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Scope expands before value is proven</a:t>
            </a:r>
            <a:endParaRPr lang="en-US" sz="2025" dirty="0"/>
          </a:p>
        </p:txBody>
      </p:sp>
      <p:sp>
        <p:nvSpPr>
          <p:cNvPr id="19" name="Text 17"/>
          <p:cNvSpPr/>
          <p:nvPr/>
        </p:nvSpPr>
        <p:spPr>
          <a:xfrm>
            <a:off x="1219200" y="79533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hard MVP boundary — three engines, one pilot domain, measurable pain first.</a:t>
            </a:r>
            <a:endParaRPr lang="en-US" sz="1875" dirty="0"/>
          </a:p>
        </p:txBody>
      </p:sp>
      <p:sp>
        <p:nvSpPr>
          <p:cNvPr id="20" name="Shape 18"/>
          <p:cNvSpPr/>
          <p:nvPr/>
        </p:nvSpPr>
        <p:spPr>
          <a:xfrm>
            <a:off x="9663559" y="2447925"/>
            <a:ext cx="7671941" cy="7077075"/>
          </a:xfrm>
          <a:prstGeom prst="roundRect">
            <a:avLst>
              <a:gd name="adj" fmla="val 2153"/>
            </a:avLst>
          </a:prstGeom>
          <a:solidFill>
            <a:srgbClr val="E3EFEA"/>
          </a:solidFill>
          <a:ln/>
        </p:spPr>
      </p:sp>
      <p:sp>
        <p:nvSpPr>
          <p:cNvPr id="21" name="Text 19"/>
          <p:cNvSpPr/>
          <p:nvPr/>
        </p:nvSpPr>
        <p:spPr>
          <a:xfrm>
            <a:off x="10044559" y="2790825"/>
            <a:ext cx="7600935"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E7C6B"/>
                </a:solidFill>
                <a:latin typeface="IBM Plex Mono" pitchFamily="34" charset="0"/>
                <a:ea typeface="IBM Plex Mono" pitchFamily="34" charset="-122"/>
                <a:cs typeface="IBM Plex Mono" pitchFamily="34" charset="-120"/>
              </a:rPr>
              <a:t>DECISIONS NEEDED FROM LEADERSHIP</a:t>
            </a:r>
            <a:endParaRPr lang="en-US" sz="1800" dirty="0"/>
          </a:p>
        </p:txBody>
      </p:sp>
      <p:sp>
        <p:nvSpPr>
          <p:cNvPr id="22" name="Shape 20"/>
          <p:cNvSpPr/>
          <p:nvPr/>
        </p:nvSpPr>
        <p:spPr>
          <a:xfrm>
            <a:off x="10044559" y="4238625"/>
            <a:ext cx="6909941" cy="9525"/>
          </a:xfrm>
          <a:prstGeom prst="rect">
            <a:avLst/>
          </a:prstGeom>
          <a:solidFill>
            <a:srgbClr val="C9D7D0"/>
          </a:solidFill>
          <a:ln/>
        </p:spPr>
      </p:sp>
      <p:sp>
        <p:nvSpPr>
          <p:cNvPr id="23" name="Text 21"/>
          <p:cNvSpPr/>
          <p:nvPr/>
        </p:nvSpPr>
        <p:spPr>
          <a:xfrm>
            <a:off x="10044559" y="340995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1</a:t>
            </a:r>
            <a:endParaRPr lang="en-US" sz="2100" dirty="0"/>
          </a:p>
        </p:txBody>
      </p:sp>
      <p:sp>
        <p:nvSpPr>
          <p:cNvPr id="24" name="Text 22"/>
          <p:cNvSpPr/>
          <p:nvPr/>
        </p:nvSpPr>
        <p:spPr>
          <a:xfrm>
            <a:off x="10635109" y="339090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Approve this target architecture as the missions' convergence point</a:t>
            </a:r>
            <a:endParaRPr lang="en-US" sz="2025" dirty="0"/>
          </a:p>
        </p:txBody>
      </p:sp>
      <p:sp>
        <p:nvSpPr>
          <p:cNvPr id="25" name="Shape 23"/>
          <p:cNvSpPr/>
          <p:nvPr/>
        </p:nvSpPr>
        <p:spPr>
          <a:xfrm>
            <a:off x="10044559" y="5238750"/>
            <a:ext cx="6909941" cy="9525"/>
          </a:xfrm>
          <a:prstGeom prst="rect">
            <a:avLst/>
          </a:prstGeom>
          <a:solidFill>
            <a:srgbClr val="C9D7D0"/>
          </a:solidFill>
          <a:ln/>
        </p:spPr>
      </p:sp>
      <p:sp>
        <p:nvSpPr>
          <p:cNvPr id="26" name="Text 24"/>
          <p:cNvSpPr/>
          <p:nvPr/>
        </p:nvSpPr>
        <p:spPr>
          <a:xfrm>
            <a:off x="10044559" y="441007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2</a:t>
            </a:r>
            <a:endParaRPr lang="en-US" sz="2100" dirty="0"/>
          </a:p>
        </p:txBody>
      </p:sp>
      <p:sp>
        <p:nvSpPr>
          <p:cNvPr id="27" name="Text 25"/>
          <p:cNvSpPr/>
          <p:nvPr/>
        </p:nvSpPr>
        <p:spPr>
          <a:xfrm>
            <a:off x="10635109" y="439102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Back the naming-registry decision now — every join depends on it</a:t>
            </a:r>
            <a:endParaRPr lang="en-US" sz="2025" dirty="0"/>
          </a:p>
        </p:txBody>
      </p:sp>
      <p:sp>
        <p:nvSpPr>
          <p:cNvPr id="28" name="Shape 26"/>
          <p:cNvSpPr/>
          <p:nvPr/>
        </p:nvSpPr>
        <p:spPr>
          <a:xfrm>
            <a:off x="10044559" y="6238875"/>
            <a:ext cx="6909941" cy="9525"/>
          </a:xfrm>
          <a:prstGeom prst="rect">
            <a:avLst/>
          </a:prstGeom>
          <a:solidFill>
            <a:srgbClr val="C9D7D0"/>
          </a:solidFill>
          <a:ln/>
        </p:spPr>
      </p:sp>
      <p:sp>
        <p:nvSpPr>
          <p:cNvPr id="29" name="Text 27"/>
          <p:cNvSpPr/>
          <p:nvPr/>
        </p:nvSpPr>
        <p:spPr>
          <a:xfrm>
            <a:off x="10044559" y="541020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3</a:t>
            </a:r>
            <a:endParaRPr lang="en-US" sz="2100" dirty="0"/>
          </a:p>
        </p:txBody>
      </p:sp>
      <p:sp>
        <p:nvSpPr>
          <p:cNvPr id="30" name="Text 28"/>
          <p:cNvSpPr/>
          <p:nvPr/>
        </p:nvSpPr>
        <p:spPr>
          <a:xfrm>
            <a:off x="10635109" y="539115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Hold the MVP boundary — month-9 gate scope does not grow</a:t>
            </a:r>
            <a:endParaRPr lang="en-US" sz="2025" dirty="0"/>
          </a:p>
        </p:txBody>
      </p:sp>
      <p:sp>
        <p:nvSpPr>
          <p:cNvPr id="31" name="Text 29"/>
          <p:cNvSpPr/>
          <p:nvPr/>
        </p:nvSpPr>
        <p:spPr>
          <a:xfrm>
            <a:off x="10044559" y="641032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4</a:t>
            </a:r>
            <a:endParaRPr lang="en-US" sz="2100" dirty="0"/>
          </a:p>
        </p:txBody>
      </p:sp>
      <p:sp>
        <p:nvSpPr>
          <p:cNvPr id="32" name="Text 30"/>
          <p:cNvSpPr/>
          <p:nvPr/>
        </p:nvSpPr>
        <p:spPr>
          <a:xfrm>
            <a:off x="10635109" y="639127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Fund the target run-rate: ~$21K/month infrastructure at scale</a:t>
            </a:r>
            <a:endParaRPr lang="en-US" sz="2025" dirty="0"/>
          </a:p>
        </p:txBody>
      </p:sp>
      <p:sp>
        <p:nvSpPr>
          <p:cNvPr id="33" name="Text 31"/>
          <p:cNvSpPr/>
          <p:nvPr/>
        </p:nvSpPr>
        <p:spPr>
          <a:xfrm>
            <a:off x="10044559" y="8124825"/>
            <a:ext cx="7117239" cy="1095375"/>
          </a:xfrm>
          <a:prstGeom prst="rect">
            <a:avLst/>
          </a:prstGeom>
          <a:noFill/>
          <a:ln/>
        </p:spPr>
        <p:txBody>
          <a:bodyPr wrap="square" lIns="25400" tIns="25400" rIns="25400" bIns="25400" rtlCol="0" anchor="t">
            <a:normAutofit/>
          </a:bodyPr>
          <a:lstStyle/>
          <a:p>
            <a:pPr algn="l" indent="0" marL="0">
              <a:lnSpc>
                <a:spcPct val="110294"/>
              </a:lnSpc>
              <a:buNone/>
            </a:pPr>
            <a:r>
              <a:rPr lang="en-US" sz="1875" dirty="0">
                <a:solidFill>
                  <a:srgbClr val="3D4A55"/>
                </a:solidFill>
                <a:latin typeface="Source Serif 4" pitchFamily="34" charset="0"/>
                <a:ea typeface="Source Serif 4" pitchFamily="34" charset="-122"/>
                <a:cs typeface="Source Serif 4" pitchFamily="34" charset="-120"/>
              </a:rPr>
              <a:t>Go/no-go at the month-9 gate: saves banked and time-to-detect down vs the Phase-0 baseline — decided on the scorecard, not on architecture progress.</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2026-08-25T11:34:42Z</dcterms:created>
  <dcterms:modified xsi:type="dcterms:W3CDTF">2026-08-25T11:34:42Z</dcterms:modified>
</cp:coreProperties>
</file>