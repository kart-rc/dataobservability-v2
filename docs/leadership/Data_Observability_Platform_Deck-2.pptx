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45-min deep dive compressed to 10 slides: problem, approach, roadmap, milestones, teams, governance,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incident, run both ways. Today: batch job exits 0, analyst finds it two days later, four teams paged. Target: detected in 2 minutes, one team paged, gate holds the bad batch. The gap is structural — nobody owns the seams.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leadership question maps to one foundation and has a named moment it first runs on real data. By month 18: no bad data reaches Tier-1 unseen; onboarding ≤ 2 weeks; every edge confidence-scored.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 are horizontal — built once, inherited by every use case — but proven vertically on one pilot thread in six months. Rejected: tool-per-team (more islands), big-bang (18 months dark), one-offs (nothing compounds).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horizons. Now is the commitment, ending at the month-6 gate. Next is entered only through the gate. Horizon capabilities switch on by trigger, not date: simulation needs a scored graph; in-path needs a contract plus a recurring violation; automation needs two manual onboardings.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pillar climbs one level per phase — no pillar jumps two. L4-everywhere is deliberately not the goal; maturity is matched to asset tier. Contracts start at L0 by design: drafted from observed behavior, not workshops.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missions of ten, each owning one foundation end-to-end — nobody split across projects. Convergence is engineered: shared definition of done, weekly joined demo from week 4, milestone = cross-team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decision-ask: the naming registry as authority, scoped to the pilot's ~10 assets so it's decidable fast — without it every join fails silently later. Everything else is read-only access with a Plan B. Dependency health is on the monthly scorecard with sponsor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cadence so silence is never read as stall; reviews are live replays, not status decks. And the kill switch: no real saves and no detection improvement by month 6 → the program stops. That offer is what makes the vision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 ladder: month 6 proof, month 11 full platform, month 18 scaled and priced. Close on discipline — what we refuse to do is half the vision. One platform, not three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48013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LEADERSHIP · EXECUTION DEEP DIVE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814763"/>
            <a:ext cx="1466850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7800" b="1" spc="-156" kern="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Observability Platform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5272088"/>
            <a:ext cx="1353883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broke, why, who is affected, how it stops recurring — </a:t>
            </a:r>
            <a:pPr algn="l" indent="0" marL="0">
              <a:lnSpc>
                <a:spcPct val="107692"/>
              </a:lnSpc>
              <a:buNone/>
            </a:pPr>
            <a:r>
              <a:rPr lang="en-US" sz="30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foundations, three teams, six months to a live pilot.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7024688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· Milestones · Outcomes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220" y="7024688"/>
            <a:ext cx="16597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August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live in the seams — one incident, run both ways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371725"/>
            <a:ext cx="16002000" cy="2200275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647950"/>
            <a:ext cx="8721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34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085838" y="2667000"/>
            <a:ext cx="297741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 days to truth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95425" y="3190875"/>
            <a:ext cx="15297150" cy="323850"/>
          </a:xfrm>
          <a:prstGeom prst="roundRect">
            <a:avLst>
              <a:gd name="adj" fmla="val 17647"/>
            </a:avLst>
          </a:prstGeom>
          <a:gradFill rotWithShape="1">
            <a:gsLst>
              <a:gs pos="0">
                <a:srgbClr val="A3442E">
                  <a:alpha val="100000"/>
                </a:srgbClr>
              </a:gs>
              <a:gs pos="100000">
                <a:srgbClr val="C05F42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1495425" y="3648075"/>
            <a:ext cx="509499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Job exits 0 — "success" — 8% of rows silently NULLed. No alert.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0625" y="3648075"/>
            <a:ext cx="509499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Analyst notices revenue looks low. Decisions already made.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45826" y="3648075"/>
            <a:ext cx="50951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+4–6 hrs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War room: 4 teams paged, every tool reports green.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762500"/>
            <a:ext cx="16002000" cy="2200275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5425" y="5038725"/>
            <a:ext cx="23258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platform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4885938" y="5057775"/>
            <a:ext cx="20973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30 minutes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95425" y="5581650"/>
            <a:ext cx="323850" cy="323850"/>
          </a:xfrm>
          <a:prstGeom prst="roundRect">
            <a:avLst>
              <a:gd name="adj" fmla="val 17647"/>
            </a:avLst>
          </a:prstGeom>
          <a:gradFill rotWithShape="1">
            <a:gsLst>
              <a:gs pos="0">
                <a:srgbClr val="17705F">
                  <a:alpha val="100000"/>
                </a:srgbClr>
              </a:gs>
              <a:gs pos="100000">
                <a:srgbClr val="2E948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495425" y="6038850"/>
            <a:ext cx="509499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 min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Monitor spots the NULL spike at the topic — one hop from cause.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0625" y="6038850"/>
            <a:ext cx="509499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+20 min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One incident, cause attached. One team paged, not four.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45826" y="6038850"/>
            <a:ext cx="50951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+30 min </a:t>
            </a:r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Gate holds the bad batch; consumers stay on last-certified.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7343775"/>
            <a:ext cx="547976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~$2M/yr </a:t>
            </a:r>
            <a:pPr algn="l" indent="0" marL="0"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lost per 50 affected engineers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72759" y="7343775"/>
            <a:ext cx="516888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4+ hrs </a:t>
            </a:r>
            <a:pPr algn="l" indent="0" marL="0"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 room per cross-team failure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00695" y="7343775"/>
            <a:ext cx="362568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</a:t>
            </a:r>
            <a:pPr algn="l" indent="0" marL="0"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 on silent failures today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questions, four foundations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47925"/>
            <a:ext cx="3814763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2781300"/>
            <a:ext cx="3504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broke?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57325" y="3314700"/>
            <a:ext cx="350472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D2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57325" y="3962400"/>
            <a:ext cx="328169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+ post-write + streaming DQ, federated in </a:t>
            </a:r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evidence stream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457325" y="5543550"/>
            <a:ext cx="1676400" cy="419100"/>
          </a:xfrm>
          <a:prstGeom prst="roundRect">
            <a:avLst>
              <a:gd name="adj" fmla="val 13636"/>
            </a:avLst>
          </a:prstGeom>
          <a:solidFill>
            <a:srgbClr val="EEF3F6"/>
          </a:solidFill>
          <a:ln/>
        </p:spPr>
      </p:sp>
      <p:sp>
        <p:nvSpPr>
          <p:cNvPr id="9" name="Text 7"/>
          <p:cNvSpPr/>
          <p:nvPr/>
        </p:nvSpPr>
        <p:spPr>
          <a:xfrm>
            <a:off x="1609725" y="5600700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M1–M3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05413" y="2447925"/>
            <a:ext cx="3814763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9738" y="2781300"/>
            <a:ext cx="3504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519738" y="3314700"/>
            <a:ext cx="350472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D2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519738" y="3962400"/>
            <a:ext cx="328169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E2E lineage joined to evidence + deploy events — </a:t>
            </a:r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cause on the incident card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519738" y="5543550"/>
            <a:ext cx="1676400" cy="419100"/>
          </a:xfrm>
          <a:prstGeom prst="roundRect">
            <a:avLst>
              <a:gd name="adj" fmla="val 13636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/>
          <p:nvPr/>
        </p:nvSpPr>
        <p:spPr>
          <a:xfrm>
            <a:off x="5672138" y="5600700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M4–M5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67825" y="2447925"/>
            <a:ext cx="3814763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150" y="2781300"/>
            <a:ext cx="3504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is affected?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582150" y="3314700"/>
            <a:ext cx="350472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D2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82150" y="3962400"/>
            <a:ext cx="328169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+ consumer bindings — </a:t>
            </a:r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blast radius on click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82150" y="5543550"/>
            <a:ext cx="1264920" cy="419100"/>
          </a:xfrm>
          <a:prstGeom prst="roundRect">
            <a:avLst>
              <a:gd name="adj" fmla="val 13636"/>
            </a:avLst>
          </a:prstGeom>
          <a:solidFill>
            <a:srgbClr val="EEF3F6"/>
          </a:solidFill>
          <a:ln/>
        </p:spPr>
      </p:sp>
      <p:sp>
        <p:nvSpPr>
          <p:cNvPr id="21" name="Text 19"/>
          <p:cNvSpPr/>
          <p:nvPr/>
        </p:nvSpPr>
        <p:spPr>
          <a:xfrm>
            <a:off x="9734550" y="5600700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M4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330238" y="2447925"/>
            <a:ext cx="3814763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644563" y="2781300"/>
            <a:ext cx="328169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it stop recurring?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644563" y="3695700"/>
            <a:ext cx="350472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D2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3644563" y="4343400"/>
            <a:ext cx="328169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+ certification gate — </a:t>
            </a:r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bad data held, not found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644563" y="5543550"/>
            <a:ext cx="1676400" cy="419100"/>
          </a:xfrm>
          <a:prstGeom prst="roundRect">
            <a:avLst>
              <a:gd name="adj" fmla="val 13636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/>
          <p:nvPr/>
        </p:nvSpPr>
        <p:spPr>
          <a:xfrm>
            <a:off x="13796963" y="5600700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M6–M7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6657975"/>
            <a:ext cx="1648206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month 18: bad data never reaches a Tier-1 consumer unseen · a new use case onboards in ≤ 2 weeks · every lineage edge carries a confidence score.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Horizontal foundations, proven vertically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371725"/>
            <a:ext cx="16002000" cy="1771650"/>
          </a:xfrm>
          <a:prstGeom prst="roundRect">
            <a:avLst>
              <a:gd name="adj" fmla="val 5376"/>
            </a:avLst>
          </a:prstGeom>
          <a:solidFill>
            <a:srgbClr val="16222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714625"/>
            <a:ext cx="16680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PILOT THREAD — EVERY MILESTONE IS A DEMO ON 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62100" y="3228975"/>
            <a:ext cx="2221260" cy="571500"/>
          </a:xfrm>
          <a:prstGeom prst="roundRect">
            <a:avLst>
              <a:gd name="adj" fmla="val 1333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1175" y="3352800"/>
            <a:ext cx="18593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payments-svc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935760" y="3328988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A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373910" y="3228975"/>
            <a:ext cx="2221260" cy="571500"/>
          </a:xfrm>
          <a:prstGeom prst="roundRect">
            <a:avLst>
              <a:gd name="adj" fmla="val 1333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2985" y="3352800"/>
            <a:ext cx="18593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 topic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47570" y="3328988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A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185720" y="3228975"/>
            <a:ext cx="2518470" cy="571500"/>
          </a:xfrm>
          <a:prstGeom prst="roundRect">
            <a:avLst>
              <a:gd name="adj" fmla="val 1333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4795" y="3352800"/>
            <a:ext cx="21565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enrichment job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56589" y="3328988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A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294739" y="3228975"/>
            <a:ext cx="2667149" cy="571500"/>
          </a:xfrm>
          <a:prstGeom prst="roundRect">
            <a:avLst>
              <a:gd name="adj" fmla="val 1333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3814" y="3352800"/>
            <a:ext cx="23090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gold.orders_enr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114288" y="3328988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A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552438" y="3228975"/>
            <a:ext cx="2518470" cy="571500"/>
          </a:xfrm>
          <a:prstGeom prst="roundRect">
            <a:avLst>
              <a:gd name="adj" fmla="val 1333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71513" y="3352800"/>
            <a:ext cx="21565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 report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4524375"/>
            <a:ext cx="5168801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5425" y="4838700"/>
            <a:ext cx="49103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495425" y="5514975"/>
            <a:ext cx="459786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are demos, </a:t>
            </a:r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a percent-complete.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6559451" y="4524375"/>
            <a:ext cx="5168950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1876" y="4838700"/>
            <a:ext cx="491051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6911876" y="5514975"/>
            <a:ext cx="45980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counts </a:t>
            </a:r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until it lands in the shared evidence stream.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1976050" y="4524375"/>
            <a:ext cx="5168801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28475" y="4838700"/>
            <a:ext cx="49103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2328475" y="5514975"/>
            <a:ext cx="459786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batch DQ is federated, </a:t>
            </a:r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replaced.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43000" y="69532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Rejected: tool-per-team (more islands) · big-bang platform (18 months dark, no kill switch) · use-case one-offs (nothing compounds).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horizons, eight demo milestones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9825"/>
            <a:ext cx="8357295" cy="876300"/>
          </a:xfrm>
          <a:custGeom>
            <a:avLst/>
            <a:gdLst/>
            <a:ahLst/>
            <a:cxnLst/>
            <a:rect l="l" t="t" r="r" b="b"/>
            <a:pathLst>
              <a:path w="8357295" h="876300">
                <a:moveTo>
                  <a:pt x="76200" y="0"/>
                </a:moveTo>
                <a:lnTo>
                  <a:pt x="8281095" y="0"/>
                </a:lnTo>
                <a:arcTo hR="76200" wR="76200" stAng="16200000" swAng="5400000"/>
                <a:lnTo>
                  <a:pt x="8357295" y="876300"/>
                </a:lnTo>
                <a:lnTo>
                  <a:pt x="0" y="87630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16222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543175"/>
            <a:ext cx="81508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2F4F3"/>
                </a:solidFill>
                <a:highlight>
                  <a:srgbClr val="16222E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· months 1–6 · </a:t>
            </a:r>
            <a:pPr algn="l" indent="0" marL="0">
              <a:buNone/>
            </a:pPr>
            <a:r>
              <a:rPr lang="en-US" sz="1800" b="1" spc="180" kern="0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commitment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28895" y="2409825"/>
            <a:ext cx="5014466" cy="876300"/>
          </a:xfrm>
          <a:custGeom>
            <a:avLst/>
            <a:gdLst/>
            <a:ahLst/>
            <a:cxnLst/>
            <a:rect l="l" t="t" r="r" b="b"/>
            <a:pathLst>
              <a:path w="5014466" h="876300">
                <a:moveTo>
                  <a:pt x="76200" y="0"/>
                </a:moveTo>
                <a:lnTo>
                  <a:pt x="4938266" y="0"/>
                </a:lnTo>
                <a:arcTo hR="76200" wR="76200" stAng="16200000" swAng="5400000"/>
                <a:lnTo>
                  <a:pt x="5014466" y="876300"/>
                </a:lnTo>
                <a:lnTo>
                  <a:pt x="0" y="87630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DEE7ED"/>
          </a:solidFill>
          <a:ln/>
        </p:spPr>
      </p:sp>
      <p:sp>
        <p:nvSpPr>
          <p:cNvPr id="7" name="Text 5"/>
          <p:cNvSpPr/>
          <p:nvPr/>
        </p:nvSpPr>
        <p:spPr>
          <a:xfrm>
            <a:off x="9957495" y="2543175"/>
            <a:ext cx="4707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m7–9 · via gate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971961" y="2409825"/>
            <a:ext cx="2172891" cy="876300"/>
          </a:xfrm>
          <a:custGeom>
            <a:avLst/>
            <a:gdLst/>
            <a:ahLst/>
            <a:cxnLst/>
            <a:rect l="l" t="t" r="r" b="b"/>
            <a:pathLst>
              <a:path w="2172891" h="876300">
                <a:moveTo>
                  <a:pt x="76200" y="0"/>
                </a:moveTo>
                <a:lnTo>
                  <a:pt x="2096691" y="0"/>
                </a:lnTo>
                <a:arcTo hR="76200" wR="76200" stAng="16200000" swAng="5400000"/>
                <a:lnTo>
                  <a:pt x="2172891" y="876300"/>
                </a:lnTo>
                <a:lnTo>
                  <a:pt x="0" y="87630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EDEEEC"/>
          </a:solidFill>
          <a:ln/>
        </p:spPr>
      </p:sp>
      <p:sp>
        <p:nvSpPr>
          <p:cNvPr id="9" name="Text 7"/>
          <p:cNvSpPr/>
          <p:nvPr/>
        </p:nvSpPr>
        <p:spPr>
          <a:xfrm>
            <a:off x="15200561" y="2543175"/>
            <a:ext cx="179189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HORIZON · m10+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3286125"/>
            <a:ext cx="167134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6019800"/>
            <a:ext cx="167134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3286125"/>
            <a:ext cx="167134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4" name="Text 12"/>
          <p:cNvSpPr/>
          <p:nvPr/>
        </p:nvSpPr>
        <p:spPr>
          <a:xfrm>
            <a:off x="1362075" y="3524250"/>
            <a:ext cx="13669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62075" y="3943350"/>
            <a:ext cx="131891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stream + registry live; batch DQ federated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4340" y="3286125"/>
            <a:ext cx="1671489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814340" y="6019800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4340" y="3286125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814340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0" name="Text 18"/>
          <p:cNvSpPr/>
          <p:nvPr/>
        </p:nvSpPr>
        <p:spPr>
          <a:xfrm>
            <a:off x="3033415" y="3524250"/>
            <a:ext cx="1367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033415" y="3943350"/>
            <a:ext cx="1319064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Post-write DQ learns "normal" — auto checks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85829" y="3286125"/>
            <a:ext cx="1671489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5829" y="6019800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5829" y="3286125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5829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6" name="Text 24"/>
          <p:cNvSpPr/>
          <p:nvPr/>
        </p:nvSpPr>
        <p:spPr>
          <a:xfrm>
            <a:off x="4704904" y="3524250"/>
            <a:ext cx="1367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704904" y="3943350"/>
            <a:ext cx="131906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DQ live; first silent catch, saves banked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57317" y="3286125"/>
            <a:ext cx="1671489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57317" y="6019800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30" name="Shape 28"/>
          <p:cNvSpPr/>
          <p:nvPr/>
        </p:nvSpPr>
        <p:spPr>
          <a:xfrm>
            <a:off x="6157317" y="3286125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31" name="Shape 29"/>
          <p:cNvSpPr/>
          <p:nvPr/>
        </p:nvSpPr>
        <p:spPr>
          <a:xfrm>
            <a:off x="6157317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32" name="Text 30"/>
          <p:cNvSpPr/>
          <p:nvPr/>
        </p:nvSpPr>
        <p:spPr>
          <a:xfrm>
            <a:off x="6376392" y="3524250"/>
            <a:ext cx="1367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m4–5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376392" y="3943350"/>
            <a:ext cx="13190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joined; blast radius + cause live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828806" y="3286125"/>
            <a:ext cx="1671489" cy="2743200"/>
          </a:xfrm>
          <a:prstGeom prst="rect">
            <a:avLst/>
          </a:prstGeom>
          <a:solidFill>
            <a:srgbClr val="16222E"/>
          </a:solidFill>
          <a:ln w="19050">
            <a:solidFill>
              <a:srgbClr val="1622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57406" y="3533775"/>
            <a:ext cx="13357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 </a:t>
            </a:r>
            <a:pPr algn="l" indent="0" marL="0">
              <a:buNone/>
            </a:pPr>
            <a:r>
              <a:rPr lang="en-US" sz="1800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8057406" y="3952875"/>
            <a:ext cx="129048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UC1 live end-to-end · go/no-go gate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728895" y="3286125"/>
            <a:ext cx="1671489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9728895" y="6019800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39" name="Shape 37"/>
          <p:cNvSpPr/>
          <p:nvPr/>
        </p:nvSpPr>
        <p:spPr>
          <a:xfrm>
            <a:off x="9728895" y="3286125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40" name="Shape 38"/>
          <p:cNvSpPr/>
          <p:nvPr/>
        </p:nvSpPr>
        <p:spPr>
          <a:xfrm>
            <a:off x="9728895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41" name="Text 39"/>
          <p:cNvSpPr/>
          <p:nvPr/>
        </p:nvSpPr>
        <p:spPr>
          <a:xfrm>
            <a:off x="9947970" y="3524250"/>
            <a:ext cx="1367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m7–8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947970" y="3943350"/>
            <a:ext cx="1319064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producer-accepted contract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1400383" y="3286125"/>
            <a:ext cx="1671489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00383" y="6019800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00383" y="3286125"/>
            <a:ext cx="167148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00383" y="3286125"/>
            <a:ext cx="9525" cy="27432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47" name="Text 45"/>
          <p:cNvSpPr/>
          <p:nvPr/>
        </p:nvSpPr>
        <p:spPr>
          <a:xfrm>
            <a:off x="11619458" y="3524250"/>
            <a:ext cx="1367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m8–9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619458" y="3943350"/>
            <a:ext cx="1319064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Gate's first real block; zero exposure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071872" y="3286125"/>
            <a:ext cx="1671489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290947" y="3524250"/>
            <a:ext cx="13566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 </a:t>
            </a:r>
            <a:pPr algn="l" indent="0" marL="0">
              <a:buNone/>
            </a:pPr>
            <a:r>
              <a:rPr lang="en-US" sz="1800" dirty="0">
                <a:solidFill>
                  <a:srgbClr val="9AA5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3290947" y="3943350"/>
            <a:ext cx="1309539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UC2 onboarded: 6 weeks → 2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4971961" y="3286125"/>
            <a:ext cx="2172891" cy="2743200"/>
          </a:xfrm>
          <a:prstGeom prst="rect">
            <a:avLst/>
          </a:prstGeom>
          <a:solidFill>
            <a:srgbClr val="F4F5F3"/>
          </a:solidFill>
          <a:ln w="9525">
            <a:solidFill>
              <a:srgbClr val="C7CEC6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15191036" y="3524250"/>
            <a:ext cx="18109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P4 · by trigger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5191036" y="4267200"/>
            <a:ext cx="1810941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50"/>
              </a:lnSpc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· in-path asserts · onboarding automation · column-level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43000" y="6410325"/>
            <a:ext cx="64191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milestone is a demo </a:t>
            </a:r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pilot thread, with an accountable team.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7756178" y="6410325"/>
            <a:ext cx="967048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 runs on triggers, not dates </a:t>
            </a:r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e.g. simulation ← scored graph; automation ← two manual onboardings.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pillar climbs one level per phase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143125"/>
            <a:ext cx="20552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L0 doesn't exist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97138" y="2143125"/>
            <a:ext cx="14252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 islands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78586" y="2143125"/>
            <a:ext cx="18132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L2 connected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12756" y="2143125"/>
            <a:ext cx="17474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L3 runs itself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7098" y="2143125"/>
            <a:ext cx="15914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L4 prevents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790825"/>
            <a:ext cx="48854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PILLAR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59839" y="2790825"/>
            <a:ext cx="3053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49925" y="2790825"/>
            <a:ext cx="30535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6 GATE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40175" y="2790825"/>
            <a:ext cx="3053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30261" y="2790825"/>
            <a:ext cx="30535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3099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data quality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698629" y="32099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16" name="Text 14"/>
          <p:cNvSpPr/>
          <p:nvPr/>
        </p:nvSpPr>
        <p:spPr>
          <a:xfrm>
            <a:off x="5656992" y="33242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88722" y="32099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EE7ED"/>
          </a:solidFill>
          <a:ln/>
        </p:spPr>
      </p:sp>
      <p:sp>
        <p:nvSpPr>
          <p:cNvPr id="18" name="Text 16"/>
          <p:cNvSpPr/>
          <p:nvPr/>
        </p:nvSpPr>
        <p:spPr>
          <a:xfrm>
            <a:off x="8547083" y="33242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78964" y="32099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7328" y="33242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369058" y="32099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16222E"/>
          </a:solidFill>
          <a:ln/>
        </p:spPr>
      </p:sp>
      <p:sp>
        <p:nvSpPr>
          <p:cNvPr id="22" name="Text 20"/>
          <p:cNvSpPr/>
          <p:nvPr/>
        </p:nvSpPr>
        <p:spPr>
          <a:xfrm>
            <a:off x="14327419" y="33242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9576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Post-write DQ (at rest)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5698629" y="38576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25" name="Text 23"/>
          <p:cNvSpPr/>
          <p:nvPr/>
        </p:nvSpPr>
        <p:spPr>
          <a:xfrm>
            <a:off x="5656992" y="39719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88722" y="38576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EE7ED"/>
          </a:solidFill>
          <a:ln/>
        </p:spPr>
      </p:sp>
      <p:sp>
        <p:nvSpPr>
          <p:cNvPr id="27" name="Text 25"/>
          <p:cNvSpPr/>
          <p:nvPr/>
        </p:nvSpPr>
        <p:spPr>
          <a:xfrm>
            <a:off x="8547083" y="39719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78964" y="38576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7328" y="39719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369058" y="38576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16222E"/>
          </a:solidFill>
          <a:ln/>
        </p:spPr>
      </p:sp>
      <p:sp>
        <p:nvSpPr>
          <p:cNvPr id="31" name="Text 29"/>
          <p:cNvSpPr/>
          <p:nvPr/>
        </p:nvSpPr>
        <p:spPr>
          <a:xfrm>
            <a:off x="14327419" y="39719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46053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DQ (real-time)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5698629" y="45053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34" name="Text 32"/>
          <p:cNvSpPr/>
          <p:nvPr/>
        </p:nvSpPr>
        <p:spPr>
          <a:xfrm>
            <a:off x="5656992" y="46196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88722" y="45053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EE7ED"/>
          </a:solidFill>
          <a:ln/>
        </p:spPr>
      </p:sp>
      <p:sp>
        <p:nvSpPr>
          <p:cNvPr id="36" name="Text 34"/>
          <p:cNvSpPr/>
          <p:nvPr/>
        </p:nvSpPr>
        <p:spPr>
          <a:xfrm>
            <a:off x="8547083" y="46196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78964" y="45053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7328" y="46196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369058" y="45053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40" name="Text 38"/>
          <p:cNvSpPr/>
          <p:nvPr/>
        </p:nvSpPr>
        <p:spPr>
          <a:xfrm>
            <a:off x="14327419" y="46196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43000" y="52530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E2E lineage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5698629" y="51530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43" name="Text 41"/>
          <p:cNvSpPr/>
          <p:nvPr/>
        </p:nvSpPr>
        <p:spPr>
          <a:xfrm>
            <a:off x="5656992" y="52673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588722" y="51530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EE7ED"/>
          </a:solidFill>
          <a:ln/>
        </p:spPr>
      </p:sp>
      <p:sp>
        <p:nvSpPr>
          <p:cNvPr id="45" name="Text 43"/>
          <p:cNvSpPr/>
          <p:nvPr/>
        </p:nvSpPr>
        <p:spPr>
          <a:xfrm>
            <a:off x="8547083" y="52673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478964" y="51530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47" name="Text 45"/>
          <p:cNvSpPr/>
          <p:nvPr/>
        </p:nvSpPr>
        <p:spPr>
          <a:xfrm>
            <a:off x="11437328" y="52673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4369058" y="51530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49" name="Text 47"/>
          <p:cNvSpPr/>
          <p:nvPr/>
        </p:nvSpPr>
        <p:spPr>
          <a:xfrm>
            <a:off x="14327419" y="52673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L3+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43000" y="59007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contracts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5698629" y="58007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3E4DF"/>
          </a:solidFill>
          <a:ln/>
        </p:spPr>
      </p:sp>
      <p:sp>
        <p:nvSpPr>
          <p:cNvPr id="52" name="Text 50"/>
          <p:cNvSpPr/>
          <p:nvPr/>
        </p:nvSpPr>
        <p:spPr>
          <a:xfrm>
            <a:off x="5656992" y="59150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588722" y="58007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54" name="Text 52"/>
          <p:cNvSpPr/>
          <p:nvPr/>
        </p:nvSpPr>
        <p:spPr>
          <a:xfrm>
            <a:off x="8547083" y="59150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1478964" y="58007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56" name="Text 54"/>
          <p:cNvSpPr/>
          <p:nvPr/>
        </p:nvSpPr>
        <p:spPr>
          <a:xfrm>
            <a:off x="11437328" y="59150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4369058" y="58007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16222E"/>
          </a:solidFill>
          <a:ln/>
        </p:spPr>
      </p:sp>
      <p:sp>
        <p:nvSpPr>
          <p:cNvPr id="58" name="Text 56"/>
          <p:cNvSpPr/>
          <p:nvPr/>
        </p:nvSpPr>
        <p:spPr>
          <a:xfrm>
            <a:off x="14327419" y="59150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43000" y="6548438"/>
            <a:ext cx="4885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+ dashboard</a:t>
            </a:r>
            <a:endParaRPr lang="en-US" sz="2025" dirty="0"/>
          </a:p>
        </p:txBody>
      </p:sp>
      <p:sp>
        <p:nvSpPr>
          <p:cNvPr id="60" name="Shape 58"/>
          <p:cNvSpPr/>
          <p:nvPr/>
        </p:nvSpPr>
        <p:spPr>
          <a:xfrm>
            <a:off x="5698629" y="64484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61" name="Text 59"/>
          <p:cNvSpPr/>
          <p:nvPr/>
        </p:nvSpPr>
        <p:spPr>
          <a:xfrm>
            <a:off x="5656992" y="65627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8588722" y="64484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F5EAD8"/>
          </a:solidFill>
          <a:ln/>
        </p:spPr>
      </p:sp>
      <p:sp>
        <p:nvSpPr>
          <p:cNvPr id="63" name="Text 61"/>
          <p:cNvSpPr/>
          <p:nvPr/>
        </p:nvSpPr>
        <p:spPr>
          <a:xfrm>
            <a:off x="8547083" y="65627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L1–L2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1478964" y="6448425"/>
            <a:ext cx="2775793" cy="533400"/>
          </a:xfrm>
          <a:prstGeom prst="roundRect">
            <a:avLst>
              <a:gd name="adj" fmla="val 10714"/>
            </a:avLst>
          </a:prstGeom>
          <a:solidFill>
            <a:srgbClr val="DEE7ED"/>
          </a:solidFill>
          <a:ln/>
        </p:spPr>
      </p:sp>
      <p:sp>
        <p:nvSpPr>
          <p:cNvPr id="65" name="Text 63"/>
          <p:cNvSpPr/>
          <p:nvPr/>
        </p:nvSpPr>
        <p:spPr>
          <a:xfrm>
            <a:off x="11437328" y="6562725"/>
            <a:ext cx="28590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6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L2–L3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4369058" y="6448425"/>
            <a:ext cx="2775942" cy="533400"/>
          </a:xfrm>
          <a:prstGeom prst="roundRect">
            <a:avLst>
              <a:gd name="adj" fmla="val 10714"/>
            </a:avLst>
          </a:prstGeom>
          <a:solidFill>
            <a:srgbClr val="DCEBE7"/>
          </a:solidFill>
          <a:ln/>
        </p:spPr>
      </p:sp>
      <p:sp>
        <p:nvSpPr>
          <p:cNvPr id="67" name="Text 65"/>
          <p:cNvSpPr/>
          <p:nvPr/>
        </p:nvSpPr>
        <p:spPr>
          <a:xfrm>
            <a:off x="14327419" y="6562725"/>
            <a:ext cx="285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143000" y="7324725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pillar jumps two levels in a phase. L4-everywhere is deliberately not the goal — maturity is matched to asset tier.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missions of ten, converging on one platform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9825"/>
            <a:ext cx="5168801" cy="2333625"/>
          </a:xfrm>
          <a:prstGeom prst="roundRect">
            <a:avLst>
              <a:gd name="adj" fmla="val 4082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2867025"/>
            <a:ext cx="30816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&amp; Confidence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5475387" y="2724150"/>
            <a:ext cx="57923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76375" y="3400425"/>
            <a:ext cx="463711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platform core: capture → join → score → simulate. Owns the evidence stream and registry.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559451" y="2409825"/>
            <a:ext cx="5168950" cy="2333625"/>
          </a:xfrm>
          <a:prstGeom prst="roundRect">
            <a:avLst>
              <a:gd name="adj" fmla="val 4082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2826" y="2867025"/>
            <a:ext cx="177249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891986" y="2724150"/>
            <a:ext cx="57923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92826" y="3400425"/>
            <a:ext cx="46372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→ prevention: checks at rest, in-stream monitoring, then contracts and the gate.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976050" y="2409825"/>
            <a:ext cx="5168801" cy="2333625"/>
          </a:xfrm>
          <a:prstGeom prst="roundRect">
            <a:avLst>
              <a:gd name="adj" fmla="val 4082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09425" y="2867025"/>
            <a:ext cx="36294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&amp; Experience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6308437" y="2724150"/>
            <a:ext cx="57923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309425" y="3400425"/>
            <a:ext cx="46371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Adoption &amp; the surface: dashboard, paved road, saves ledger, the M5 gate pack.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529489" y="4819650"/>
            <a:ext cx="135176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A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 ↓ ↓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143000" y="5438775"/>
            <a:ext cx="16002000" cy="1333500"/>
          </a:xfrm>
          <a:prstGeom prst="roundRect">
            <a:avLst>
              <a:gd name="adj" fmla="val 7143"/>
            </a:avLst>
          </a:prstGeom>
          <a:solidFill>
            <a:srgbClr val="223240"/>
          </a:solidFill>
          <a:ln w="9525">
            <a:solidFill>
              <a:srgbClr val="3A4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6141" y="5715000"/>
            <a:ext cx="80357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evidence stream · one pilot thread · one scorecard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72477" y="6181725"/>
            <a:ext cx="167430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9FAC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definition of done lands here — weekly joined demo from week 4 · milestone = cross-team demo · no team runs &gt;3 concurrent builds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path — one decision, three read-only asks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9825"/>
            <a:ext cx="4613077" cy="3314700"/>
          </a:xfrm>
          <a:prstGeom prst="roundRect">
            <a:avLst>
              <a:gd name="adj" fmla="val 2874"/>
            </a:avLst>
          </a:prstGeom>
          <a:solidFill>
            <a:srgbClr val="FFF9EF"/>
          </a:solidFill>
          <a:ln w="19050">
            <a:solidFill>
              <a:srgbClr val="D9B6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4950" y="2752725"/>
            <a:ext cx="42780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CRITICAL ASK · P0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4950" y="3190875"/>
            <a:ext cx="400585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naming registry as the authority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4950" y="4010025"/>
            <a:ext cx="400585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 / governance. Scoped to the pilot's ~10 assets to be decidable fast — without it, every join fails silently later.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003727" y="2409825"/>
            <a:ext cx="3548658" cy="331470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6152" y="2743200"/>
            <a:ext cx="31281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READ-ONLY · P0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6152" y="3181350"/>
            <a:ext cx="31281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95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platform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56152" y="3629025"/>
            <a:ext cx="292912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 credentials + topic catalog. </a:t>
            </a:r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B: </a:t>
            </a:r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at tables.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800034" y="2409825"/>
            <a:ext cx="3548658" cy="331470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52459" y="2743200"/>
            <a:ext cx="31281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READ-ONLY · M1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52459" y="3181350"/>
            <a:ext cx="31281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95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 DQ tooling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152459" y="3629025"/>
            <a:ext cx="292912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results. </a:t>
            </a:r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B: </a:t>
            </a:r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export, slightly staler.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596342" y="2409825"/>
            <a:ext cx="3548658" cy="3314700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48767" y="2743200"/>
            <a:ext cx="31281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READ-ONLY · M4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48767" y="3181350"/>
            <a:ext cx="31281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95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 deploy events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948767" y="3629025"/>
            <a:ext cx="292912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+ timestamp, pilot only. </a:t>
            </a:r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B: </a:t>
            </a:r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 from logs.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43000" y="6143625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Cross-team interlocks are dated (weeks 3–4) with versioned stubs as fallback. Dependency health is a monthly scorecard item with sponsor escalation — a slip is surfaced, never absorbed silently.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leadership keeps control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9825"/>
            <a:ext cx="3814763" cy="212407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2724150"/>
            <a:ext cx="3462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Saves ledger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76375" y="3190875"/>
            <a:ext cx="32424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catch logged with its counterfactual cost. Opens at M1.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205413" y="2409825"/>
            <a:ext cx="3814763" cy="212407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8788" y="2724150"/>
            <a:ext cx="3462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scorecard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38788" y="3190875"/>
            <a:ext cx="32424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Time-to-detect, teams paged, saves banked, dependency health.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67825" y="2409825"/>
            <a:ext cx="3814763" cy="212407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724150"/>
            <a:ext cx="3462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Live-replay reviews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0" y="3190875"/>
            <a:ext cx="32424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are demos on the pilot thread — no "percent complete."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3330238" y="2409825"/>
            <a:ext cx="3814763" cy="212407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63613" y="2724150"/>
            <a:ext cx="3462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Sponsor-owned KPI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663613" y="3190875"/>
            <a:ext cx="324245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pilot maps to one executive sponsor's own metric.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4876800"/>
            <a:ext cx="16002000" cy="2171700"/>
          </a:xfrm>
          <a:prstGeom prst="roundRect">
            <a:avLst>
              <a:gd name="adj" fmla="val 4386"/>
            </a:avLst>
          </a:prstGeom>
          <a:solidFill>
            <a:srgbClr val="16222E"/>
          </a:solidFill>
          <a:ln/>
        </p:spPr>
      </p:sp>
      <p:sp>
        <p:nvSpPr>
          <p:cNvPr id="17" name="Text 15"/>
          <p:cNvSpPr/>
          <p:nvPr/>
        </p:nvSpPr>
        <p:spPr>
          <a:xfrm>
            <a:off x="1638300" y="5295900"/>
            <a:ext cx="57684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0A0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KILL CRITERIA — STATED UP FRONT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38300" y="5753100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saves 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no 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time-to-detect improvement 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month-6 gate → 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stops and thirty engineers redeploy. 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Decided on the scorecard, not on architecture progress.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OUTCOMES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9200"/>
            <a:ext cx="176022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live at months 6, 11, and 18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962400"/>
            <a:ext cx="5168801" cy="3571875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7524750"/>
            <a:ext cx="5168801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962400"/>
            <a:ext cx="5168801" cy="57150"/>
          </a:xfrm>
          <a:prstGeom prst="rect">
            <a:avLst/>
          </a:prstGeom>
          <a:solidFill>
            <a:srgbClr val="7FA8C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962400"/>
            <a:ext cx="9525" cy="357187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8" name="Shape 6"/>
          <p:cNvSpPr/>
          <p:nvPr/>
        </p:nvSpPr>
        <p:spPr>
          <a:xfrm>
            <a:off x="6302276" y="3962400"/>
            <a:ext cx="9525" cy="357187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9" name="Text 7"/>
          <p:cNvSpPr/>
          <p:nvPr/>
        </p:nvSpPr>
        <p:spPr>
          <a:xfrm>
            <a:off x="1495425" y="4343400"/>
            <a:ext cx="49103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95425" y="4810125"/>
            <a:ext cx="49103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95425" y="5276850"/>
            <a:ext cx="459786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foundations live and joined on use case 1 — health, cause, blast radius. </a:t>
            </a:r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Go/no-go gate.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559451" y="3200400"/>
            <a:ext cx="5168950" cy="4333875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9451" y="7524750"/>
            <a:ext cx="516895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9451" y="3200400"/>
            <a:ext cx="5168950" cy="57150"/>
          </a:xfrm>
          <a:prstGeom prst="rect">
            <a:avLst/>
          </a:prstGeom>
          <a:solidFill>
            <a:srgbClr val="3D7EA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9451" y="3200400"/>
            <a:ext cx="9525" cy="433387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8875" y="3200400"/>
            <a:ext cx="9525" cy="433387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7" name="Text 15"/>
          <p:cNvSpPr/>
          <p:nvPr/>
        </p:nvSpPr>
        <p:spPr>
          <a:xfrm>
            <a:off x="6911876" y="3581400"/>
            <a:ext cx="49105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11876" y="4048125"/>
            <a:ext cx="49105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911876" y="4514850"/>
            <a:ext cx="459802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platform live — gating on, edges confidence-scored, multiple use cases on the paved road.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976050" y="2447925"/>
            <a:ext cx="5168801" cy="5086350"/>
          </a:xfrm>
          <a:prstGeom prst="roundRect">
            <a:avLst>
              <a:gd name="adj" fmla="val 1873"/>
            </a:avLst>
          </a:prstGeom>
          <a:solidFill>
            <a:srgbClr val="1622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76050" y="2447925"/>
            <a:ext cx="5168801" cy="57150"/>
          </a:xfrm>
          <a:prstGeom prst="rect">
            <a:avLst/>
          </a:prstGeom>
          <a:solidFill>
            <a:srgbClr val="1E5A7D"/>
          </a:solidFill>
          <a:ln/>
        </p:spPr>
      </p:sp>
      <p:sp>
        <p:nvSpPr>
          <p:cNvPr id="22" name="Text 20"/>
          <p:cNvSpPr/>
          <p:nvPr/>
        </p:nvSpPr>
        <p:spPr>
          <a:xfrm>
            <a:off x="12318950" y="2828925"/>
            <a:ext cx="49313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18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318950" y="3295650"/>
            <a:ext cx="49313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Scaled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318950" y="3762375"/>
            <a:ext cx="461749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use cases operating; impact simulation on Tier-1; onboarding ≤ 2 weeks; expansion priced from measured cost per use case.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143000" y="7991475"/>
            <a:ext cx="1760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missions, one evidence stream, one pilot thread, one scorecard — </a:t>
            </a:r>
            <a:pPr algn="l" indent="0" marL="0">
              <a:buNone/>
            </a:pPr>
            <a:r>
              <a:rPr lang="en-US" sz="225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platform, not three projects.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2026-08-24T13:11:59Z</dcterms:created>
  <dcterms:modified xsi:type="dcterms:W3CDTF">2026-08-24T13:11:59Z</dcterms:modified>
</cp:coreProperties>
</file>