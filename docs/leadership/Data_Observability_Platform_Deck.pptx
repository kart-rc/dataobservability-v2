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session: this is a status deep dive on execution — problem, strategy, roadmap, milestones, teams, governance, outcomes.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 Heaviest weight on roadmap and milestones per the ask; governance and outcomes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structural, not tooling. Signals exist everywhere but are islands. Nobody owns the seams between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tape slowly. The batch job exits 0 — 'success'. Each tool truthfully reports its slice healthy. Root cause found by hand-diffing row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incident on the platform. Detection before consumption; one page instead of four; cause and blast radius named; the gate holds the bad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one-slide version of the whole program. Kill criteria stated up front is what makes the vision credible rather than faith-based.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question maps to a lens of the product, each lens is powered by a foundation, and each has a named moment it first runs on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Foundations are horizontal — built once, inherited by every use case. But proven vertically on one pilot thread within six months. Checks shift left over time: at rest first, topic baselines next, service emission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alternatives were considered and rejected. The foundation approach is the only one where cost per use case falls with each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pillar jumps two levels in a phase. L4-everywhere is deliberately not the goal — maturity is matched to asset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is the commitment. Next is entered only through the month-6 gate. Horizon items switch on by trigger, not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honors existing investment — batch DQ federated, not replaced. M2: the platform learns normal without producer effort. M3: first silent failure caught pre-consumption, with a saves-ledger entry and counterfactual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M4 is where incidents start carrying cause and impact. M5 is the gate: use case 1 live on all four foundations, a real past incident replayed and root-caused in under 30 minutes. Go/no-go decided on the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Post-gate: prevention. First contract auto-drafted from 90 days of observed behavior — a 20-minute review, not a workshop. The gate earns trust in shadow mode before its first real block. M8 proves the product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on this list waits for a date — each capability switches on when its dependency exists. This is how the horizon stays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owns one foundation end-to-end: mission, build, run, milestones. Nobody is split across projects. Convergence is engineered, not hoped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definition of done — that clause is what makes three teams one platform: everything joins, or it doesn't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columns: at no point does any team run more than three concurrent builds. Contracts stay at two designers until the gate passes; automation is staffed only after two manual onboardings.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critical ask: the naming registry as authority, scoped to the pilot's ~10 assets to be decidable fast. Everything else is read-only. Dependency health is a monthly scorecard item with sponsor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cadence so silence is never read as stall. Reviews are live replays on the pilot thread, not status decks. The pilot maps to one executive sponsor's own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Offering leadership the kill switch is what makes the vision credible rather than faith-based. Baselines measured in Phase 0; the gate decided on the scorecard, not architecture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outcome ladder — and on what the program refuses to do. What a program refuses to do is half of its vision. One platform, not three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48013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7FA8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LEADERSHIP · EXECUTION DEEP DIVE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3814763"/>
            <a:ext cx="1466850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7800" b="1" spc="-156" kern="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Observability Platform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143000" y="5272088"/>
            <a:ext cx="1393126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platform that answers what broke, why, who is affected, and how it stops recurring — four foundations, three mission teams, six months to a live pilot.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7024688"/>
            <a:ext cx="4677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C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Roadmap · Milestones · Outcomes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220" y="7024688"/>
            <a:ext cx="16597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8C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August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parts, forty-five minutes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769620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67050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29829" y="3009900"/>
            <a:ext cx="62822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729829" y="3486150"/>
            <a:ext cx="62822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Failures in the seams — one incident, run both ways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448800" y="2762250"/>
            <a:ext cx="769620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9" name="Text 7"/>
          <p:cNvSpPr/>
          <p:nvPr/>
        </p:nvSpPr>
        <p:spPr>
          <a:xfrm>
            <a:off x="9448800" y="3067050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035629" y="3009900"/>
            <a:ext cx="603864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state &amp; strategy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035629" y="3486150"/>
            <a:ext cx="60386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questions, four foundations, one pilot thread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076700"/>
            <a:ext cx="769620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81500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729829" y="4324350"/>
            <a:ext cx="51359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Roadmap &amp; milestones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729829" y="4800600"/>
            <a:ext cx="51359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horizons; every milestone is a demo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448800" y="4076700"/>
            <a:ext cx="769620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7" name="Text 15"/>
          <p:cNvSpPr/>
          <p:nvPr/>
        </p:nvSpPr>
        <p:spPr>
          <a:xfrm>
            <a:off x="9448800" y="4381500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35629" y="4324350"/>
            <a:ext cx="574838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Teams &amp; capacity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035629" y="4800600"/>
            <a:ext cx="574838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missions of ten; convergence engineered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5391150"/>
            <a:ext cx="769620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695950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29829" y="5638800"/>
            <a:ext cx="46441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path &amp; governance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729829" y="6115050"/>
            <a:ext cx="46441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Dependencies, scorecards, kill criteria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448800" y="5391150"/>
            <a:ext cx="769620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5" name="Text 23"/>
          <p:cNvSpPr/>
          <p:nvPr/>
        </p:nvSpPr>
        <p:spPr>
          <a:xfrm>
            <a:off x="9448800" y="5695950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035629" y="5638800"/>
            <a:ext cx="4370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Outcomes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035629" y="6115050"/>
            <a:ext cx="4370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live at months 6, 11, and 18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471612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Failures live in the seams — and nobody owns the seams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3219450"/>
            <a:ext cx="14225588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payments service adds a new status value. Every team's own monitoring stays green. Signals exist everywhere, but they are islands that cannot reference each other — no individual tool can close a structural gap.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5162550"/>
            <a:ext cx="5130701" cy="2962275"/>
          </a:xfrm>
          <a:prstGeom prst="roundRect">
            <a:avLst>
              <a:gd name="adj" fmla="val 321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1625" y="5591175"/>
            <a:ext cx="4700796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~$2M</a:t>
            </a:r>
            <a:pPr algn="l" indent="0" marL="0">
              <a:buNone/>
            </a:pPr>
            <a:r>
              <a:rPr lang="en-US" sz="3000" b="1" spc="-108" kern="0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/yr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571625" y="6619875"/>
            <a:ext cx="440165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lost capacity per 50 affected engineers from data incidents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78501" y="5162550"/>
            <a:ext cx="5130850" cy="2962275"/>
          </a:xfrm>
          <a:prstGeom prst="roundRect">
            <a:avLst>
              <a:gd name="adj" fmla="val 321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7126" y="5591175"/>
            <a:ext cx="470096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4+ hrs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007126" y="6619875"/>
            <a:ext cx="440180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war room per cross-team failure — four teams paged for one team's change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014150" y="5162550"/>
            <a:ext cx="5130701" cy="2962275"/>
          </a:xfrm>
          <a:prstGeom prst="roundRect">
            <a:avLst>
              <a:gd name="adj" fmla="val 321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42775" y="5591175"/>
            <a:ext cx="4700796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alerts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2442775" y="6619875"/>
            <a:ext cx="440165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silent failures — bad data is found by an analyst, after decisions are made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794227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 anatomy — today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68048" y="1685925"/>
            <a:ext cx="31900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2 days to truth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2609850"/>
            <a:ext cx="15049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010025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609850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609850"/>
            <a:ext cx="47625" cy="1409700"/>
          </a:xfrm>
          <a:prstGeom prst="rect">
            <a:avLst/>
          </a:prstGeom>
          <a:solidFill>
            <a:srgbClr val="A3442E"/>
          </a:solidFill>
          <a:ln/>
        </p:spPr>
      </p:sp>
      <p:sp>
        <p:nvSpPr>
          <p:cNvPr id="9" name="Shape 7"/>
          <p:cNvSpPr/>
          <p:nvPr/>
        </p:nvSpPr>
        <p:spPr>
          <a:xfrm>
            <a:off x="16182975" y="2609850"/>
            <a:ext cx="9525" cy="14097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0" name="Text 8"/>
          <p:cNvSpPr/>
          <p:nvPr/>
        </p:nvSpPr>
        <p:spPr>
          <a:xfrm>
            <a:off x="1571625" y="2933700"/>
            <a:ext cx="2095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3857625" y="2905125"/>
            <a:ext cx="1230268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2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Upstream change silently maps new values to NULL. The batch job exits 0 — "success" — writing 8% fewer valid rows. No alert fires anywhere.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3000" y="4229100"/>
            <a:ext cx="15049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29275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4229100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4229100"/>
            <a:ext cx="47625" cy="1409700"/>
          </a:xfrm>
          <a:prstGeom prst="rect">
            <a:avLst/>
          </a:prstGeom>
          <a:solidFill>
            <a:srgbClr val="A344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6182975" y="4229100"/>
            <a:ext cx="9525" cy="14097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7" name="Text 15"/>
          <p:cNvSpPr/>
          <p:nvPr/>
        </p:nvSpPr>
        <p:spPr>
          <a:xfrm>
            <a:off x="1571625" y="4552950"/>
            <a:ext cx="2095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2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3857625" y="4524375"/>
            <a:ext cx="1230268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2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finance analyst notices revenue looks low. Decisions have already been made on the wrong number.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43000" y="5848350"/>
            <a:ext cx="15049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7248525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5848350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5848350"/>
            <a:ext cx="47625" cy="1409700"/>
          </a:xfrm>
          <a:prstGeom prst="rect">
            <a:avLst/>
          </a:prstGeom>
          <a:solidFill>
            <a:srgbClr val="A344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182975" y="5848350"/>
            <a:ext cx="9525" cy="14097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4" name="Text 22"/>
          <p:cNvSpPr/>
          <p:nvPr/>
        </p:nvSpPr>
        <p:spPr>
          <a:xfrm>
            <a:off x="1571625" y="6172200"/>
            <a:ext cx="2095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+4–6 hrs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3857625" y="6143625"/>
            <a:ext cx="1230268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2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 room: four teams paged, each tool truthfully reports its slice healthy. Root cause found by hand-diffing row counts.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43000" y="7639050"/>
            <a:ext cx="15716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Cost: </a:t>
            </a:r>
            <a:pPr algn="l" indent="0" marL="0">
              <a:buNone/>
            </a:pPr>
            <a:r>
              <a:rPr lang="en-US" sz="21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4+ hours × 5 engineers, a decision made on bad data, four teams paged for one team's change.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TARGET STATE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975406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 anatomy — target state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315129" y="1685925"/>
            <a:ext cx="224709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30 minutes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2609850"/>
            <a:ext cx="15049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010025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609850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609850"/>
            <a:ext cx="47625" cy="1409700"/>
          </a:xfrm>
          <a:prstGeom prst="rect">
            <a:avLst/>
          </a:prstGeom>
          <a:solidFill>
            <a:srgbClr val="17705F"/>
          </a:solidFill>
          <a:ln/>
        </p:spPr>
      </p:sp>
      <p:sp>
        <p:nvSpPr>
          <p:cNvPr id="9" name="Shape 7"/>
          <p:cNvSpPr/>
          <p:nvPr/>
        </p:nvSpPr>
        <p:spPr>
          <a:xfrm>
            <a:off x="16182975" y="2609850"/>
            <a:ext cx="9525" cy="14097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0" name="Text 8"/>
          <p:cNvSpPr/>
          <p:nvPr/>
        </p:nvSpPr>
        <p:spPr>
          <a:xfrm>
            <a:off x="1571625" y="2933700"/>
            <a:ext cx="2095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 min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3857625" y="2905125"/>
            <a:ext cx="1230268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2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 monitor spots the new value and a NULL-rate spike at the topic — one hop from the cause.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3000" y="4229100"/>
            <a:ext cx="15049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5629275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4229100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4229100"/>
            <a:ext cx="47625" cy="1409700"/>
          </a:xfrm>
          <a:prstGeom prst="rect">
            <a:avLst/>
          </a:prstGeom>
          <a:solidFill>
            <a:srgbClr val="1770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6182975" y="4229100"/>
            <a:ext cx="9525" cy="14097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7" name="Text 15"/>
          <p:cNvSpPr/>
          <p:nvPr/>
        </p:nvSpPr>
        <p:spPr>
          <a:xfrm>
            <a:off x="1571625" y="4552950"/>
            <a:ext cx="2095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+20 min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3857625" y="4524375"/>
            <a:ext cx="1230268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2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incident, not nine alerts: "Deploy a7b2c3 introduced an unmapped value; 6 downstream tables affected." One team paged, cause attached.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43000" y="5848350"/>
            <a:ext cx="15049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7248525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5848350"/>
            <a:ext cx="150495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5848350"/>
            <a:ext cx="47625" cy="1409700"/>
          </a:xfrm>
          <a:prstGeom prst="rect">
            <a:avLst/>
          </a:prstGeom>
          <a:solidFill>
            <a:srgbClr val="17705F"/>
          </a:solidFill>
          <a:ln/>
        </p:spPr>
      </p:sp>
      <p:sp>
        <p:nvSpPr>
          <p:cNvPr id="23" name="Shape 21"/>
          <p:cNvSpPr/>
          <p:nvPr/>
        </p:nvSpPr>
        <p:spPr>
          <a:xfrm>
            <a:off x="16182975" y="5848350"/>
            <a:ext cx="9525" cy="140970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4" name="Text 22"/>
          <p:cNvSpPr/>
          <p:nvPr/>
        </p:nvSpPr>
        <p:spPr>
          <a:xfrm>
            <a:off x="1571625" y="6172200"/>
            <a:ext cx="2095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+30 min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3857625" y="6143625"/>
            <a:ext cx="1230268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38"/>
              </a:lnSpc>
              <a:buNone/>
            </a:pPr>
            <a:r>
              <a:rPr lang="en-US" sz="22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Certification gate holds the bad batch; consumers keep reading last-certified data. Finance told before the number is used.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43000" y="7639050"/>
            <a:ext cx="15716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difference: </a:t>
            </a:r>
            <a:pPr algn="l" indent="0" marL="0">
              <a:buNone/>
            </a:pPr>
            <a:r>
              <a:rPr lang="en-US" sz="21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detection before consumption, one page instead of four — bad data never reaches a decision.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TARGET STATE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 at a glance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86050"/>
            <a:ext cx="5156150" cy="3038475"/>
          </a:xfrm>
          <a:prstGeom prst="roundRect">
            <a:avLst>
              <a:gd name="adj" fmla="val 313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3038475"/>
            <a:ext cx="48545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VISION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14475" y="3467100"/>
            <a:ext cx="454559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quality, lineage, and pipeline signal joined in </a:t>
            </a:r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evidence stream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experienced as lineage with health, cause, blast radius, and trust.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65850" y="2686050"/>
            <a:ext cx="5156150" cy="3038475"/>
          </a:xfrm>
          <a:prstGeom prst="roundRect">
            <a:avLst>
              <a:gd name="adj" fmla="val 313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7325" y="3038475"/>
            <a:ext cx="48545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PLAN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937325" y="3467100"/>
            <a:ext cx="4545596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foundations, one pilot thread, six months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use case 1 live end-to-end — then use cases onboard on a paved road.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988701" y="2686050"/>
            <a:ext cx="5156299" cy="3038475"/>
          </a:xfrm>
          <a:prstGeom prst="roundRect">
            <a:avLst>
              <a:gd name="adj" fmla="val 313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60176" y="3038475"/>
            <a:ext cx="48546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ORG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360176" y="3467100"/>
            <a:ext cx="454575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mission teams × 10 engineers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Onboarding &amp; Experience, Data Quality, Lineage &amp; Confidence. One foundation each, zero context-switching.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5991225"/>
            <a:ext cx="10579001" cy="2657475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14475" y="6343650"/>
            <a:ext cx="108196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PROGRAM, ONE DEFINITION OF DONE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14475" y="6772275"/>
            <a:ext cx="1013113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mission converges on one pilot use case; every milestone is a demo on that use case. This is one platform with one definition of done — </a:t>
            </a:r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three projects sharing a name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988701" y="5991225"/>
            <a:ext cx="5156299" cy="2657475"/>
          </a:xfrm>
          <a:prstGeom prst="roundRect">
            <a:avLst>
              <a:gd name="adj" fmla="val 3584"/>
            </a:avLst>
          </a:prstGeom>
          <a:solidFill>
            <a:srgbClr val="FFF9EF"/>
          </a:solidFill>
          <a:ln w="9525">
            <a:solidFill>
              <a:srgbClr val="D9B6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60176" y="6343650"/>
            <a:ext cx="48546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31" kern="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LEADERSHIP'S CONTROL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360176" y="6772275"/>
            <a:ext cx="454575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Kill criteria at month 6: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real saves and no detection improvement → the program stops and the teams redeploy.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TARGET STATE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questions, four foundations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09850"/>
            <a:ext cx="16002000" cy="5543550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3314700"/>
            <a:ext cx="1598295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6" name="Text 4"/>
          <p:cNvSpPr/>
          <p:nvPr/>
        </p:nvSpPr>
        <p:spPr>
          <a:xfrm>
            <a:off x="1533525" y="2828925"/>
            <a:ext cx="35174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QUESTION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59846" y="2828925"/>
            <a:ext cx="47965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EXPERIENCED 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48961" y="2828925"/>
            <a:ext cx="47965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POWERED BY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138077" y="2828925"/>
            <a:ext cx="28778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LIGHT-UP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52525" y="4514850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11" name="Text 9"/>
          <p:cNvSpPr/>
          <p:nvPr/>
        </p:nvSpPr>
        <p:spPr>
          <a:xfrm>
            <a:off x="1533525" y="3581400"/>
            <a:ext cx="3517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broke?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59846" y="3581400"/>
            <a:ext cx="44913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canvas with health on it; dataset health chips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48961" y="3581400"/>
            <a:ext cx="44913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Batch, post-write, and streaming DQ federated in one evidence stream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138077" y="3581400"/>
            <a:ext cx="28778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M1–M3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52525" y="570547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16" name="Text 14"/>
          <p:cNvSpPr/>
          <p:nvPr/>
        </p:nvSpPr>
        <p:spPr>
          <a:xfrm>
            <a:off x="1533525" y="4772025"/>
            <a:ext cx="3517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Why?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959846" y="4772025"/>
            <a:ext cx="44913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Causal chain on the incident card; provenance on every edge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48961" y="4772025"/>
            <a:ext cx="44913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E2E lineage joined to evidence and deploy events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138077" y="4772025"/>
            <a:ext cx="28778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M4–M5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52525" y="6896100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21" name="Text 19"/>
          <p:cNvSpPr/>
          <p:nvPr/>
        </p:nvSpPr>
        <p:spPr>
          <a:xfrm>
            <a:off x="1533525" y="5962650"/>
            <a:ext cx="35174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is affected?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959846" y="5962650"/>
            <a:ext cx="47965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view — reactive blast radius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48961" y="5962650"/>
            <a:ext cx="44913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plus consumer bindings from the onboarding manifest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138077" y="5962650"/>
            <a:ext cx="28778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33525" y="7153275"/>
            <a:ext cx="329365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it stop recurring?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959846" y="7153275"/>
            <a:ext cx="44913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Contracts and certification; impact simulation before a change ships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548961" y="7153275"/>
            <a:ext cx="44913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Contracts &amp; gate; scored graph plus PR-time lineage diff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4138077" y="7153275"/>
            <a:ext cx="28778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M6–M7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84963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month 18: bad data never reaches a Tier-1 consumer unseen; a new use case onboards in ≤ 2 weeks; every lineage edge carries a confidence score.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Horizontal foundations, proven vertically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495550"/>
            <a:ext cx="16002000" cy="169545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2876550"/>
            <a:ext cx="26555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PILOT THREAD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176266" y="2771775"/>
            <a:ext cx="2076450" cy="485775"/>
          </a:xfrm>
          <a:prstGeom prst="roundRect">
            <a:avLst>
              <a:gd name="adj" fmla="val 11765"/>
            </a:avLst>
          </a:prstGeom>
          <a:solidFill>
            <a:srgbClr val="EEF3F6"/>
          </a:solidFill>
          <a:ln w="9525">
            <a:solidFill>
              <a:srgbClr val="C9D8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57241" y="2857500"/>
            <a:ext cx="1790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payments-svc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424166" y="2838450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5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62316" y="2771775"/>
            <a:ext cx="2076450" cy="485775"/>
          </a:xfrm>
          <a:prstGeom prst="roundRect">
            <a:avLst>
              <a:gd name="adj" fmla="val 11765"/>
            </a:avLst>
          </a:prstGeom>
          <a:solidFill>
            <a:srgbClr val="EEF3F6"/>
          </a:solidFill>
          <a:ln w="9525">
            <a:solidFill>
              <a:srgbClr val="C9D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3291" y="2857500"/>
            <a:ext cx="1790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 topic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110216" y="2838450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5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48366" y="2771775"/>
            <a:ext cx="2362200" cy="485775"/>
          </a:xfrm>
          <a:prstGeom prst="roundRect">
            <a:avLst>
              <a:gd name="adj" fmla="val 11765"/>
            </a:avLst>
          </a:prstGeom>
          <a:solidFill>
            <a:srgbClr val="EEF3F6"/>
          </a:solidFill>
          <a:ln w="9525">
            <a:solidFill>
              <a:srgbClr val="C9D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9341" y="2857500"/>
            <a:ext cx="2076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enrichment job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082016" y="2838450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5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520166" y="2771775"/>
            <a:ext cx="2505075" cy="485775"/>
          </a:xfrm>
          <a:prstGeom prst="roundRect">
            <a:avLst>
              <a:gd name="adj" fmla="val 11765"/>
            </a:avLst>
          </a:prstGeom>
          <a:solidFill>
            <a:srgbClr val="EEF3F6"/>
          </a:solidFill>
          <a:ln w="9525">
            <a:solidFill>
              <a:srgbClr val="C9D8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01141" y="2857500"/>
            <a:ext cx="22193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gold.orders_enr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5196691" y="2838450"/>
            <a:ext cx="34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A5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495425" y="3429000"/>
            <a:ext cx="2362200" cy="485775"/>
          </a:xfrm>
          <a:prstGeom prst="roundRect">
            <a:avLst>
              <a:gd name="adj" fmla="val 11765"/>
            </a:avLst>
          </a:prstGeom>
          <a:solidFill>
            <a:srgbClr val="EEF3F6"/>
          </a:solidFill>
          <a:ln w="9525">
            <a:solidFill>
              <a:srgbClr val="C9D8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76400" y="3514725"/>
            <a:ext cx="20764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finance report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43000" y="4610100"/>
            <a:ext cx="15240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5425" y="4886325"/>
            <a:ext cx="933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36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657475" y="4886325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58"/>
              </a:lnSpc>
              <a:buNone/>
            </a:pPr>
            <a:r>
              <a:rPr lang="en-US" sz="21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milestone is a demo on the pilot thread </a:t>
            </a:r>
            <a:pPr algn="l" indent="0" marL="0">
              <a:lnSpc>
                <a:spcPct val="110658"/>
              </a:lnSpc>
              <a:buNone/>
            </a:pPr>
            <a:r>
              <a:rPr lang="en-US" sz="2175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"first catch," "blast radius on click," "use case 1 live" — never a percent-complete. A milestone you cannot demo is a status, not a milestone.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1143000" y="6191250"/>
            <a:ext cx="15240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95425" y="6467475"/>
            <a:ext cx="933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36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657475" y="6467475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58"/>
              </a:lnSpc>
              <a:buNone/>
            </a:pPr>
            <a:r>
              <a:rPr lang="en-US" sz="21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team's definition of done includes landing in the shared evidence stream and naming registry </a:t>
            </a:r>
            <a:pPr algn="l" indent="0" marL="0">
              <a:lnSpc>
                <a:spcPct val="110658"/>
              </a:lnSpc>
              <a:buNone/>
            </a:pPr>
            <a:r>
              <a:rPr lang="en-US" sz="2175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the one clause that binds three missions to one platform before their first outputs land.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1143000" y="7772400"/>
            <a:ext cx="15240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5425" y="8048625"/>
            <a:ext cx="933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419"/>
              </a:lnSpc>
              <a:buNone/>
            </a:pPr>
            <a:r>
              <a:rPr lang="en-US" sz="36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2657475" y="8048625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58"/>
              </a:lnSpc>
              <a:buNone/>
            </a:pPr>
            <a:r>
              <a:rPr lang="en-US" sz="21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Existing batch DQ is improved and federated, never replaced </a:t>
            </a:r>
            <a:pPr algn="l" indent="0" marL="0">
              <a:lnSpc>
                <a:spcPct val="110658"/>
              </a:lnSpc>
              <a:buNone/>
            </a:pPr>
            <a:r>
              <a:rPr lang="en-US" sz="2175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the first evidence source at M1, the fastest visible win, and it recruits the teams who built it.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Alternatives considered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86050"/>
            <a:ext cx="5156150" cy="281940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3076575"/>
            <a:ext cx="48126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per team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33525" y="3629025"/>
            <a:ext cx="450635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islands. The failure mode lives in the seams between systems — this is the problem restated as a plan.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565850" y="2686050"/>
            <a:ext cx="5156150" cy="281940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6375" y="3076575"/>
            <a:ext cx="48126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Big-bang platform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56375" y="3629025"/>
            <a:ext cx="450635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months dark, no kill switch, all demo risk concentrated at the end. Leadership has no checkpoint to steer or stop.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1988701" y="2686050"/>
            <a:ext cx="5156299" cy="2819400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79226" y="3076575"/>
            <a:ext cx="481277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Use-case one-offs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79226" y="3629025"/>
            <a:ext cx="4506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use case costs ~6 weeks, forever. Nothing compounds; the estate never gets safer as a whole.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143000" y="5810250"/>
            <a:ext cx="16002000" cy="1619250"/>
          </a:xfrm>
          <a:prstGeom prst="roundRect">
            <a:avLst>
              <a:gd name="adj" fmla="val 5882"/>
            </a:avLst>
          </a:prstGeom>
          <a:solidFill>
            <a:srgbClr val="16222E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6191250"/>
            <a:ext cx="147161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chosen approach: </a:t>
            </a:r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 built once and inherited by every use case — the only alternative where the cost per use case falls with each onboarding.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Pillar maturity model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81250"/>
            <a:ext cx="17901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L0 </a:t>
            </a:r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doesn't exist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37136" y="2381250"/>
            <a:ext cx="24599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 </a:t>
            </a:r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islands, hand-built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40127" y="2381250"/>
            <a:ext cx="15483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</a:t>
            </a:r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14443" y="2381250"/>
            <a:ext cx="14824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</a:t>
            </a:r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itself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28782" y="2381250"/>
            <a:ext cx="13473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 </a:t>
            </a:r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2990850"/>
            <a:ext cx="16002000" cy="5486400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525" y="3657600"/>
            <a:ext cx="1598295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1" name="Text 9"/>
          <p:cNvSpPr/>
          <p:nvPr/>
        </p:nvSpPr>
        <p:spPr>
          <a:xfrm>
            <a:off x="1495425" y="3190875"/>
            <a:ext cx="50488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PILLAR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237684" y="3190875"/>
            <a:ext cx="2524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685014" y="3190875"/>
            <a:ext cx="30293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6 GATE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591330" y="3190875"/>
            <a:ext cx="2524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038659" y="3190875"/>
            <a:ext cx="30293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18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52525" y="435292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17" name="Text 15"/>
          <p:cNvSpPr/>
          <p:nvPr/>
        </p:nvSpPr>
        <p:spPr>
          <a:xfrm>
            <a:off x="1495425" y="3857625"/>
            <a:ext cx="50488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data quality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237684" y="3862387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5014" y="3862387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· M1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91330" y="3862387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38659" y="3862387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 preventive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52525" y="503872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23" name="Text 21"/>
          <p:cNvSpPr/>
          <p:nvPr/>
        </p:nvSpPr>
        <p:spPr>
          <a:xfrm>
            <a:off x="1495425" y="4543425"/>
            <a:ext cx="50488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Post-write DQ (at rest)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6237684" y="45481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5014" y="45481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· M2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591330" y="45481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038659" y="45481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 bound to gate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52525" y="572452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29" name="Text 27"/>
          <p:cNvSpPr/>
          <p:nvPr/>
        </p:nvSpPr>
        <p:spPr>
          <a:xfrm>
            <a:off x="1495425" y="5229225"/>
            <a:ext cx="50488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 DQ (real-time)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6237684" y="52339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5014" y="52339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· M3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591330" y="52339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038659" y="52339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+ in-path Tier-1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52525" y="641032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35" name="Text 33"/>
          <p:cNvSpPr/>
          <p:nvPr/>
        </p:nvSpPr>
        <p:spPr>
          <a:xfrm>
            <a:off x="1495425" y="5915025"/>
            <a:ext cx="50488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E2E lineage collection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6237684" y="59197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85014" y="59197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· M4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591330" y="59197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scored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038659" y="59197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+ column-level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52525" y="709612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41" name="Text 39"/>
          <p:cNvSpPr/>
          <p:nvPr/>
        </p:nvSpPr>
        <p:spPr>
          <a:xfrm>
            <a:off x="1495425" y="6600825"/>
            <a:ext cx="50488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contracts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6237684" y="66055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685014" y="66055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 registry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591330" y="66055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enforced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038659" y="66055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L4 gate + in-path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52525" y="778192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47" name="Text 45"/>
          <p:cNvSpPr/>
          <p:nvPr/>
        </p:nvSpPr>
        <p:spPr>
          <a:xfrm>
            <a:off x="1495425" y="7286625"/>
            <a:ext cx="50488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experience</a:t>
            </a:r>
            <a:endParaRPr lang="en-US" sz="1875" dirty="0"/>
          </a:p>
        </p:txBody>
      </p:sp>
      <p:sp>
        <p:nvSpPr>
          <p:cNvPr id="48" name="Text 46"/>
          <p:cNvSpPr/>
          <p:nvPr/>
        </p:nvSpPr>
        <p:spPr>
          <a:xfrm>
            <a:off x="6237684" y="72913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685014" y="72913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 runbook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591330" y="72913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· M8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038659" y="72913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per type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495425" y="7972425"/>
            <a:ext cx="50488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health dashboard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6237684" y="79771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685014" y="79771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L2 causal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591330" y="7977188"/>
            <a:ext cx="25244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acts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4038659" y="7977188"/>
            <a:ext cx="30293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70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L3 scorecards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43000" y="874395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pillar jumps two levels in a phase; L4-everywhere is deliberately not the goal — maturity is matched to asset tier.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horizons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86050"/>
            <a:ext cx="5156150" cy="4152900"/>
          </a:xfrm>
          <a:prstGeom prst="roundRect">
            <a:avLst>
              <a:gd name="adj" fmla="val 2294"/>
            </a:avLst>
          </a:prstGeom>
          <a:solidFill>
            <a:srgbClr val="16222E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3105150"/>
            <a:ext cx="47497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FBB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 · M1–M5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62100" y="3581400"/>
            <a:ext cx="474974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Months 1–6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62100" y="4267200"/>
            <a:ext cx="444748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 live and joined on use case 1 — evidence stream, detection, lineage, dashboard. </a:t>
            </a:r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the commitment.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62100" y="6153150"/>
            <a:ext cx="44474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B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Ends at the go/no-go gate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65850" y="2686050"/>
            <a:ext cx="5156150" cy="4152900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4475" y="3114675"/>
            <a:ext cx="47287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· M6–M8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4475" y="3590925"/>
            <a:ext cx="47287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Months 7–9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94475" y="4276725"/>
            <a:ext cx="4427867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Prevention and the second use case — contracts, the certification gate's first real block, the paved road proven.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994475" y="6143625"/>
            <a:ext cx="44278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Entered only through the gate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988701" y="2686050"/>
            <a:ext cx="5156299" cy="4152900"/>
          </a:xfrm>
          <a:prstGeom prst="roundRect">
            <a:avLst>
              <a:gd name="adj" fmla="val 2294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17326" y="3114675"/>
            <a:ext cx="47289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HORIZON · P4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17326" y="3590925"/>
            <a:ext cx="47289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 10+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417326" y="4276725"/>
            <a:ext cx="442802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simulation, in-path enforcement, onboarding automation, column-level lineage.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417326" y="5838825"/>
            <a:ext cx="442802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Switched on by trigger, not date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72199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milestone names the accountable team, and every milestone is a demo on the pilot thread — never a percent-complete.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ROADMAP — NOW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 M1–M3 — foundations live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09850"/>
            <a:ext cx="16002000" cy="177165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292417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33525" y="3381375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533525" y="376237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L&amp;C → DQ, O&amp;E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010025" y="2924175"/>
            <a:ext cx="900626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stream and naming registry live; existing batch DQ federated; dashboard v0 shows the whole pilot thread in one pane with shared names and source badges.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134975" y="2924175"/>
            <a:ext cx="37280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770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the join works — and honors existing investment.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4610100"/>
            <a:ext cx="16002000" cy="177165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3525" y="492442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33525" y="5381625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2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533525" y="576262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DQ (async) → O&amp;E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4010025" y="4924425"/>
            <a:ext cx="900626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Post-write DQ live: profiling baselines on at-rest datasets; auto-generated freshness and volume checks running out-of-band beside improved batch checks.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134975" y="4924425"/>
            <a:ext cx="37280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770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the platform learns "normal" without producer effort.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6610350"/>
            <a:ext cx="16002000" cy="177165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3525" y="692467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33525" y="7381875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3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533525" y="776287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DQ (sync) → L&amp;C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4010025" y="6924675"/>
            <a:ext cx="900626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 DQ live on the pilot topic — real-time, out-of-band, alert-only. First silent failure caught pre-consumption; saves-ledger entry with counterfactual cost.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134975" y="6924675"/>
            <a:ext cx="37280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770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detection value is real; ingress detection built once for every future use case.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ROADMAP — NOW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 M4–M5 — the join and the gate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09850"/>
            <a:ext cx="16002000" cy="184785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296227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33525" y="3419475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Months 4–5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533525" y="380047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L&amp;C → O&amp;E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010025" y="2962275"/>
            <a:ext cx="900626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joined to quality evidence and deploy events; blast-radius view live; every edge provenance-tagged — declared, config-emitted, or runtime-observed.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134975" y="2962275"/>
            <a:ext cx="37280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770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incidents carry cause and impact, with trust visible per edge.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4686300"/>
            <a:ext cx="16002000" cy="2057400"/>
          </a:xfrm>
          <a:prstGeom prst="roundRect">
            <a:avLst>
              <a:gd name="adj" fmla="val 4630"/>
            </a:avLst>
          </a:prstGeom>
          <a:solidFill>
            <a:srgbClr val="16222E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5029200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BB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24000" y="5486400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F8C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6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524000" y="5867400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7F8C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three teams · O&amp;E orchestrates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4000500" y="5029200"/>
            <a:ext cx="902589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1 live end-to-end on all four foundations.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runbook v1. Live replay of a real past incident, root-caused in under 30 minutes. </a:t>
            </a:r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Go/no-go gate.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144500" y="5029200"/>
            <a:ext cx="37280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the foundations join on a real case — and beat the war room.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7162800"/>
            <a:ext cx="147161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gate is decided on the scorecard — saves logged, time-to-detect cut — not on architecture progress. Baselines are measured in Phase 0.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ROADMAP — NEXT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 M6–M8 — prevention and scale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09850"/>
            <a:ext cx="160020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3525" y="292417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33525" y="3381375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Months 7–8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533525" y="376237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DQ → domain teams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010025" y="2924175"/>
            <a:ext cx="900626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producer-accepted contract, auto-drafted from 90 days of observed behavior — a 20-minute review, not a workshop.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134975" y="2924175"/>
            <a:ext cx="37280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770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prevention becomes possible.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43000" y="4572000"/>
            <a:ext cx="160020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3525" y="488632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33525" y="5343525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Months 8–9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533525" y="572452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DQ → L&amp;C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4010025" y="4886325"/>
            <a:ext cx="900626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Certification gate's first real block; consumers kept on last-known-good with zero exposure. Confidence scoring live on pilot edges.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134975" y="4886325"/>
            <a:ext cx="37280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770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bad data can be stopped, not just found.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6534150"/>
            <a:ext cx="160020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3525" y="6848475"/>
            <a:ext cx="2305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33525" y="7305675"/>
            <a:ext cx="2305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9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533525" y="7686675"/>
            <a:ext cx="2305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O&amp;E → all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4010025" y="6848475"/>
            <a:ext cx="900626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2 onboarded on the paved road — measurably faster (6 weeks → 2) because it inherits the foundations.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134975" y="6848475"/>
            <a:ext cx="37280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b="1" dirty="0">
                <a:solidFill>
                  <a:srgbClr val="1770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Proves this scales as a product, not a project.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ROADMAP — HORIZON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 capabilities, switched on by trigger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419350"/>
            <a:ext cx="151923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on this list waits for a date — each switches on when its dependency exists.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3343275"/>
            <a:ext cx="7867650" cy="1914525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3525" y="3695700"/>
            <a:ext cx="77952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 simulation + PR-time lineage diff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533525" y="4200525"/>
            <a:ext cx="77952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82"/>
              </a:lnSpc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Trigger ← </a:t>
            </a:r>
            <a:pPr algn="l" indent="0" marL="0">
              <a:lnSpc>
                <a:spcPct val="110882"/>
              </a:lnSpc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confidence-scored lineage graph exists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77350" y="3343275"/>
            <a:ext cx="7867650" cy="1914525"/>
          </a:xfrm>
          <a:prstGeom prst="roundRect">
            <a:avLst>
              <a:gd name="adj" fmla="val 497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67875" y="3695700"/>
            <a:ext cx="77952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In-path asserts (Tier-1 streams)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667875" y="4200525"/>
            <a:ext cx="729919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82"/>
              </a:lnSpc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Trigger ← </a:t>
            </a:r>
            <a:pPr algn="l" indent="0" marL="0">
              <a:lnSpc>
                <a:spcPct val="110882"/>
              </a:lnSpc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accepted contract plus a recurring violation class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3000" y="5524500"/>
            <a:ext cx="7867650" cy="15621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3525" y="5876925"/>
            <a:ext cx="77952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automation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1533525" y="6381750"/>
            <a:ext cx="77952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82"/>
              </a:lnSpc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Trigger ← </a:t>
            </a:r>
            <a:pPr algn="l" indent="0" marL="0">
              <a:lnSpc>
                <a:spcPct val="110882"/>
              </a:lnSpc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use-case type onboarded manually twice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77350" y="5524500"/>
            <a:ext cx="7867650" cy="156210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67875" y="5876925"/>
            <a:ext cx="77952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Column-level lineage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9667875" y="6381750"/>
            <a:ext cx="77952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82"/>
              </a:lnSpc>
              <a:buNone/>
            </a:pPr>
            <a:r>
              <a:rPr lang="en-US" sz="195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Trigger ← </a:t>
            </a:r>
            <a:pPr algn="l" indent="0" marL="0">
              <a:lnSpc>
                <a:spcPct val="110882"/>
              </a:lnSpc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incidents that demanded a column-level answer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7FA8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EXECUTION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mission teams, thirty engineers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43000" y="2381250"/>
            <a:ext cx="1422558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85"/>
              </a:lnSpc>
              <a:buNone/>
            </a:pPr>
            <a:r>
              <a:rPr lang="en-US" sz="2250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team owns one foundation end-to-end — mission, build, run, and its milestones. Nobody is split across projects.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3810000"/>
            <a:ext cx="5156150" cy="2295525"/>
          </a:xfrm>
          <a:prstGeom prst="roundRect">
            <a:avLst>
              <a:gd name="adj" fmla="val 4149"/>
            </a:avLst>
          </a:prstGeom>
          <a:ln w="9525">
            <a:solidFill>
              <a:srgbClr val="2C3B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4475" y="4162425"/>
            <a:ext cx="485452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514475" y="4991100"/>
            <a:ext cx="48545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&amp; Confidence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514475" y="5438775"/>
            <a:ext cx="48545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FAC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Owns the platform core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565850" y="3810000"/>
            <a:ext cx="5156150" cy="2295525"/>
          </a:xfrm>
          <a:prstGeom prst="roundRect">
            <a:avLst>
              <a:gd name="adj" fmla="val 4149"/>
            </a:avLst>
          </a:prstGeom>
          <a:ln w="9525">
            <a:solidFill>
              <a:srgbClr val="2C3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37325" y="4162425"/>
            <a:ext cx="485452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6937325" y="4991100"/>
            <a:ext cx="48545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937325" y="5438775"/>
            <a:ext cx="48545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FAC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Owns detection → prevention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988701" y="3810000"/>
            <a:ext cx="5156299" cy="2295525"/>
          </a:xfrm>
          <a:prstGeom prst="roundRect">
            <a:avLst>
              <a:gd name="adj" fmla="val 4149"/>
            </a:avLst>
          </a:prstGeom>
          <a:ln w="9525">
            <a:solidFill>
              <a:srgbClr val="2C3B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60176" y="4162425"/>
            <a:ext cx="485468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FBB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360176" y="4991100"/>
            <a:ext cx="485468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&amp; Experience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360176" y="5438775"/>
            <a:ext cx="48546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FAC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Owns adoption &amp; the surface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43000" y="6638925"/>
            <a:ext cx="16002000" cy="9525"/>
          </a:xfrm>
          <a:prstGeom prst="rect">
            <a:avLst/>
          </a:prstGeom>
          <a:solidFill>
            <a:srgbClr val="2C3B48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702945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242" kern="0" dirty="0">
                <a:solidFill>
                  <a:srgbClr val="7FA8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CONVERGENCE, ENGINEERED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143000" y="7505700"/>
            <a:ext cx="205211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pilot thread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3541961" y="7505700"/>
            <a:ext cx="54540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stream in every definition of done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033570" y="7505700"/>
            <a:ext cx="42060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Weekly joined demo from week 4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3390662" y="7505700"/>
            <a:ext cx="377435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C4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 = cross-team demo</a:t>
            </a:r>
            <a:endParaRPr lang="en-US" sz="2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EXECUTION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Mission charters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09850"/>
            <a:ext cx="5156150" cy="40005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5425" y="2962275"/>
            <a:ext cx="48964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&amp; Confidence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95425" y="3505200"/>
            <a:ext cx="45848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signal joins under one identity, and every lineage edge is trustworthy — capture → join → score → simulate.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95425" y="4705350"/>
            <a:ext cx="458483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67"/>
              </a:lnSpc>
              <a:buNone/>
            </a:pPr>
            <a:r>
              <a:rPr lang="en-US" sz="17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Squads: </a:t>
            </a:r>
            <a:pPr algn="l" indent="0" marL="0">
              <a:lnSpc>
                <a:spcPct val="111167"/>
              </a:lnSpc>
              <a:buNone/>
            </a:pPr>
            <a:r>
              <a:rPr lang="en-US" sz="17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core (3) · lineage collectors (4) · join, provenance &amp; confidence (3)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1495425" y="5505450"/>
            <a:ext cx="44513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9" name="Text 7"/>
          <p:cNvSpPr/>
          <p:nvPr/>
        </p:nvSpPr>
        <p:spPr>
          <a:xfrm>
            <a:off x="1495425" y="5667375"/>
            <a:ext cx="458483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67"/>
              </a:lnSpc>
              <a:buNone/>
            </a:pPr>
            <a:r>
              <a:rPr lang="en-US" sz="1725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Done = </a:t>
            </a:r>
            <a:pPr algn="l" indent="0" marL="0">
              <a:lnSpc>
                <a:spcPct val="111167"/>
              </a:lnSpc>
              <a:buNone/>
            </a:pPr>
            <a:r>
              <a:rPr lang="en-US" sz="17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edge is in the evidence stream, named in the registry, provenance-tagged.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6565850" y="2609850"/>
            <a:ext cx="5156150" cy="40005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8275" y="2962275"/>
            <a:ext cx="48964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 — sync + async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918275" y="3505200"/>
            <a:ext cx="458483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silent failure reaches a consumer — checks at rest, detection in-stream, then contracts and the gate.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6918275" y="4705350"/>
            <a:ext cx="458483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67"/>
              </a:lnSpc>
              <a:buNone/>
            </a:pPr>
            <a:r>
              <a:rPr lang="en-US" sz="17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Squads: </a:t>
            </a:r>
            <a:pPr algn="l" indent="0" marL="0">
              <a:lnSpc>
                <a:spcPct val="111167"/>
              </a:lnSpc>
              <a:buNone/>
            </a:pPr>
            <a:r>
              <a:rPr lang="en-US" sz="17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 / post-write (4) · sync / streaming (4) · contracts &amp; gate (2 → 4)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6918275" y="5505450"/>
            <a:ext cx="445130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5" name="Text 13"/>
          <p:cNvSpPr/>
          <p:nvPr/>
        </p:nvSpPr>
        <p:spPr>
          <a:xfrm>
            <a:off x="6918275" y="5667375"/>
            <a:ext cx="458483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67"/>
              </a:lnSpc>
              <a:buNone/>
            </a:pPr>
            <a:r>
              <a:rPr lang="en-US" sz="1725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Done = </a:t>
            </a:r>
            <a:pPr algn="l" indent="0" marL="0">
              <a:lnSpc>
                <a:spcPct val="111167"/>
              </a:lnSpc>
              <a:buNone/>
            </a:pPr>
            <a:r>
              <a:rPr lang="en-US" sz="17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check's result lands in the evidence stream under registry names.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1988701" y="2609850"/>
            <a:ext cx="5156299" cy="40005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1126" y="2962275"/>
            <a:ext cx="48965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&amp; Experience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341126" y="3505200"/>
            <a:ext cx="458499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187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platform is usable, provable, and cheap to join — the dashboard, the paved road, and the value evidence.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2341126" y="4705350"/>
            <a:ext cx="458499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67"/>
              </a:lnSpc>
              <a:buNone/>
            </a:pPr>
            <a:r>
              <a:rPr lang="en-US" sz="172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Squads: </a:t>
            </a:r>
            <a:pPr algn="l" indent="0" marL="0">
              <a:lnSpc>
                <a:spcPct val="111167"/>
              </a:lnSpc>
              <a:buNone/>
            </a:pPr>
            <a:r>
              <a:rPr lang="en-US" sz="17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&amp; incident experience (5) · paved road (3) · value governance (2)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12341126" y="5505450"/>
            <a:ext cx="445144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1126" y="5667375"/>
            <a:ext cx="458499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67"/>
              </a:lnSpc>
              <a:buNone/>
            </a:pPr>
            <a:r>
              <a:rPr lang="en-US" sz="1725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Done = </a:t>
            </a:r>
            <a:pPr algn="l" indent="0" marL="0">
              <a:lnSpc>
                <a:spcPct val="111167"/>
              </a:lnSpc>
              <a:buNone/>
            </a:pPr>
            <a:r>
              <a:rPr lang="en-US" sz="1725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view reads only the evidence stream — if it isn't joined, it can't render.</a:t>
            </a:r>
            <a:endParaRPr lang="en-US" sz="17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EXECUTION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Capacity by phase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571750"/>
            <a:ext cx="16002000" cy="42862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3238500"/>
            <a:ext cx="1598295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6" name="Text 4"/>
          <p:cNvSpPr/>
          <p:nvPr/>
        </p:nvSpPr>
        <p:spPr>
          <a:xfrm>
            <a:off x="1495425" y="2771775"/>
            <a:ext cx="35204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29175" y="2771775"/>
            <a:ext cx="2514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 · WKS 1–4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248525" y="2771775"/>
            <a:ext cx="2514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P1 · M2–3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67875" y="2771775"/>
            <a:ext cx="2514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P2 · M4–6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087225" y="2771775"/>
            <a:ext cx="2514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P3 · M7–9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506575" y="2771775"/>
            <a:ext cx="2514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P4 · M10+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52525" y="4343400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13" name="Text 11"/>
          <p:cNvSpPr/>
          <p:nvPr/>
        </p:nvSpPr>
        <p:spPr>
          <a:xfrm>
            <a:off x="1495425" y="3486150"/>
            <a:ext cx="3520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&amp; Confidence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829175" y="3486150"/>
            <a:ext cx="2514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5 · collectors 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48525" y="3486150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3 · collectors 5 · join prep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67875" y="3486150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 6 · confidence 2 · run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87225" y="3486150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confidence 4 · UC2 3 · run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506575" y="3486150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simulation 5 · column-level 3 · run 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52525" y="543877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20" name="Text 18"/>
          <p:cNvSpPr/>
          <p:nvPr/>
        </p:nvSpPr>
        <p:spPr>
          <a:xfrm>
            <a:off x="1495425" y="4581525"/>
            <a:ext cx="3520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4829175" y="4581525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federation 4 · profiling 3 · stream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48525" y="4581525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auto-checks 4 · stream 4 · contracts 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67875" y="4581525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tuning 4 · shadow gate 3 · generator 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87225" y="4581525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contracts + gate 6 · run 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506575" y="4581525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in-path Tier-1 4 · widening 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5425" y="5676900"/>
            <a:ext cx="3520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&amp; Experience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829175" y="5676900"/>
            <a:ext cx="236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5 · manifest 3 · governance 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48525" y="5676900"/>
            <a:ext cx="236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4 · runbook 2 · UX 2 · scorecard 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67875" y="5676900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causal view 5 · gate pack 3 · runbook 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087225" y="5676900"/>
            <a:ext cx="23622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UC2 + template 5 · contracts UX 3 · govern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506575" y="5676900"/>
            <a:ext cx="236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automation 5 · govern 3 · UX 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7200900"/>
            <a:ext cx="1530477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no point does any team run more than three concurrent builds. Contracts stay at two designers until the gate passes; automation is staffed only after two manual onboardings exist.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CRITICAL PATH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path and dependencies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571750"/>
            <a:ext cx="16002000" cy="62865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3238500"/>
            <a:ext cx="15982950" cy="19050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6" name="Text 4"/>
          <p:cNvSpPr/>
          <p:nvPr/>
        </p:nvSpPr>
        <p:spPr>
          <a:xfrm>
            <a:off x="1495425" y="2771775"/>
            <a:ext cx="417872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DEPENDENCY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522863" y="2771775"/>
            <a:ext cx="51433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ASK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27196" y="2771775"/>
            <a:ext cx="19286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NEEDED BY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409140" y="2771775"/>
            <a:ext cx="48217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5A66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IT SLIPS — PLAN B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52525" y="3257550"/>
            <a:ext cx="15982950" cy="1371600"/>
          </a:xfrm>
          <a:prstGeom prst="rect">
            <a:avLst/>
          </a:prstGeom>
          <a:solidFill>
            <a:srgbClr val="FFF9EF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" y="461962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12" name="Text 10"/>
          <p:cNvSpPr/>
          <p:nvPr/>
        </p:nvSpPr>
        <p:spPr>
          <a:xfrm>
            <a:off x="1495425" y="3467100"/>
            <a:ext cx="391280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61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platform / governance </a:t>
            </a:r>
            <a:pPr algn="l" indent="0" marL="0">
              <a:lnSpc>
                <a:spcPct val="106061"/>
              </a:lnSpc>
              <a:buNone/>
            </a:pPr>
            <a:r>
              <a:rPr lang="en-US" sz="1575" b="1" dirty="0">
                <a:solidFill>
                  <a:srgbClr val="A66A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critical ask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522863" y="3467100"/>
            <a:ext cx="481600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Agree one naming registry is the authority — pilot's ~10 assets first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27196" y="3467100"/>
            <a:ext cx="192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09140" y="3467100"/>
            <a:ext cx="451493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join fails silently later — the #1 program risk. Scoped small to be decidable fast.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52525" y="5676900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17" name="Text 15"/>
          <p:cNvSpPr/>
          <p:nvPr/>
        </p:nvSpPr>
        <p:spPr>
          <a:xfrm>
            <a:off x="1495425" y="4838700"/>
            <a:ext cx="41787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61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 platform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5522863" y="4838700"/>
            <a:ext cx="481600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Read-only monitor credentials, topic catalog, schema registry read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27196" y="4838700"/>
            <a:ext cx="192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09140" y="4838700"/>
            <a:ext cx="45149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Detection starts at tables; monitor runs in our account as an ordinary consumer.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52525" y="6734175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22" name="Text 20"/>
          <p:cNvSpPr/>
          <p:nvPr/>
        </p:nvSpPr>
        <p:spPr>
          <a:xfrm>
            <a:off x="1495425" y="5895975"/>
            <a:ext cx="41787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61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 DQ tooling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5522863" y="5895975"/>
            <a:ext cx="51433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access to check results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27196" y="5895975"/>
            <a:ext cx="192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409140" y="5895975"/>
            <a:ext cx="45149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Scheduled export — same data, slightly staler.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52525" y="7791450"/>
            <a:ext cx="15982950" cy="9525"/>
          </a:xfrm>
          <a:prstGeom prst="rect">
            <a:avLst/>
          </a:prstGeom>
          <a:solidFill>
            <a:srgbClr val="EDEEEC"/>
          </a:solidFill>
          <a:ln/>
        </p:spPr>
      </p:sp>
      <p:sp>
        <p:nvSpPr>
          <p:cNvPr id="27" name="Text 25"/>
          <p:cNvSpPr/>
          <p:nvPr/>
        </p:nvSpPr>
        <p:spPr>
          <a:xfrm>
            <a:off x="1495425" y="6953250"/>
            <a:ext cx="41787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61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engineering (CI/CD)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5522863" y="6953250"/>
            <a:ext cx="481600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events with commit + timestamp, pilot pipelines only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427196" y="6953250"/>
            <a:ext cx="192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409140" y="6953250"/>
            <a:ext cx="45149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Incidents name the system, not the deploy; infer from logs.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5425" y="8010525"/>
            <a:ext cx="41787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61"/>
              </a:lnSpc>
              <a:buNone/>
            </a:pPr>
            <a:r>
              <a:rPr lang="en-US" sz="1875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Cross-team interlocks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5522863" y="8010525"/>
            <a:ext cx="481600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Ingest contract (wk 4) · manifest schema (wk 3) · check-result shape (wk 4)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427196" y="8010525"/>
            <a:ext cx="19286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409140" y="8010525"/>
            <a:ext cx="45149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Versioned stubs and raw-evidence rendering keep every team unblocked.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43000" y="91630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health is a monthly scorecard item with sponsor escalation — a slip is surfaced, never absorbed silently.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GOVERNANCE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Governance mechanisms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86050"/>
            <a:ext cx="7867650" cy="24193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3076575"/>
            <a:ext cx="7711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Saves ledger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71625" y="3609975"/>
            <a:ext cx="72207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Opens at M1. Every catch logged with its counterfactual: who would have consumed the bad data, what the last comparable incident cost.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277350" y="2686050"/>
            <a:ext cx="7867650" cy="24193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05975" y="3076575"/>
            <a:ext cx="7711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Monthly scorecard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05975" y="3609975"/>
            <a:ext cx="72207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 cadence: time-to-detect, time-to-root-cause, teams paged per incident, saves banked, foundations joined (0→4), dependency health.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143000" y="5372100"/>
            <a:ext cx="7867650" cy="24193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1625" y="5762625"/>
            <a:ext cx="7711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cadence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71625" y="6296025"/>
            <a:ext cx="72207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Reviews are live replays on the pilot thread — the war room, then the causal chain. Milestones are demos; there is no "percent complete."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277350" y="5372100"/>
            <a:ext cx="7867650" cy="241935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05975" y="5762625"/>
            <a:ext cx="77114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Sponsor-owned KPI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705975" y="6296025"/>
            <a:ext cx="72207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pilot thread is chosen so its health maps to one executive sponsor's own metric — one leader personally invested in the M5 replay.</a:t>
            </a:r>
            <a:endParaRPr lang="en-US" sz="20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24163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0A0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GOVERNANCE — STATED UP FRONT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357563"/>
            <a:ext cx="1571625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81" kern="0" dirty="0">
                <a:solidFill>
                  <a:srgbClr val="F2F4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Kill criteria at month 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672013"/>
            <a:ext cx="1530477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27"/>
              </a:lnSpc>
              <a:buNone/>
            </a:pPr>
            <a:r>
              <a:rPr lang="en-US" sz="2850" dirty="0">
                <a:solidFill>
                  <a:srgbClr val="E5EA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by the M5 checkpoint the pilot thread has not logged </a:t>
            </a:r>
            <a:pPr algn="l" indent="0" marL="0">
              <a:lnSpc>
                <a:spcPct val="116327"/>
              </a:lnSpc>
              <a:buNone/>
            </a:pPr>
            <a:r>
              <a:rPr lang="en-US" sz="2850" b="1" dirty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saves </a:t>
            </a:r>
            <a:pPr algn="l" indent="0" marL="0">
              <a:lnSpc>
                <a:spcPct val="116327"/>
              </a:lnSpc>
              <a:buNone/>
            </a:pPr>
            <a:r>
              <a:rPr lang="en-US" sz="2850" dirty="0">
                <a:solidFill>
                  <a:srgbClr val="E5EA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cut </a:t>
            </a:r>
            <a:pPr algn="l" indent="0" marL="0">
              <a:lnSpc>
                <a:spcPct val="116327"/>
              </a:lnSpc>
              <a:buNone/>
            </a:pPr>
            <a:r>
              <a:rPr lang="en-US" sz="2850" b="1" dirty="0">
                <a:solidFill>
                  <a:srgbClr val="E0A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time-to-detect </a:t>
            </a:r>
            <a:pPr algn="l" indent="0" marL="0">
              <a:lnSpc>
                <a:spcPct val="116327"/>
              </a:lnSpc>
              <a:buNone/>
            </a:pPr>
            <a:r>
              <a:rPr lang="en-US" sz="2850" dirty="0">
                <a:solidFill>
                  <a:srgbClr val="E5EA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below the agreed threshold — with all four foundations live and joined on use case 1 — </a:t>
            </a:r>
            <a:pPr algn="l" indent="0" marL="0">
              <a:lnSpc>
                <a:spcPct val="116327"/>
              </a:lnSpc>
              <a:buNone/>
            </a:pPr>
            <a:r>
              <a:rPr lang="en-US" sz="2850" b="1" dirty="0">
                <a:solidFill>
                  <a:srgbClr val="E5EA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 stops and thirty engineers redeploy to their domains.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43000" y="6757988"/>
            <a:ext cx="137350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9FACB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Offering leadership the kill switch is what makes the vision credible rather than faith-based. Baselines are measured in Phase 0; the gate is decided on the scorecard, not on architecture progress.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OUTCOMES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52550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72" kern="0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Outcomes at months 6, 11, and 18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647950"/>
            <a:ext cx="5156150" cy="3171825"/>
          </a:xfrm>
          <a:prstGeom prst="roundRect">
            <a:avLst>
              <a:gd name="adj" fmla="val 300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5810250"/>
            <a:ext cx="515615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647950"/>
            <a:ext cx="5156150" cy="47625"/>
          </a:xfrm>
          <a:prstGeom prst="rect">
            <a:avLst/>
          </a:prstGeom>
          <a:solidFill>
            <a:srgbClr val="1E5A7D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647950"/>
            <a:ext cx="9525" cy="31718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8" name="Shape 6"/>
          <p:cNvSpPr/>
          <p:nvPr/>
        </p:nvSpPr>
        <p:spPr>
          <a:xfrm>
            <a:off x="6289625" y="2647950"/>
            <a:ext cx="9525" cy="31718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9" name="Text 7"/>
          <p:cNvSpPr/>
          <p:nvPr/>
        </p:nvSpPr>
        <p:spPr>
          <a:xfrm>
            <a:off x="1533525" y="3057525"/>
            <a:ext cx="48126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6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33525" y="3581400"/>
            <a:ext cx="450635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four foundations live and joined on use case 1 — lineage with health, cause on the incident card, reactive blast radius. </a:t>
            </a:r>
            <a:pPr algn="l" indent="0" marL="0">
              <a:lnSpc>
                <a:spcPct val="115714"/>
              </a:lnSpc>
              <a:buNone/>
            </a:pPr>
            <a:r>
              <a:rPr lang="en-US" sz="2025" b="1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Go/no-go gate.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6565850" y="2647950"/>
            <a:ext cx="5156150" cy="3171825"/>
          </a:xfrm>
          <a:prstGeom prst="roundRect">
            <a:avLst>
              <a:gd name="adj" fmla="val 300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565850" y="5810250"/>
            <a:ext cx="5156150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65850" y="2647950"/>
            <a:ext cx="5156150" cy="47625"/>
          </a:xfrm>
          <a:prstGeom prst="rect">
            <a:avLst/>
          </a:prstGeom>
          <a:solidFill>
            <a:srgbClr val="1E5A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565850" y="2647950"/>
            <a:ext cx="9525" cy="31718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12476" y="2647950"/>
            <a:ext cx="9525" cy="31718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16" name="Text 14"/>
          <p:cNvSpPr/>
          <p:nvPr/>
        </p:nvSpPr>
        <p:spPr>
          <a:xfrm>
            <a:off x="6956375" y="3057525"/>
            <a:ext cx="48126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11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956375" y="3581400"/>
            <a:ext cx="450635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platform live — enforcement and gating on, edges confidence-scored, multiple use cases onboarded on the paved road.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1988701" y="2647950"/>
            <a:ext cx="5156299" cy="3171825"/>
          </a:xfrm>
          <a:prstGeom prst="roundRect">
            <a:avLst>
              <a:gd name="adj" fmla="val 300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988701" y="5810250"/>
            <a:ext cx="5156299" cy="95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88701" y="2647950"/>
            <a:ext cx="5156299" cy="47625"/>
          </a:xfrm>
          <a:prstGeom prst="rect">
            <a:avLst/>
          </a:prstGeom>
          <a:solidFill>
            <a:srgbClr val="1E5A7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88701" y="2647950"/>
            <a:ext cx="9525" cy="31718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2" name="Shape 20"/>
          <p:cNvSpPr/>
          <p:nvPr/>
        </p:nvSpPr>
        <p:spPr>
          <a:xfrm>
            <a:off x="17135475" y="2647950"/>
            <a:ext cx="9525" cy="3171825"/>
          </a:xfrm>
          <a:prstGeom prst="rect">
            <a:avLst/>
          </a:prstGeom>
          <a:solidFill>
            <a:srgbClr val="E3E5E2"/>
          </a:solidFill>
          <a:ln/>
        </p:spPr>
      </p:sp>
      <p:sp>
        <p:nvSpPr>
          <p:cNvPr id="23" name="Text 21"/>
          <p:cNvSpPr/>
          <p:nvPr/>
        </p:nvSpPr>
        <p:spPr>
          <a:xfrm>
            <a:off x="12379226" y="3057525"/>
            <a:ext cx="48127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 18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379226" y="3581400"/>
            <a:ext cx="4506507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025" dirty="0">
                <a:solidFill>
                  <a:srgbClr val="3D48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use cases operating; impact simulation and PR-time diff on Tier-1; column-level depth where incidents demanded it; expansion priced from measured cost per use case.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143000" y="6124575"/>
            <a:ext cx="16002000" cy="176212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3E5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3525" y="6438900"/>
            <a:ext cx="61406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A34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DELIBERATELY NEVER ON ANY TEAM'S LIST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533525" y="6829425"/>
            <a:ext cx="1567757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1950" dirty="0">
                <a:solidFill>
                  <a:srgbClr val="5A66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"Map everything" lineage crawls · estate-wide enforcement mandates · L4 everywhere · blocking on anomaly scores · automation before two manual samples.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43000" y="8267700"/>
            <a:ext cx="17602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missions, one evidence stream, one pilot thread, one scorecard — </a:t>
            </a:r>
            <a:pPr algn="l" indent="0" marL="0">
              <a:buNone/>
            </a:pPr>
            <a:r>
              <a:rPr lang="en-US" sz="2400" b="1" dirty="0">
                <a:solidFill>
                  <a:srgbClr val="1E5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platform, not three projects.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2026-08-24T13:06:45Z</dcterms:created>
  <dcterms:modified xsi:type="dcterms:W3CDTF">2026-08-24T13:06:45Z</dcterms:modified>
</cp:coreProperties>
</file>